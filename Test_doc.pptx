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viewProps" Target="view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notesMaster" Target="notesMasters/notesMaster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857D137E-4538-F841-A2D6-B1AFB0F6EE11}" type="datetimeFigureOut">
              <a:rPr lang="en-US" smtClean="0"/>
              <a:t>10/6/2026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11B04341-C52C-0C4A-9DAF-1AD4DF8DECBD}" type="slidenum">
              <a:rPr lang="en-US" smtClean="0"/>
              <a:t>‹#›</a:t>
            </a:fld>
            <a:endParaRPr lang="en-US"/>
          </a:p>
        </p:txBody>
      </p:sp>
    </p:spTree>
    <p:extLst>
      <p:ext uri="{BB962C8B-B14F-4D97-AF65-F5344CB8AC3E}">
        <p14:creationId xmlns:p14="http://schemas.microsoft.com/office/powerpoint/2010/main" val="261965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of a two-patch v2 series. The patch is the authoritative source; background context and gaps are explicitly labeled. Slides follow: problem, protocol packet, data structures, functions, parsing, integration, Patch 1 vs 2, full flow, review points.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idea: aggregated read is an optimization layer. Callers keep using the same helper APIs; the helper tries the cached packet first and falls back to the existing individual QUERY when anything is missing.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 from the commit message: device init reads several attributes and flags one query at a time. Patch 2 folds six per-item reads into one. No timing data is given in the patch.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content on this slide is background/explanatory context, not taken from the patch, except identifiers that appear in the patch.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today every item is its own round trip. Right: the same path is used once with opcode UPIU_QUERY_OPCODE_AGGREGATED_READ; the data segment of the one response carries many items. Patch 1 teaches ufshcd_copy_query_response() to copy that data segment.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only attributes, flags and strings are actually folded by Patch 2. The request mask also does not select any descriptor bits other than STRING_DESC, even though ufshcd_read_desc_param() gained an aggregate lookup.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Aggregated read is requested with an AGGREGATION TYPE mask (request side) and answered with a chain of groups (response side). Keep those two vocabularies separate.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side: enum ufs_agg_type is a bit mask in the AGGREGATION TYPE field (passed as agg_type, placed in the IDN slot via ufshcd_init_query). Response side: enum ufs_agg_group_type is a value in each group header. Not the same thing: for example STRING_DESC (one request bit) yields five different string group types.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Packet = chain of [4-byte group header][payload]. next_group_offset is measured from the start of the packet; zero ends the chain. Group ORDER inside the packet is not specified by the patch - the parser searches by type.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is called inside ufs_get_device_desc() right after wspecversion and bqueuedepth are stored; end is called at the out: label of ufshcd_device_params_init(). Everything between can be served from the cache.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0 success; &gt;0 OCS error; &lt;0 otherwise. agg_type is passed through ufshcd_init_query() in the IDN position. request-&gt;upiu_req.length is converted with cpu_to_be16 because UPIU fields are big-endian; response data_segment_length was converted with be16_to_cpu in ufshcd_copy_query_response() (Patch 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Zeroing: the code comment says it is so that a device over-reporting LENGTH terminates the walk safely. Bounds: group walk limited by agg_packet_len; group offsets validated in ufshcd_agg_group().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Allocation failure and unsupported device both result in silent fallback. The caller in ufs_get_device_desc() ignores any status (function returns void). QUERY_REQ_RETRIES value: not in the patch.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nuance: the field comment says "Set once the device has rejected an AGGREGATED READ query", but the code sets it after ALL retries fail for any error, not only on an explicit rejection. Whether it is cleared on re-init is not specified.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static_assert pins sizeof == QUERY_AGG_GROUP_HDR_SIZE (4). be16_to_cpu() is needed because the field is big-endian on the wire and the CPU may be little-endian.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walker; attr, flag, string and desc parsers all call it. Validation: next offset must be at/after the payload start and the next header must fit in packet_len; otherwise return NULL (malformed device data). A NULL hba-&gt;agg_packet short-circuits the while condition, which is why UFS &lt; 5.0 needs no version check in the readers.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attrs group carries values back-to-back in IDN order with no per-value ID or length, so the driver sums the widths of all lower IDNs to find the offset. Multi-byte values are assembled big-endian. Entries with width 0 in ufs_agg_attr_width[] contribute nothing and are treated as not present (-ENOENT) for that IDN.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the parser's only layout knowledge. If a width is wrong, every later attribute offset is wrong - this is the key review item. Groups below are taken from the patch initializer; IDN numeric values are in ufs.h and not repeated here except where the patch states them.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Simpler than attributes: one byte per flag, direct index by IDN, no width table or accumulation. Bounds: idn must be &lt; group_len. Result stored as bool.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Descriptors in the DESCS group are concatenated; each starts with bLength (QUERY_DESC_LENGTH_OFFSET) and bDescriptorType (QUERY_DESC_DESC_TYPE_OFFSET). For Unit descriptors the type alone is ambiguous (multiple units), so the unit index at UNIT_DESC_PARAM_UNIT_INDEX must also match and desc_len must cover that offset. String IDN is delegated to ufshcd_agg_string().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String groups are identified by group type, but a caller asks by string INDEX (from the Device Descriptor). agg_str_idx[i] records the index for group type MANUFACTURER_STR + i, so the lookup translates index -&gt; group type. Index 0 is rejected (no string). The returned buffer is the string descriptor itself; bLength is validated against group_len.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Callers (set_rtt, ref_clk gating wait, wb lifetime check) were changed to call ufshcd_read_attr() instead of ufshcd_query_attr_retry(). index != 0 skips the cache: the ATTRS group only holds index-0 values. Per commit message, bWriteBoosterBufferLifeTimeEst is served from the packet only in shared-buffer mode.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read_flag has no index parameter: it always tries the cache. read_desc_param hit: memcpy(desc_buf, descp, desc_len) then existing post-processing; miss: the original ufshcd_query_descriptor_retry() path with the original error message.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agg_str_idx size = UFS_AGG_GROUP_PRODUCT_REV_STR - UFS_AGG_GROUP_MANUFACTURER_STR + 1 = 5 entries, indexed by (group type - UFS_AGG_GROUP_MANUFACTURER_STR). agg_read_unsupported is in struct ufs_dev_info; the packet pointers are in struct ufs_hba, the packet is per-adapter.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Patch 1 adds no query logic; it adds vocabulary and teaches the response copy path about the new opcode. The opcode macro itself is used by Patch 2 but not defined in either diff (it already exists in the tree, per context). QUERY_AGGREGATED_MAX_SIZE also appears only as context in Patch 1.</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Patch 2 stat: 3 files, 351 insertions / 18 deletions. Adds ufs_agg_attr_width[], eight static helpers, hooks in ufshcd_read_desc_param(), three attribute callers, the flag caller, begin in ufs_get_device_desc() and end in ufshcd_device_params_init(). Callers ufshcd_create_device_id() / Product Name read are served through the desc/string path; their code is not in the diff.</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Patch 2 depends on Patch 1 symbols (enum ufs_agg_type, group types, utp_agg_group_header, QUERY_AGG_GROUP_HDR_SIZE, query_res-&gt;data_segment_length). Without Patch 1 the Patch 2 code would not compile or could not read reply length.</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UFS &lt; 5.0: packet never allocated; every agg parser returns NULL/-ENOENT immediately and the pre-patch QUERY runs. UFS &gt;= 5.0 supported: one aggregated read. UFS &gt;= 5.0 unsupported: flag set, kfree, fallback. Whether the callers all run before the end call is not shown in the diff.</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patch the call in ufshcd_set_rtt() is ufshcd_read_attr(hba, QUERY_ATTR_IDN_MAX_NUM_OF_RTT, 0, &amp;dev_rtt). It is still gated by wspecversion &lt; 0x400 return (so UFS 4.x does call it, but only a UFS &gt;= 5.0 device has a cache; 4.x uses a normal QUERY).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Name is read in ufs_get_device_desc() after begin; serial number in ufshcd_create_device_id(). Both strings are fetched through the descriptor read path where idn == QUERY_DESC_IDN_STRING (call-chain detail is inferred from the patch; the string-read wrappers are not in the diff).</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quote numbers. The patch contains no measurements.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Tradeoffs are descriptive, not defects. Memory: one QUERY_AGGREGATED_MAX_SIZE buffer, only during init.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Items marked ? are open questions for the author, not defects: they are not established by the diff.</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column is the setup path; right side shows consumers. read_attr/read_flag/read_desc_param are the stable external API surface.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 /><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 /><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 /><Relationship Id="rId1" Type="http://schemas.openxmlformats.org/officeDocument/2006/relationships/slideLayout" Target="../slideLayouts/slideLayout1.xml" /></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 /><Relationship Id="rId1" Type="http://schemas.openxmlformats.org/officeDocument/2006/relationships/slideLayout" Target="../slideLayouts/slideLayout1.xml" /></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 /><Relationship Id="rId1" Type="http://schemas.openxmlformats.org/officeDocument/2006/relationships/slideLayout" Target="../slideLayouts/slideLayout1.xml" /></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 /><Relationship Id="rId1" Type="http://schemas.openxmlformats.org/officeDocument/2006/relationships/slideLayout" Target="../slideLayouts/slideLayout1.xml" /></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 /><Relationship Id="rId1" Type="http://schemas.openxmlformats.org/officeDocument/2006/relationships/slideLayout" Target="../slideLayouts/slideLayout1.xml" /></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 /><Relationship Id="rId1" Type="http://schemas.openxmlformats.org/officeDocument/2006/relationships/slideLayout" Target="../slideLayouts/slideLayout1.xml" /></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 /><Relationship Id="rId1" Type="http://schemas.openxmlformats.org/officeDocument/2006/relationships/slideLayout" Target="../slideLayouts/slideLayout1.xml" /></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 /><Relationship Id="rId1" Type="http://schemas.openxmlformats.org/officeDocument/2006/relationships/slideLayout" Target="../slideLayouts/slideLayout1.xml" /></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 /><Relationship Id="rId1" Type="http://schemas.openxmlformats.org/officeDocument/2006/relationships/slideLayout" Target="../slideLayouts/slideLayout1.xml" /></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 /><Relationship Id="rId1" Type="http://schemas.openxmlformats.org/officeDocument/2006/relationships/slideLayout" Target="../slideLayouts/slideLayout1.xml" /></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 /><Relationship Id="rId1" Type="http://schemas.openxmlformats.org/officeDocument/2006/relationships/slideLayout" Target="../slideLayouts/slideLayout1.xml" /></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 /><Relationship Id="rId1" Type="http://schemas.openxmlformats.org/officeDocument/2006/relationships/slideLayout" Target="../slideLayouts/slideLayout1.xml" /></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 /><Relationship Id="rId1" Type="http://schemas.openxmlformats.org/officeDocument/2006/relationships/slideLayout" Target="../slideLayouts/slideLayout1.xml" /></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 /><Relationship Id="rId1" Type="http://schemas.openxmlformats.org/officeDocument/2006/relationships/slideLayout" Target="../slideLayouts/slideLayout1.xml" /></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 /><Relationship Id="rId1" Type="http://schemas.openxmlformats.org/officeDocument/2006/relationships/slideLayout" Target="../slideLayouts/slideLayout1.xml" /></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 /><Relationship Id="rId1" Type="http://schemas.openxmlformats.org/officeDocument/2006/relationships/slideLayout" Target="../slideLayouts/slideLayout1.xml" /></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 /><Relationship Id="rId1" Type="http://schemas.openxmlformats.org/officeDocument/2006/relationships/slideLayout" Target="../slideLayouts/slideLayout1.xml" /></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 /><Relationship Id="rId1" Type="http://schemas.openxmlformats.org/officeDocument/2006/relationships/slideLayout" Target="../slideLayouts/slideLayout1.xml" /></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Text 0"/>
          <p:cNvSpPr txBox="1"/>
          <p:nvPr/>
        </p:nvSpPr>
        <p:spPr>
          <a:xfrm>
            <a:off x="548640" y="1097280"/>
            <a:ext cx="8046720" cy="1005840"/>
          </a:xfrm>
          <a:prstGeom prst="rect">
            <a:avLst/>
          </a:prstGeom>
          <a:noFill/>
          <a:ln/>
        </p:spPr>
        <p:txBody>
          <a:bodyPr wrap="square" lIns="25400" tIns="25400" rIns="25400" bIns="2540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UFS 5.0 Aggregated Read - Linux Kernel Patch Analysis</a:t>
            </a:r>
            <a:endParaRPr lang="en-US" sz="3200" dirty="0"/>
          </a:p>
        </p:txBody>
      </p:sp>
      <p:sp>
        <p:nvSpPr>
          <p:cNvPr id="3" name="Text 1"/>
          <p:cNvSpPr txBox="1"/>
          <p:nvPr/>
        </p:nvSpPr>
        <p:spPr>
          <a:xfrm>
            <a:off x="548640" y="2103120"/>
            <a:ext cx="8046720" cy="457200"/>
          </a:xfrm>
          <a:prstGeom prst="rect">
            <a:avLst/>
          </a:prstGeom>
          <a:noFill/>
          <a:ln/>
        </p:spPr>
        <p:txBody>
          <a:bodyPr wrap="square" lIns="25400" tIns="25400" rIns="25400" bIns="25400" rtlCol="0" anchor="t"/>
          <a:lstStyle/>
          <a:p>
            <a:pPr marL="0" indent="0">
              <a:buNone/>
            </a:pPr>
            <a:r>
              <a:rPr lang="en-US" sz="2000" dirty="0">
                <a:solidFill>
                  <a:srgbClr val="F5A623"/>
                </a:solidFill>
                <a:latin typeface="Calibri" pitchFamily="34" charset="0"/>
                <a:ea typeface="Calibri" pitchFamily="34" charset="-122"/>
                <a:cs typeface="Calibri" pitchFamily="34" charset="-120"/>
              </a:rPr>
              <a:t>Batching UFS Device Initialization Reads</a:t>
            </a:r>
            <a:endParaRPr lang="en-US" sz="2000" dirty="0"/>
          </a:p>
        </p:txBody>
      </p:sp>
      <p:sp>
        <p:nvSpPr>
          <p:cNvPr id="4" name="Text 2"/>
          <p:cNvSpPr txBox="1"/>
          <p:nvPr/>
        </p:nvSpPr>
        <p:spPr>
          <a:xfrm>
            <a:off x="548640" y="2926080"/>
            <a:ext cx="8046720" cy="1463040"/>
          </a:xfrm>
          <a:prstGeom prst="rect">
            <a:avLst/>
          </a:prstGeom>
          <a:noFill/>
          <a:ln/>
        </p:spPr>
        <p:txBody>
          <a:bodyPr wrap="square" lIns="25400" tIns="25400" rIns="25400" bIns="25400" rtlCol="0" anchor="t"/>
          <a:lstStyle/>
          <a:p>
            <a:pPr marL="0" indent="0">
              <a:buNone/>
            </a:pPr>
            <a:r>
              <a:rPr lang="en-US" sz="1200" dirty="0">
                <a:solidFill>
                  <a:srgbClr val="C9D6EA"/>
                </a:solidFill>
                <a:latin typeface="Calibri" pitchFamily="34" charset="0"/>
                <a:ea typeface="Calibri" pitchFamily="34" charset="-122"/>
                <a:cs typeface="Calibri" pitchFamily="34" charset="-120"/>
              </a:rPr>
              <a:t>Patch: scsi-ufs-batch-device-init-reads-with-UFS-5.0-aggregated-read.patch</a:t>
            </a:r>
            <a:endParaRPr lang="en-US" sz="1200" dirty="0"/>
          </a:p>
          <a:p>
            <a:pPr marL="0" indent="0">
              <a:buNone/>
            </a:pPr>
            <a:r>
              <a:rPr lang="en-US" sz="1200" dirty="0">
                <a:solidFill>
                  <a:srgbClr val="C9D6EA"/>
                </a:solidFill>
                <a:latin typeface="Calibri" pitchFamily="34" charset="0"/>
                <a:ea typeface="Calibri" pitchFamily="34" charset="-122"/>
                <a:cs typeface="Calibri" pitchFamily="34" charset="-120"/>
              </a:rPr>
              <a:t>Series: [PATCH v2 1/2] Add the aggregated read query opcode and its reply format; [PATCH v2 2/2] Serve the device init reads from one aggregated read</a:t>
            </a:r>
            <a:endParaRPr lang="en-US" sz="1200" dirty="0"/>
          </a:p>
          <a:p>
            <a:pPr marL="0" indent="0">
              <a:buNone/>
            </a:pPr>
            <a:r>
              <a:rPr lang="en-US" sz="1200" dirty="0">
                <a:solidFill>
                  <a:srgbClr val="C9D6EA"/>
                </a:solidFill>
                <a:latin typeface="Calibri" pitchFamily="34" charset="0"/>
                <a:ea typeface="Calibri" pitchFamily="34" charset="-122"/>
                <a:cs typeface="Calibri" pitchFamily="34" charset="-120"/>
              </a:rPr>
              <a:t>Context: Linux SCSI / UFS core (drivers/ufs/core/ufshcd.c, include/ufs/ufs.h, include/ufs/ufshcd.h)</a:t>
            </a:r>
            <a:endParaRPr lang="en-US" sz="1200" dirty="0"/>
          </a:p>
          <a:p>
            <a:pPr marL="0" indent="0">
              <a:buNone/>
            </a:pPr>
            <a:r>
              <a:rPr lang="en-US" sz="1200" dirty="0">
                <a:solidFill>
                  <a:srgbClr val="C9D6EA"/>
                </a:solidFill>
                <a:latin typeface="Calibri" pitchFamily="34" charset="0"/>
                <a:ea typeface="Calibri" pitchFamily="34" charset="-122"/>
                <a:cs typeface="Calibri" pitchFamily="34" charset="-120"/>
              </a:rPr>
              <a:t>Technical code walkthrough. Author of patches: Hyeoncheol Jeong (Samsung); Reviewed-by: Peter Wang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Executive Summary</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1 Introduction</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2  |  Source: [PATCH v2 1/2], [PATCH v2 2/2]</a:t>
            </a:r>
            <a:endParaRPr lang="en-US" sz="800" dirty="0"/>
          </a:p>
        </p:txBody>
      </p:sp>
      <p:sp>
        <p:nvSpPr>
          <p:cNvPr id="7" name="Text 4"/>
          <p:cNvSpPr txBox="1"/>
          <p:nvPr/>
        </p:nvSpPr>
        <p:spPr>
          <a:xfrm>
            <a:off x="274320" y="640080"/>
            <a:ext cx="4023360" cy="274320"/>
          </a:xfrm>
          <a:prstGeom prst="rect">
            <a:avLst/>
          </a:prstGeom>
          <a:noFill/>
          <a:ln/>
        </p:spPr>
        <p:txBody>
          <a:bodyPr wrap="square" lIns="25400" tIns="25400" rIns="25400" bIns="25400" rtlCol="0" anchor="t"/>
          <a:lstStyle/>
          <a:p>
            <a:pPr marL="0" indent="0">
              <a:buNone/>
            </a:pPr>
            <a:r>
              <a:rPr lang="en-US" sz="1300" b="1" dirty="0">
                <a:solidFill>
                  <a:srgbClr val="B03A2E"/>
                </a:solidFill>
                <a:latin typeface="Calibri" pitchFamily="34" charset="0"/>
                <a:ea typeface="Calibri" pitchFamily="34" charset="-122"/>
                <a:cs typeface="Calibri" pitchFamily="34" charset="-120"/>
              </a:rPr>
              <a:t>BEFORE</a:t>
            </a:r>
            <a:endParaRPr lang="en-US" sz="1300" dirty="0"/>
          </a:p>
        </p:txBody>
      </p:sp>
      <p:sp>
        <p:nvSpPr>
          <p:cNvPr id="8" name="Text 5"/>
          <p:cNvSpPr txBox="1"/>
          <p:nvPr/>
        </p:nvSpPr>
        <p:spPr>
          <a:xfrm>
            <a:off x="4663440" y="640080"/>
            <a:ext cx="4206240" cy="274320"/>
          </a:xfrm>
          <a:prstGeom prst="rect">
            <a:avLst/>
          </a:prstGeom>
          <a:noFill/>
          <a:ln/>
        </p:spPr>
        <p:txBody>
          <a:bodyPr wrap="square" lIns="25400" tIns="25400" rIns="25400" bIns="25400" rtlCol="0" anchor="t"/>
          <a:lstStyle/>
          <a:p>
            <a:pPr marL="0" indent="0">
              <a:buNone/>
            </a:pPr>
            <a:r>
              <a:rPr lang="en-US" sz="1300" b="1" dirty="0">
                <a:solidFill>
                  <a:srgbClr val="2E8B57"/>
                </a:solidFill>
                <a:latin typeface="Calibri" pitchFamily="34" charset="0"/>
                <a:ea typeface="Calibri" pitchFamily="34" charset="-122"/>
                <a:cs typeface="Calibri" pitchFamily="34" charset="-120"/>
              </a:rPr>
              <a:t>AFTER - UFS 5.0</a:t>
            </a:r>
            <a:endParaRPr lang="en-US" sz="1300" dirty="0"/>
          </a:p>
        </p:txBody>
      </p:sp>
      <p:sp>
        <p:nvSpPr>
          <p:cNvPr id="9" name="Text 6"/>
          <p:cNvSpPr/>
          <p:nvPr/>
        </p:nvSpPr>
        <p:spPr>
          <a:xfrm>
            <a:off x="548640" y="1005840"/>
            <a:ext cx="1097280" cy="36576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Host</a:t>
            </a:r>
            <a:endParaRPr lang="en-US" sz="1000" dirty="0"/>
          </a:p>
        </p:txBody>
      </p:sp>
      <p:sp>
        <p:nvSpPr>
          <p:cNvPr id="10" name="Text 7"/>
          <p:cNvSpPr/>
          <p:nvPr/>
        </p:nvSpPr>
        <p:spPr>
          <a:xfrm>
            <a:off x="2011680" y="960120"/>
            <a:ext cx="1645920" cy="310896"/>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QUERY ATTR</a:t>
            </a:r>
            <a:endParaRPr lang="en-US" sz="1000" dirty="0"/>
          </a:p>
        </p:txBody>
      </p:sp>
      <p:sp>
        <p:nvSpPr>
          <p:cNvPr id="11" name="Shape 8"/>
          <p:cNvSpPr/>
          <p:nvPr/>
        </p:nvSpPr>
        <p:spPr>
          <a:xfrm flipV="1">
            <a:off x="1645920" y="1115568"/>
            <a:ext cx="365760" cy="73152"/>
          </a:xfrm>
          <a:prstGeom prst="line">
            <a:avLst/>
          </a:prstGeom>
          <a:noFill/>
          <a:ln w="19050">
            <a:solidFill>
              <a:srgbClr val="5A6B7F"/>
            </a:solidFill>
            <a:prstDash val="solid"/>
            <a:tailEnd type="triangle"/>
          </a:ln>
        </p:spPr>
      </p:sp>
      <p:sp>
        <p:nvSpPr>
          <p:cNvPr id="12" name="Text 9"/>
          <p:cNvSpPr/>
          <p:nvPr/>
        </p:nvSpPr>
        <p:spPr>
          <a:xfrm>
            <a:off x="2011680" y="1344168"/>
            <a:ext cx="1645920" cy="310896"/>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QUERY ATTR</a:t>
            </a:r>
            <a:endParaRPr lang="en-US" sz="1000" dirty="0"/>
          </a:p>
        </p:txBody>
      </p:sp>
      <p:sp>
        <p:nvSpPr>
          <p:cNvPr id="13" name="Shape 10"/>
          <p:cNvSpPr/>
          <p:nvPr/>
        </p:nvSpPr>
        <p:spPr>
          <a:xfrm>
            <a:off x="1645920" y="1188720"/>
            <a:ext cx="365760" cy="310896"/>
          </a:xfrm>
          <a:prstGeom prst="line">
            <a:avLst/>
          </a:prstGeom>
          <a:noFill/>
          <a:ln w="19050">
            <a:solidFill>
              <a:srgbClr val="5A6B7F"/>
            </a:solidFill>
            <a:prstDash val="solid"/>
            <a:tailEnd type="triangle"/>
          </a:ln>
        </p:spPr>
      </p:sp>
      <p:sp>
        <p:nvSpPr>
          <p:cNvPr id="14" name="Text 11"/>
          <p:cNvSpPr/>
          <p:nvPr/>
        </p:nvSpPr>
        <p:spPr>
          <a:xfrm>
            <a:off x="2011680" y="1728216"/>
            <a:ext cx="1645920" cy="310896"/>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QUERY FLAG</a:t>
            </a:r>
            <a:endParaRPr lang="en-US" sz="1000" dirty="0"/>
          </a:p>
        </p:txBody>
      </p:sp>
      <p:sp>
        <p:nvSpPr>
          <p:cNvPr id="15" name="Shape 12"/>
          <p:cNvSpPr/>
          <p:nvPr/>
        </p:nvSpPr>
        <p:spPr>
          <a:xfrm>
            <a:off x="1645920" y="1188720"/>
            <a:ext cx="365760" cy="694944"/>
          </a:xfrm>
          <a:prstGeom prst="line">
            <a:avLst/>
          </a:prstGeom>
          <a:noFill/>
          <a:ln w="19050">
            <a:solidFill>
              <a:srgbClr val="5A6B7F"/>
            </a:solidFill>
            <a:prstDash val="solid"/>
            <a:tailEnd type="triangle"/>
          </a:ln>
        </p:spPr>
      </p:sp>
      <p:sp>
        <p:nvSpPr>
          <p:cNvPr id="16" name="Text 13"/>
          <p:cNvSpPr/>
          <p:nvPr/>
        </p:nvSpPr>
        <p:spPr>
          <a:xfrm>
            <a:off x="2011680" y="2112264"/>
            <a:ext cx="1645920" cy="310896"/>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QUERY STRING</a:t>
            </a:r>
            <a:endParaRPr lang="en-US" sz="1000" dirty="0"/>
          </a:p>
        </p:txBody>
      </p:sp>
      <p:sp>
        <p:nvSpPr>
          <p:cNvPr id="17" name="Shape 14"/>
          <p:cNvSpPr/>
          <p:nvPr/>
        </p:nvSpPr>
        <p:spPr>
          <a:xfrm>
            <a:off x="1645920" y="1188720"/>
            <a:ext cx="365760" cy="1078992"/>
          </a:xfrm>
          <a:prstGeom prst="line">
            <a:avLst/>
          </a:prstGeom>
          <a:noFill/>
          <a:ln w="19050">
            <a:solidFill>
              <a:srgbClr val="5A6B7F"/>
            </a:solidFill>
            <a:prstDash val="solid"/>
            <a:tailEnd type="triangle"/>
          </a:ln>
        </p:spPr>
      </p:sp>
      <p:sp>
        <p:nvSpPr>
          <p:cNvPr id="18" name="Text 15"/>
          <p:cNvSpPr/>
          <p:nvPr/>
        </p:nvSpPr>
        <p:spPr>
          <a:xfrm>
            <a:off x="2011680" y="2496312"/>
            <a:ext cx="1645920" cy="310896"/>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QUERY STRING</a:t>
            </a:r>
            <a:endParaRPr lang="en-US" sz="1000" dirty="0"/>
          </a:p>
        </p:txBody>
      </p:sp>
      <p:sp>
        <p:nvSpPr>
          <p:cNvPr id="19" name="Shape 16"/>
          <p:cNvSpPr/>
          <p:nvPr/>
        </p:nvSpPr>
        <p:spPr>
          <a:xfrm>
            <a:off x="1645920" y="1188720"/>
            <a:ext cx="365760" cy="1463040"/>
          </a:xfrm>
          <a:prstGeom prst="line">
            <a:avLst/>
          </a:prstGeom>
          <a:noFill/>
          <a:ln w="19050">
            <a:solidFill>
              <a:srgbClr val="5A6B7F"/>
            </a:solidFill>
            <a:prstDash val="solid"/>
            <a:tailEnd type="triangle"/>
          </a:ln>
        </p:spPr>
      </p:sp>
      <p:sp>
        <p:nvSpPr>
          <p:cNvPr id="20" name="Text 17"/>
          <p:cNvSpPr/>
          <p:nvPr/>
        </p:nvSpPr>
        <p:spPr>
          <a:xfrm>
            <a:off x="2011680" y="2880360"/>
            <a:ext cx="1645920" cy="310896"/>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QUERY DESC ...</a:t>
            </a:r>
            <a:endParaRPr lang="en-US" sz="1000" dirty="0"/>
          </a:p>
        </p:txBody>
      </p:sp>
      <p:sp>
        <p:nvSpPr>
          <p:cNvPr id="21" name="Shape 18"/>
          <p:cNvSpPr/>
          <p:nvPr/>
        </p:nvSpPr>
        <p:spPr>
          <a:xfrm>
            <a:off x="1645920" y="1188720"/>
            <a:ext cx="365760" cy="1847088"/>
          </a:xfrm>
          <a:prstGeom prst="line">
            <a:avLst/>
          </a:prstGeom>
          <a:noFill/>
          <a:ln w="19050">
            <a:solidFill>
              <a:srgbClr val="5A6B7F"/>
            </a:solidFill>
            <a:prstDash val="solid"/>
            <a:tailEnd type="triangle"/>
          </a:ln>
        </p:spPr>
      </p:sp>
      <p:sp>
        <p:nvSpPr>
          <p:cNvPr id="22" name="Text 19"/>
          <p:cNvSpPr/>
          <p:nvPr/>
        </p:nvSpPr>
        <p:spPr>
          <a:xfrm>
            <a:off x="4846320" y="1005840"/>
            <a:ext cx="1005840" cy="36576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Host</a:t>
            </a:r>
            <a:endParaRPr lang="en-US" sz="1000" dirty="0"/>
          </a:p>
        </p:txBody>
      </p:sp>
      <p:sp>
        <p:nvSpPr>
          <p:cNvPr id="23" name="Text 20"/>
          <p:cNvSpPr/>
          <p:nvPr/>
        </p:nvSpPr>
        <p:spPr>
          <a:xfrm>
            <a:off x="6309360" y="1005840"/>
            <a:ext cx="2560320" cy="548640"/>
          </a:xfrm>
          <a:prstGeom prst="rect">
            <a:avLst/>
          </a:prstGeom>
          <a:solidFill>
            <a:srgbClr val="F5A623"/>
          </a:solidFill>
          <a:ln w="12700">
            <a:solidFill>
              <a:srgbClr val="B8760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AGGREGATED READ (one QUERY)</a:t>
            </a:r>
            <a:endParaRPr lang="en-US" sz="1000" dirty="0"/>
          </a:p>
          <a:p>
            <a:pPr marL="0" indent="0" algn="ctr">
              <a:buNone/>
            </a:pPr>
            <a:r>
              <a:rPr lang="en-US" sz="1000" dirty="0">
                <a:solidFill>
                  <a:srgbClr val="0B1F3A"/>
                </a:solidFill>
                <a:latin typeface="Calibri" pitchFamily="34" charset="0"/>
                <a:ea typeface="Calibri" pitchFamily="34" charset="-122"/>
                <a:cs typeface="Calibri" pitchFamily="34" charset="-120"/>
              </a:rPr>
              <a:t>ATTRS | FLAGS | STRING data</a:t>
            </a:r>
            <a:endParaRPr lang="en-US" sz="1000" dirty="0"/>
          </a:p>
        </p:txBody>
      </p:sp>
      <p:sp>
        <p:nvSpPr>
          <p:cNvPr id="24" name="Shape 21"/>
          <p:cNvSpPr/>
          <p:nvPr/>
        </p:nvSpPr>
        <p:spPr>
          <a:xfrm>
            <a:off x="5852160" y="1188720"/>
            <a:ext cx="457200" cy="91440"/>
          </a:xfrm>
          <a:prstGeom prst="line">
            <a:avLst/>
          </a:prstGeom>
          <a:noFill/>
          <a:ln w="19050">
            <a:solidFill>
              <a:srgbClr val="5A6B7F"/>
            </a:solidFill>
            <a:prstDash val="solid"/>
            <a:tailEnd type="triangle"/>
          </a:ln>
        </p:spPr>
      </p:sp>
      <p:sp>
        <p:nvSpPr>
          <p:cNvPr id="25" name="Shape 22"/>
          <p:cNvSpPr/>
          <p:nvPr/>
        </p:nvSpPr>
        <p:spPr>
          <a:xfrm>
            <a:off x="7589520" y="1554480"/>
            <a:ext cx="0" cy="274320"/>
          </a:xfrm>
          <a:prstGeom prst="line">
            <a:avLst/>
          </a:prstGeom>
          <a:noFill/>
          <a:ln w="19050">
            <a:solidFill>
              <a:srgbClr val="5A6B7F"/>
            </a:solidFill>
            <a:prstDash val="solid"/>
            <a:tailEnd type="triangle"/>
          </a:ln>
        </p:spPr>
      </p:sp>
      <p:sp>
        <p:nvSpPr>
          <p:cNvPr id="26" name="Text 23"/>
          <p:cNvSpPr/>
          <p:nvPr/>
        </p:nvSpPr>
        <p:spPr>
          <a:xfrm>
            <a:off x="6309360" y="1828800"/>
            <a:ext cx="2560320" cy="36576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CACHE (hba-&gt;agg_packet)</a:t>
            </a:r>
            <a:endParaRPr lang="en-US" sz="1000" dirty="0"/>
          </a:p>
        </p:txBody>
      </p:sp>
      <p:sp>
        <p:nvSpPr>
          <p:cNvPr id="27" name="Shape 24"/>
          <p:cNvSpPr/>
          <p:nvPr/>
        </p:nvSpPr>
        <p:spPr>
          <a:xfrm>
            <a:off x="7589520" y="2194560"/>
            <a:ext cx="0" cy="274320"/>
          </a:xfrm>
          <a:prstGeom prst="line">
            <a:avLst/>
          </a:prstGeom>
          <a:noFill/>
          <a:ln w="19050">
            <a:solidFill>
              <a:srgbClr val="5A6B7F"/>
            </a:solidFill>
            <a:prstDash val="solid"/>
            <a:tailEnd type="triangle"/>
          </a:ln>
        </p:spPr>
      </p:sp>
      <p:sp>
        <p:nvSpPr>
          <p:cNvPr id="28" name="Text 25"/>
          <p:cNvSpPr/>
          <p:nvPr/>
        </p:nvSpPr>
        <p:spPr>
          <a:xfrm>
            <a:off x="6309360" y="2468880"/>
            <a:ext cx="2560320" cy="54864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Existing read APIs consume cached data</a:t>
            </a:r>
            <a:endParaRPr lang="en-US" sz="1000" dirty="0"/>
          </a:p>
          <a:p>
            <a:pPr marL="0" indent="0" algn="ctr">
              <a:buNone/>
            </a:pPr>
            <a:r>
              <a:rPr lang="en-US" sz="1000" dirty="0">
                <a:solidFill>
                  <a:srgbClr val="0B1F3A"/>
                </a:solidFill>
                <a:latin typeface="Calibri" pitchFamily="34" charset="0"/>
                <a:ea typeface="Calibri" pitchFamily="34" charset="-122"/>
                <a:cs typeface="Calibri" pitchFamily="34" charset="-120"/>
              </a:rPr>
              <a:t>read_attr / read_flag / read_desc_param</a:t>
            </a:r>
            <a:endParaRPr lang="en-US" sz="1000" dirty="0"/>
          </a:p>
        </p:txBody>
      </p:sp>
      <p:sp>
        <p:nvSpPr>
          <p:cNvPr id="29" name="Shape 26"/>
          <p:cNvSpPr/>
          <p:nvPr/>
        </p:nvSpPr>
        <p:spPr>
          <a:xfrm>
            <a:off x="7589520" y="3017520"/>
            <a:ext cx="0" cy="274320"/>
          </a:xfrm>
          <a:prstGeom prst="line">
            <a:avLst/>
          </a:prstGeom>
          <a:noFill/>
          <a:ln w="19050">
            <a:solidFill>
              <a:srgbClr val="5A6B7F"/>
            </a:solidFill>
            <a:prstDash val="solid"/>
            <a:tailEnd type="triangle"/>
          </a:ln>
        </p:spPr>
      </p:sp>
      <p:sp>
        <p:nvSpPr>
          <p:cNvPr id="30" name="Text 27"/>
          <p:cNvSpPr/>
          <p:nvPr/>
        </p:nvSpPr>
        <p:spPr>
          <a:xfrm>
            <a:off x="6309360" y="3291840"/>
            <a:ext cx="2560320" cy="365760"/>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Not cached -&gt; normal QUERY (unchanged)</a:t>
            </a:r>
            <a:endParaRPr lang="en-US" sz="1000" dirty="0"/>
          </a:p>
        </p:txBody>
      </p:sp>
      <p:sp>
        <p:nvSpPr>
          <p:cNvPr id="31" name="Text 28"/>
          <p:cNvSpPr/>
          <p:nvPr/>
        </p:nvSpPr>
        <p:spPr>
          <a:xfrm>
            <a:off x="365760" y="3977640"/>
            <a:ext cx="8412480" cy="64008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Aggregated read is an optimization layer that reduces the number of individual UFS QUERY operations during device initialization.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What Problem Is Being Solved?</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1 Introduction</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3  |  Source: [PATCH v2 1/2], [PATCH v2 2/2]</a:t>
            </a:r>
            <a:endParaRPr lang="en-US" sz="800" dirty="0"/>
          </a:p>
        </p:txBody>
      </p:sp>
      <p:sp>
        <p:nvSpPr>
          <p:cNvPr id="7" name="Text 4"/>
          <p:cNvSpPr txBox="1"/>
          <p:nvPr/>
        </p:nvSpPr>
        <p:spPr>
          <a:xfrm>
            <a:off x="274320" y="640080"/>
            <a:ext cx="4206240" cy="2926080"/>
          </a:xfrm>
          <a:prstGeom prst="rect">
            <a:avLst/>
          </a:prstGeom>
          <a:noFill/>
          <a:ln/>
        </p:spPr>
        <p:txBody>
          <a:bodyPr wrap="square" lIns="25400" tIns="25400" rIns="25400" bIns="25400" rtlCol="0" anchor="t"/>
          <a:lstStyle/>
          <a:p>
            <a:pPr marL="342900" indent="-3429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Device init reads several attributes and flags one query at a time (Patch 2 commit message).</a:t>
            </a:r>
            <a:endParaRPr lang="en-US" sz="1100" dirty="0"/>
          </a:p>
          <a:p>
            <a:pPr marL="342900" indent="-3429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UFS 5.0 adds the AGGREGATED READ opcode (0x9): one QUERY RESPONSE UPIU returns many descriptors, attributes and flags as a chain of typed groups (JESD220H 10.7.9.14).</a:t>
            </a:r>
            <a:endParaRPr lang="en-US" sz="1100" dirty="0"/>
          </a:p>
          <a:p>
            <a:pPr marL="342900" indent="-3429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Patch 2: issue one AGGREGATED READ once the device descriptor has established wSpecVersion, cache the reply, serve later reads from it.</a:t>
            </a:r>
            <a:endParaRPr lang="en-US" sz="1100" dirty="0"/>
          </a:p>
          <a:p>
            <a:pPr marL="342900" indent="-3429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Anything not present, older devices, or a rejected opcode fall back to individual queries.</a:t>
            </a:r>
            <a:endParaRPr lang="en-US" sz="1100" dirty="0"/>
          </a:p>
        </p:txBody>
      </p:sp>
      <p:sp>
        <p:nvSpPr>
          <p:cNvPr id="8" name="Text 5"/>
          <p:cNvSpPr/>
          <p:nvPr/>
        </p:nvSpPr>
        <p:spPr>
          <a:xfrm>
            <a:off x="274320" y="3749040"/>
            <a:ext cx="4206240" cy="640080"/>
          </a:xfrm>
          <a:prstGeom prst="rect">
            <a:avLst/>
          </a:prstGeom>
          <a:solidFill>
            <a:srgbClr val="D9F0F2"/>
          </a:solidFill>
          <a:ln w="12700">
            <a:solidFill>
              <a:srgbClr val="0E7C86"/>
            </a:solidFill>
          </a:ln>
        </p:spPr>
        <p:txBody>
          <a:bodyPr wrap="square" lIns="38100" tIns="38100" rIns="38100" bIns="38100" rtlCol="0" anchor="ctr"/>
          <a:lstStyle/>
          <a:p>
            <a:pPr marL="0" indent="0" algn="l">
              <a:buNone/>
            </a:pPr>
            <a:r>
              <a:rPr lang="en-US" sz="900" i="1" dirty="0">
                <a:solidFill>
                  <a:srgbClr val="0B1F3A"/>
                </a:solidFill>
                <a:latin typeface="Calibri" pitchFamily="34" charset="0"/>
                <a:ea typeface="Calibri" pitchFamily="34" charset="-122"/>
                <a:cs typeface="Calibri" pitchFamily="34" charset="-120"/>
              </a:rPr>
              <a:t>Background / explanatory context: each QUERY is a separate command/response round trip through the host controller; init is on the probe path.</a:t>
            </a:r>
            <a:endParaRPr lang="en-US" sz="900" dirty="0"/>
          </a:p>
        </p:txBody>
      </p:sp>
      <p:sp>
        <p:nvSpPr>
          <p:cNvPr id="9" name="Text 6"/>
          <p:cNvSpPr txBox="1"/>
          <p:nvPr/>
        </p:nvSpPr>
        <p:spPr>
          <a:xfrm>
            <a:off x="4754880" y="640080"/>
            <a:ext cx="1828800" cy="274320"/>
          </a:xfrm>
          <a:prstGeom prst="rect">
            <a:avLst/>
          </a:prstGeom>
          <a:noFill/>
          <a:ln/>
        </p:spPr>
        <p:txBody>
          <a:bodyPr wrap="square" lIns="25400" tIns="25400" rIns="25400" bIns="25400" rtlCol="0" anchor="t"/>
          <a:lstStyle/>
          <a:p>
            <a:pPr marL="0" indent="0">
              <a:buNone/>
            </a:pPr>
            <a:r>
              <a:rPr lang="en-US" sz="1100" b="1" dirty="0">
                <a:solidFill>
                  <a:srgbClr val="B03A2E"/>
                </a:solidFill>
                <a:latin typeface="Calibri" pitchFamily="34" charset="0"/>
                <a:ea typeface="Calibri" pitchFamily="34" charset="-122"/>
                <a:cs typeface="Calibri" pitchFamily="34" charset="-120"/>
              </a:rPr>
              <a:t>Before</a:t>
            </a:r>
            <a:endParaRPr lang="en-US" sz="1100" dirty="0"/>
          </a:p>
        </p:txBody>
      </p:sp>
      <p:sp>
        <p:nvSpPr>
          <p:cNvPr id="10" name="Text 7"/>
          <p:cNvSpPr txBox="1"/>
          <p:nvPr/>
        </p:nvSpPr>
        <p:spPr>
          <a:xfrm>
            <a:off x="6949440" y="640080"/>
            <a:ext cx="1828800" cy="274320"/>
          </a:xfrm>
          <a:prstGeom prst="rect">
            <a:avLst/>
          </a:prstGeom>
          <a:noFill/>
          <a:ln/>
        </p:spPr>
        <p:txBody>
          <a:bodyPr wrap="square" lIns="25400" tIns="25400" rIns="25400" bIns="25400" rtlCol="0" anchor="t"/>
          <a:lstStyle/>
          <a:p>
            <a:pPr marL="0" indent="0">
              <a:buNone/>
            </a:pPr>
            <a:r>
              <a:rPr lang="en-US" sz="1100" b="1" dirty="0">
                <a:solidFill>
                  <a:srgbClr val="2E8B57"/>
                </a:solidFill>
                <a:latin typeface="Calibri" pitchFamily="34" charset="0"/>
                <a:ea typeface="Calibri" pitchFamily="34" charset="-122"/>
                <a:cs typeface="Calibri" pitchFamily="34" charset="-120"/>
              </a:rPr>
              <a:t>After (UFS 5.0)</a:t>
            </a:r>
            <a:endParaRPr lang="en-US" sz="1100" dirty="0"/>
          </a:p>
        </p:txBody>
      </p:sp>
      <p:sp>
        <p:nvSpPr>
          <p:cNvPr id="11" name="Text 8"/>
          <p:cNvSpPr/>
          <p:nvPr/>
        </p:nvSpPr>
        <p:spPr>
          <a:xfrm>
            <a:off x="4754880" y="914400"/>
            <a:ext cx="822960" cy="27432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Driver</a:t>
            </a:r>
            <a:endParaRPr lang="en-US" sz="1000" dirty="0"/>
          </a:p>
        </p:txBody>
      </p:sp>
      <p:sp>
        <p:nvSpPr>
          <p:cNvPr id="12" name="Text 9"/>
          <p:cNvSpPr/>
          <p:nvPr/>
        </p:nvSpPr>
        <p:spPr>
          <a:xfrm>
            <a:off x="5852160" y="914400"/>
            <a:ext cx="822960" cy="27432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Device</a:t>
            </a:r>
            <a:endParaRPr lang="en-US" sz="1000" dirty="0"/>
          </a:p>
        </p:txBody>
      </p:sp>
      <p:sp>
        <p:nvSpPr>
          <p:cNvPr id="13" name="Text 10"/>
          <p:cNvSpPr/>
          <p:nvPr/>
        </p:nvSpPr>
        <p:spPr>
          <a:xfrm>
            <a:off x="7040880" y="914400"/>
            <a:ext cx="822960" cy="27432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Driver</a:t>
            </a:r>
            <a:endParaRPr lang="en-US" sz="1000" dirty="0"/>
          </a:p>
        </p:txBody>
      </p:sp>
      <p:sp>
        <p:nvSpPr>
          <p:cNvPr id="14" name="Text 11"/>
          <p:cNvSpPr/>
          <p:nvPr/>
        </p:nvSpPr>
        <p:spPr>
          <a:xfrm>
            <a:off x="8138160" y="914400"/>
            <a:ext cx="731520" cy="27432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Device</a:t>
            </a:r>
            <a:endParaRPr lang="en-US" sz="1000" dirty="0"/>
          </a:p>
        </p:txBody>
      </p:sp>
      <p:sp>
        <p:nvSpPr>
          <p:cNvPr id="15" name="Shape 12"/>
          <p:cNvSpPr/>
          <p:nvPr/>
        </p:nvSpPr>
        <p:spPr>
          <a:xfrm>
            <a:off x="5166360" y="1325880"/>
            <a:ext cx="1097280" cy="0"/>
          </a:xfrm>
          <a:prstGeom prst="line">
            <a:avLst/>
          </a:prstGeom>
          <a:noFill/>
          <a:ln w="19050">
            <a:solidFill>
              <a:srgbClr val="B03A2E"/>
            </a:solidFill>
            <a:prstDash val="solid"/>
            <a:tailEnd type="triangle"/>
          </a:ln>
        </p:spPr>
      </p:sp>
      <p:sp>
        <p:nvSpPr>
          <p:cNvPr id="16" name="Shape 13"/>
          <p:cNvSpPr/>
          <p:nvPr/>
        </p:nvSpPr>
        <p:spPr>
          <a:xfrm flipH="1">
            <a:off x="5166360" y="1481328"/>
            <a:ext cx="1097280" cy="0"/>
          </a:xfrm>
          <a:prstGeom prst="line">
            <a:avLst/>
          </a:prstGeom>
          <a:noFill/>
          <a:ln w="19050">
            <a:solidFill>
              <a:srgbClr val="5A6B7F"/>
            </a:solidFill>
            <a:prstDash val="solid"/>
            <a:tailEnd type="triangle"/>
          </a:ln>
        </p:spPr>
      </p:sp>
      <p:sp>
        <p:nvSpPr>
          <p:cNvPr id="17" name="Shape 14"/>
          <p:cNvSpPr/>
          <p:nvPr/>
        </p:nvSpPr>
        <p:spPr>
          <a:xfrm>
            <a:off x="5166360" y="1709928"/>
            <a:ext cx="1097280" cy="0"/>
          </a:xfrm>
          <a:prstGeom prst="line">
            <a:avLst/>
          </a:prstGeom>
          <a:noFill/>
          <a:ln w="19050">
            <a:solidFill>
              <a:srgbClr val="B03A2E"/>
            </a:solidFill>
            <a:prstDash val="solid"/>
            <a:tailEnd type="triangle"/>
          </a:ln>
        </p:spPr>
      </p:sp>
      <p:sp>
        <p:nvSpPr>
          <p:cNvPr id="18" name="Shape 15"/>
          <p:cNvSpPr/>
          <p:nvPr/>
        </p:nvSpPr>
        <p:spPr>
          <a:xfrm flipH="1">
            <a:off x="5166360" y="1865376"/>
            <a:ext cx="1097280" cy="0"/>
          </a:xfrm>
          <a:prstGeom prst="line">
            <a:avLst/>
          </a:prstGeom>
          <a:noFill/>
          <a:ln w="19050">
            <a:solidFill>
              <a:srgbClr val="5A6B7F"/>
            </a:solidFill>
            <a:prstDash val="solid"/>
            <a:tailEnd type="triangle"/>
          </a:ln>
        </p:spPr>
      </p:sp>
      <p:sp>
        <p:nvSpPr>
          <p:cNvPr id="19" name="Shape 16"/>
          <p:cNvSpPr/>
          <p:nvPr/>
        </p:nvSpPr>
        <p:spPr>
          <a:xfrm>
            <a:off x="5166360" y="2093976"/>
            <a:ext cx="1097280" cy="0"/>
          </a:xfrm>
          <a:prstGeom prst="line">
            <a:avLst/>
          </a:prstGeom>
          <a:noFill/>
          <a:ln w="19050">
            <a:solidFill>
              <a:srgbClr val="B03A2E"/>
            </a:solidFill>
            <a:prstDash val="solid"/>
            <a:tailEnd type="triangle"/>
          </a:ln>
        </p:spPr>
      </p:sp>
      <p:sp>
        <p:nvSpPr>
          <p:cNvPr id="20" name="Shape 17"/>
          <p:cNvSpPr/>
          <p:nvPr/>
        </p:nvSpPr>
        <p:spPr>
          <a:xfrm flipH="1">
            <a:off x="5166360" y="2249424"/>
            <a:ext cx="1097280" cy="0"/>
          </a:xfrm>
          <a:prstGeom prst="line">
            <a:avLst/>
          </a:prstGeom>
          <a:noFill/>
          <a:ln w="19050">
            <a:solidFill>
              <a:srgbClr val="5A6B7F"/>
            </a:solidFill>
            <a:prstDash val="solid"/>
            <a:tailEnd type="triangle"/>
          </a:ln>
        </p:spPr>
      </p:sp>
      <p:sp>
        <p:nvSpPr>
          <p:cNvPr id="21" name="Shape 18"/>
          <p:cNvSpPr/>
          <p:nvPr/>
        </p:nvSpPr>
        <p:spPr>
          <a:xfrm>
            <a:off x="5166360" y="2478024"/>
            <a:ext cx="1097280" cy="0"/>
          </a:xfrm>
          <a:prstGeom prst="line">
            <a:avLst/>
          </a:prstGeom>
          <a:noFill/>
          <a:ln w="19050">
            <a:solidFill>
              <a:srgbClr val="B03A2E"/>
            </a:solidFill>
            <a:prstDash val="solid"/>
            <a:tailEnd type="triangle"/>
          </a:ln>
        </p:spPr>
      </p:sp>
      <p:sp>
        <p:nvSpPr>
          <p:cNvPr id="22" name="Shape 19"/>
          <p:cNvSpPr/>
          <p:nvPr/>
        </p:nvSpPr>
        <p:spPr>
          <a:xfrm flipH="1">
            <a:off x="5166360" y="2633472"/>
            <a:ext cx="1097280" cy="0"/>
          </a:xfrm>
          <a:prstGeom prst="line">
            <a:avLst/>
          </a:prstGeom>
          <a:noFill/>
          <a:ln w="19050">
            <a:solidFill>
              <a:srgbClr val="5A6B7F"/>
            </a:solidFill>
            <a:prstDash val="solid"/>
            <a:tailEnd type="triangle"/>
          </a:ln>
        </p:spPr>
      </p:sp>
      <p:sp>
        <p:nvSpPr>
          <p:cNvPr id="23" name="Shape 20"/>
          <p:cNvSpPr/>
          <p:nvPr/>
        </p:nvSpPr>
        <p:spPr>
          <a:xfrm>
            <a:off x="5166360" y="2862072"/>
            <a:ext cx="1097280" cy="0"/>
          </a:xfrm>
          <a:prstGeom prst="line">
            <a:avLst/>
          </a:prstGeom>
          <a:noFill/>
          <a:ln w="19050">
            <a:solidFill>
              <a:srgbClr val="B03A2E"/>
            </a:solidFill>
            <a:prstDash val="solid"/>
            <a:tailEnd type="triangle"/>
          </a:ln>
        </p:spPr>
      </p:sp>
      <p:sp>
        <p:nvSpPr>
          <p:cNvPr id="24" name="Shape 21"/>
          <p:cNvSpPr/>
          <p:nvPr/>
        </p:nvSpPr>
        <p:spPr>
          <a:xfrm flipH="1">
            <a:off x="5166360" y="3017520"/>
            <a:ext cx="1097280" cy="0"/>
          </a:xfrm>
          <a:prstGeom prst="line">
            <a:avLst/>
          </a:prstGeom>
          <a:noFill/>
          <a:ln w="19050">
            <a:solidFill>
              <a:srgbClr val="5A6B7F"/>
            </a:solidFill>
            <a:prstDash val="solid"/>
            <a:tailEnd type="triangle"/>
          </a:ln>
        </p:spPr>
      </p:sp>
      <p:sp>
        <p:nvSpPr>
          <p:cNvPr id="25" name="Shape 22"/>
          <p:cNvSpPr/>
          <p:nvPr/>
        </p:nvSpPr>
        <p:spPr>
          <a:xfrm>
            <a:off x="5166360" y="3246120"/>
            <a:ext cx="1097280" cy="0"/>
          </a:xfrm>
          <a:prstGeom prst="line">
            <a:avLst/>
          </a:prstGeom>
          <a:noFill/>
          <a:ln w="19050">
            <a:solidFill>
              <a:srgbClr val="B03A2E"/>
            </a:solidFill>
            <a:prstDash val="solid"/>
            <a:tailEnd type="triangle"/>
          </a:ln>
        </p:spPr>
      </p:sp>
      <p:sp>
        <p:nvSpPr>
          <p:cNvPr id="26" name="Shape 23"/>
          <p:cNvSpPr/>
          <p:nvPr/>
        </p:nvSpPr>
        <p:spPr>
          <a:xfrm flipH="1">
            <a:off x="5166360" y="3401568"/>
            <a:ext cx="1097280" cy="0"/>
          </a:xfrm>
          <a:prstGeom prst="line">
            <a:avLst/>
          </a:prstGeom>
          <a:noFill/>
          <a:ln w="19050">
            <a:solidFill>
              <a:srgbClr val="5A6B7F"/>
            </a:solidFill>
            <a:prstDash val="solid"/>
            <a:tailEnd type="triangle"/>
          </a:ln>
        </p:spPr>
      </p:sp>
      <p:sp>
        <p:nvSpPr>
          <p:cNvPr id="27" name="Shape 24"/>
          <p:cNvSpPr/>
          <p:nvPr/>
        </p:nvSpPr>
        <p:spPr>
          <a:xfrm>
            <a:off x="7452360" y="1325880"/>
            <a:ext cx="1051560" cy="0"/>
          </a:xfrm>
          <a:prstGeom prst="line">
            <a:avLst/>
          </a:prstGeom>
          <a:noFill/>
          <a:ln w="19050">
            <a:solidFill>
              <a:srgbClr val="2E8B57"/>
            </a:solidFill>
            <a:prstDash val="solid"/>
            <a:tailEnd type="triangle"/>
          </a:ln>
        </p:spPr>
      </p:sp>
      <p:sp>
        <p:nvSpPr>
          <p:cNvPr id="28" name="Shape 25"/>
          <p:cNvSpPr/>
          <p:nvPr/>
        </p:nvSpPr>
        <p:spPr>
          <a:xfrm flipH="1">
            <a:off x="7452360" y="1600200"/>
            <a:ext cx="1051560" cy="0"/>
          </a:xfrm>
          <a:prstGeom prst="line">
            <a:avLst/>
          </a:prstGeom>
          <a:noFill/>
          <a:ln w="19050">
            <a:solidFill>
              <a:srgbClr val="5A6B7F"/>
            </a:solidFill>
            <a:prstDash val="solid"/>
            <a:tailEnd type="triangle"/>
          </a:ln>
        </p:spPr>
      </p:sp>
      <p:sp>
        <p:nvSpPr>
          <p:cNvPr id="29" name="Text 26"/>
          <p:cNvSpPr/>
          <p:nvPr/>
        </p:nvSpPr>
        <p:spPr>
          <a:xfrm>
            <a:off x="7040880" y="1828800"/>
            <a:ext cx="1828800" cy="36576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1 query, 1 response</a:t>
            </a:r>
            <a:endParaRPr lang="en-US" sz="1000" dirty="0"/>
          </a:p>
        </p:txBody>
      </p:sp>
      <p:sp>
        <p:nvSpPr>
          <p:cNvPr id="30" name="Text 27"/>
          <p:cNvSpPr/>
          <p:nvPr/>
        </p:nvSpPr>
        <p:spPr>
          <a:xfrm>
            <a:off x="7040880" y="2377440"/>
            <a:ext cx="1828800" cy="54864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then local cache reads (no device traffic)</a:t>
            </a:r>
            <a:endParaRPr lang="en-US" sz="1000" dirty="0"/>
          </a:p>
        </p:txBody>
      </p:sp>
      <p:sp>
        <p:nvSpPr>
          <p:cNvPr id="31" name="Text 28"/>
          <p:cNvSpPr txBox="1"/>
          <p:nvPr/>
        </p:nvSpPr>
        <p:spPr>
          <a:xfrm>
            <a:off x="4754880" y="3657600"/>
            <a:ext cx="2011680" cy="274320"/>
          </a:xfrm>
          <a:prstGeom prst="rect">
            <a:avLst/>
          </a:prstGeom>
          <a:noFill/>
          <a:ln/>
        </p:spPr>
        <p:txBody>
          <a:bodyPr wrap="square" lIns="25400" tIns="25400" rIns="25400" bIns="25400" rtlCol="0" anchor="t"/>
          <a:lstStyle/>
          <a:p>
            <a:pPr marL="0" indent="0">
              <a:buNone/>
            </a:pPr>
            <a:r>
              <a:rPr lang="en-US" sz="900" i="1" dirty="0">
                <a:solidFill>
                  <a:srgbClr val="5A6B7F"/>
                </a:solidFill>
                <a:latin typeface="Calibri" pitchFamily="34" charset="0"/>
                <a:ea typeface="Calibri" pitchFamily="34" charset="-122"/>
                <a:cs typeface="Calibri" pitchFamily="34" charset="-120"/>
              </a:rPr>
              <a:t>6 query pairs (illustrative)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UFS Background (only what this patch needs)</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2 UFS Background</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4  |  Source: [PATCH v2 1/2], [PATCH v2 2/2]</a:t>
            </a:r>
            <a:endParaRPr lang="en-US" sz="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685800"/>
          <a:ext cx="859536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6766560">
                  <a:extLst>
                    <a:ext uri="{9D8B030D-6E8A-4147-A177-3AD203B41FA5}">
                      <a16:colId xmlns:a16="http://schemas.microsoft.com/office/drawing/2014/main" val="20001"/>
                    </a:ext>
                  </a:extLst>
                </a:gridCol>
              </a:tblGrid>
              <a:tr h="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Term</a:t>
                      </a:r>
                      <a:endParaRPr lang="en-US" sz="10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Role relevant to this patch</a:t>
                      </a:r>
                      <a:endParaRPr lang="en-US" sz="10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222222"/>
                          </a:solidFill>
                          <a:latin typeface="Calibri" pitchFamily="34" charset="0"/>
                          <a:ea typeface="Calibri" pitchFamily="34" charset="-122"/>
                          <a:cs typeface="Calibri" pitchFamily="34" charset="-120"/>
                        </a:rPr>
                        <a:t>UFS host / UFSHCD</a:t>
                      </a:r>
                      <a:endParaRPr lang="en-US" sz="10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1000" dirty="0">
                          <a:solidFill>
                            <a:srgbClr val="222222"/>
                          </a:solidFill>
                          <a:latin typeface="Calibri" pitchFamily="34" charset="0"/>
                          <a:ea typeface="Calibri" pitchFamily="34" charset="-122"/>
                          <a:cs typeface="Calibri" pitchFamily="34" charset="-120"/>
                        </a:rPr>
                        <a:t>struct ufs_hba; the Linux core driver (ufshcd.c) issuing device-management commands</a:t>
                      </a:r>
                      <a:endParaRPr lang="en-US" sz="10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00" dirty="0">
                          <a:solidFill>
                            <a:srgbClr val="222222"/>
                          </a:solidFill>
                          <a:latin typeface="Calibri" pitchFamily="34" charset="0"/>
                          <a:ea typeface="Calibri" pitchFamily="34" charset="-122"/>
                          <a:cs typeface="Calibri" pitchFamily="34" charset="-120"/>
                        </a:rPr>
                        <a:t>UFS device</a:t>
                      </a:r>
                      <a:endParaRPr lang="en-US" sz="10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1000" dirty="0">
                          <a:solidFill>
                            <a:srgbClr val="222222"/>
                          </a:solidFill>
                          <a:latin typeface="Calibri" pitchFamily="34" charset="0"/>
                          <a:ea typeface="Calibri" pitchFamily="34" charset="-122"/>
                          <a:cs typeface="Calibri" pitchFamily="34" charset="-120"/>
                        </a:rPr>
                        <a:t>Returns QUERY RESPONSE UPIU; reports wSpecVersion in the Device Descriptor</a:t>
                      </a:r>
                      <a:endParaRPr lang="en-US" sz="10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2"/>
                  </a:ext>
                </a:extLst>
              </a:tr>
              <a:tr h="0">
                <a:tc>
                  <a:txBody>
                    <a:bodyPr/>
                    <a:lstStyle/>
                    <a:p>
                      <a:pPr marL="0" indent="0">
                        <a:buNone/>
                      </a:pPr>
                      <a:r>
                        <a:rPr lang="en-US" sz="1000" dirty="0">
                          <a:solidFill>
                            <a:srgbClr val="222222"/>
                          </a:solidFill>
                          <a:latin typeface="Calibri" pitchFamily="34" charset="0"/>
                          <a:ea typeface="Calibri" pitchFamily="34" charset="-122"/>
                          <a:cs typeface="Calibri" pitchFamily="34" charset="-120"/>
                        </a:rPr>
                        <a:t>QUERY request</a:t>
                      </a:r>
                      <a:endParaRPr lang="en-US" sz="10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1000" dirty="0">
                          <a:solidFill>
                            <a:srgbClr val="222222"/>
                          </a:solidFill>
                          <a:latin typeface="Calibri" pitchFamily="34" charset="0"/>
                          <a:ea typeface="Calibri" pitchFamily="34" charset="-122"/>
                          <a:cs typeface="Calibri" pitchFamily="34" charset="-120"/>
                        </a:rPr>
                        <a:t>UPIU with opcode (READ_ATTR, READ_FLAG, READ_DESC, AGGREGATED_READ), IDN, index</a:t>
                      </a:r>
                      <a:endParaRPr lang="en-US" sz="10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00" dirty="0">
                          <a:solidFill>
                            <a:srgbClr val="222222"/>
                          </a:solidFill>
                          <a:latin typeface="Calibri" pitchFamily="34" charset="0"/>
                          <a:ea typeface="Calibri" pitchFamily="34" charset="-122"/>
                          <a:cs typeface="Calibri" pitchFamily="34" charset="-120"/>
                        </a:rPr>
                        <a:t>Attribute</a:t>
                      </a:r>
                      <a:endParaRPr lang="en-US" sz="10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1000" dirty="0">
                          <a:solidFill>
                            <a:srgbClr val="222222"/>
                          </a:solidFill>
                          <a:latin typeface="Calibri" pitchFamily="34" charset="0"/>
                          <a:ea typeface="Calibri" pitchFamily="34" charset="-122"/>
                          <a:cs typeface="Calibri" pitchFamily="34" charset="-120"/>
                        </a:rPr>
                        <a:t>Numbered value (IDN), e.g. bMaxNumOfRTT; widths 1/2/4 bytes</a:t>
                      </a:r>
                      <a:endParaRPr lang="en-US" sz="10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4"/>
                  </a:ext>
                </a:extLst>
              </a:tr>
              <a:tr h="0">
                <a:tc>
                  <a:txBody>
                    <a:bodyPr/>
                    <a:lstStyle/>
                    <a:p>
                      <a:pPr marL="0" indent="0">
                        <a:buNone/>
                      </a:pPr>
                      <a:r>
                        <a:rPr lang="en-US" sz="1000" dirty="0">
                          <a:solidFill>
                            <a:srgbClr val="222222"/>
                          </a:solidFill>
                          <a:latin typeface="Calibri" pitchFamily="34" charset="0"/>
                          <a:ea typeface="Calibri" pitchFamily="34" charset="-122"/>
                          <a:cs typeface="Calibri" pitchFamily="34" charset="-120"/>
                        </a:rPr>
                        <a:t>Flag</a:t>
                      </a:r>
                      <a:endParaRPr lang="en-US" sz="10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1000" dirty="0">
                          <a:solidFill>
                            <a:srgbClr val="222222"/>
                          </a:solidFill>
                          <a:latin typeface="Calibri" pitchFamily="34" charset="0"/>
                          <a:ea typeface="Calibri" pitchFamily="34" charset="-122"/>
                          <a:cs typeface="Calibri" pitchFamily="34" charset="-120"/>
                        </a:rPr>
                        <a:t>Boolean by IDN, e.g. fPowerOnWPEn</a:t>
                      </a:r>
                      <a:endParaRPr lang="en-US" sz="10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000" dirty="0">
                          <a:solidFill>
                            <a:srgbClr val="222222"/>
                          </a:solidFill>
                          <a:latin typeface="Calibri" pitchFamily="34" charset="0"/>
                          <a:ea typeface="Calibri" pitchFamily="34" charset="-122"/>
                          <a:cs typeface="Calibri" pitchFamily="34" charset="-120"/>
                        </a:rPr>
                        <a:t>Descriptor</a:t>
                      </a:r>
                      <a:endParaRPr lang="en-US" sz="10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1000" dirty="0">
                          <a:solidFill>
                            <a:srgbClr val="222222"/>
                          </a:solidFill>
                          <a:latin typeface="Calibri" pitchFamily="34" charset="0"/>
                          <a:ea typeface="Calibri" pitchFamily="34" charset="-122"/>
                          <a:cs typeface="Calibri" pitchFamily="34" charset="-120"/>
                        </a:rPr>
                        <a:t>Structured block (Device, Unit, Geometry...); length at byte 0, type at byte 1</a:t>
                      </a:r>
                      <a:endParaRPr lang="en-US" sz="10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6"/>
                  </a:ext>
                </a:extLst>
              </a:tr>
              <a:tr h="0">
                <a:tc>
                  <a:txBody>
                    <a:bodyPr/>
                    <a:lstStyle/>
                    <a:p>
                      <a:pPr marL="0" indent="0">
                        <a:buNone/>
                      </a:pPr>
                      <a:r>
                        <a:rPr lang="en-US" sz="1000" dirty="0">
                          <a:solidFill>
                            <a:srgbClr val="222222"/>
                          </a:solidFill>
                          <a:latin typeface="Calibri" pitchFamily="34" charset="0"/>
                          <a:ea typeface="Calibri" pitchFamily="34" charset="-122"/>
                          <a:cs typeface="Calibri" pitchFamily="34" charset="-120"/>
                        </a:rPr>
                        <a:t>String descriptor</a:t>
                      </a:r>
                      <a:endParaRPr lang="en-US" sz="10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1000" dirty="0">
                          <a:solidFill>
                            <a:srgbClr val="222222"/>
                          </a:solidFill>
                          <a:latin typeface="Calibri" pitchFamily="34" charset="0"/>
                          <a:ea typeface="Calibri" pitchFamily="34" charset="-122"/>
                          <a:cs typeface="Calibri" pitchFamily="34" charset="-120"/>
                        </a:rPr>
                        <a:t>Referenced by index fields inside the Device Descriptor</a:t>
                      </a:r>
                      <a:endParaRPr lang="en-US" sz="10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000" dirty="0">
                          <a:solidFill>
                            <a:srgbClr val="222222"/>
                          </a:solidFill>
                          <a:latin typeface="Calibri" pitchFamily="34" charset="0"/>
                          <a:ea typeface="Calibri" pitchFamily="34" charset="-122"/>
                          <a:cs typeface="Calibri" pitchFamily="34" charset="-120"/>
                        </a:rPr>
                        <a:t>Device init</a:t>
                      </a:r>
                      <a:endParaRPr lang="en-US" sz="10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1000" dirty="0">
                          <a:solidFill>
                            <a:srgbClr val="222222"/>
                          </a:solidFill>
                          <a:latin typeface="Calibri" pitchFamily="34" charset="0"/>
                          <a:ea typeface="Calibri" pitchFamily="34" charset="-122"/>
                          <a:cs typeface="Calibri" pitchFamily="34" charset="-120"/>
                        </a:rPr>
                        <a:t>ufs_get_device_desc() ... ufshcd_device_params_init()</a:t>
                      </a:r>
                      <a:endParaRPr lang="en-US" sz="10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8"/>
                  </a:ext>
                </a:extLst>
              </a:tr>
            </a:tbl>
          </a:graphicData>
        </a:graphic>
      </p:graphicFrame>
      <p:sp>
        <p:nvSpPr>
          <p:cNvPr id="8" name="Text 4"/>
          <p:cNvSpPr/>
          <p:nvPr/>
        </p:nvSpPr>
        <p:spPr>
          <a:xfrm>
            <a:off x="274320" y="4297680"/>
            <a:ext cx="8595360" cy="457200"/>
          </a:xfrm>
          <a:prstGeom prst="rect">
            <a:avLst/>
          </a:prstGeom>
          <a:solidFill>
            <a:srgbClr val="D9F0F2"/>
          </a:solidFill>
          <a:ln w="12700">
            <a:solidFill>
              <a:srgbClr val="0E7C86"/>
            </a:solidFill>
          </a:ln>
        </p:spPr>
        <p:txBody>
          <a:bodyPr wrap="square" lIns="38100" tIns="38100" rIns="38100" bIns="38100" rtlCol="0" anchor="ctr"/>
          <a:lstStyle/>
          <a:p>
            <a:pPr marL="0" indent="0" algn="l">
              <a:buNone/>
            </a:pPr>
            <a:r>
              <a:rPr lang="en-US" sz="900" i="1" dirty="0">
                <a:solidFill>
                  <a:srgbClr val="0B1F3A"/>
                </a:solidFill>
                <a:latin typeface="Calibri" pitchFamily="34" charset="0"/>
                <a:ea typeface="Calibri" pitchFamily="34" charset="-122"/>
                <a:cs typeface="Calibri" pitchFamily="34" charset="-120"/>
              </a:rPr>
              <a:t>Background / explanatory context: labelled as such because the patch itself does not define these terms.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Normal QUERY Flow vs Aggregated QUERY Flow</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2 UFS Background</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5  |  Source: [PATCH v2 1/2], [PATCH v2 2/2]</a:t>
            </a:r>
            <a:endParaRPr lang="en-US" sz="800" dirty="0"/>
          </a:p>
        </p:txBody>
      </p:sp>
      <p:sp>
        <p:nvSpPr>
          <p:cNvPr id="7" name="Text 4"/>
          <p:cNvSpPr txBox="1"/>
          <p:nvPr/>
        </p:nvSpPr>
        <p:spPr>
          <a:xfrm>
            <a:off x="274320" y="640080"/>
            <a:ext cx="4114800" cy="274320"/>
          </a:xfrm>
          <a:prstGeom prst="rect">
            <a:avLst/>
          </a:prstGeom>
          <a:noFill/>
          <a:ln/>
        </p:spPr>
        <p:txBody>
          <a:bodyPr wrap="square" lIns="25400" tIns="25400" rIns="25400" bIns="25400" rtlCol="0" anchor="t"/>
          <a:lstStyle/>
          <a:p>
            <a:pPr marL="0" indent="0">
              <a:buNone/>
            </a:pPr>
            <a:r>
              <a:rPr lang="en-US" sz="1100" b="1" dirty="0">
                <a:solidFill>
                  <a:srgbClr val="B03A2E"/>
                </a:solidFill>
                <a:latin typeface="Calibri" pitchFamily="34" charset="0"/>
                <a:ea typeface="Calibri" pitchFamily="34" charset="-122"/>
                <a:cs typeface="Calibri" pitchFamily="34" charset="-120"/>
              </a:rPr>
              <a:t>Normal QUERY (per item)</a:t>
            </a:r>
            <a:endParaRPr lang="en-US" sz="1100" dirty="0"/>
          </a:p>
        </p:txBody>
      </p:sp>
      <p:sp>
        <p:nvSpPr>
          <p:cNvPr id="8" name="Text 5"/>
          <p:cNvSpPr txBox="1"/>
          <p:nvPr/>
        </p:nvSpPr>
        <p:spPr>
          <a:xfrm>
            <a:off x="4754880" y="640080"/>
            <a:ext cx="4114800" cy="274320"/>
          </a:xfrm>
          <a:prstGeom prst="rect">
            <a:avLst/>
          </a:prstGeom>
          <a:noFill/>
          <a:ln/>
        </p:spPr>
        <p:txBody>
          <a:bodyPr wrap="square" lIns="25400" tIns="25400" rIns="25400" bIns="25400" rtlCol="0" anchor="t"/>
          <a:lstStyle/>
          <a:p>
            <a:pPr marL="0" indent="0">
              <a:buNone/>
            </a:pPr>
            <a:r>
              <a:rPr lang="en-US" sz="1100" b="1" dirty="0">
                <a:solidFill>
                  <a:srgbClr val="2E8B57"/>
                </a:solidFill>
                <a:latin typeface="Calibri" pitchFamily="34" charset="0"/>
                <a:ea typeface="Calibri" pitchFamily="34" charset="-122"/>
                <a:cs typeface="Calibri" pitchFamily="34" charset="-120"/>
              </a:rPr>
              <a:t>AGGREGATED READ (once)</a:t>
            </a:r>
            <a:endParaRPr lang="en-US" sz="1100" dirty="0"/>
          </a:p>
        </p:txBody>
      </p:sp>
      <p:sp>
        <p:nvSpPr>
          <p:cNvPr id="9" name="Text 6"/>
          <p:cNvSpPr/>
          <p:nvPr/>
        </p:nvSpPr>
        <p:spPr>
          <a:xfrm>
            <a:off x="731520" y="1005840"/>
            <a:ext cx="2377440" cy="45720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Linux UFS driver (ufshcd)</a:t>
            </a:r>
            <a:endParaRPr lang="en-US" sz="1000" dirty="0"/>
          </a:p>
        </p:txBody>
      </p:sp>
      <p:sp>
        <p:nvSpPr>
          <p:cNvPr id="10" name="Text 7"/>
          <p:cNvSpPr/>
          <p:nvPr/>
        </p:nvSpPr>
        <p:spPr>
          <a:xfrm>
            <a:off x="5212080" y="1005840"/>
            <a:ext cx="2377440" cy="45720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Linux UFS driver (ufshcd)</a:t>
            </a:r>
            <a:endParaRPr lang="en-US" sz="1000" dirty="0"/>
          </a:p>
        </p:txBody>
      </p:sp>
      <p:sp>
        <p:nvSpPr>
          <p:cNvPr id="11" name="Text 8"/>
          <p:cNvSpPr/>
          <p:nvPr/>
        </p:nvSpPr>
        <p:spPr>
          <a:xfrm>
            <a:off x="731520" y="2011680"/>
            <a:ext cx="2377440" cy="45720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UFS host controller</a:t>
            </a:r>
            <a:endParaRPr lang="en-US" sz="1000" dirty="0"/>
          </a:p>
        </p:txBody>
      </p:sp>
      <p:sp>
        <p:nvSpPr>
          <p:cNvPr id="12" name="Text 9"/>
          <p:cNvSpPr/>
          <p:nvPr/>
        </p:nvSpPr>
        <p:spPr>
          <a:xfrm>
            <a:off x="5212080" y="2011680"/>
            <a:ext cx="2377440" cy="45720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UFS host controller</a:t>
            </a:r>
            <a:endParaRPr lang="en-US" sz="1000" dirty="0"/>
          </a:p>
        </p:txBody>
      </p:sp>
      <p:sp>
        <p:nvSpPr>
          <p:cNvPr id="13" name="Text 10"/>
          <p:cNvSpPr/>
          <p:nvPr/>
        </p:nvSpPr>
        <p:spPr>
          <a:xfrm>
            <a:off x="731520" y="3017520"/>
            <a:ext cx="2377440" cy="45720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UFS device</a:t>
            </a:r>
            <a:endParaRPr lang="en-US" sz="1000" dirty="0"/>
          </a:p>
        </p:txBody>
      </p:sp>
      <p:sp>
        <p:nvSpPr>
          <p:cNvPr id="14" name="Text 11"/>
          <p:cNvSpPr/>
          <p:nvPr/>
        </p:nvSpPr>
        <p:spPr>
          <a:xfrm>
            <a:off x="5212080" y="3017520"/>
            <a:ext cx="2377440" cy="45720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UFS device</a:t>
            </a:r>
            <a:endParaRPr lang="en-US" sz="1000" dirty="0"/>
          </a:p>
        </p:txBody>
      </p:sp>
      <p:sp>
        <p:nvSpPr>
          <p:cNvPr id="15" name="Shape 12"/>
          <p:cNvSpPr/>
          <p:nvPr/>
        </p:nvSpPr>
        <p:spPr>
          <a:xfrm>
            <a:off x="1920240" y="1463040"/>
            <a:ext cx="0" cy="548640"/>
          </a:xfrm>
          <a:prstGeom prst="line">
            <a:avLst/>
          </a:prstGeom>
          <a:noFill/>
          <a:ln w="19050">
            <a:solidFill>
              <a:srgbClr val="B03A2E"/>
            </a:solidFill>
            <a:prstDash val="solid"/>
            <a:tailEnd type="triangle"/>
          </a:ln>
        </p:spPr>
      </p:sp>
      <p:sp>
        <p:nvSpPr>
          <p:cNvPr id="16" name="Shape 13"/>
          <p:cNvSpPr/>
          <p:nvPr/>
        </p:nvSpPr>
        <p:spPr>
          <a:xfrm>
            <a:off x="6400800" y="1463040"/>
            <a:ext cx="0" cy="548640"/>
          </a:xfrm>
          <a:prstGeom prst="line">
            <a:avLst/>
          </a:prstGeom>
          <a:noFill/>
          <a:ln w="19050">
            <a:solidFill>
              <a:srgbClr val="2E8B57"/>
            </a:solidFill>
            <a:prstDash val="solid"/>
            <a:tailEnd type="triangle"/>
          </a:ln>
        </p:spPr>
      </p:sp>
      <p:sp>
        <p:nvSpPr>
          <p:cNvPr id="17" name="Shape 14"/>
          <p:cNvSpPr/>
          <p:nvPr/>
        </p:nvSpPr>
        <p:spPr>
          <a:xfrm>
            <a:off x="1920240" y="2468880"/>
            <a:ext cx="0" cy="548640"/>
          </a:xfrm>
          <a:prstGeom prst="line">
            <a:avLst/>
          </a:prstGeom>
          <a:noFill/>
          <a:ln w="19050">
            <a:solidFill>
              <a:srgbClr val="B03A2E"/>
            </a:solidFill>
            <a:prstDash val="solid"/>
            <a:tailEnd type="triangle"/>
          </a:ln>
        </p:spPr>
      </p:sp>
      <p:sp>
        <p:nvSpPr>
          <p:cNvPr id="18" name="Shape 15"/>
          <p:cNvSpPr/>
          <p:nvPr/>
        </p:nvSpPr>
        <p:spPr>
          <a:xfrm>
            <a:off x="6400800" y="2468880"/>
            <a:ext cx="0" cy="548640"/>
          </a:xfrm>
          <a:prstGeom prst="line">
            <a:avLst/>
          </a:prstGeom>
          <a:noFill/>
          <a:ln w="19050">
            <a:solidFill>
              <a:srgbClr val="2E8B57"/>
            </a:solidFill>
            <a:prstDash val="solid"/>
            <a:tailEnd type="triangle"/>
          </a:ln>
        </p:spPr>
      </p:sp>
      <p:sp>
        <p:nvSpPr>
          <p:cNvPr id="19" name="Text 16"/>
          <p:cNvSpPr txBox="1"/>
          <p:nvPr/>
        </p:nvSpPr>
        <p:spPr>
          <a:xfrm>
            <a:off x="274320" y="4023360"/>
            <a:ext cx="4206240" cy="457200"/>
          </a:xfrm>
          <a:prstGeom prst="rect">
            <a:avLst/>
          </a:prstGeom>
          <a:noFill/>
          <a:ln/>
        </p:spPr>
        <p:txBody>
          <a:bodyPr wrap="square" lIns="25400" tIns="25400" rIns="25400" bIns="25400" rtlCol="0" anchor="t"/>
          <a:lstStyle/>
          <a:p>
            <a:pPr marL="0" indent="0">
              <a:buNone/>
            </a:pPr>
            <a:r>
              <a:rPr lang="en-US" sz="1000" dirty="0">
                <a:solidFill>
                  <a:srgbClr val="222222"/>
                </a:solidFill>
                <a:latin typeface="Calibri" pitchFamily="34" charset="0"/>
                <a:ea typeface="Calibri" pitchFamily="34" charset="-122"/>
                <a:cs typeface="Calibri" pitchFamily="34" charset="-120"/>
              </a:rPr>
              <a:t>QUERY request (down) / response (up), repeated per item</a:t>
            </a:r>
            <a:endParaRPr lang="en-US" sz="1000" dirty="0"/>
          </a:p>
        </p:txBody>
      </p:sp>
      <p:sp>
        <p:nvSpPr>
          <p:cNvPr id="20" name="Text 17"/>
          <p:cNvSpPr txBox="1"/>
          <p:nvPr/>
        </p:nvSpPr>
        <p:spPr>
          <a:xfrm>
            <a:off x="4754880" y="4023360"/>
            <a:ext cx="4206240" cy="457200"/>
          </a:xfrm>
          <a:prstGeom prst="rect">
            <a:avLst/>
          </a:prstGeom>
          <a:noFill/>
          <a:ln/>
        </p:spPr>
        <p:txBody>
          <a:bodyPr wrap="square" lIns="25400" tIns="25400" rIns="25400" bIns="25400" rtlCol="0" anchor="t"/>
          <a:lstStyle/>
          <a:p>
            <a:pPr marL="0" indent="0">
              <a:buNone/>
            </a:pPr>
            <a:r>
              <a:rPr lang="en-US" sz="1000" dirty="0">
                <a:solidFill>
                  <a:srgbClr val="222222"/>
                </a:solidFill>
                <a:latin typeface="Calibri" pitchFamily="34" charset="0"/>
                <a:ea typeface="Calibri" pitchFamily="34" charset="-122"/>
                <a:cs typeface="Calibri" pitchFamily="34" charset="-120"/>
              </a:rPr>
              <a:t>one AGGREGATED READ request; one response with typed groups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Types of Data Read During Initialization</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2 UFS Background</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6  |  Source: [PATCH v2 1/2], [PATCH v2 2/2]</a:t>
            </a:r>
            <a:endParaRPr lang="en-US" sz="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685800"/>
          <a:ext cx="859536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Data</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Examples folded by Patch 2</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Folded caller</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Existing mechanism</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extLst>
                  <a:ext uri="{0D108BD9-81ED-4DB2-BD59-A6C34878D82A}">
                    <a16:rowId xmlns:a16="http://schemas.microsoft.com/office/drawing/2014/main" val="10000"/>
                  </a:ext>
                </a:extLst>
              </a:tr>
              <a:tr h="0">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Attributes</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0x0c bMaxNumOfRTT; 0x17 bRefClkGatingWaitTime; 0x1e bWriteBoosterBufferLifeTimeEst (shared-buffer mode only)</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ufshcd_set_rtt(); ufshcd_get_ref_clk_gating_wait(); ufshcd_wb_probe()</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QUERY ATTR</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Flags</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0x03 fPowerOnWPEn</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ufshcd_device_params_init()</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QUERY FLAG</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2"/>
                  </a:ext>
                </a:extLst>
              </a:tr>
              <a:tr h="0">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Strings</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Product Name; Serial Number</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ufs_get_device_desc(); ufshcd_create_device_id()</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QUERY DESC (string)</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Descriptors (non-string)</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Device / Unit / Geometry</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Lookup hook exists in ufshcd_read_desc_param()</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QUERY DESC</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4"/>
                  </a:ext>
                </a:extLst>
              </a:tr>
            </a:tbl>
          </a:graphicData>
        </a:graphic>
      </p:graphicFrame>
      <p:sp>
        <p:nvSpPr>
          <p:cNvPr id="8" name="Text 4"/>
          <p:cNvSpPr/>
          <p:nvPr/>
        </p:nvSpPr>
        <p:spPr>
          <a:xfrm>
            <a:off x="274320" y="3383280"/>
            <a:ext cx="8595360" cy="411480"/>
          </a:xfrm>
          <a:prstGeom prst="rect">
            <a:avLst/>
          </a:prstGeom>
          <a:solidFill>
            <a:srgbClr val="F5A623"/>
          </a:solidFill>
          <a:ln w="12700">
            <a:solidFill>
              <a:srgbClr val="B8760C"/>
            </a:solidFill>
          </a:ln>
        </p:spPr>
        <p:txBody>
          <a:bodyPr wrap="square" lIns="38100" tIns="38100" rIns="38100" bIns="38100" rtlCol="0" anchor="ctr"/>
          <a:lstStyle/>
          <a:p>
            <a:pPr marL="0" indent="0" algn="ctr">
              <a:buNone/>
            </a:pPr>
            <a:r>
              <a:rPr lang="en-US" sz="1100" b="1" dirty="0">
                <a:solidFill>
                  <a:srgbClr val="0B1F3A"/>
                </a:solidFill>
                <a:latin typeface="Calibri" pitchFamily="34" charset="0"/>
                <a:ea typeface="Calibri" pitchFamily="34" charset="-122"/>
                <a:cs typeface="Calibri" pitchFamily="34" charset="-120"/>
              </a:rPr>
              <a:t>Mask passed by Patch 2: UFS_AGG_TYPE_ALL_ATTRS | UFS_AGG_TYPE_ALL_FLAGS | UFS_AGG_TYPE_STRING_DESC</a:t>
            </a:r>
            <a:endParaRPr lang="en-US" sz="1100" dirty="0"/>
          </a:p>
        </p:txBody>
      </p:sp>
      <p:sp>
        <p:nvSpPr>
          <p:cNvPr id="9" name="Text 5"/>
          <p:cNvSpPr/>
          <p:nvPr/>
        </p:nvSpPr>
        <p:spPr>
          <a:xfrm>
            <a:off x="274320" y="3886200"/>
            <a:ext cx="8595360" cy="640080"/>
          </a:xfrm>
          <a:prstGeom prst="rect">
            <a:avLst/>
          </a:prstGeom>
          <a:solidFill>
            <a:srgbClr val="F5A623"/>
          </a:solidFill>
          <a:ln w="12700">
            <a:solidFill>
              <a:srgbClr val="B8760C"/>
            </a:solidFill>
          </a:ln>
        </p:spPr>
        <p:txBody>
          <a:bodyPr wrap="square" lIns="38100" tIns="38100" rIns="38100" bIns="38100" rtlCol="0" anchor="ctr"/>
          <a:lstStyle/>
          <a:p>
            <a:pPr marL="0" indent="0" algn="l">
              <a:buNone/>
            </a:pPr>
            <a:r>
              <a:rPr lang="en-US" sz="900" dirty="0">
                <a:solidFill>
                  <a:srgbClr val="0B1F3A"/>
                </a:solidFill>
                <a:latin typeface="Calibri" pitchFamily="34" charset="0"/>
                <a:ea typeface="Calibri" pitchFamily="34" charset="-122"/>
                <a:cs typeface="Calibri" pitchFamily="34" charset="-120"/>
              </a:rPr>
              <a:t>Not specified in the patch: whether a device returns UFS_AGG_GROUP_DESCS for this mask; no descriptor-type bit (e.g. DEVICE_DESC) is in the mask, so non-string descriptor hits are not expected from this request.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What Is UFS Read Aggregation?</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3 UFS 5.0 Aggregation</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7  |  Source: [PATCH v2 1/2], [PATCH v2 2/2]</a:t>
            </a:r>
            <a:endParaRPr lang="en-US" sz="800" dirty="0"/>
          </a:p>
        </p:txBody>
      </p:sp>
      <p:sp>
        <p:nvSpPr>
          <p:cNvPr id="7" name="Text 4"/>
          <p:cNvSpPr/>
          <p:nvPr/>
        </p:nvSpPr>
        <p:spPr>
          <a:xfrm>
            <a:off x="2926080" y="685800"/>
            <a:ext cx="3291840" cy="411480"/>
          </a:xfrm>
          <a:prstGeom prst="rect">
            <a:avLst/>
          </a:prstGeom>
          <a:solidFill>
            <a:srgbClr val="F5A623"/>
          </a:solidFill>
          <a:ln w="12700">
            <a:solidFill>
              <a:srgbClr val="B8760C"/>
            </a:solidFill>
          </a:ln>
        </p:spPr>
        <p:txBody>
          <a:bodyPr wrap="square" lIns="38100" tIns="38100" rIns="38100" bIns="38100" rtlCol="0" anchor="ctr"/>
          <a:lstStyle/>
          <a:p>
            <a:pPr marL="0" indent="0" algn="ctr">
              <a:buNone/>
            </a:pPr>
            <a:r>
              <a:rPr lang="en-US" sz="1000" b="1" dirty="0">
                <a:solidFill>
                  <a:srgbClr val="0B1F3A"/>
                </a:solidFill>
                <a:latin typeface="Calibri" pitchFamily="34" charset="0"/>
                <a:ea typeface="Calibri" pitchFamily="34" charset="-122"/>
                <a:cs typeface="Calibri" pitchFamily="34" charset="-120"/>
              </a:rPr>
              <a:t>AGGREGATED READ  (opcode 0x9, UFS 5.0)</a:t>
            </a:r>
            <a:endParaRPr lang="en-US" sz="1000" dirty="0"/>
          </a:p>
        </p:txBody>
      </p:sp>
      <p:sp>
        <p:nvSpPr>
          <p:cNvPr id="8" name="Text 5"/>
          <p:cNvSpPr/>
          <p:nvPr/>
        </p:nvSpPr>
        <p:spPr>
          <a:xfrm>
            <a:off x="1097280" y="1554480"/>
            <a:ext cx="1828800" cy="36576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ATTRS</a:t>
            </a:r>
            <a:endParaRPr lang="en-US" sz="1000" dirty="0"/>
          </a:p>
        </p:txBody>
      </p:sp>
      <p:sp>
        <p:nvSpPr>
          <p:cNvPr id="9" name="Shape 6"/>
          <p:cNvSpPr/>
          <p:nvPr/>
        </p:nvSpPr>
        <p:spPr>
          <a:xfrm flipH="1">
            <a:off x="2011680" y="1097280"/>
            <a:ext cx="2560320" cy="457200"/>
          </a:xfrm>
          <a:prstGeom prst="line">
            <a:avLst/>
          </a:prstGeom>
          <a:noFill/>
          <a:ln w="19050">
            <a:solidFill>
              <a:srgbClr val="5A6B7F"/>
            </a:solidFill>
            <a:prstDash val="solid"/>
            <a:tailEnd type="triangle"/>
          </a:ln>
        </p:spPr>
      </p:sp>
      <p:sp>
        <p:nvSpPr>
          <p:cNvPr id="10" name="Shape 7"/>
          <p:cNvSpPr/>
          <p:nvPr/>
        </p:nvSpPr>
        <p:spPr>
          <a:xfrm>
            <a:off x="2011680" y="1920240"/>
            <a:ext cx="2560320" cy="365760"/>
          </a:xfrm>
          <a:prstGeom prst="line">
            <a:avLst/>
          </a:prstGeom>
          <a:noFill/>
          <a:ln w="19050">
            <a:solidFill>
              <a:srgbClr val="5A6B7F"/>
            </a:solidFill>
            <a:prstDash val="solid"/>
            <a:tailEnd type="triangle"/>
          </a:ln>
        </p:spPr>
      </p:sp>
      <p:sp>
        <p:nvSpPr>
          <p:cNvPr id="11" name="Text 8"/>
          <p:cNvSpPr/>
          <p:nvPr/>
        </p:nvSpPr>
        <p:spPr>
          <a:xfrm>
            <a:off x="3657600" y="1554480"/>
            <a:ext cx="1828800" cy="36576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FLAGS</a:t>
            </a:r>
            <a:endParaRPr lang="en-US" sz="1000" dirty="0"/>
          </a:p>
        </p:txBody>
      </p:sp>
      <p:sp>
        <p:nvSpPr>
          <p:cNvPr id="12" name="Shape 9"/>
          <p:cNvSpPr/>
          <p:nvPr/>
        </p:nvSpPr>
        <p:spPr>
          <a:xfrm>
            <a:off x="4572000" y="1097280"/>
            <a:ext cx="0" cy="457200"/>
          </a:xfrm>
          <a:prstGeom prst="line">
            <a:avLst/>
          </a:prstGeom>
          <a:noFill/>
          <a:ln w="19050">
            <a:solidFill>
              <a:srgbClr val="5A6B7F"/>
            </a:solidFill>
            <a:prstDash val="solid"/>
            <a:tailEnd type="triangle"/>
          </a:ln>
        </p:spPr>
      </p:sp>
      <p:sp>
        <p:nvSpPr>
          <p:cNvPr id="13" name="Shape 10"/>
          <p:cNvSpPr/>
          <p:nvPr/>
        </p:nvSpPr>
        <p:spPr>
          <a:xfrm>
            <a:off x="4572000" y="1920240"/>
            <a:ext cx="0" cy="365760"/>
          </a:xfrm>
          <a:prstGeom prst="line">
            <a:avLst/>
          </a:prstGeom>
          <a:noFill/>
          <a:ln w="19050">
            <a:solidFill>
              <a:srgbClr val="5A6B7F"/>
            </a:solidFill>
            <a:prstDash val="solid"/>
            <a:tailEnd type="triangle"/>
          </a:ln>
        </p:spPr>
      </p:sp>
      <p:sp>
        <p:nvSpPr>
          <p:cNvPr id="14" name="Text 11"/>
          <p:cNvSpPr/>
          <p:nvPr/>
        </p:nvSpPr>
        <p:spPr>
          <a:xfrm>
            <a:off x="6217920" y="1554480"/>
            <a:ext cx="1828800" cy="36576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STRINGS</a:t>
            </a:r>
            <a:endParaRPr lang="en-US" sz="1000" dirty="0"/>
          </a:p>
        </p:txBody>
      </p:sp>
      <p:sp>
        <p:nvSpPr>
          <p:cNvPr id="15" name="Shape 12"/>
          <p:cNvSpPr/>
          <p:nvPr/>
        </p:nvSpPr>
        <p:spPr>
          <a:xfrm>
            <a:off x="4572000" y="1097280"/>
            <a:ext cx="2560320" cy="457200"/>
          </a:xfrm>
          <a:prstGeom prst="line">
            <a:avLst/>
          </a:prstGeom>
          <a:noFill/>
          <a:ln w="19050">
            <a:solidFill>
              <a:srgbClr val="5A6B7F"/>
            </a:solidFill>
            <a:prstDash val="solid"/>
            <a:tailEnd type="triangle"/>
          </a:ln>
        </p:spPr>
      </p:sp>
      <p:sp>
        <p:nvSpPr>
          <p:cNvPr id="16" name="Shape 13"/>
          <p:cNvSpPr/>
          <p:nvPr/>
        </p:nvSpPr>
        <p:spPr>
          <a:xfrm flipH="1">
            <a:off x="4572000" y="1920240"/>
            <a:ext cx="2560320" cy="365760"/>
          </a:xfrm>
          <a:prstGeom prst="line">
            <a:avLst/>
          </a:prstGeom>
          <a:noFill/>
          <a:ln w="19050">
            <a:solidFill>
              <a:srgbClr val="5A6B7F"/>
            </a:solidFill>
            <a:prstDash val="solid"/>
            <a:tailEnd type="triangle"/>
          </a:ln>
        </p:spPr>
      </p:sp>
      <p:sp>
        <p:nvSpPr>
          <p:cNvPr id="17" name="Text 14"/>
          <p:cNvSpPr/>
          <p:nvPr/>
        </p:nvSpPr>
        <p:spPr>
          <a:xfrm>
            <a:off x="2926080" y="2286000"/>
            <a:ext cx="3291840" cy="36576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Single response (chain of typed groups)</a:t>
            </a:r>
            <a:endParaRPr lang="en-US" sz="1000" dirty="0"/>
          </a:p>
        </p:txBody>
      </p:sp>
      <p:sp>
        <p:nvSpPr>
          <p:cNvPr id="18" name="Text 15"/>
          <p:cNvSpPr txBox="1"/>
          <p:nvPr/>
        </p:nvSpPr>
        <p:spPr>
          <a:xfrm>
            <a:off x="274320" y="2788920"/>
            <a:ext cx="8595360" cy="1920240"/>
          </a:xfrm>
          <a:prstGeom prst="rect">
            <a:avLst/>
          </a:prstGeom>
          <a:noFill/>
          <a:ln/>
        </p:spPr>
        <p:txBody>
          <a:bodyPr wrap="square" lIns="25400" tIns="25400" rIns="25400" bIns="25400" rtlCol="0" anchor="t"/>
          <a:lstStyle/>
          <a:p>
            <a:pPr marL="342900" indent="-3429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Aggregated read is a UFS 5.0 capability (patch gates on wspecversion &gt;= 0x500).</a:t>
            </a:r>
            <a:endParaRPr lang="en-US" sz="1100" dirty="0"/>
          </a:p>
          <a:p>
            <a:pPr marL="342900" indent="-3429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Multiple init items are returned together in one QUERY RESPONSE UPIU.</a:t>
            </a:r>
            <a:endParaRPr lang="en-US" sz="1100" dirty="0"/>
          </a:p>
          <a:p>
            <a:pPr marL="342900" indent="-3429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Linux caches the packet in hba-&gt;agg_packet.</a:t>
            </a:r>
            <a:endParaRPr lang="en-US" sz="1100" dirty="0"/>
          </a:p>
          <a:p>
            <a:pPr marL="342900" indent="-3429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Existing helper APIs try the cache first.</a:t>
            </a:r>
            <a:endParaRPr lang="en-US" sz="1100" dirty="0"/>
          </a:p>
          <a:p>
            <a:pPr marL="342900" indent="-3429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Normal QUERY is used if the item is absent from the cache.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Aggregation Types vs Group Types</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3 UFS 5.0 Aggregation</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8  |  Source: [PATCH v2 1/2], [PATCH v2 2/2]</a:t>
            </a:r>
            <a:endParaRPr lang="en-US" sz="800" dirty="0"/>
          </a:p>
        </p:txBody>
      </p:sp>
      <p:sp>
        <p:nvSpPr>
          <p:cNvPr id="7" name="Text 4"/>
          <p:cNvSpPr txBox="1"/>
          <p:nvPr/>
        </p:nvSpPr>
        <p:spPr>
          <a:xfrm>
            <a:off x="274320" y="640080"/>
            <a:ext cx="4206240" cy="274320"/>
          </a:xfrm>
          <a:prstGeom prst="rect">
            <a:avLst/>
          </a:prstGeom>
          <a:noFill/>
          <a:ln/>
        </p:spPr>
        <p:txBody>
          <a:bodyPr wrap="square" lIns="25400" tIns="25400" rIns="25400" bIns="25400" rtlCol="0" anchor="t"/>
          <a:lstStyle/>
          <a:p>
            <a:pPr marL="0" indent="0">
              <a:buNone/>
            </a:pPr>
            <a:r>
              <a:rPr lang="en-US" sz="1100" b="1" dirty="0">
                <a:solidFill>
                  <a:srgbClr val="1F4E8C"/>
                </a:solidFill>
                <a:latin typeface="Calibri" pitchFamily="34" charset="0"/>
                <a:ea typeface="Calibri" pitchFamily="34" charset="-122"/>
                <a:cs typeface="Calibri" pitchFamily="34" charset="-120"/>
              </a:rPr>
              <a:t>Request: enum ufs_agg_type (BIT mask)</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4206240" cy="914400"/>
        </p:xfrm>
        <a:graphic>
          <a:graphicData uri="http://schemas.openxmlformats.org/drawingml/2006/table">
            <a:tbl>
              <a:tblPr/>
              <a:tblGrid>
                <a:gridCol w="32004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tblGrid>
              <a:tr h="0">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Macro</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Value</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extLst>
                  <a:ext uri="{0D108BD9-81ED-4DB2-BD59-A6C34878D82A}">
                    <a16:rowId xmlns:a16="http://schemas.microsoft.com/office/drawing/2014/main" val="10000"/>
                  </a:ext>
                </a:extLst>
              </a:tr>
              <a:tr h="0">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UFS_AGG_TYPE_ALL_FLAGS</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BIT(0)</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UFS_AGG_TYPE_ALL_ATTRS</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BIT(1)</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2"/>
                  </a:ext>
                </a:extLst>
              </a:tr>
              <a:tr h="0">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UFS_AGG_TYPE_DEVICE_DESC</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BIT(2)</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UFS_AGG_TYPE_UNIT_RPMB_DESC</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BIT(3)</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4"/>
                  </a:ext>
                </a:extLst>
              </a:tr>
              <a:tr h="0">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UFS_AGG_TYPE_INTERCONNECT_DESC</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BIT(4)</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UFS_AGG_TYPE_STRING_DESC</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BIT(5)</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6"/>
                  </a:ext>
                </a:extLst>
              </a:tr>
              <a:tr h="0">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UFS_AGG_TYPE_GEOMETRY_POWER_DESC</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BIT(6)</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UFS_AGG_TYPE_HEALTH_DESC</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BIT(7)</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8"/>
                  </a:ext>
                </a:extLst>
              </a:tr>
            </a:tbl>
          </a:graphicData>
        </a:graphic>
      </p:graphicFrame>
      <p:sp>
        <p:nvSpPr>
          <p:cNvPr id="6" name="Text 5"/>
          <p:cNvSpPr txBox="1"/>
          <p:nvPr/>
        </p:nvSpPr>
        <p:spPr>
          <a:xfrm>
            <a:off x="4663440" y="640080"/>
            <a:ext cx="4206240" cy="274320"/>
          </a:xfrm>
          <a:prstGeom prst="rect">
            <a:avLst/>
          </a:prstGeom>
          <a:noFill/>
          <a:ln/>
        </p:spPr>
        <p:txBody>
          <a:bodyPr wrap="square" lIns="25400" tIns="25400" rIns="25400" bIns="25400" rtlCol="0" anchor="t"/>
          <a:lstStyle/>
          <a:p>
            <a:pPr marL="0" indent="0">
              <a:buNone/>
            </a:pPr>
            <a:r>
              <a:rPr lang="en-US" sz="1100" b="1" dirty="0">
                <a:solidFill>
                  <a:srgbClr val="2E8B57"/>
                </a:solidFill>
                <a:latin typeface="Calibri" pitchFamily="34" charset="0"/>
                <a:ea typeface="Calibri" pitchFamily="34" charset="-122"/>
                <a:cs typeface="Calibri" pitchFamily="34" charset="-120"/>
              </a:rPr>
              <a:t>Response: enum ufs_agg_group_type (value)</a:t>
            </a:r>
            <a:endParaRPr lang="en-US" sz="11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663440" y="914400"/>
          <a:ext cx="4206240" cy="914400"/>
        </p:xfrm>
        <a:graphic>
          <a:graphicData uri="http://schemas.openxmlformats.org/drawingml/2006/table">
            <a:tbl>
              <a:tblPr/>
              <a:tblGrid>
                <a:gridCol w="32004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tblGrid>
              <a:tr h="0">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Macro</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Value</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extLst>
                  <a:ext uri="{0D108BD9-81ED-4DB2-BD59-A6C34878D82A}">
                    <a16:rowId xmlns:a16="http://schemas.microsoft.com/office/drawing/2014/main" val="10000"/>
                  </a:ext>
                </a:extLst>
              </a:tr>
              <a:tr h="0">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UFS_AGG_GROUP_RESERVED</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0x00</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UFS_AGG_GROUP_FLAGS</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0x01</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2"/>
                  </a:ext>
                </a:extLst>
              </a:tr>
              <a:tr h="0">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UFS_AGG_GROUP_ATTRS</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0x02</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UFS_AGG_GROUP_DESCS</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0x03</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4"/>
                  </a:ext>
                </a:extLst>
              </a:tr>
              <a:tr h="0">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UFS_AGG_GROUP_MANUFACTURER_STR</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0x04</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UFS_AGG_GROUP_PRODUCT_NAME_STR</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0x05</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6"/>
                  </a:ext>
                </a:extLst>
              </a:tr>
              <a:tr h="0">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UFS_AGG_GROUP_OEM_ID_STR</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0x06</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UFS_AGG_GROUP_SERIAL_NUMBER_STR</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0x07</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8"/>
                  </a:ext>
                </a:extLst>
              </a:tr>
              <a:tr h="0">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UFS_AGG_GROUP_PRODUCT_REV_STR</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0x08</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11" name="Text 6"/>
          <p:cNvSpPr/>
          <p:nvPr/>
        </p:nvSpPr>
        <p:spPr>
          <a:xfrm>
            <a:off x="274320" y="4069080"/>
            <a:ext cx="8595360" cy="457200"/>
          </a:xfrm>
          <a:prstGeom prst="rect">
            <a:avLst/>
          </a:prstGeom>
          <a:solidFill>
            <a:srgbClr val="D9F0F2"/>
          </a:solidFill>
          <a:ln w="12700">
            <a:solidFill>
              <a:srgbClr val="0E7C86"/>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UFS_AGG_GROUP_DESCS = any descriptor with a unique IDN, i.e. all but the string ones (patch comment)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Aggregated Response - High-Level Layout</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3 UFS 5.0 Aggregation</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9  |  Source: [PATCH v2 1/2], [PATCH v2 2/2]</a:t>
            </a:r>
            <a:endParaRPr lang="en-US" sz="800" dirty="0"/>
          </a:p>
        </p:txBody>
      </p:sp>
      <p:sp>
        <p:nvSpPr>
          <p:cNvPr id="7" name="Text 4"/>
          <p:cNvSpPr txBox="1"/>
          <p:nvPr/>
        </p:nvSpPr>
        <p:spPr>
          <a:xfrm>
            <a:off x="274320" y="685800"/>
            <a:ext cx="2011680" cy="274320"/>
          </a:xfrm>
          <a:prstGeom prst="rect">
            <a:avLst/>
          </a:prstGeom>
          <a:noFill/>
          <a:ln/>
        </p:spPr>
        <p:txBody>
          <a:bodyPr wrap="square" lIns="25400" tIns="25400" rIns="25400" bIns="25400" rtlCol="0" anchor="t"/>
          <a:lstStyle/>
          <a:p>
            <a:pPr marL="0" indent="0">
              <a:buNone/>
            </a:pPr>
            <a:r>
              <a:rPr lang="en-US" sz="1100" b="1" dirty="0">
                <a:solidFill>
                  <a:srgbClr val="222222"/>
                </a:solidFill>
                <a:latin typeface="Consolas" pitchFamily="34" charset="0"/>
                <a:ea typeface="Consolas" pitchFamily="34" charset="-122"/>
                <a:cs typeface="Consolas" pitchFamily="34" charset="-120"/>
              </a:rPr>
              <a:t>hba-&gt;agg_packet</a:t>
            </a:r>
            <a:endParaRPr lang="en-US" sz="1100" dirty="0"/>
          </a:p>
        </p:txBody>
      </p:sp>
      <p:sp>
        <p:nvSpPr>
          <p:cNvPr id="8" name="Shape 5"/>
          <p:cNvSpPr/>
          <p:nvPr/>
        </p:nvSpPr>
        <p:spPr>
          <a:xfrm>
            <a:off x="1280160" y="960120"/>
            <a:ext cx="0" cy="228600"/>
          </a:xfrm>
          <a:prstGeom prst="line">
            <a:avLst/>
          </a:prstGeom>
          <a:noFill/>
          <a:ln w="19050">
            <a:solidFill>
              <a:srgbClr val="5A6B7F"/>
            </a:solidFill>
            <a:prstDash val="solid"/>
            <a:tailEnd type="triangle"/>
          </a:ln>
        </p:spPr>
      </p:sp>
      <p:sp>
        <p:nvSpPr>
          <p:cNvPr id="9" name="Text 6"/>
          <p:cNvSpPr/>
          <p:nvPr/>
        </p:nvSpPr>
        <p:spPr>
          <a:xfrm>
            <a:off x="457200" y="1188720"/>
            <a:ext cx="2377440" cy="18288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GROUP HEADER  type=FLAGS</a:t>
            </a:r>
            <a:endParaRPr lang="en-US" sz="700" dirty="0"/>
          </a:p>
        </p:txBody>
      </p:sp>
      <p:sp>
        <p:nvSpPr>
          <p:cNvPr id="10" name="Text 7"/>
          <p:cNvSpPr/>
          <p:nvPr/>
        </p:nvSpPr>
        <p:spPr>
          <a:xfrm>
            <a:off x="457200" y="1371600"/>
            <a:ext cx="2377440" cy="18288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700" dirty="0">
                <a:solidFill>
                  <a:srgbClr val="0B1F3A"/>
                </a:solidFill>
                <a:latin typeface="Calibri" pitchFamily="34" charset="0"/>
                <a:ea typeface="Calibri" pitchFamily="34" charset="-122"/>
                <a:cs typeface="Calibri" pitchFamily="34" charset="-120"/>
              </a:rPr>
              <a:t>payload</a:t>
            </a:r>
            <a:endParaRPr lang="en-US" sz="700" dirty="0"/>
          </a:p>
        </p:txBody>
      </p:sp>
      <p:sp>
        <p:nvSpPr>
          <p:cNvPr id="11" name="Text 8"/>
          <p:cNvSpPr/>
          <p:nvPr/>
        </p:nvSpPr>
        <p:spPr>
          <a:xfrm>
            <a:off x="457200" y="1572768"/>
            <a:ext cx="2377440" cy="18288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GROUP HEADER  type=ATTRS</a:t>
            </a:r>
            <a:endParaRPr lang="en-US" sz="700" dirty="0"/>
          </a:p>
        </p:txBody>
      </p:sp>
      <p:sp>
        <p:nvSpPr>
          <p:cNvPr id="12" name="Text 9"/>
          <p:cNvSpPr/>
          <p:nvPr/>
        </p:nvSpPr>
        <p:spPr>
          <a:xfrm>
            <a:off x="457200" y="1755648"/>
            <a:ext cx="2377440" cy="18288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700" dirty="0">
                <a:solidFill>
                  <a:srgbClr val="0B1F3A"/>
                </a:solidFill>
                <a:latin typeface="Calibri" pitchFamily="34" charset="0"/>
                <a:ea typeface="Calibri" pitchFamily="34" charset="-122"/>
                <a:cs typeface="Calibri" pitchFamily="34" charset="-120"/>
              </a:rPr>
              <a:t>payload</a:t>
            </a:r>
            <a:endParaRPr lang="en-US" sz="700" dirty="0"/>
          </a:p>
        </p:txBody>
      </p:sp>
      <p:sp>
        <p:nvSpPr>
          <p:cNvPr id="13" name="Text 10"/>
          <p:cNvSpPr/>
          <p:nvPr/>
        </p:nvSpPr>
        <p:spPr>
          <a:xfrm>
            <a:off x="457200" y="1956816"/>
            <a:ext cx="2377440" cy="18288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GROUP HEADER  type=DESCS</a:t>
            </a:r>
            <a:endParaRPr lang="en-US" sz="700" dirty="0"/>
          </a:p>
        </p:txBody>
      </p:sp>
      <p:sp>
        <p:nvSpPr>
          <p:cNvPr id="14" name="Text 11"/>
          <p:cNvSpPr/>
          <p:nvPr/>
        </p:nvSpPr>
        <p:spPr>
          <a:xfrm>
            <a:off x="457200" y="2139696"/>
            <a:ext cx="2377440" cy="18288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700" dirty="0">
                <a:solidFill>
                  <a:srgbClr val="0B1F3A"/>
                </a:solidFill>
                <a:latin typeface="Calibri" pitchFamily="34" charset="0"/>
                <a:ea typeface="Calibri" pitchFamily="34" charset="-122"/>
                <a:cs typeface="Calibri" pitchFamily="34" charset="-120"/>
              </a:rPr>
              <a:t>payload</a:t>
            </a:r>
            <a:endParaRPr lang="en-US" sz="700" dirty="0"/>
          </a:p>
        </p:txBody>
      </p:sp>
      <p:sp>
        <p:nvSpPr>
          <p:cNvPr id="15" name="Text 12"/>
          <p:cNvSpPr/>
          <p:nvPr/>
        </p:nvSpPr>
        <p:spPr>
          <a:xfrm>
            <a:off x="457200" y="2340864"/>
            <a:ext cx="2377440" cy="18288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GROUP HEADER  type=MANUFACTURER_STR</a:t>
            </a:r>
            <a:endParaRPr lang="en-US" sz="700" dirty="0"/>
          </a:p>
        </p:txBody>
      </p:sp>
      <p:sp>
        <p:nvSpPr>
          <p:cNvPr id="16" name="Text 13"/>
          <p:cNvSpPr/>
          <p:nvPr/>
        </p:nvSpPr>
        <p:spPr>
          <a:xfrm>
            <a:off x="457200" y="2523744"/>
            <a:ext cx="2377440" cy="18288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700" dirty="0">
                <a:solidFill>
                  <a:srgbClr val="0B1F3A"/>
                </a:solidFill>
                <a:latin typeface="Calibri" pitchFamily="34" charset="0"/>
                <a:ea typeface="Calibri" pitchFamily="34" charset="-122"/>
                <a:cs typeface="Calibri" pitchFamily="34" charset="-120"/>
              </a:rPr>
              <a:t>payload</a:t>
            </a:r>
            <a:endParaRPr lang="en-US" sz="700" dirty="0"/>
          </a:p>
        </p:txBody>
      </p:sp>
      <p:sp>
        <p:nvSpPr>
          <p:cNvPr id="17" name="Text 14"/>
          <p:cNvSpPr/>
          <p:nvPr/>
        </p:nvSpPr>
        <p:spPr>
          <a:xfrm>
            <a:off x="457200" y="2724912"/>
            <a:ext cx="2377440" cy="18288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GROUP HEADER  type=PRODUCT_NAME_STR</a:t>
            </a:r>
            <a:endParaRPr lang="en-US" sz="700" dirty="0"/>
          </a:p>
        </p:txBody>
      </p:sp>
      <p:sp>
        <p:nvSpPr>
          <p:cNvPr id="18" name="Text 15"/>
          <p:cNvSpPr/>
          <p:nvPr/>
        </p:nvSpPr>
        <p:spPr>
          <a:xfrm>
            <a:off x="457200" y="2907792"/>
            <a:ext cx="2377440" cy="18288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700" dirty="0">
                <a:solidFill>
                  <a:srgbClr val="0B1F3A"/>
                </a:solidFill>
                <a:latin typeface="Calibri" pitchFamily="34" charset="0"/>
                <a:ea typeface="Calibri" pitchFamily="34" charset="-122"/>
                <a:cs typeface="Calibri" pitchFamily="34" charset="-120"/>
              </a:rPr>
              <a:t>payload</a:t>
            </a:r>
            <a:endParaRPr lang="en-US" sz="700" dirty="0"/>
          </a:p>
        </p:txBody>
      </p:sp>
      <p:sp>
        <p:nvSpPr>
          <p:cNvPr id="19" name="Text 16"/>
          <p:cNvSpPr/>
          <p:nvPr/>
        </p:nvSpPr>
        <p:spPr>
          <a:xfrm>
            <a:off x="457200" y="3108960"/>
            <a:ext cx="2377440" cy="18288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GROUP HEADER  type=OEM_ID_STR</a:t>
            </a:r>
            <a:endParaRPr lang="en-US" sz="700" dirty="0"/>
          </a:p>
        </p:txBody>
      </p:sp>
      <p:sp>
        <p:nvSpPr>
          <p:cNvPr id="20" name="Text 17"/>
          <p:cNvSpPr/>
          <p:nvPr/>
        </p:nvSpPr>
        <p:spPr>
          <a:xfrm>
            <a:off x="457200" y="3291840"/>
            <a:ext cx="2377440" cy="18288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700" dirty="0">
                <a:solidFill>
                  <a:srgbClr val="0B1F3A"/>
                </a:solidFill>
                <a:latin typeface="Calibri" pitchFamily="34" charset="0"/>
                <a:ea typeface="Calibri" pitchFamily="34" charset="-122"/>
                <a:cs typeface="Calibri" pitchFamily="34" charset="-120"/>
              </a:rPr>
              <a:t>payload</a:t>
            </a:r>
            <a:endParaRPr lang="en-US" sz="700" dirty="0"/>
          </a:p>
        </p:txBody>
      </p:sp>
      <p:sp>
        <p:nvSpPr>
          <p:cNvPr id="21" name="Text 18"/>
          <p:cNvSpPr/>
          <p:nvPr/>
        </p:nvSpPr>
        <p:spPr>
          <a:xfrm>
            <a:off x="457200" y="3493008"/>
            <a:ext cx="2377440" cy="18288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GROUP HEADER  type=SERIAL_NUMBER_STR</a:t>
            </a:r>
            <a:endParaRPr lang="en-US" sz="700" dirty="0"/>
          </a:p>
        </p:txBody>
      </p:sp>
      <p:sp>
        <p:nvSpPr>
          <p:cNvPr id="22" name="Text 19"/>
          <p:cNvSpPr/>
          <p:nvPr/>
        </p:nvSpPr>
        <p:spPr>
          <a:xfrm>
            <a:off x="457200" y="3675888"/>
            <a:ext cx="2377440" cy="18288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700" dirty="0">
                <a:solidFill>
                  <a:srgbClr val="0B1F3A"/>
                </a:solidFill>
                <a:latin typeface="Calibri" pitchFamily="34" charset="0"/>
                <a:ea typeface="Calibri" pitchFamily="34" charset="-122"/>
                <a:cs typeface="Calibri" pitchFamily="34" charset="-120"/>
              </a:rPr>
              <a:t>payload</a:t>
            </a:r>
            <a:endParaRPr lang="en-US" sz="700" dirty="0"/>
          </a:p>
        </p:txBody>
      </p:sp>
      <p:sp>
        <p:nvSpPr>
          <p:cNvPr id="23" name="Text 20"/>
          <p:cNvSpPr/>
          <p:nvPr/>
        </p:nvSpPr>
        <p:spPr>
          <a:xfrm>
            <a:off x="457200" y="3877056"/>
            <a:ext cx="2377440" cy="18288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700" dirty="0">
                <a:solidFill>
                  <a:srgbClr val="FFFFFF"/>
                </a:solidFill>
                <a:latin typeface="Calibri" pitchFamily="34" charset="0"/>
                <a:ea typeface="Calibri" pitchFamily="34" charset="-122"/>
                <a:cs typeface="Calibri" pitchFamily="34" charset="-120"/>
              </a:rPr>
              <a:t>GROUP HEADER  type=PRODUCT_REV_STR</a:t>
            </a:r>
            <a:endParaRPr lang="en-US" sz="700" dirty="0"/>
          </a:p>
        </p:txBody>
      </p:sp>
      <p:sp>
        <p:nvSpPr>
          <p:cNvPr id="24" name="Text 21"/>
          <p:cNvSpPr/>
          <p:nvPr/>
        </p:nvSpPr>
        <p:spPr>
          <a:xfrm>
            <a:off x="457200" y="4059936"/>
            <a:ext cx="2377440" cy="18288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700" dirty="0">
                <a:solidFill>
                  <a:srgbClr val="0B1F3A"/>
                </a:solidFill>
                <a:latin typeface="Calibri" pitchFamily="34" charset="0"/>
                <a:ea typeface="Calibri" pitchFamily="34" charset="-122"/>
                <a:cs typeface="Calibri" pitchFamily="34" charset="-120"/>
              </a:rPr>
              <a:t>payload</a:t>
            </a:r>
            <a:endParaRPr lang="en-US" sz="700" dirty="0"/>
          </a:p>
        </p:txBody>
      </p:sp>
      <p:sp>
        <p:nvSpPr>
          <p:cNvPr id="25" name="Text 22"/>
          <p:cNvSpPr txBox="1"/>
          <p:nvPr/>
        </p:nvSpPr>
        <p:spPr>
          <a:xfrm>
            <a:off x="3108960" y="1188720"/>
            <a:ext cx="2560320" cy="822960"/>
          </a:xfrm>
          <a:prstGeom prst="rect">
            <a:avLst/>
          </a:prstGeom>
          <a:noFill/>
          <a:ln/>
        </p:spPr>
        <p:txBody>
          <a:bodyPr wrap="square" lIns="25400" tIns="25400" rIns="25400" bIns="25400" rtlCol="0" anchor="t"/>
          <a:lstStyle/>
          <a:p>
            <a:pPr marL="0" indent="0">
              <a:buNone/>
            </a:pPr>
            <a:r>
              <a:rPr lang="en-US" sz="1000" i="1" dirty="0">
                <a:solidFill>
                  <a:srgbClr val="B03A2E"/>
                </a:solidFill>
                <a:latin typeface="Calibri" pitchFamily="34" charset="0"/>
                <a:ea typeface="Calibri" pitchFamily="34" charset="-122"/>
                <a:cs typeface="Calibri" pitchFamily="34" charset="-120"/>
              </a:rPr>
              <a:t>Group order shown is illustrative only. The patch defines group types, not their order in the packet.</a:t>
            </a:r>
            <a:endParaRPr lang="en-US" sz="1000" dirty="0"/>
          </a:p>
        </p:txBody>
      </p:sp>
      <p:sp>
        <p:nvSpPr>
          <p:cNvPr id="26" name="Text 23"/>
          <p:cNvSpPr txBox="1"/>
          <p:nvPr/>
        </p:nvSpPr>
        <p:spPr>
          <a:xfrm>
            <a:off x="5760720" y="685800"/>
            <a:ext cx="3108960" cy="274320"/>
          </a:xfrm>
          <a:prstGeom prst="rect">
            <a:avLst/>
          </a:prstGeom>
          <a:noFill/>
          <a:ln/>
        </p:spPr>
        <p:txBody>
          <a:bodyPr wrap="square" lIns="25400" tIns="25400" rIns="25400" bIns="25400" rtlCol="0" anchor="t"/>
          <a:lstStyle/>
          <a:p>
            <a:pPr marL="0" indent="0">
              <a:buNone/>
            </a:pPr>
            <a:r>
              <a:rPr lang="en-US" sz="1000" b="1" dirty="0">
                <a:solidFill>
                  <a:srgbClr val="222222"/>
                </a:solidFill>
                <a:latin typeface="Calibri" pitchFamily="34" charset="0"/>
                <a:ea typeface="Calibri" pitchFamily="34" charset="-122"/>
                <a:cs typeface="Calibri" pitchFamily="34" charset="-120"/>
              </a:rPr>
              <a:t>Group header (4 bytes = QUERY_AGG_GROUP_HDR_SIZE)</a:t>
            </a:r>
            <a:endParaRPr lang="en-US" sz="1000" dirty="0"/>
          </a:p>
        </p:txBody>
      </p:sp>
      <p:sp>
        <p:nvSpPr>
          <p:cNvPr id="27" name="Text 24"/>
          <p:cNvSpPr/>
          <p:nvPr/>
        </p:nvSpPr>
        <p:spPr>
          <a:xfrm>
            <a:off x="5852160" y="1005840"/>
            <a:ext cx="2926080" cy="32004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group_type  (u8)</a:t>
            </a:r>
            <a:endParaRPr lang="en-US" sz="1000" dirty="0"/>
          </a:p>
        </p:txBody>
      </p:sp>
      <p:sp>
        <p:nvSpPr>
          <p:cNvPr id="28" name="Text 25"/>
          <p:cNvSpPr/>
          <p:nvPr/>
        </p:nvSpPr>
        <p:spPr>
          <a:xfrm>
            <a:off x="5852160" y="1325880"/>
            <a:ext cx="2926080" cy="32004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reserved  (u8)</a:t>
            </a:r>
            <a:endParaRPr lang="en-US" sz="1000" dirty="0"/>
          </a:p>
        </p:txBody>
      </p:sp>
      <p:sp>
        <p:nvSpPr>
          <p:cNvPr id="29" name="Text 26"/>
          <p:cNvSpPr/>
          <p:nvPr/>
        </p:nvSpPr>
        <p:spPr>
          <a:xfrm>
            <a:off x="5852160" y="1645920"/>
            <a:ext cx="2926080" cy="320040"/>
          </a:xfrm>
          <a:prstGeom prst="rect">
            <a:avLst/>
          </a:prstGeom>
          <a:solidFill>
            <a:srgbClr val="F5A623"/>
          </a:solidFill>
          <a:ln w="12700">
            <a:solidFill>
              <a:srgbClr val="B8760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next_group_offset  (__be16, 2 bytes)</a:t>
            </a:r>
            <a:endParaRPr lang="en-US" sz="1000" dirty="0"/>
          </a:p>
        </p:txBody>
      </p:sp>
      <p:sp>
        <p:nvSpPr>
          <p:cNvPr id="30" name="Text 27"/>
          <p:cNvSpPr txBox="1"/>
          <p:nvPr/>
        </p:nvSpPr>
        <p:spPr>
          <a:xfrm>
            <a:off x="3108960" y="2194560"/>
            <a:ext cx="2560320" cy="2011680"/>
          </a:xfrm>
          <a:prstGeom prst="rect">
            <a:avLst/>
          </a:prstGeom>
          <a:noFill/>
          <a:ln/>
        </p:spPr>
        <p:txBody>
          <a:bodyPr wrap="square" lIns="25400" tIns="25400" rIns="25400" bIns="25400" rtlCol="0" anchor="t"/>
          <a:lstStyle/>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Offset is from packet start; 0 = last group.</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Group payload length = (next_group_off ? next_group_off : packet_len) - payload_off.</a:t>
            </a:r>
            <a:endParaRPr lang="en-US" sz="1000" dirty="0"/>
          </a:p>
        </p:txBody>
      </p:sp>
      <p:sp>
        <p:nvSpPr>
          <p:cNvPr id="31" name="Text 28"/>
          <p:cNvSpPr txBox="1"/>
          <p:nvPr/>
        </p:nvSpPr>
        <p:spPr>
          <a:xfrm>
            <a:off x="5760720" y="2194560"/>
            <a:ext cx="3108960" cy="731520"/>
          </a:xfrm>
          <a:prstGeom prst="rect">
            <a:avLst/>
          </a:prstGeom>
          <a:noFill/>
          <a:ln/>
        </p:spPr>
        <p:txBody>
          <a:bodyPr wrap="square" lIns="25400" tIns="25400" rIns="25400" bIns="25400" rtlCol="0" anchor="t"/>
          <a:lstStyle/>
          <a:p>
            <a:pPr marL="0" indent="0">
              <a:buNone/>
            </a:pPr>
            <a:r>
              <a:rPr lang="en-US" sz="1000" dirty="0">
                <a:solidFill>
                  <a:srgbClr val="222222"/>
                </a:solidFill>
                <a:latin typeface="Calibri" pitchFamily="34" charset="0"/>
                <a:ea typeface="Calibri" pitchFamily="34" charset="-122"/>
                <a:cs typeface="Calibri" pitchFamily="34" charset="-120"/>
              </a:rPr>
              <a:t>Max packet buffer: QUERY_AGGREGATED_MAX_SIZE = 4096 - GENERAL_UPIU_REQUEST_SIZE</a:t>
            </a:r>
            <a:endParaRPr lang="en-US" sz="1000" dirty="0"/>
          </a:p>
        </p:txBody>
      </p:sp>
      <p:sp>
        <p:nvSpPr>
          <p:cNvPr id="32" name="Text 29"/>
          <p:cNvSpPr/>
          <p:nvPr/>
        </p:nvSpPr>
        <p:spPr>
          <a:xfrm>
            <a:off x="5760720" y="3017520"/>
            <a:ext cx="3108960" cy="640080"/>
          </a:xfrm>
          <a:prstGeom prst="rect">
            <a:avLst/>
          </a:prstGeom>
          <a:solidFill>
            <a:srgbClr val="F5A623"/>
          </a:solidFill>
          <a:ln w="12700">
            <a:solidFill>
              <a:srgbClr val="B8760C"/>
            </a:solidFill>
          </a:ln>
        </p:spPr>
        <p:txBody>
          <a:bodyPr wrap="square" lIns="38100" tIns="38100" rIns="38100" bIns="38100" rtlCol="0" anchor="ctr"/>
          <a:lstStyle/>
          <a:p>
            <a:pPr marL="0" indent="0" algn="l">
              <a:buNone/>
            </a:pPr>
            <a:r>
              <a:rPr lang="en-US" sz="900" dirty="0">
                <a:solidFill>
                  <a:srgbClr val="0B1F3A"/>
                </a:solidFill>
                <a:latin typeface="Calibri" pitchFamily="34" charset="0"/>
                <a:ea typeface="Calibri" pitchFamily="34" charset="-122"/>
                <a:cs typeface="Calibri" pitchFamily="34" charset="-120"/>
              </a:rPr>
              <a:t>Not specified in the patch: how many bytes each flag/attr group carries beyond what the parsers index.</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End-to-End Function Flow</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4 Function Processing</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10  |  Source: [PATCH v2 1/2], [PATCH v2 2/2]</a:t>
            </a:r>
            <a:endParaRPr lang="en-US" sz="800" dirty="0"/>
          </a:p>
        </p:txBody>
      </p:sp>
      <p:sp>
        <p:nvSpPr>
          <p:cNvPr id="7" name="Text 4"/>
          <p:cNvSpPr/>
          <p:nvPr/>
        </p:nvSpPr>
        <p:spPr>
          <a:xfrm>
            <a:off x="274320" y="658368"/>
            <a:ext cx="3840480" cy="384048"/>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ufs_get_device_desc()  reads Device Descriptor; stores wspecversion</a:t>
            </a:r>
            <a:endParaRPr lang="en-US" sz="900" dirty="0"/>
          </a:p>
        </p:txBody>
      </p:sp>
      <p:sp>
        <p:nvSpPr>
          <p:cNvPr id="8" name="Shape 5"/>
          <p:cNvSpPr/>
          <p:nvPr/>
        </p:nvSpPr>
        <p:spPr>
          <a:xfrm>
            <a:off x="2194560" y="1042416"/>
            <a:ext cx="0" cy="182880"/>
          </a:xfrm>
          <a:prstGeom prst="line">
            <a:avLst/>
          </a:prstGeom>
          <a:noFill/>
          <a:ln w="19050">
            <a:solidFill>
              <a:srgbClr val="5A6B7F"/>
            </a:solidFill>
            <a:prstDash val="solid"/>
            <a:tailEnd type="triangle"/>
          </a:ln>
        </p:spPr>
      </p:sp>
      <p:sp>
        <p:nvSpPr>
          <p:cNvPr id="9" name="Text 6"/>
          <p:cNvSpPr/>
          <p:nvPr/>
        </p:nvSpPr>
        <p:spPr>
          <a:xfrm>
            <a:off x="274320" y="1225296"/>
            <a:ext cx="3840480" cy="384048"/>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populate hba-&gt;agg_str_idx[0..4] from Device Descriptor</a:t>
            </a:r>
            <a:endParaRPr lang="en-US" sz="900" dirty="0"/>
          </a:p>
        </p:txBody>
      </p:sp>
      <p:sp>
        <p:nvSpPr>
          <p:cNvPr id="10" name="Shape 7"/>
          <p:cNvSpPr/>
          <p:nvPr/>
        </p:nvSpPr>
        <p:spPr>
          <a:xfrm>
            <a:off x="2194560" y="1609344"/>
            <a:ext cx="0" cy="182880"/>
          </a:xfrm>
          <a:prstGeom prst="line">
            <a:avLst/>
          </a:prstGeom>
          <a:noFill/>
          <a:ln w="19050">
            <a:solidFill>
              <a:srgbClr val="5A6B7F"/>
            </a:solidFill>
            <a:prstDash val="solid"/>
            <a:tailEnd type="triangle"/>
          </a:ln>
        </p:spPr>
      </p:sp>
      <p:sp>
        <p:nvSpPr>
          <p:cNvPr id="11" name="Text 8"/>
          <p:cNvSpPr/>
          <p:nvPr/>
        </p:nvSpPr>
        <p:spPr>
          <a:xfrm>
            <a:off x="274320" y="1792224"/>
            <a:ext cx="3840480" cy="384048"/>
          </a:xfrm>
          <a:prstGeom prst="rect">
            <a:avLst/>
          </a:prstGeom>
          <a:solidFill>
            <a:srgbClr val="F5A623"/>
          </a:solidFill>
          <a:ln w="12700">
            <a:solidFill>
              <a:srgbClr val="B8760C"/>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ufshcd_agg_read_begin(hba, ATTRS|FLAGS|STRING_DESC)</a:t>
            </a:r>
            <a:endParaRPr lang="en-US" sz="900" dirty="0"/>
          </a:p>
        </p:txBody>
      </p:sp>
      <p:sp>
        <p:nvSpPr>
          <p:cNvPr id="12" name="Shape 9"/>
          <p:cNvSpPr/>
          <p:nvPr/>
        </p:nvSpPr>
        <p:spPr>
          <a:xfrm>
            <a:off x="2194560" y="2176272"/>
            <a:ext cx="0" cy="182880"/>
          </a:xfrm>
          <a:prstGeom prst="line">
            <a:avLst/>
          </a:prstGeom>
          <a:noFill/>
          <a:ln w="19050">
            <a:solidFill>
              <a:srgbClr val="5A6B7F"/>
            </a:solidFill>
            <a:prstDash val="solid"/>
            <a:tailEnd type="triangle"/>
          </a:ln>
        </p:spPr>
      </p:sp>
      <p:sp>
        <p:nvSpPr>
          <p:cNvPr id="13" name="Text 10"/>
          <p:cNvSpPr/>
          <p:nvPr/>
        </p:nvSpPr>
        <p:spPr>
          <a:xfrm>
            <a:off x="274320" y="2359152"/>
            <a:ext cx="3840480" cy="384048"/>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ufshcd_query_aggregated_read()  -&gt; AGGREGATED READ QUERY</a:t>
            </a:r>
            <a:endParaRPr lang="en-US" sz="900" dirty="0"/>
          </a:p>
        </p:txBody>
      </p:sp>
      <p:sp>
        <p:nvSpPr>
          <p:cNvPr id="14" name="Shape 11"/>
          <p:cNvSpPr/>
          <p:nvPr/>
        </p:nvSpPr>
        <p:spPr>
          <a:xfrm>
            <a:off x="2194560" y="2743200"/>
            <a:ext cx="0" cy="182880"/>
          </a:xfrm>
          <a:prstGeom prst="line">
            <a:avLst/>
          </a:prstGeom>
          <a:noFill/>
          <a:ln w="19050">
            <a:solidFill>
              <a:srgbClr val="5A6B7F"/>
            </a:solidFill>
            <a:prstDash val="solid"/>
            <a:tailEnd type="triangle"/>
          </a:ln>
        </p:spPr>
      </p:sp>
      <p:sp>
        <p:nvSpPr>
          <p:cNvPr id="15" name="Text 12"/>
          <p:cNvSpPr/>
          <p:nvPr/>
        </p:nvSpPr>
        <p:spPr>
          <a:xfrm>
            <a:off x="274320" y="2926080"/>
            <a:ext cx="3840480" cy="384048"/>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response copied into agg_packet; agg_packet_len = data_segment_length</a:t>
            </a:r>
            <a:endParaRPr lang="en-US" sz="900" dirty="0"/>
          </a:p>
        </p:txBody>
      </p:sp>
      <p:sp>
        <p:nvSpPr>
          <p:cNvPr id="16" name="Shape 13"/>
          <p:cNvSpPr/>
          <p:nvPr/>
        </p:nvSpPr>
        <p:spPr>
          <a:xfrm>
            <a:off x="4114800" y="3108960"/>
            <a:ext cx="457200" cy="457200"/>
          </a:xfrm>
          <a:prstGeom prst="line">
            <a:avLst/>
          </a:prstGeom>
          <a:noFill/>
          <a:ln w="19050">
            <a:solidFill>
              <a:srgbClr val="5A6B7F"/>
            </a:solidFill>
            <a:prstDash val="solid"/>
            <a:tailEnd type="triangle"/>
          </a:ln>
        </p:spPr>
      </p:sp>
      <p:sp>
        <p:nvSpPr>
          <p:cNvPr id="17" name="Text 14"/>
          <p:cNvSpPr/>
          <p:nvPr/>
        </p:nvSpPr>
        <p:spPr>
          <a:xfrm>
            <a:off x="274320" y="3520440"/>
            <a:ext cx="3840480" cy="347472"/>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device init continues</a:t>
            </a:r>
            <a:endParaRPr lang="en-US" sz="1000" dirty="0"/>
          </a:p>
        </p:txBody>
      </p:sp>
      <p:sp>
        <p:nvSpPr>
          <p:cNvPr id="18" name="Shape 15"/>
          <p:cNvSpPr/>
          <p:nvPr/>
        </p:nvSpPr>
        <p:spPr>
          <a:xfrm>
            <a:off x="2194560" y="2971800"/>
            <a:ext cx="0" cy="548640"/>
          </a:xfrm>
          <a:prstGeom prst="line">
            <a:avLst/>
          </a:prstGeom>
          <a:noFill/>
          <a:ln w="19050">
            <a:solidFill>
              <a:srgbClr val="5A6B7F"/>
            </a:solidFill>
            <a:prstDash val="solid"/>
            <a:tailEnd type="triangle"/>
          </a:ln>
        </p:spPr>
      </p:sp>
      <p:sp>
        <p:nvSpPr>
          <p:cNvPr id="19" name="Text 16"/>
          <p:cNvSpPr/>
          <p:nvPr/>
        </p:nvSpPr>
        <p:spPr>
          <a:xfrm>
            <a:off x="4572000" y="731520"/>
            <a:ext cx="1371600" cy="36576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ufshcd_read_attr()</a:t>
            </a:r>
            <a:endParaRPr lang="en-US" sz="1000" dirty="0"/>
          </a:p>
        </p:txBody>
      </p:sp>
      <p:sp>
        <p:nvSpPr>
          <p:cNvPr id="20" name="Text 17"/>
          <p:cNvSpPr/>
          <p:nvPr/>
        </p:nvSpPr>
        <p:spPr>
          <a:xfrm>
            <a:off x="6035040" y="731520"/>
            <a:ext cx="1371600" cy="36576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ufshcd_read_flag()</a:t>
            </a:r>
            <a:endParaRPr lang="en-US" sz="1000" dirty="0"/>
          </a:p>
        </p:txBody>
      </p:sp>
      <p:sp>
        <p:nvSpPr>
          <p:cNvPr id="21" name="Text 18"/>
          <p:cNvSpPr/>
          <p:nvPr/>
        </p:nvSpPr>
        <p:spPr>
          <a:xfrm>
            <a:off x="7498080" y="731520"/>
            <a:ext cx="1463040" cy="36576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ufshcd_read_desc_param()</a:t>
            </a:r>
            <a:endParaRPr lang="en-US" sz="1000" dirty="0"/>
          </a:p>
        </p:txBody>
      </p:sp>
      <p:sp>
        <p:nvSpPr>
          <p:cNvPr id="22" name="Text 19"/>
          <p:cNvSpPr/>
          <p:nvPr/>
        </p:nvSpPr>
        <p:spPr>
          <a:xfrm>
            <a:off x="4572000" y="1463040"/>
            <a:ext cx="1371600" cy="36576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ufshcd_agg_attr()</a:t>
            </a:r>
            <a:endParaRPr lang="en-US" sz="1000" dirty="0"/>
          </a:p>
        </p:txBody>
      </p:sp>
      <p:sp>
        <p:nvSpPr>
          <p:cNvPr id="23" name="Text 20"/>
          <p:cNvSpPr/>
          <p:nvPr/>
        </p:nvSpPr>
        <p:spPr>
          <a:xfrm>
            <a:off x="6035040" y="1463040"/>
            <a:ext cx="1371600" cy="36576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ufshcd_agg_flag()</a:t>
            </a:r>
            <a:endParaRPr lang="en-US" sz="1000" dirty="0"/>
          </a:p>
        </p:txBody>
      </p:sp>
      <p:sp>
        <p:nvSpPr>
          <p:cNvPr id="24" name="Text 21"/>
          <p:cNvSpPr/>
          <p:nvPr/>
        </p:nvSpPr>
        <p:spPr>
          <a:xfrm>
            <a:off x="7498080" y="1463040"/>
            <a:ext cx="1463040" cy="36576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ufshcd_agg_desc()</a:t>
            </a:r>
            <a:endParaRPr lang="en-US" sz="1000" dirty="0"/>
          </a:p>
        </p:txBody>
      </p:sp>
      <p:sp>
        <p:nvSpPr>
          <p:cNvPr id="25" name="Shape 22"/>
          <p:cNvSpPr/>
          <p:nvPr/>
        </p:nvSpPr>
        <p:spPr>
          <a:xfrm>
            <a:off x="5257800" y="1097280"/>
            <a:ext cx="0" cy="365760"/>
          </a:xfrm>
          <a:prstGeom prst="line">
            <a:avLst/>
          </a:prstGeom>
          <a:noFill/>
          <a:ln w="19050">
            <a:solidFill>
              <a:srgbClr val="5A6B7F"/>
            </a:solidFill>
            <a:prstDash val="solid"/>
            <a:tailEnd type="triangle"/>
          </a:ln>
        </p:spPr>
      </p:sp>
      <p:sp>
        <p:nvSpPr>
          <p:cNvPr id="26" name="Shape 23"/>
          <p:cNvSpPr/>
          <p:nvPr/>
        </p:nvSpPr>
        <p:spPr>
          <a:xfrm>
            <a:off x="6720840" y="1097280"/>
            <a:ext cx="0" cy="365760"/>
          </a:xfrm>
          <a:prstGeom prst="line">
            <a:avLst/>
          </a:prstGeom>
          <a:noFill/>
          <a:ln w="19050">
            <a:solidFill>
              <a:srgbClr val="5A6B7F"/>
            </a:solidFill>
            <a:prstDash val="solid"/>
            <a:tailEnd type="triangle"/>
          </a:ln>
        </p:spPr>
      </p:sp>
      <p:sp>
        <p:nvSpPr>
          <p:cNvPr id="27" name="Shape 24"/>
          <p:cNvSpPr/>
          <p:nvPr/>
        </p:nvSpPr>
        <p:spPr>
          <a:xfrm>
            <a:off x="8229600" y="1097280"/>
            <a:ext cx="0" cy="365760"/>
          </a:xfrm>
          <a:prstGeom prst="line">
            <a:avLst/>
          </a:prstGeom>
          <a:noFill/>
          <a:ln w="19050">
            <a:solidFill>
              <a:srgbClr val="5A6B7F"/>
            </a:solidFill>
            <a:prstDash val="solid"/>
            <a:tailEnd type="triangle"/>
          </a:ln>
        </p:spPr>
      </p:sp>
      <p:sp>
        <p:nvSpPr>
          <p:cNvPr id="28" name="Text 25"/>
          <p:cNvSpPr/>
          <p:nvPr/>
        </p:nvSpPr>
        <p:spPr>
          <a:xfrm>
            <a:off x="4572000" y="2103120"/>
            <a:ext cx="4389120" cy="36576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all call ufshcd_agg_group() (string path: ufshcd_agg_string())</a:t>
            </a:r>
            <a:endParaRPr lang="en-US" sz="1000" dirty="0"/>
          </a:p>
        </p:txBody>
      </p:sp>
      <p:sp>
        <p:nvSpPr>
          <p:cNvPr id="29" name="Shape 26"/>
          <p:cNvSpPr/>
          <p:nvPr/>
        </p:nvSpPr>
        <p:spPr>
          <a:xfrm>
            <a:off x="5257800" y="1828800"/>
            <a:ext cx="0" cy="274320"/>
          </a:xfrm>
          <a:prstGeom prst="line">
            <a:avLst/>
          </a:prstGeom>
          <a:noFill/>
          <a:ln w="19050">
            <a:solidFill>
              <a:srgbClr val="5A6B7F"/>
            </a:solidFill>
            <a:prstDash val="solid"/>
            <a:tailEnd type="triangle"/>
          </a:ln>
        </p:spPr>
      </p:sp>
      <p:sp>
        <p:nvSpPr>
          <p:cNvPr id="30" name="Shape 27"/>
          <p:cNvSpPr/>
          <p:nvPr/>
        </p:nvSpPr>
        <p:spPr>
          <a:xfrm>
            <a:off x="6720840" y="1828800"/>
            <a:ext cx="0" cy="274320"/>
          </a:xfrm>
          <a:prstGeom prst="line">
            <a:avLst/>
          </a:prstGeom>
          <a:noFill/>
          <a:ln w="19050">
            <a:solidFill>
              <a:srgbClr val="5A6B7F"/>
            </a:solidFill>
            <a:prstDash val="solid"/>
            <a:tailEnd type="triangle"/>
          </a:ln>
        </p:spPr>
      </p:sp>
      <p:sp>
        <p:nvSpPr>
          <p:cNvPr id="31" name="Shape 28"/>
          <p:cNvSpPr/>
          <p:nvPr/>
        </p:nvSpPr>
        <p:spPr>
          <a:xfrm>
            <a:off x="8229600" y="1828800"/>
            <a:ext cx="0" cy="274320"/>
          </a:xfrm>
          <a:prstGeom prst="line">
            <a:avLst/>
          </a:prstGeom>
          <a:noFill/>
          <a:ln w="19050">
            <a:solidFill>
              <a:srgbClr val="5A6B7F"/>
            </a:solidFill>
            <a:prstDash val="solid"/>
            <a:tailEnd type="triangle"/>
          </a:ln>
        </p:spPr>
      </p:sp>
      <p:sp>
        <p:nvSpPr>
          <p:cNvPr id="32" name="Text 29"/>
          <p:cNvSpPr/>
          <p:nvPr/>
        </p:nvSpPr>
        <p:spPr>
          <a:xfrm>
            <a:off x="4572000" y="2743200"/>
            <a:ext cx="4389120" cy="411480"/>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miss (-ENOENT / NULL)  -&gt;  fallback to normal QUERY (existing code)</a:t>
            </a:r>
            <a:endParaRPr lang="en-US" sz="1000" dirty="0"/>
          </a:p>
        </p:txBody>
      </p:sp>
      <p:sp>
        <p:nvSpPr>
          <p:cNvPr id="33" name="Shape 30"/>
          <p:cNvSpPr/>
          <p:nvPr/>
        </p:nvSpPr>
        <p:spPr>
          <a:xfrm>
            <a:off x="6766560" y="2468880"/>
            <a:ext cx="0" cy="274320"/>
          </a:xfrm>
          <a:prstGeom prst="line">
            <a:avLst/>
          </a:prstGeom>
          <a:noFill/>
          <a:ln w="19050">
            <a:solidFill>
              <a:srgbClr val="5A6B7F"/>
            </a:solidFill>
            <a:prstDash val="solid"/>
            <a:tailEnd type="triangle"/>
          </a:ln>
        </p:spPr>
      </p:sp>
      <p:sp>
        <p:nvSpPr>
          <p:cNvPr id="34" name="Shape 31"/>
          <p:cNvSpPr/>
          <p:nvPr/>
        </p:nvSpPr>
        <p:spPr>
          <a:xfrm flipV="1">
            <a:off x="4114800" y="3154680"/>
            <a:ext cx="914400" cy="539496"/>
          </a:xfrm>
          <a:prstGeom prst="line">
            <a:avLst/>
          </a:prstGeom>
          <a:noFill/>
          <a:ln w="19050">
            <a:solidFill>
              <a:srgbClr val="5A6B7F"/>
            </a:solidFill>
            <a:prstDash val="solid"/>
            <a:tailEnd type="triangle"/>
          </a:ln>
        </p:spPr>
      </p:sp>
      <p:sp>
        <p:nvSpPr>
          <p:cNvPr id="35" name="Text 32"/>
          <p:cNvSpPr/>
          <p:nvPr/>
        </p:nvSpPr>
        <p:spPr>
          <a:xfrm>
            <a:off x="274320" y="4069080"/>
            <a:ext cx="8686800" cy="41148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end of ufshcd_device_params_init()  -&gt;  ufshcd_agg_read_end()  (kfree, NULL, len=0)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ufshcd_query_aggregated_read()</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4 Function Processing</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11  |  Source: [PATCH v2 1/2], [PATCH v2 2/2]</a:t>
            </a:r>
            <a:endParaRPr lang="en-US" sz="800" dirty="0"/>
          </a:p>
        </p:txBody>
      </p:sp>
      <p:sp>
        <p:nvSpPr>
          <p:cNvPr id="7" name="Text 4"/>
          <p:cNvSpPr txBox="1"/>
          <p:nvPr/>
        </p:nvSpPr>
        <p:spPr>
          <a:xfrm>
            <a:off x="274320" y="685800"/>
            <a:ext cx="5120640" cy="3108960"/>
          </a:xfrm>
          <a:prstGeom prst="rect">
            <a:avLst/>
          </a:prstGeom>
          <a:solidFill>
            <a:srgbClr val="12233F"/>
          </a:solidFill>
          <a:ln w="12700">
            <a:solidFill>
              <a:srgbClr val="1F4E8C"/>
            </a:solidFill>
          </a:ln>
        </p:spPr>
        <p:txBody>
          <a:bodyPr wrap="square" lIns="76200" tIns="76200" rIns="76200" bIns="76200" rtlCol="0" anchor="t"/>
          <a:lstStyle/>
          <a:p>
            <a:pPr marL="0" indent="0">
              <a:buNone/>
            </a:pPr>
            <a:r>
              <a:rPr lang="en-US" sz="850" dirty="0">
                <a:solidFill>
                  <a:srgbClr val="E6EDF7"/>
                </a:solidFill>
                <a:latin typeface="Consolas" pitchFamily="34" charset="0"/>
                <a:ea typeface="Consolas" pitchFamily="34" charset="-122"/>
                <a:cs typeface="Consolas" pitchFamily="34" charset="-120"/>
              </a:rPr>
              <a:t>static int ufshcd_query_aggregated_read(</a:t>
            </a:r>
            <a:endParaRPr lang="en-US" sz="850" dirty="0"/>
          </a:p>
          <a:p>
            <a:pPr marL="0" indent="0">
              <a:buNone/>
            </a:pPr>
            <a:r>
              <a:rPr lang="en-US" sz="850" dirty="0">
                <a:solidFill>
                  <a:srgbClr val="E6EDF7"/>
                </a:solidFill>
                <a:latin typeface="Consolas" pitchFamily="34" charset="0"/>
                <a:ea typeface="Consolas" pitchFamily="34" charset="-122"/>
                <a:cs typeface="Consolas" pitchFamily="34" charset="-120"/>
              </a:rPr>
              <a:t>    struct ufs_hba *hba, u8 agg_type,</a:t>
            </a:r>
            <a:endParaRPr lang="en-US" sz="850" dirty="0"/>
          </a:p>
          <a:p>
            <a:pPr marL="0" indent="0">
              <a:buNone/>
            </a:pPr>
            <a:r>
              <a:rPr lang="en-US" sz="850" dirty="0">
                <a:solidFill>
                  <a:srgbClr val="E6EDF7"/>
                </a:solidFill>
                <a:latin typeface="Consolas" pitchFamily="34" charset="0"/>
                <a:ea typeface="Consolas" pitchFamily="34" charset="-122"/>
                <a:cs typeface="Consolas" pitchFamily="34" charset="-120"/>
              </a:rPr>
              <a:t>    u8 *buf, int *buf_len)</a:t>
            </a:r>
            <a:endParaRPr lang="en-US" sz="850" dirty="0"/>
          </a:p>
          <a:p>
            <a:pPr marL="0" indent="0">
              <a:buNone/>
            </a:pPr>
            <a:r>
              <a:rPr lang="en-US" sz="850" dirty="0">
                <a:solidFill>
                  <a:srgbClr val="E6EDF7"/>
                </a:solidFill>
                <a:highlight>
                  <a:srgbClr val="7A5A00"/>
                </a:highlight>
                <a:latin typeface="Consolas" pitchFamily="34" charset="0"/>
                <a:ea typeface="Consolas" pitchFamily="34" charset="-122"/>
                <a:cs typeface="Consolas" pitchFamily="34" charset="-120"/>
              </a:rPr>
              <a:t>if (*buf_len &lt;= 0 || *buf_len &gt; QUERY_AGGREGATED_MAX_SIZE)</a:t>
            </a:r>
            <a:endParaRPr lang="en-US" sz="850" dirty="0"/>
          </a:p>
          <a:p>
            <a:pPr marL="0" indent="0">
              <a:buNone/>
            </a:pPr>
            <a:r>
              <a:rPr lang="en-US" sz="850" dirty="0">
                <a:solidFill>
                  <a:srgbClr val="E6EDF7"/>
                </a:solidFill>
                <a:highlight>
                  <a:srgbClr val="7A5A00"/>
                </a:highlight>
                <a:latin typeface="Consolas" pitchFamily="34" charset="0"/>
                <a:ea typeface="Consolas" pitchFamily="34" charset="-122"/>
                <a:cs typeface="Consolas" pitchFamily="34" charset="-120"/>
              </a:rPr>
              <a:t>    return -EINVAL;</a:t>
            </a:r>
            <a:endParaRPr lang="en-US" sz="850" dirty="0"/>
          </a:p>
          <a:p>
            <a:pPr marL="0" indent="0">
              <a:buNone/>
            </a:pPr>
            <a:r>
              <a:rPr lang="en-US" sz="850" dirty="0">
                <a:solidFill>
                  <a:srgbClr val="E6EDF7"/>
                </a:solidFill>
                <a:latin typeface="Consolas" pitchFamily="34" charset="0"/>
                <a:ea typeface="Consolas" pitchFamily="34" charset="-122"/>
                <a:cs typeface="Consolas" pitchFamily="34" charset="-120"/>
              </a:rPr>
              <a:t>ufshcd_dev_man_lock(hba);</a:t>
            </a:r>
            <a:endParaRPr lang="en-US" sz="850" dirty="0"/>
          </a:p>
          <a:p>
            <a:pPr marL="0" indent="0">
              <a:buNone/>
            </a:pPr>
            <a:r>
              <a:rPr lang="en-US" sz="850" dirty="0">
                <a:solidFill>
                  <a:srgbClr val="E6EDF7"/>
                </a:solidFill>
                <a:latin typeface="Consolas" pitchFamily="34" charset="0"/>
                <a:ea typeface="Consolas" pitchFamily="34" charset="-122"/>
                <a:cs typeface="Consolas" pitchFamily="34" charset="-120"/>
              </a:rPr>
              <a:t>ufshcd_init_query(hba,&amp;request,&amp;response,</a:t>
            </a:r>
            <a:endParaRPr lang="en-US" sz="850" dirty="0"/>
          </a:p>
          <a:p>
            <a:pPr marL="0" indent="0">
              <a:buNone/>
            </a:pPr>
            <a:r>
              <a:rPr lang="en-US" sz="850" dirty="0">
                <a:solidFill>
                  <a:srgbClr val="E6EDF7"/>
                </a:solidFill>
                <a:highlight>
                  <a:srgbClr val="7A5A00"/>
                </a:highlight>
                <a:latin typeface="Consolas" pitchFamily="34" charset="0"/>
                <a:ea typeface="Consolas" pitchFamily="34" charset="-122"/>
                <a:cs typeface="Consolas" pitchFamily="34" charset="-120"/>
              </a:rPr>
              <a:t>    UPIU_QUERY_OPCODE_AGGREGATED_READ, agg_type, 0, 0);</a:t>
            </a:r>
            <a:endParaRPr lang="en-US" sz="850" dirty="0"/>
          </a:p>
          <a:p>
            <a:pPr marL="0" indent="0">
              <a:buNone/>
            </a:pPr>
            <a:r>
              <a:rPr lang="en-US" sz="850" dirty="0">
                <a:solidFill>
                  <a:srgbClr val="E6EDF7"/>
                </a:solidFill>
                <a:latin typeface="Consolas" pitchFamily="34" charset="0"/>
                <a:ea typeface="Consolas" pitchFamily="34" charset="-122"/>
                <a:cs typeface="Consolas" pitchFamily="34" charset="-120"/>
              </a:rPr>
              <a:t>request-&gt;query_func = UPIU_QUERY_FUNC_STANDARD_READ_REQUEST;</a:t>
            </a:r>
            <a:endParaRPr lang="en-US" sz="850" dirty="0"/>
          </a:p>
          <a:p>
            <a:pPr marL="0" indent="0">
              <a:buNone/>
            </a:pPr>
            <a:r>
              <a:rPr lang="en-US" sz="850" dirty="0">
                <a:solidFill>
                  <a:srgbClr val="E6EDF7"/>
                </a:solidFill>
                <a:highlight>
                  <a:srgbClr val="7A5A00"/>
                </a:highlight>
                <a:latin typeface="Consolas" pitchFamily="34" charset="0"/>
                <a:ea typeface="Consolas" pitchFamily="34" charset="-122"/>
                <a:cs typeface="Consolas" pitchFamily="34" charset="-120"/>
              </a:rPr>
              <a:t>request-&gt;upiu_req.length = cpu_to_be16(*buf_len);</a:t>
            </a:r>
            <a:endParaRPr lang="en-US" sz="850" dirty="0"/>
          </a:p>
          <a:p>
            <a:pPr marL="0" indent="0">
              <a:buNone/>
            </a:pPr>
            <a:r>
              <a:rPr lang="en-US" sz="850" dirty="0">
                <a:solidFill>
                  <a:srgbClr val="E6EDF7"/>
                </a:solidFill>
                <a:latin typeface="Consolas" pitchFamily="34" charset="0"/>
                <a:ea typeface="Consolas" pitchFamily="34" charset="-122"/>
                <a:cs typeface="Consolas" pitchFamily="34" charset="-120"/>
              </a:rPr>
              <a:t>hba-&gt;dev_cmd.query.descriptor = buf;</a:t>
            </a:r>
            <a:endParaRPr lang="en-US" sz="850" dirty="0"/>
          </a:p>
          <a:p>
            <a:pPr marL="0" indent="0">
              <a:buNone/>
            </a:pPr>
            <a:r>
              <a:rPr lang="en-US" sz="850" dirty="0">
                <a:solidFill>
                  <a:srgbClr val="E6EDF7"/>
                </a:solidFill>
                <a:latin typeface="Consolas" pitchFamily="34" charset="0"/>
                <a:ea typeface="Consolas" pitchFamily="34" charset="-122"/>
                <a:cs typeface="Consolas" pitchFamily="34" charset="-120"/>
              </a:rPr>
              <a:t>err = ufshcd_exec_dev_cmd(hba, DEV_CMD_TYPE_QUERY, dev_cmd_timeout);</a:t>
            </a:r>
            <a:endParaRPr lang="en-US" sz="850" dirty="0"/>
          </a:p>
          <a:p>
            <a:pPr marL="0" indent="0">
              <a:buNone/>
            </a:pPr>
            <a:r>
              <a:rPr lang="en-US" sz="850" dirty="0">
                <a:solidFill>
                  <a:srgbClr val="E6EDF7"/>
                </a:solidFill>
                <a:highlight>
                  <a:srgbClr val="7A5A00"/>
                </a:highlight>
                <a:latin typeface="Consolas" pitchFamily="34" charset="0"/>
                <a:ea typeface="Consolas" pitchFamily="34" charset="-122"/>
                <a:cs typeface="Consolas" pitchFamily="34" charset="-120"/>
              </a:rPr>
              <a:t>if (!err) *buf_len = response-&gt;data_segment_length;</a:t>
            </a:r>
            <a:endParaRPr lang="en-US" sz="850" dirty="0"/>
          </a:p>
          <a:p>
            <a:pPr marL="0" indent="0">
              <a:buNone/>
            </a:pPr>
            <a:r>
              <a:rPr lang="en-US" sz="850" dirty="0">
                <a:solidFill>
                  <a:srgbClr val="E6EDF7"/>
                </a:solidFill>
                <a:latin typeface="Consolas" pitchFamily="34" charset="0"/>
                <a:ea typeface="Consolas" pitchFamily="34" charset="-122"/>
                <a:cs typeface="Consolas" pitchFamily="34" charset="-120"/>
              </a:rPr>
              <a:t>hba-&gt;dev_cmd.query.descriptor = NULL;</a:t>
            </a:r>
            <a:endParaRPr lang="en-US" sz="850" dirty="0"/>
          </a:p>
          <a:p>
            <a:pPr marL="0" indent="0">
              <a:buNone/>
            </a:pPr>
            <a:r>
              <a:rPr lang="en-US" sz="850" dirty="0">
                <a:solidFill>
                  <a:srgbClr val="E6EDF7"/>
                </a:solidFill>
                <a:latin typeface="Consolas" pitchFamily="34" charset="0"/>
                <a:ea typeface="Consolas" pitchFamily="34" charset="-122"/>
                <a:cs typeface="Consolas" pitchFamily="34" charset="-120"/>
              </a:rPr>
              <a:t>ufshcd_dev_man_unlock(hba);  return err;</a:t>
            </a:r>
            <a:endParaRPr lang="en-US" sz="8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577840" y="685800"/>
          <a:ext cx="3291840" cy="914400"/>
        </p:xfrm>
        <a:graphic>
          <a:graphicData uri="http://schemas.openxmlformats.org/drawingml/2006/table">
            <a:tbl>
              <a:tblPr/>
              <a:tblGrid>
                <a:gridCol w="9144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tblGrid>
              <a:tr h="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Param</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Meaning</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extLst>
                  <a:ext uri="{0D108BD9-81ED-4DB2-BD59-A6C34878D82A}">
                    <a16:rowId xmlns:a16="http://schemas.microsoft.com/office/drawing/2014/main" val="10000"/>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agg_type</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AGGREGATION TYPE mask</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buf</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reply data segment buffer</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2"/>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buf_len</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requested length in, received length out</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Text 5"/>
          <p:cNvSpPr txBox="1"/>
          <p:nvPr/>
        </p:nvSpPr>
        <p:spPr>
          <a:xfrm>
            <a:off x="5577840" y="1828800"/>
            <a:ext cx="3291840" cy="1463040"/>
          </a:xfrm>
          <a:prstGeom prst="rect">
            <a:avLst/>
          </a:prstGeom>
          <a:noFill/>
          <a:ln/>
        </p:spPr>
        <p:txBody>
          <a:bodyPr wrap="square" lIns="25400" tIns="25400" rIns="25400" bIns="25400" rtlCol="0" anchor="t"/>
          <a:lstStyle/>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1 validate len  2 take dev-man lock  3 init QUERY  4 opcode AGGREGATED_READ</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5 agg_type  6 length  7 dest buf  8 exec  9 out len  10 unlock  11 return</a:t>
            </a:r>
            <a:endParaRPr lang="en-US" sz="1000" dirty="0"/>
          </a:p>
        </p:txBody>
      </p:sp>
      <p:sp>
        <p:nvSpPr>
          <p:cNvPr id="10" name="Text 6"/>
          <p:cNvSpPr/>
          <p:nvPr/>
        </p:nvSpPr>
        <p:spPr>
          <a:xfrm>
            <a:off x="274320" y="3931920"/>
            <a:ext cx="8595360" cy="54864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Caller -&gt; lock -&gt; init_query -&gt; exec_dev_cmd -&gt; (device) -&gt; copy_query_response -&gt; buf_len=data_segment_length -&gt; unlock</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Aggregated Read Data Buffer</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4 Function Processing</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12  |  Source: [PATCH v2 1/2], [PATCH v2 2/2]</a:t>
            </a:r>
            <a:endParaRPr lang="en-US" sz="800" dirty="0"/>
          </a:p>
        </p:txBody>
      </p:sp>
      <p:sp>
        <p:nvSpPr>
          <p:cNvPr id="7" name="Text 4"/>
          <p:cNvSpPr/>
          <p:nvPr/>
        </p:nvSpPr>
        <p:spPr>
          <a:xfrm>
            <a:off x="274320" y="731520"/>
            <a:ext cx="4572000" cy="36576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kzalloc(QUERY_AGGREGATED_MAX_SIZE)  = hba-&gt;agg_packet</a:t>
            </a:r>
            <a:endParaRPr lang="en-US" sz="1000" dirty="0"/>
          </a:p>
        </p:txBody>
      </p:sp>
      <p:sp>
        <p:nvSpPr>
          <p:cNvPr id="8" name="Text 5"/>
          <p:cNvSpPr/>
          <p:nvPr/>
        </p:nvSpPr>
        <p:spPr>
          <a:xfrm>
            <a:off x="274320" y="1097280"/>
            <a:ext cx="4572000" cy="320040"/>
          </a:xfrm>
          <a:prstGeom prst="rect">
            <a:avLst/>
          </a:prstGeom>
          <a:solidFill>
            <a:srgbClr val="F5A623"/>
          </a:solidFill>
          <a:ln w="12700">
            <a:solidFill>
              <a:srgbClr val="B8760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Group Header (4 B)</a:t>
            </a:r>
            <a:endParaRPr lang="en-US" sz="1000" dirty="0"/>
          </a:p>
        </p:txBody>
      </p:sp>
      <p:sp>
        <p:nvSpPr>
          <p:cNvPr id="9" name="Text 6"/>
          <p:cNvSpPr/>
          <p:nvPr/>
        </p:nvSpPr>
        <p:spPr>
          <a:xfrm>
            <a:off x="274320" y="1417320"/>
            <a:ext cx="4572000" cy="45720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Group Payload</a:t>
            </a:r>
            <a:endParaRPr lang="en-US" sz="1000" dirty="0"/>
          </a:p>
        </p:txBody>
      </p:sp>
      <p:sp>
        <p:nvSpPr>
          <p:cNvPr id="10" name="Text 7"/>
          <p:cNvSpPr/>
          <p:nvPr/>
        </p:nvSpPr>
        <p:spPr>
          <a:xfrm>
            <a:off x="274320" y="1874520"/>
            <a:ext cx="4572000" cy="320040"/>
          </a:xfrm>
          <a:prstGeom prst="rect">
            <a:avLst/>
          </a:prstGeom>
          <a:solidFill>
            <a:srgbClr val="F5A623"/>
          </a:solidFill>
          <a:ln w="12700">
            <a:solidFill>
              <a:srgbClr val="B8760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Next Group Header (next_group_offset, __be16)</a:t>
            </a:r>
            <a:endParaRPr lang="en-US" sz="1000" dirty="0"/>
          </a:p>
        </p:txBody>
      </p:sp>
      <p:sp>
        <p:nvSpPr>
          <p:cNvPr id="11" name="Text 8"/>
          <p:cNvSpPr/>
          <p:nvPr/>
        </p:nvSpPr>
        <p:spPr>
          <a:xfrm>
            <a:off x="274320" y="2194560"/>
            <a:ext cx="4572000" cy="45720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Next Payload</a:t>
            </a:r>
            <a:endParaRPr lang="en-US" sz="1000" dirty="0"/>
          </a:p>
        </p:txBody>
      </p:sp>
      <p:sp>
        <p:nvSpPr>
          <p:cNvPr id="12" name="Text 9"/>
          <p:cNvSpPr/>
          <p:nvPr/>
        </p:nvSpPr>
        <p:spPr>
          <a:xfrm>
            <a:off x="274320" y="2651760"/>
            <a:ext cx="4572000" cy="36576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 zero-filled remainder up to QUERY_AGGREGATED_MAX_SIZE</a:t>
            </a:r>
            <a:endParaRPr lang="en-US" sz="1000" dirty="0"/>
          </a:p>
        </p:txBody>
      </p:sp>
      <p:sp>
        <p:nvSpPr>
          <p:cNvPr id="13" name="Shape 10"/>
          <p:cNvSpPr/>
          <p:nvPr/>
        </p:nvSpPr>
        <p:spPr>
          <a:xfrm>
            <a:off x="4846320" y="1188720"/>
            <a:ext cx="548640" cy="0"/>
          </a:xfrm>
          <a:prstGeom prst="line">
            <a:avLst/>
          </a:prstGeom>
          <a:noFill/>
          <a:ln w="19050">
            <a:solidFill>
              <a:srgbClr val="5A6B7F"/>
            </a:solidFill>
            <a:prstDash val="solid"/>
            <a:tailEnd type="triangle"/>
          </a:ln>
        </p:spPr>
      </p:sp>
      <p:sp>
        <p:nvSpPr>
          <p:cNvPr id="14" name="Text 11"/>
          <p:cNvSpPr txBox="1"/>
          <p:nvPr/>
        </p:nvSpPr>
        <p:spPr>
          <a:xfrm>
            <a:off x="5394960" y="914400"/>
            <a:ext cx="3474720" cy="548640"/>
          </a:xfrm>
          <a:prstGeom prst="rect">
            <a:avLst/>
          </a:prstGeom>
          <a:noFill/>
          <a:ln/>
        </p:spPr>
        <p:txBody>
          <a:bodyPr wrap="square" lIns="25400" tIns="25400" rIns="25400" bIns="25400" rtlCol="0" anchor="t"/>
          <a:lstStyle/>
          <a:p>
            <a:pPr marL="0" indent="0">
              <a:buNone/>
            </a:pPr>
            <a:r>
              <a:rPr lang="en-US" sz="1000" dirty="0">
                <a:solidFill>
                  <a:srgbClr val="222222"/>
                </a:solidFill>
                <a:latin typeface="Calibri" pitchFamily="34" charset="0"/>
                <a:ea typeface="Calibri" pitchFamily="34" charset="-122"/>
                <a:cs typeface="Calibri" pitchFamily="34" charset="-120"/>
              </a:rPr>
              <a:t>valid bytes = hba-&gt;agg_packet_len (u16) = response data_segment_length</a:t>
            </a:r>
            <a:endParaRPr lang="en-US" sz="1000" dirty="0"/>
          </a:p>
        </p:txBody>
      </p:sp>
      <p:sp>
        <p:nvSpPr>
          <p:cNvPr id="15" name="Text 12"/>
          <p:cNvSpPr txBox="1"/>
          <p:nvPr/>
        </p:nvSpPr>
        <p:spPr>
          <a:xfrm>
            <a:off x="5394960" y="1554480"/>
            <a:ext cx="3474720" cy="2468880"/>
          </a:xfrm>
          <a:prstGeom prst="rect">
            <a:avLst/>
          </a:prstGeom>
          <a:noFill/>
          <a:ln/>
        </p:spPr>
        <p:txBody>
          <a:bodyPr wrap="square" lIns="25400" tIns="25400" rIns="25400" bIns="25400" rtlCol="0" anchor="t"/>
          <a:lstStyle/>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data_segment_length stored by ufshcd_copy_query_response() via be16_to_cpu() (Patch 1).</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next_group_offset is __be16 -&gt; be16_to_cpu() in ufshcd_agg_group().</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Request length is cpu_to_be16(*buf_len).</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Zeroed buffer: over-reported length cannot walk into stale heap data.</a:t>
            </a:r>
            <a:endParaRPr lang="en-US" sz="1000" dirty="0"/>
          </a:p>
        </p:txBody>
      </p:sp>
      <p:sp>
        <p:nvSpPr>
          <p:cNvPr id="16" name="Text 13"/>
          <p:cNvSpPr/>
          <p:nvPr/>
        </p:nvSpPr>
        <p:spPr>
          <a:xfrm>
            <a:off x="274320" y="3291840"/>
            <a:ext cx="4572000" cy="731520"/>
          </a:xfrm>
          <a:prstGeom prst="rect">
            <a:avLst/>
          </a:prstGeom>
          <a:solidFill>
            <a:srgbClr val="F5A623"/>
          </a:solidFill>
          <a:ln w="12700">
            <a:solidFill>
              <a:srgbClr val="B8760C"/>
            </a:solidFill>
          </a:ln>
        </p:spPr>
        <p:txBody>
          <a:bodyPr wrap="square" lIns="38100" tIns="38100" rIns="38100" bIns="38100" rtlCol="0" anchor="ctr"/>
          <a:lstStyle/>
          <a:p>
            <a:pPr marL="0" indent="0" algn="l">
              <a:buNone/>
            </a:pPr>
            <a:r>
              <a:rPr lang="en-US" sz="900" dirty="0">
                <a:solidFill>
                  <a:srgbClr val="0B1F3A"/>
                </a:solidFill>
                <a:latin typeface="Calibri" pitchFamily="34" charset="0"/>
                <a:ea typeface="Calibri" pitchFamily="34" charset="-122"/>
                <a:cs typeface="Calibri" pitchFamily="34" charset="-120"/>
              </a:rPr>
              <a:t>Not specified in the patch: how ufshcd_copy_query_response() bounds the copy for aggregated replies (hunk shows only the opcode condition and data_segment_length).</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ufshcd_agg_read_begin()</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4 Function Processing</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13  |  Source: [PATCH v2 1/2], [PATCH v2 2/2]</a:t>
            </a:r>
            <a:endParaRPr lang="en-US" sz="800" dirty="0"/>
          </a:p>
        </p:txBody>
      </p:sp>
      <p:sp>
        <p:nvSpPr>
          <p:cNvPr id="7" name="Text 4"/>
          <p:cNvSpPr txBox="1"/>
          <p:nvPr/>
        </p:nvSpPr>
        <p:spPr>
          <a:xfrm>
            <a:off x="274320" y="685800"/>
            <a:ext cx="5486400" cy="2743200"/>
          </a:xfrm>
          <a:prstGeom prst="rect">
            <a:avLst/>
          </a:prstGeom>
          <a:solidFill>
            <a:srgbClr val="12233F"/>
          </a:solidFill>
          <a:ln w="12700">
            <a:solidFill>
              <a:srgbClr val="1F4E8C"/>
            </a:solidFill>
          </a:ln>
        </p:spPr>
        <p:txBody>
          <a:bodyPr wrap="square" lIns="76200" tIns="76200" rIns="76200" bIns="76200" rtlCol="0" anchor="t"/>
          <a:lstStyle/>
          <a:p>
            <a:pPr marL="0" indent="0">
              <a:buNone/>
            </a:pPr>
            <a:r>
              <a:rPr lang="en-US" sz="850" dirty="0">
                <a:solidFill>
                  <a:srgbClr val="E6EDF7"/>
                </a:solidFill>
                <a:latin typeface="Consolas" pitchFamily="34" charset="0"/>
                <a:ea typeface="Consolas" pitchFamily="34" charset="-122"/>
                <a:cs typeface="Consolas" pitchFamily="34" charset="-120"/>
              </a:rPr>
              <a:t>static void ufshcd_agg_read_begin(struct ufs_hba *hba, u8 agg_type)</a:t>
            </a:r>
            <a:endParaRPr lang="en-US" sz="850" dirty="0"/>
          </a:p>
          <a:p>
            <a:pPr marL="0" indent="0">
              <a:buNone/>
            </a:pPr>
            <a:r>
              <a:rPr lang="en-US" sz="850" dirty="0">
                <a:solidFill>
                  <a:srgbClr val="E6EDF7"/>
                </a:solidFill>
                <a:latin typeface="Consolas" pitchFamily="34" charset="0"/>
                <a:ea typeface="Consolas" pitchFamily="34" charset="-122"/>
                <a:cs typeface="Consolas" pitchFamily="34" charset="-120"/>
              </a:rPr>
              <a:t>int len = QUERY_AGGREGATED_MAX_SIZE;</a:t>
            </a:r>
            <a:endParaRPr lang="en-US" sz="850" dirty="0"/>
          </a:p>
          <a:p>
            <a:pPr marL="0" indent="0">
              <a:buNone/>
            </a:pPr>
            <a:r>
              <a:rPr lang="en-US" sz="850" dirty="0">
                <a:solidFill>
                  <a:srgbClr val="E6EDF7"/>
                </a:solidFill>
                <a:highlight>
                  <a:srgbClr val="7A5A00"/>
                </a:highlight>
                <a:latin typeface="Consolas" pitchFamily="34" charset="0"/>
                <a:ea typeface="Consolas" pitchFamily="34" charset="-122"/>
                <a:cs typeface="Consolas" pitchFamily="34" charset="-120"/>
              </a:rPr>
              <a:t>if (hba-&gt;dev_info.wspecversion &lt; 0x500 ||</a:t>
            </a:r>
            <a:endParaRPr lang="en-US" sz="850" dirty="0"/>
          </a:p>
          <a:p>
            <a:pPr marL="0" indent="0">
              <a:buNone/>
            </a:pPr>
            <a:r>
              <a:rPr lang="en-US" sz="850" dirty="0">
                <a:solidFill>
                  <a:srgbClr val="E6EDF7"/>
                </a:solidFill>
                <a:highlight>
                  <a:srgbClr val="7A5A00"/>
                </a:highlight>
                <a:latin typeface="Consolas" pitchFamily="34" charset="0"/>
                <a:ea typeface="Consolas" pitchFamily="34" charset="-122"/>
                <a:cs typeface="Consolas" pitchFamily="34" charset="-120"/>
              </a:rPr>
              <a:t>    hba-&gt;dev_info.agg_read_unsupported)</a:t>
            </a:r>
            <a:endParaRPr lang="en-US" sz="850" dirty="0"/>
          </a:p>
          <a:p>
            <a:pPr marL="0" indent="0">
              <a:buNone/>
            </a:pPr>
            <a:r>
              <a:rPr lang="en-US" sz="850" dirty="0">
                <a:solidFill>
                  <a:srgbClr val="E6EDF7"/>
                </a:solidFill>
                <a:highlight>
                  <a:srgbClr val="7A5A00"/>
                </a:highlight>
                <a:latin typeface="Consolas" pitchFamily="34" charset="0"/>
                <a:ea typeface="Consolas" pitchFamily="34" charset="-122"/>
                <a:cs typeface="Consolas" pitchFamily="34" charset="-120"/>
              </a:rPr>
              <a:t>    return;</a:t>
            </a:r>
            <a:endParaRPr lang="en-US" sz="850" dirty="0"/>
          </a:p>
          <a:p>
            <a:pPr marL="0" indent="0">
              <a:buNone/>
            </a:pPr>
            <a:r>
              <a:rPr lang="en-US" sz="850" dirty="0">
                <a:solidFill>
                  <a:srgbClr val="E6EDF7"/>
                </a:solidFill>
                <a:latin typeface="Consolas" pitchFamily="34" charset="0"/>
                <a:ea typeface="Consolas" pitchFamily="34" charset="-122"/>
                <a:cs typeface="Consolas" pitchFamily="34" charset="-120"/>
              </a:rPr>
              <a:t>packet = kzalloc(QUERY_AGGREGATED_MAX_SIZE, GFP_KERNEL);</a:t>
            </a:r>
            <a:endParaRPr lang="en-US" sz="850" dirty="0"/>
          </a:p>
          <a:p>
            <a:pPr marL="0" indent="0">
              <a:buNone/>
            </a:pPr>
            <a:r>
              <a:rPr lang="en-US" sz="850" dirty="0">
                <a:solidFill>
                  <a:srgbClr val="E6EDF7"/>
                </a:solidFill>
                <a:latin typeface="Consolas" pitchFamily="34" charset="0"/>
                <a:ea typeface="Consolas" pitchFamily="34" charset="-122"/>
                <a:cs typeface="Consolas" pitchFamily="34" charset="-120"/>
              </a:rPr>
              <a:t>if (!packet) return;</a:t>
            </a:r>
            <a:endParaRPr lang="en-US" sz="850" dirty="0"/>
          </a:p>
          <a:p>
            <a:pPr marL="0" indent="0">
              <a:buNone/>
            </a:pPr>
            <a:r>
              <a:rPr lang="en-US" sz="850" dirty="0">
                <a:solidFill>
                  <a:srgbClr val="E6EDF7"/>
                </a:solidFill>
                <a:latin typeface="Consolas" pitchFamily="34" charset="0"/>
                <a:ea typeface="Consolas" pitchFamily="34" charset="-122"/>
                <a:cs typeface="Consolas" pitchFamily="34" charset="-120"/>
              </a:rPr>
              <a:t>for (retries = QUERY_REQ_RETRIES; retries &gt; 0; retries--)</a:t>
            </a:r>
            <a:endParaRPr lang="en-US" sz="850" dirty="0"/>
          </a:p>
          <a:p>
            <a:pPr marL="0" indent="0">
              <a:buNone/>
            </a:pPr>
            <a:r>
              <a:rPr lang="en-US" sz="850" dirty="0">
                <a:solidFill>
                  <a:srgbClr val="E6EDF7"/>
                </a:solidFill>
                <a:latin typeface="Consolas" pitchFamily="34" charset="0"/>
                <a:ea typeface="Consolas" pitchFamily="34" charset="-122"/>
                <a:cs typeface="Consolas" pitchFamily="34" charset="-120"/>
              </a:rPr>
              <a:t>    if (!ufshcd_query_aggregated_read(hba, agg_type, packet, &amp;len)) break;</a:t>
            </a:r>
            <a:endParaRPr lang="en-US" sz="850" dirty="0"/>
          </a:p>
          <a:p>
            <a:pPr marL="0" indent="0">
              <a:buNone/>
            </a:pPr>
            <a:r>
              <a:rPr lang="en-US" sz="850" dirty="0">
                <a:solidFill>
                  <a:srgbClr val="E6EDF7"/>
                </a:solidFill>
                <a:highlight>
                  <a:srgbClr val="7A5A00"/>
                </a:highlight>
                <a:latin typeface="Consolas" pitchFamily="34" charset="0"/>
                <a:ea typeface="Consolas" pitchFamily="34" charset="-122"/>
                <a:cs typeface="Consolas" pitchFamily="34" charset="-120"/>
              </a:rPr>
              <a:t>if (!retries) { agg_read_unsupported = true; kfree(packet); return; }</a:t>
            </a:r>
            <a:endParaRPr lang="en-US" sz="850" dirty="0"/>
          </a:p>
          <a:p>
            <a:pPr marL="0" indent="0">
              <a:buNone/>
            </a:pPr>
            <a:r>
              <a:rPr lang="en-US" sz="850" dirty="0">
                <a:solidFill>
                  <a:srgbClr val="E6EDF7"/>
                </a:solidFill>
                <a:highlight>
                  <a:srgbClr val="7A5A00"/>
                </a:highlight>
                <a:latin typeface="Consolas" pitchFamily="34" charset="0"/>
                <a:ea typeface="Consolas" pitchFamily="34" charset="-122"/>
                <a:cs typeface="Consolas" pitchFamily="34" charset="-120"/>
              </a:rPr>
              <a:t>hba-&gt;agg_packet = packet;  hba-&gt;agg_packet_len = len;</a:t>
            </a:r>
            <a:endParaRPr lang="en-US" sz="850" dirty="0"/>
          </a:p>
        </p:txBody>
      </p:sp>
      <p:sp>
        <p:nvSpPr>
          <p:cNvPr id="8" name="Text 5"/>
          <p:cNvSpPr/>
          <p:nvPr/>
        </p:nvSpPr>
        <p:spPr>
          <a:xfrm>
            <a:off x="6035040" y="731520"/>
            <a:ext cx="2743200" cy="502920"/>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UFS &lt; 5.0</a:t>
            </a:r>
            <a:endParaRPr lang="en-US" sz="1000" dirty="0"/>
          </a:p>
          <a:p>
            <a:pPr marL="0" indent="0" algn="ctr">
              <a:buNone/>
            </a:pPr>
            <a:r>
              <a:rPr lang="en-US" sz="1000" dirty="0">
                <a:solidFill>
                  <a:srgbClr val="0B1F3A"/>
                </a:solidFill>
                <a:latin typeface="Calibri" pitchFamily="34" charset="0"/>
                <a:ea typeface="Calibri" pitchFamily="34" charset="-122"/>
                <a:cs typeface="Calibri" pitchFamily="34" charset="-120"/>
              </a:rPr>
              <a:t>(wspecversion &lt; 0x500)</a:t>
            </a:r>
            <a:endParaRPr lang="en-US" sz="1000" dirty="0"/>
          </a:p>
        </p:txBody>
      </p:sp>
      <p:sp>
        <p:nvSpPr>
          <p:cNvPr id="9" name="Shape 6"/>
          <p:cNvSpPr/>
          <p:nvPr/>
        </p:nvSpPr>
        <p:spPr>
          <a:xfrm>
            <a:off x="7406640" y="1234440"/>
            <a:ext cx="0" cy="228600"/>
          </a:xfrm>
          <a:prstGeom prst="line">
            <a:avLst/>
          </a:prstGeom>
          <a:noFill/>
          <a:ln w="19050">
            <a:solidFill>
              <a:srgbClr val="5A6B7F"/>
            </a:solidFill>
            <a:prstDash val="solid"/>
            <a:tailEnd type="triangle"/>
          </a:ln>
        </p:spPr>
      </p:sp>
      <p:sp>
        <p:nvSpPr>
          <p:cNvPr id="10" name="Text 7"/>
          <p:cNvSpPr/>
          <p:nvPr/>
        </p:nvSpPr>
        <p:spPr>
          <a:xfrm>
            <a:off x="6035040" y="1463040"/>
            <a:ext cx="2743200" cy="365760"/>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no aggregation; packet stays NULL</a:t>
            </a:r>
            <a:endParaRPr lang="en-US" sz="1000" dirty="0"/>
          </a:p>
        </p:txBody>
      </p:sp>
      <p:sp>
        <p:nvSpPr>
          <p:cNvPr id="11" name="Text 8"/>
          <p:cNvSpPr/>
          <p:nvPr/>
        </p:nvSpPr>
        <p:spPr>
          <a:xfrm>
            <a:off x="6035040" y="2011680"/>
            <a:ext cx="2743200" cy="36576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UFS &gt;= 5.0</a:t>
            </a:r>
            <a:endParaRPr lang="en-US" sz="1000" dirty="0"/>
          </a:p>
        </p:txBody>
      </p:sp>
      <p:sp>
        <p:nvSpPr>
          <p:cNvPr id="12" name="Shape 9"/>
          <p:cNvSpPr/>
          <p:nvPr/>
        </p:nvSpPr>
        <p:spPr>
          <a:xfrm>
            <a:off x="7406640" y="2377440"/>
            <a:ext cx="0" cy="182880"/>
          </a:xfrm>
          <a:prstGeom prst="line">
            <a:avLst/>
          </a:prstGeom>
          <a:noFill/>
          <a:ln w="19050">
            <a:solidFill>
              <a:srgbClr val="5A6B7F"/>
            </a:solidFill>
            <a:prstDash val="solid"/>
            <a:tailEnd type="triangle"/>
          </a:ln>
        </p:spPr>
      </p:sp>
      <p:sp>
        <p:nvSpPr>
          <p:cNvPr id="13" name="Text 10"/>
          <p:cNvSpPr/>
          <p:nvPr/>
        </p:nvSpPr>
        <p:spPr>
          <a:xfrm>
            <a:off x="6035040" y="2560320"/>
            <a:ext cx="2743200" cy="64008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success -&gt; cache   |   all retries fail -&gt; agg_read_unsupported = true</a:t>
            </a:r>
            <a:endParaRPr lang="en-US" sz="1000" dirty="0"/>
          </a:p>
        </p:txBody>
      </p:sp>
      <p:sp>
        <p:nvSpPr>
          <p:cNvPr id="14" name="Text 11"/>
          <p:cNvSpPr txBox="1"/>
          <p:nvPr/>
        </p:nvSpPr>
        <p:spPr>
          <a:xfrm>
            <a:off x="274320" y="3566160"/>
            <a:ext cx="8595360" cy="457200"/>
          </a:xfrm>
          <a:prstGeom prst="rect">
            <a:avLst/>
          </a:prstGeom>
          <a:noFill/>
          <a:ln/>
        </p:spPr>
        <p:txBody>
          <a:bodyPr wrap="square" lIns="25400" tIns="25400" rIns="25400" bIns="25400" rtlCol="0" anchor="t"/>
          <a:lstStyle/>
          <a:p>
            <a:pPr marL="0" indent="0">
              <a:buNone/>
            </a:pPr>
            <a:r>
              <a:rPr lang="en-US" sz="900" dirty="0">
                <a:solidFill>
                  <a:srgbClr val="222222"/>
                </a:solidFill>
                <a:latin typeface="Consolas" pitchFamily="34" charset="0"/>
                <a:ea typeface="Consolas" pitchFamily="34" charset="-122"/>
                <a:cs typeface="Consolas" pitchFamily="34" charset="-120"/>
              </a:rPr>
              <a:t>Call: ufshcd_agg_read_begin(hba, UFS_AGG_TYPE_ALL_ATTRS | UFS_AGG_TYPE_ALL_FLAGS | UFS_AGG_TYPE_STRING_DESC);</a:t>
            </a:r>
            <a:endParaRPr lang="en-US" sz="900" dirty="0"/>
          </a:p>
        </p:txBody>
      </p:sp>
      <p:sp>
        <p:nvSpPr>
          <p:cNvPr id="15" name="Text 12"/>
          <p:cNvSpPr/>
          <p:nvPr/>
        </p:nvSpPr>
        <p:spPr>
          <a:xfrm>
            <a:off x="274320" y="4069080"/>
            <a:ext cx="8595360" cy="457200"/>
          </a:xfrm>
          <a:prstGeom prst="rect">
            <a:avLst/>
          </a:prstGeom>
          <a:solidFill>
            <a:srgbClr val="F5A623"/>
          </a:solidFill>
          <a:ln w="12700">
            <a:solidFill>
              <a:srgbClr val="B8760C"/>
            </a:solidFill>
          </a:ln>
        </p:spPr>
        <p:txBody>
          <a:bodyPr wrap="square" lIns="38100" tIns="38100" rIns="38100" bIns="38100" rtlCol="0" anchor="ctr"/>
          <a:lstStyle/>
          <a:p>
            <a:pPr marL="0" indent="0" algn="l">
              <a:buNone/>
            </a:pPr>
            <a:r>
              <a:rPr lang="en-US" sz="900" dirty="0">
                <a:solidFill>
                  <a:srgbClr val="0B1F3A"/>
                </a:solidFill>
                <a:latin typeface="Calibri" pitchFamily="34" charset="0"/>
                <a:ea typeface="Calibri" pitchFamily="34" charset="-122"/>
                <a:cs typeface="Calibri" pitchFamily="34" charset="-120"/>
              </a:rPr>
              <a:t>Not specified in the patch: behaviour if begin is called twice without end (hba-&gt;agg_packet is overwritten without being freed in the shown code).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Retry and Unsupported-Device Behavior</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4 Function Processing</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14  |  Source: [PATCH v2 1/2], [PATCH v2 2/2]</a:t>
            </a:r>
            <a:endParaRPr lang="en-US" sz="800" dirty="0"/>
          </a:p>
        </p:txBody>
      </p:sp>
      <p:sp>
        <p:nvSpPr>
          <p:cNvPr id="7" name="Text 4"/>
          <p:cNvSpPr/>
          <p:nvPr/>
        </p:nvSpPr>
        <p:spPr>
          <a:xfrm>
            <a:off x="3200400" y="685800"/>
            <a:ext cx="2743200" cy="365760"/>
          </a:xfrm>
          <a:prstGeom prst="rect">
            <a:avLst/>
          </a:prstGeom>
          <a:solidFill>
            <a:srgbClr val="F5A623"/>
          </a:solidFill>
          <a:ln w="12700">
            <a:solidFill>
              <a:srgbClr val="B8760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AGGREGATED READ</a:t>
            </a:r>
            <a:endParaRPr lang="en-US" sz="1000" dirty="0"/>
          </a:p>
        </p:txBody>
      </p:sp>
      <p:sp>
        <p:nvSpPr>
          <p:cNvPr id="8" name="Shape 5"/>
          <p:cNvSpPr/>
          <p:nvPr/>
        </p:nvSpPr>
        <p:spPr>
          <a:xfrm>
            <a:off x="4572000" y="1051560"/>
            <a:ext cx="0" cy="228600"/>
          </a:xfrm>
          <a:prstGeom prst="line">
            <a:avLst/>
          </a:prstGeom>
          <a:noFill/>
          <a:ln w="19050">
            <a:solidFill>
              <a:srgbClr val="5A6B7F"/>
            </a:solidFill>
            <a:prstDash val="solid"/>
            <a:tailEnd type="triangle"/>
          </a:ln>
        </p:spPr>
      </p:sp>
      <p:sp>
        <p:nvSpPr>
          <p:cNvPr id="9" name="Text 6"/>
          <p:cNvSpPr/>
          <p:nvPr/>
        </p:nvSpPr>
        <p:spPr>
          <a:xfrm>
            <a:off x="3200400" y="1280160"/>
            <a:ext cx="2743200" cy="36576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retry loop (QUERY_REQ_RETRIES)</a:t>
            </a:r>
            <a:endParaRPr lang="en-US" sz="1000" dirty="0"/>
          </a:p>
        </p:txBody>
      </p:sp>
      <p:sp>
        <p:nvSpPr>
          <p:cNvPr id="10" name="Shape 7"/>
          <p:cNvSpPr/>
          <p:nvPr/>
        </p:nvSpPr>
        <p:spPr>
          <a:xfrm flipH="1">
            <a:off x="2286000" y="1645920"/>
            <a:ext cx="1554480" cy="365760"/>
          </a:xfrm>
          <a:prstGeom prst="line">
            <a:avLst/>
          </a:prstGeom>
          <a:noFill/>
          <a:ln w="19050">
            <a:solidFill>
              <a:srgbClr val="5A6B7F"/>
            </a:solidFill>
            <a:prstDash val="solid"/>
            <a:tailEnd type="triangle"/>
          </a:ln>
        </p:spPr>
      </p:sp>
      <p:sp>
        <p:nvSpPr>
          <p:cNvPr id="11" name="Shape 8"/>
          <p:cNvSpPr/>
          <p:nvPr/>
        </p:nvSpPr>
        <p:spPr>
          <a:xfrm>
            <a:off x="5303520" y="1645920"/>
            <a:ext cx="1554480" cy="365760"/>
          </a:xfrm>
          <a:prstGeom prst="line">
            <a:avLst/>
          </a:prstGeom>
          <a:noFill/>
          <a:ln w="19050">
            <a:solidFill>
              <a:srgbClr val="5A6B7F"/>
            </a:solidFill>
            <a:prstDash val="solid"/>
            <a:tailEnd type="triangle"/>
          </a:ln>
        </p:spPr>
      </p:sp>
      <p:sp>
        <p:nvSpPr>
          <p:cNvPr id="12" name="Text 9"/>
          <p:cNvSpPr/>
          <p:nvPr/>
        </p:nvSpPr>
        <p:spPr>
          <a:xfrm>
            <a:off x="914400" y="2011680"/>
            <a:ext cx="2743200" cy="36576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success (break)</a:t>
            </a:r>
            <a:endParaRPr lang="en-US" sz="1000" dirty="0"/>
          </a:p>
        </p:txBody>
      </p:sp>
      <p:sp>
        <p:nvSpPr>
          <p:cNvPr id="13" name="Shape 10"/>
          <p:cNvSpPr/>
          <p:nvPr/>
        </p:nvSpPr>
        <p:spPr>
          <a:xfrm>
            <a:off x="2286000" y="2377440"/>
            <a:ext cx="0" cy="274320"/>
          </a:xfrm>
          <a:prstGeom prst="line">
            <a:avLst/>
          </a:prstGeom>
          <a:noFill/>
          <a:ln w="19050">
            <a:solidFill>
              <a:srgbClr val="5A6B7F"/>
            </a:solidFill>
            <a:prstDash val="solid"/>
            <a:tailEnd type="triangle"/>
          </a:ln>
        </p:spPr>
      </p:sp>
      <p:sp>
        <p:nvSpPr>
          <p:cNvPr id="14" name="Text 11"/>
          <p:cNvSpPr/>
          <p:nvPr/>
        </p:nvSpPr>
        <p:spPr>
          <a:xfrm>
            <a:off x="914400" y="2651760"/>
            <a:ext cx="2743200" cy="41148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cache: agg_packet, agg_packet_len</a:t>
            </a:r>
            <a:endParaRPr lang="en-US" sz="1000" dirty="0"/>
          </a:p>
        </p:txBody>
      </p:sp>
      <p:sp>
        <p:nvSpPr>
          <p:cNvPr id="15" name="Text 12"/>
          <p:cNvSpPr/>
          <p:nvPr/>
        </p:nvSpPr>
        <p:spPr>
          <a:xfrm>
            <a:off x="5486400" y="2011680"/>
            <a:ext cx="2743200" cy="365760"/>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all retries fail</a:t>
            </a:r>
            <a:endParaRPr lang="en-US" sz="1000" dirty="0"/>
          </a:p>
        </p:txBody>
      </p:sp>
      <p:sp>
        <p:nvSpPr>
          <p:cNvPr id="16" name="Shape 13"/>
          <p:cNvSpPr/>
          <p:nvPr/>
        </p:nvSpPr>
        <p:spPr>
          <a:xfrm>
            <a:off x="6858000" y="2377440"/>
            <a:ext cx="0" cy="274320"/>
          </a:xfrm>
          <a:prstGeom prst="line">
            <a:avLst/>
          </a:prstGeom>
          <a:noFill/>
          <a:ln w="19050">
            <a:solidFill>
              <a:srgbClr val="5A6B7F"/>
            </a:solidFill>
            <a:prstDash val="solid"/>
            <a:tailEnd type="triangle"/>
          </a:ln>
        </p:spPr>
      </p:sp>
      <p:sp>
        <p:nvSpPr>
          <p:cNvPr id="17" name="Text 14"/>
          <p:cNvSpPr/>
          <p:nvPr/>
        </p:nvSpPr>
        <p:spPr>
          <a:xfrm>
            <a:off x="5486400" y="2651760"/>
            <a:ext cx="2743200" cy="411480"/>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agg_read_unsupported = true;  kfree(packet)</a:t>
            </a:r>
            <a:endParaRPr lang="en-US" sz="1000" dirty="0"/>
          </a:p>
        </p:txBody>
      </p:sp>
      <p:sp>
        <p:nvSpPr>
          <p:cNvPr id="18" name="Shape 15"/>
          <p:cNvSpPr/>
          <p:nvPr/>
        </p:nvSpPr>
        <p:spPr>
          <a:xfrm>
            <a:off x="6858000" y="3063240"/>
            <a:ext cx="0" cy="274320"/>
          </a:xfrm>
          <a:prstGeom prst="line">
            <a:avLst/>
          </a:prstGeom>
          <a:noFill/>
          <a:ln w="19050">
            <a:solidFill>
              <a:srgbClr val="5A6B7F"/>
            </a:solidFill>
            <a:prstDash val="solid"/>
            <a:tailEnd type="triangle"/>
          </a:ln>
        </p:spPr>
      </p:sp>
      <p:sp>
        <p:nvSpPr>
          <p:cNvPr id="19" name="Text 16"/>
          <p:cNvSpPr/>
          <p:nvPr/>
        </p:nvSpPr>
        <p:spPr>
          <a:xfrm>
            <a:off x="5486400" y="3337560"/>
            <a:ext cx="2743200" cy="36576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normal QUERY path (all reads)</a:t>
            </a:r>
            <a:endParaRPr lang="en-US" sz="1000" dirty="0"/>
          </a:p>
        </p:txBody>
      </p:sp>
      <p:sp>
        <p:nvSpPr>
          <p:cNvPr id="20" name="Text 17"/>
          <p:cNvSpPr txBox="1"/>
          <p:nvPr/>
        </p:nvSpPr>
        <p:spPr>
          <a:xfrm>
            <a:off x="274320" y="3840480"/>
            <a:ext cx="4937760" cy="914400"/>
          </a:xfrm>
          <a:prstGeom prst="rect">
            <a:avLst/>
          </a:prstGeom>
          <a:noFill/>
          <a:ln/>
        </p:spPr>
        <p:txBody>
          <a:bodyPr wrap="square" lIns="25400" tIns="25400" rIns="25400" bIns="25400" rtlCol="0" anchor="t"/>
          <a:lstStyle/>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Backward compatibility: a UFS 5.0 device that rejects the opcode still initializes through individual queries.</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The flag prevents re-trying the failing opcode on later begin calls.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struct utp_agg_group_header</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5 Group Parsing</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15  |  Source: [PATCH v2 1/2], [PATCH v2 2/2]</a:t>
            </a:r>
            <a:endParaRPr lang="en-US" sz="800" dirty="0"/>
          </a:p>
        </p:txBody>
      </p:sp>
      <p:sp>
        <p:nvSpPr>
          <p:cNvPr id="7" name="Text 4"/>
          <p:cNvSpPr txBox="1"/>
          <p:nvPr/>
        </p:nvSpPr>
        <p:spPr>
          <a:xfrm>
            <a:off x="274320" y="731520"/>
            <a:ext cx="4389120" cy="1828800"/>
          </a:xfrm>
          <a:prstGeom prst="rect">
            <a:avLst/>
          </a:prstGeom>
          <a:solidFill>
            <a:srgbClr val="12233F"/>
          </a:solidFill>
          <a:ln w="12700">
            <a:solidFill>
              <a:srgbClr val="1F4E8C"/>
            </a:solidFill>
          </a:ln>
        </p:spPr>
        <p:txBody>
          <a:bodyPr wrap="square" lIns="76200" tIns="76200" rIns="76200" bIns="76200" rtlCol="0" anchor="t"/>
          <a:lstStyle/>
          <a:p>
            <a:pPr marL="0" indent="0">
              <a:buNone/>
            </a:pPr>
            <a:r>
              <a:rPr lang="en-US" sz="1000" dirty="0">
                <a:solidFill>
                  <a:srgbClr val="E6EDF7"/>
                </a:solidFill>
                <a:latin typeface="Consolas" pitchFamily="34" charset="0"/>
                <a:ea typeface="Consolas" pitchFamily="34" charset="-122"/>
                <a:cs typeface="Consolas" pitchFamily="34" charset="-120"/>
              </a:rPr>
              <a:t>struct utp_agg_group_header {</a:t>
            </a:r>
            <a:endParaRPr lang="en-US" sz="1000" dirty="0"/>
          </a:p>
          <a:p>
            <a:pPr marL="0" indent="0">
              <a:buNone/>
            </a:pPr>
            <a:r>
              <a:rPr lang="en-US" sz="1000" dirty="0">
                <a:solidFill>
                  <a:srgbClr val="E6EDF7"/>
                </a:solidFill>
                <a:latin typeface="Consolas" pitchFamily="34" charset="0"/>
                <a:ea typeface="Consolas" pitchFamily="34" charset="-122"/>
                <a:cs typeface="Consolas" pitchFamily="34" charset="-120"/>
              </a:rPr>
              <a:t>    u8 group_type;</a:t>
            </a:r>
            <a:endParaRPr lang="en-US" sz="1000" dirty="0"/>
          </a:p>
          <a:p>
            <a:pPr marL="0" indent="0">
              <a:buNone/>
            </a:pPr>
            <a:r>
              <a:rPr lang="en-US" sz="1000" dirty="0">
                <a:solidFill>
                  <a:srgbClr val="E6EDF7"/>
                </a:solidFill>
                <a:latin typeface="Consolas" pitchFamily="34" charset="0"/>
                <a:ea typeface="Consolas" pitchFamily="34" charset="-122"/>
                <a:cs typeface="Consolas" pitchFamily="34" charset="-120"/>
              </a:rPr>
              <a:t>    u8 reserved;</a:t>
            </a:r>
            <a:endParaRPr lang="en-US" sz="1000" dirty="0"/>
          </a:p>
          <a:p>
            <a:pPr marL="0" indent="0">
              <a:buNone/>
            </a:pPr>
            <a:r>
              <a:rPr lang="en-US" sz="1000" dirty="0">
                <a:solidFill>
                  <a:srgbClr val="E6EDF7"/>
                </a:solidFill>
                <a:highlight>
                  <a:srgbClr val="7A5A00"/>
                </a:highlight>
                <a:latin typeface="Consolas" pitchFamily="34" charset="0"/>
                <a:ea typeface="Consolas" pitchFamily="34" charset="-122"/>
                <a:cs typeface="Consolas" pitchFamily="34" charset="-120"/>
              </a:rPr>
              <a:t>    __be16 next_group_offset;</a:t>
            </a:r>
            <a:endParaRPr lang="en-US" sz="1000" dirty="0"/>
          </a:p>
          <a:p>
            <a:pPr marL="0" indent="0">
              <a:buNone/>
            </a:pPr>
            <a:r>
              <a:rPr lang="en-US" sz="1000" dirty="0">
                <a:solidFill>
                  <a:srgbClr val="E6EDF7"/>
                </a:solidFill>
                <a:latin typeface="Consolas" pitchFamily="34" charset="0"/>
                <a:ea typeface="Consolas" pitchFamily="34" charset="-122"/>
                <a:cs typeface="Consolas" pitchFamily="34" charset="-120"/>
              </a:rPr>
              <a:t>};</a:t>
            </a:r>
            <a:endParaRPr lang="en-US" sz="1000" dirty="0"/>
          </a:p>
          <a:p>
            <a:pPr marL="0" indent="0">
              <a:buNone/>
            </a:pPr>
            <a:r>
              <a:rPr lang="en-US" sz="1000" dirty="0">
                <a:solidFill>
                  <a:srgbClr val="E6EDF7"/>
                </a:solidFill>
                <a:latin typeface="Consolas" pitchFamily="34" charset="0"/>
                <a:ea typeface="Consolas" pitchFamily="34" charset="-122"/>
                <a:cs typeface="Consolas" pitchFamily="34" charset="-120"/>
              </a:rPr>
              <a:t>static_assert(sizeof(struct utp_agg_group_header) ==</a:t>
            </a:r>
            <a:endParaRPr lang="en-US" sz="1000" dirty="0"/>
          </a:p>
          <a:p>
            <a:pPr marL="0" indent="0">
              <a:buNone/>
            </a:pPr>
            <a:r>
              <a:rPr lang="en-US" sz="1000" dirty="0">
                <a:solidFill>
                  <a:srgbClr val="E6EDF7"/>
                </a:solidFill>
                <a:latin typeface="Consolas" pitchFamily="34" charset="0"/>
                <a:ea typeface="Consolas" pitchFamily="34" charset="-122"/>
                <a:cs typeface="Consolas" pitchFamily="34" charset="-120"/>
              </a:rPr>
              <a:t>              QUERY_AGG_GROUP_HDR_SIZE);</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274320" y="2743200"/>
          <a:ext cx="438912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Field</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Meaning (patch kernel-doc)</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extLst>
                  <a:ext uri="{0D108BD9-81ED-4DB2-BD59-A6C34878D82A}">
                    <a16:rowId xmlns:a16="http://schemas.microsoft.com/office/drawing/2014/main" val="10000"/>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group_type</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type of data in group, see ufs_agg_group_type</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reserved</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reserved</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2"/>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next_group_offset</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byte offset from packet start to next group; zero ends the chain</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Text 5"/>
          <p:cNvSpPr/>
          <p:nvPr/>
        </p:nvSpPr>
        <p:spPr>
          <a:xfrm>
            <a:off x="5120640" y="822960"/>
            <a:ext cx="3657600" cy="45720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group_type  (1 byte)</a:t>
            </a:r>
            <a:endParaRPr lang="en-US" sz="1000" dirty="0"/>
          </a:p>
        </p:txBody>
      </p:sp>
      <p:sp>
        <p:nvSpPr>
          <p:cNvPr id="10" name="Text 6"/>
          <p:cNvSpPr/>
          <p:nvPr/>
        </p:nvSpPr>
        <p:spPr>
          <a:xfrm>
            <a:off x="5120640" y="1325880"/>
            <a:ext cx="3657600" cy="45720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reserved  (1 byte)</a:t>
            </a:r>
            <a:endParaRPr lang="en-US" sz="1000" dirty="0"/>
          </a:p>
        </p:txBody>
      </p:sp>
      <p:sp>
        <p:nvSpPr>
          <p:cNvPr id="11" name="Text 7"/>
          <p:cNvSpPr/>
          <p:nvPr/>
        </p:nvSpPr>
        <p:spPr>
          <a:xfrm>
            <a:off x="5120640" y="1828800"/>
            <a:ext cx="3657600" cy="457200"/>
          </a:xfrm>
          <a:prstGeom prst="rect">
            <a:avLst/>
          </a:prstGeom>
          <a:solidFill>
            <a:srgbClr val="F5A623"/>
          </a:solidFill>
          <a:ln w="12700">
            <a:solidFill>
              <a:srgbClr val="B8760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next_group_offset  (2 bytes, big endian)</a:t>
            </a:r>
            <a:endParaRPr lang="en-US" sz="1000" dirty="0"/>
          </a:p>
        </p:txBody>
      </p:sp>
      <p:sp>
        <p:nvSpPr>
          <p:cNvPr id="12" name="Text 8"/>
          <p:cNvSpPr txBox="1"/>
          <p:nvPr/>
        </p:nvSpPr>
        <p:spPr>
          <a:xfrm>
            <a:off x="5120640" y="2377440"/>
            <a:ext cx="3657600" cy="274320"/>
          </a:xfrm>
          <a:prstGeom prst="rect">
            <a:avLst/>
          </a:prstGeom>
          <a:noFill/>
          <a:ln/>
        </p:spPr>
        <p:txBody>
          <a:bodyPr wrap="square" lIns="25400" tIns="25400" rIns="25400" bIns="25400" rtlCol="0" anchor="t"/>
          <a:lstStyle/>
          <a:p>
            <a:pPr marL="0" indent="0">
              <a:buNone/>
            </a:pPr>
            <a:r>
              <a:rPr lang="en-US" sz="1000" dirty="0">
                <a:solidFill>
                  <a:srgbClr val="222222"/>
                </a:solidFill>
                <a:latin typeface="Consolas" pitchFamily="34" charset="0"/>
                <a:ea typeface="Consolas" pitchFamily="34" charset="-122"/>
                <a:cs typeface="Consolas" pitchFamily="34" charset="-120"/>
              </a:rPr>
              <a:t>offset 0       1       2..3</a:t>
            </a:r>
            <a:endParaRPr lang="en-US" sz="1000" dirty="0"/>
          </a:p>
        </p:txBody>
      </p:sp>
      <p:sp>
        <p:nvSpPr>
          <p:cNvPr id="13" name="Text 9"/>
          <p:cNvSpPr txBox="1"/>
          <p:nvPr/>
        </p:nvSpPr>
        <p:spPr>
          <a:xfrm>
            <a:off x="5120640" y="2743200"/>
            <a:ext cx="3749040" cy="1645920"/>
          </a:xfrm>
          <a:prstGeom prst="rect">
            <a:avLst/>
          </a:prstGeom>
          <a:noFill/>
          <a:ln/>
        </p:spPr>
        <p:txBody>
          <a:bodyPr wrap="square" lIns="25400" tIns="25400" rIns="25400" bIns="25400" rtlCol="0" anchor="t"/>
          <a:lstStyle/>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Parser: u16 next = be16_to_cpu(hdr-&gt;next_group_offset).</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Patch 2 does not use cpu_to_be16 on headers (read-only parse); it is used only for the request length.</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ufshcd_agg_group()  - packet navigation</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5 Group Parsing</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16  |  Source: [PATCH v2 1/2], [PATCH v2 2/2]</a:t>
            </a:r>
            <a:endParaRPr lang="en-US" sz="800" dirty="0"/>
          </a:p>
        </p:txBody>
      </p:sp>
      <p:sp>
        <p:nvSpPr>
          <p:cNvPr id="7" name="Text 4"/>
          <p:cNvSpPr txBox="1"/>
          <p:nvPr/>
        </p:nvSpPr>
        <p:spPr>
          <a:xfrm>
            <a:off x="274320" y="685800"/>
            <a:ext cx="5212080" cy="2834640"/>
          </a:xfrm>
          <a:prstGeom prst="rect">
            <a:avLst/>
          </a:prstGeom>
          <a:solidFill>
            <a:srgbClr val="12233F"/>
          </a:solidFill>
          <a:ln w="12700">
            <a:solidFill>
              <a:srgbClr val="1F4E8C"/>
            </a:solidFill>
          </a:ln>
        </p:spPr>
        <p:txBody>
          <a:bodyPr wrap="square" lIns="76200" tIns="76200" rIns="76200" bIns="76200" rtlCol="0" anchor="t"/>
          <a:lstStyle/>
          <a:p>
            <a:pPr marL="0" indent="0">
              <a:buNone/>
            </a:pPr>
            <a:r>
              <a:rPr lang="en-US" sz="850" dirty="0">
                <a:solidFill>
                  <a:srgbClr val="E6EDF7"/>
                </a:solidFill>
                <a:latin typeface="Consolas" pitchFamily="34" charset="0"/>
                <a:ea typeface="Consolas" pitchFamily="34" charset="-122"/>
                <a:cs typeface="Consolas" pitchFamily="34" charset="-120"/>
              </a:rPr>
              <a:t>while (packet &amp;&amp; group_off + QUERY_AGG_GROUP_HDR_SIZE &lt;= packet_len) {</a:t>
            </a:r>
            <a:endParaRPr lang="en-US" sz="850" dirty="0"/>
          </a:p>
          <a:p>
            <a:pPr marL="0" indent="0">
              <a:buNone/>
            </a:pPr>
            <a:r>
              <a:rPr lang="en-US" sz="850" dirty="0">
                <a:solidFill>
                  <a:srgbClr val="E6EDF7"/>
                </a:solidFill>
                <a:latin typeface="Consolas" pitchFamily="34" charset="0"/>
                <a:ea typeface="Consolas" pitchFamily="34" charset="-122"/>
                <a:cs typeface="Consolas" pitchFamily="34" charset="-120"/>
              </a:rPr>
              <a:t>  next_group_off = be16_to_cpu(hdr-&gt;next_group_offset);</a:t>
            </a:r>
            <a:endParaRPr lang="en-US" sz="850" dirty="0"/>
          </a:p>
          <a:p>
            <a:pPr marL="0" indent="0">
              <a:buNone/>
            </a:pPr>
            <a:r>
              <a:rPr lang="en-US" sz="850" dirty="0">
                <a:solidFill>
                  <a:srgbClr val="E6EDF7"/>
                </a:solidFill>
                <a:latin typeface="Consolas" pitchFamily="34" charset="0"/>
                <a:ea typeface="Consolas" pitchFamily="34" charset="-122"/>
                <a:cs typeface="Consolas" pitchFamily="34" charset="-120"/>
              </a:rPr>
              <a:t>  payload_off = group_off + QUERY_AGG_GROUP_HDR_SIZE;</a:t>
            </a:r>
            <a:endParaRPr lang="en-US" sz="850" dirty="0"/>
          </a:p>
          <a:p>
            <a:pPr marL="0" indent="0">
              <a:buNone/>
            </a:pPr>
            <a:r>
              <a:rPr lang="en-US" sz="850" dirty="0">
                <a:solidFill>
                  <a:srgbClr val="E6EDF7"/>
                </a:solidFill>
                <a:highlight>
                  <a:srgbClr val="7A5A00"/>
                </a:highlight>
                <a:latin typeface="Consolas" pitchFamily="34" charset="0"/>
                <a:ea typeface="Consolas" pitchFamily="34" charset="-122"/>
                <a:cs typeface="Consolas" pitchFamily="34" charset="-120"/>
              </a:rPr>
              <a:t>  if (next_group_off &amp;&amp; (next_group_off &lt; payload_off ||</a:t>
            </a:r>
            <a:endParaRPr lang="en-US" sz="850" dirty="0"/>
          </a:p>
          <a:p>
            <a:pPr marL="0" indent="0">
              <a:buNone/>
            </a:pPr>
            <a:r>
              <a:rPr lang="en-US" sz="850" dirty="0">
                <a:solidFill>
                  <a:srgbClr val="E6EDF7"/>
                </a:solidFill>
                <a:highlight>
                  <a:srgbClr val="7A5A00"/>
                </a:highlight>
                <a:latin typeface="Consolas" pitchFamily="34" charset="0"/>
                <a:ea typeface="Consolas" pitchFamily="34" charset="-122"/>
                <a:cs typeface="Consolas" pitchFamily="34" charset="-120"/>
              </a:rPr>
              <a:t>      next_group_off + QUERY_AGG_GROUP_HDR_SIZE &gt; packet_len))</a:t>
            </a:r>
            <a:endParaRPr lang="en-US" sz="850" dirty="0"/>
          </a:p>
          <a:p>
            <a:pPr marL="0" indent="0">
              <a:buNone/>
            </a:pPr>
            <a:r>
              <a:rPr lang="en-US" sz="850" dirty="0">
                <a:solidFill>
                  <a:srgbClr val="E6EDF7"/>
                </a:solidFill>
                <a:highlight>
                  <a:srgbClr val="7A5A00"/>
                </a:highlight>
                <a:latin typeface="Consolas" pitchFamily="34" charset="0"/>
                <a:ea typeface="Consolas" pitchFamily="34" charset="-122"/>
                <a:cs typeface="Consolas" pitchFamily="34" charset="-120"/>
              </a:rPr>
              <a:t>      return NULL;</a:t>
            </a:r>
            <a:endParaRPr lang="en-US" sz="850" dirty="0"/>
          </a:p>
          <a:p>
            <a:pPr marL="0" indent="0">
              <a:buNone/>
            </a:pPr>
            <a:r>
              <a:rPr lang="en-US" sz="850" dirty="0">
                <a:solidFill>
                  <a:srgbClr val="E6EDF7"/>
                </a:solidFill>
                <a:latin typeface="Consolas" pitchFamily="34" charset="0"/>
                <a:ea typeface="Consolas" pitchFamily="34" charset="-122"/>
                <a:cs typeface="Consolas" pitchFamily="34" charset="-120"/>
              </a:rPr>
              <a:t>  if (hdr-&gt;group_type == type) {</a:t>
            </a:r>
            <a:endParaRPr lang="en-US" sz="850" dirty="0"/>
          </a:p>
          <a:p>
            <a:pPr marL="0" indent="0">
              <a:buNone/>
            </a:pPr>
            <a:r>
              <a:rPr lang="en-US" sz="850" dirty="0">
                <a:solidFill>
                  <a:srgbClr val="E6EDF7"/>
                </a:solidFill>
                <a:highlight>
                  <a:srgbClr val="7A5A00"/>
                </a:highlight>
                <a:latin typeface="Consolas" pitchFamily="34" charset="0"/>
                <a:ea typeface="Consolas" pitchFamily="34" charset="-122"/>
                <a:cs typeface="Consolas" pitchFamily="34" charset="-120"/>
              </a:rPr>
              <a:t>    *group_len = (next_group_off ? next_group_off : packet_len)</a:t>
            </a:r>
            <a:endParaRPr lang="en-US" sz="850" dirty="0"/>
          </a:p>
          <a:p>
            <a:pPr marL="0" indent="0">
              <a:buNone/>
            </a:pPr>
            <a:r>
              <a:rPr lang="en-US" sz="850" dirty="0">
                <a:solidFill>
                  <a:srgbClr val="E6EDF7"/>
                </a:solidFill>
                <a:highlight>
                  <a:srgbClr val="7A5A00"/>
                </a:highlight>
                <a:latin typeface="Consolas" pitchFamily="34" charset="0"/>
                <a:ea typeface="Consolas" pitchFamily="34" charset="-122"/>
                <a:cs typeface="Consolas" pitchFamily="34" charset="-120"/>
              </a:rPr>
              <a:t>                 - payload_off;</a:t>
            </a:r>
            <a:endParaRPr lang="en-US" sz="850" dirty="0"/>
          </a:p>
          <a:p>
            <a:pPr marL="0" indent="0">
              <a:buNone/>
            </a:pPr>
            <a:r>
              <a:rPr lang="en-US" sz="850" dirty="0">
                <a:solidFill>
                  <a:srgbClr val="E6EDF7"/>
                </a:solidFill>
                <a:latin typeface="Consolas" pitchFamily="34" charset="0"/>
                <a:ea typeface="Consolas" pitchFamily="34" charset="-122"/>
                <a:cs typeface="Consolas" pitchFamily="34" charset="-120"/>
              </a:rPr>
              <a:t>     return packet + payload_off; }</a:t>
            </a:r>
            <a:endParaRPr lang="en-US" sz="850" dirty="0"/>
          </a:p>
          <a:p>
            <a:pPr marL="0" indent="0">
              <a:buNone/>
            </a:pPr>
            <a:r>
              <a:rPr lang="en-US" sz="850" dirty="0">
                <a:solidFill>
                  <a:srgbClr val="E6EDF7"/>
                </a:solidFill>
                <a:latin typeface="Consolas" pitchFamily="34" charset="0"/>
                <a:ea typeface="Consolas" pitchFamily="34" charset="-122"/>
                <a:cs typeface="Consolas" pitchFamily="34" charset="-120"/>
              </a:rPr>
              <a:t>  if (!next_group_off) break;</a:t>
            </a:r>
            <a:endParaRPr lang="en-US" sz="850" dirty="0"/>
          </a:p>
          <a:p>
            <a:pPr marL="0" indent="0">
              <a:buNone/>
            </a:pPr>
            <a:r>
              <a:rPr lang="en-US" sz="850" dirty="0">
                <a:solidFill>
                  <a:srgbClr val="E6EDF7"/>
                </a:solidFill>
                <a:latin typeface="Consolas" pitchFamily="34" charset="0"/>
                <a:ea typeface="Consolas" pitchFamily="34" charset="-122"/>
                <a:cs typeface="Consolas" pitchFamily="34" charset="-120"/>
              </a:rPr>
              <a:t>  group_off = next_group_off; }  return NULL;</a:t>
            </a:r>
            <a:endParaRPr lang="en-US" sz="850" dirty="0"/>
          </a:p>
        </p:txBody>
      </p:sp>
      <p:sp>
        <p:nvSpPr>
          <p:cNvPr id="8" name="Text 5"/>
          <p:cNvSpPr/>
          <p:nvPr/>
        </p:nvSpPr>
        <p:spPr>
          <a:xfrm>
            <a:off x="5760720" y="731520"/>
            <a:ext cx="3108960" cy="41148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group header</a:t>
            </a:r>
            <a:endParaRPr lang="en-US" sz="900" dirty="0"/>
          </a:p>
        </p:txBody>
      </p:sp>
      <p:sp>
        <p:nvSpPr>
          <p:cNvPr id="9" name="Shape 6"/>
          <p:cNvSpPr/>
          <p:nvPr/>
        </p:nvSpPr>
        <p:spPr>
          <a:xfrm>
            <a:off x="7315200" y="1143000"/>
            <a:ext cx="0" cy="228600"/>
          </a:xfrm>
          <a:prstGeom prst="line">
            <a:avLst/>
          </a:prstGeom>
          <a:noFill/>
          <a:ln w="19050">
            <a:solidFill>
              <a:srgbClr val="5A6B7F"/>
            </a:solidFill>
            <a:prstDash val="solid"/>
            <a:tailEnd type="triangle"/>
          </a:ln>
        </p:spPr>
      </p:sp>
      <p:sp>
        <p:nvSpPr>
          <p:cNvPr id="10" name="Text 7"/>
          <p:cNvSpPr/>
          <p:nvPr/>
        </p:nvSpPr>
        <p:spPr>
          <a:xfrm>
            <a:off x="5760720" y="1371600"/>
            <a:ext cx="3108960" cy="41148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type == requested?</a:t>
            </a:r>
            <a:endParaRPr lang="en-US" sz="900" dirty="0"/>
          </a:p>
        </p:txBody>
      </p:sp>
      <p:sp>
        <p:nvSpPr>
          <p:cNvPr id="11" name="Shape 8"/>
          <p:cNvSpPr/>
          <p:nvPr/>
        </p:nvSpPr>
        <p:spPr>
          <a:xfrm>
            <a:off x="7315200" y="1783080"/>
            <a:ext cx="0" cy="228600"/>
          </a:xfrm>
          <a:prstGeom prst="line">
            <a:avLst/>
          </a:prstGeom>
          <a:noFill/>
          <a:ln w="19050">
            <a:solidFill>
              <a:srgbClr val="5A6B7F"/>
            </a:solidFill>
            <a:prstDash val="solid"/>
            <a:tailEnd type="triangle"/>
          </a:ln>
        </p:spPr>
      </p:sp>
      <p:sp>
        <p:nvSpPr>
          <p:cNvPr id="12" name="Text 9"/>
          <p:cNvSpPr/>
          <p:nvPr/>
        </p:nvSpPr>
        <p:spPr>
          <a:xfrm>
            <a:off x="5760720" y="2011680"/>
            <a:ext cx="3108960" cy="41148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YES: return payload + group_len</a:t>
            </a:r>
            <a:endParaRPr lang="en-US" sz="900" dirty="0"/>
          </a:p>
        </p:txBody>
      </p:sp>
      <p:sp>
        <p:nvSpPr>
          <p:cNvPr id="13" name="Shape 10"/>
          <p:cNvSpPr/>
          <p:nvPr/>
        </p:nvSpPr>
        <p:spPr>
          <a:xfrm>
            <a:off x="7315200" y="2423160"/>
            <a:ext cx="0" cy="228600"/>
          </a:xfrm>
          <a:prstGeom prst="line">
            <a:avLst/>
          </a:prstGeom>
          <a:noFill/>
          <a:ln w="19050">
            <a:solidFill>
              <a:srgbClr val="5A6B7F"/>
            </a:solidFill>
            <a:prstDash val="solid"/>
            <a:tailEnd type="triangle"/>
          </a:ln>
        </p:spPr>
      </p:sp>
      <p:sp>
        <p:nvSpPr>
          <p:cNvPr id="14" name="Text 11"/>
          <p:cNvSpPr/>
          <p:nvPr/>
        </p:nvSpPr>
        <p:spPr>
          <a:xfrm>
            <a:off x="5760720" y="2651760"/>
            <a:ext cx="3108960" cy="411480"/>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NO: next_group_off == 0 ? end : next group</a:t>
            </a:r>
            <a:endParaRPr lang="en-US" sz="900" dirty="0"/>
          </a:p>
        </p:txBody>
      </p:sp>
      <p:sp>
        <p:nvSpPr>
          <p:cNvPr id="15" name="Shape 12"/>
          <p:cNvSpPr/>
          <p:nvPr/>
        </p:nvSpPr>
        <p:spPr>
          <a:xfrm>
            <a:off x="7315200" y="3063240"/>
            <a:ext cx="0" cy="228600"/>
          </a:xfrm>
          <a:prstGeom prst="line">
            <a:avLst/>
          </a:prstGeom>
          <a:noFill/>
          <a:ln w="19050">
            <a:solidFill>
              <a:srgbClr val="5A6B7F"/>
            </a:solidFill>
            <a:prstDash val="solid"/>
            <a:tailEnd type="triangle"/>
          </a:ln>
        </p:spPr>
      </p:sp>
      <p:sp>
        <p:nvSpPr>
          <p:cNvPr id="16" name="Text 13"/>
          <p:cNvSpPr/>
          <p:nvPr/>
        </p:nvSpPr>
        <p:spPr>
          <a:xfrm>
            <a:off x="5760720" y="3291840"/>
            <a:ext cx="3108960" cy="41148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repeat (validated)</a:t>
            </a:r>
            <a:endParaRPr lang="en-US" sz="900" dirty="0"/>
          </a:p>
        </p:txBody>
      </p:sp>
      <p:sp>
        <p:nvSpPr>
          <p:cNvPr id="17" name="Text 14"/>
          <p:cNvSpPr txBox="1"/>
          <p:nvPr/>
        </p:nvSpPr>
        <p:spPr>
          <a:xfrm>
            <a:off x="274320" y="3657600"/>
            <a:ext cx="5212080" cy="731520"/>
          </a:xfrm>
          <a:prstGeom prst="rect">
            <a:avLst/>
          </a:prstGeom>
          <a:noFill/>
          <a:ln/>
        </p:spPr>
        <p:txBody>
          <a:bodyPr wrap="square" lIns="25400" tIns="25400" rIns="25400" bIns="25400" rtlCol="0" anchor="t"/>
          <a:lstStyle/>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No hit returns NULL, callers map that to -ENOENT / fallback.</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ufshcd_agg_attr()</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6 Data Extraction</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17  |  Source: [PATCH v2 1/2], [PATCH v2 2/2]</a:t>
            </a:r>
            <a:endParaRPr lang="en-US" sz="800" dirty="0"/>
          </a:p>
        </p:txBody>
      </p:sp>
      <p:sp>
        <p:nvSpPr>
          <p:cNvPr id="7" name="Text 4"/>
          <p:cNvSpPr txBox="1"/>
          <p:nvPr/>
        </p:nvSpPr>
        <p:spPr>
          <a:xfrm>
            <a:off x="274320" y="685800"/>
            <a:ext cx="5394960" cy="2194560"/>
          </a:xfrm>
          <a:prstGeom prst="rect">
            <a:avLst/>
          </a:prstGeom>
          <a:solidFill>
            <a:srgbClr val="12233F"/>
          </a:solidFill>
          <a:ln w="12700">
            <a:solidFill>
              <a:srgbClr val="1F4E8C"/>
            </a:solidFill>
          </a:ln>
        </p:spPr>
        <p:txBody>
          <a:bodyPr wrap="square" lIns="76200" tIns="76200" rIns="76200" bIns="76200" rtlCol="0" anchor="t"/>
          <a:lstStyle/>
          <a:p>
            <a:pPr marL="0" indent="0">
              <a:buNone/>
            </a:pPr>
            <a:r>
              <a:rPr lang="en-US" sz="850" dirty="0">
                <a:solidFill>
                  <a:srgbClr val="E6EDF7"/>
                </a:solidFill>
                <a:latin typeface="Consolas" pitchFamily="34" charset="0"/>
                <a:ea typeface="Consolas" pitchFamily="34" charset="-122"/>
                <a:cs typeface="Consolas" pitchFamily="34" charset="-120"/>
              </a:rPr>
              <a:t>if (idn &gt;= ARRAY_SIZE(ufs_agg_attr_width) || !ufs_agg_attr_width[idn])</a:t>
            </a:r>
            <a:endParaRPr lang="en-US" sz="850" dirty="0"/>
          </a:p>
          <a:p>
            <a:pPr marL="0" indent="0">
              <a:buNone/>
            </a:pPr>
            <a:r>
              <a:rPr lang="en-US" sz="850" dirty="0">
                <a:solidFill>
                  <a:srgbClr val="E6EDF7"/>
                </a:solidFill>
                <a:latin typeface="Consolas" pitchFamily="34" charset="0"/>
                <a:ea typeface="Consolas" pitchFamily="34" charset="-122"/>
                <a:cs typeface="Consolas" pitchFamily="34" charset="-120"/>
              </a:rPr>
              <a:t>    return -ENOENT;</a:t>
            </a:r>
            <a:endParaRPr lang="en-US" sz="850" dirty="0"/>
          </a:p>
          <a:p>
            <a:pPr marL="0" indent="0">
              <a:buNone/>
            </a:pPr>
            <a:r>
              <a:rPr lang="en-US" sz="850" dirty="0">
                <a:solidFill>
                  <a:srgbClr val="E6EDF7"/>
                </a:solidFill>
                <a:latin typeface="Consolas" pitchFamily="34" charset="0"/>
                <a:ea typeface="Consolas" pitchFamily="34" charset="-122"/>
                <a:cs typeface="Consolas" pitchFamily="34" charset="-120"/>
              </a:rPr>
              <a:t>group_buf = ufshcd_agg_group(hba, UFS_AGG_GROUP_ATTRS, &amp;group_len);</a:t>
            </a:r>
            <a:endParaRPr lang="en-US" sz="850" dirty="0"/>
          </a:p>
          <a:p>
            <a:pPr marL="0" indent="0">
              <a:buNone/>
            </a:pPr>
            <a:r>
              <a:rPr lang="en-US" sz="850" dirty="0">
                <a:solidFill>
                  <a:srgbClr val="E6EDF7"/>
                </a:solidFill>
                <a:highlight>
                  <a:srgbClr val="7A5A00"/>
                </a:highlight>
                <a:latin typeface="Consolas" pitchFamily="34" charset="0"/>
                <a:ea typeface="Consolas" pitchFamily="34" charset="-122"/>
                <a:cs typeface="Consolas" pitchFamily="34" charset="-120"/>
              </a:rPr>
              <a:t>for (i = 0; i &lt; idn; i++)</a:t>
            </a:r>
            <a:endParaRPr lang="en-US" sz="850" dirty="0"/>
          </a:p>
          <a:p>
            <a:pPr marL="0" indent="0">
              <a:buNone/>
            </a:pPr>
            <a:r>
              <a:rPr lang="en-US" sz="850" dirty="0">
                <a:solidFill>
                  <a:srgbClr val="E6EDF7"/>
                </a:solidFill>
                <a:highlight>
                  <a:srgbClr val="7A5A00"/>
                </a:highlight>
                <a:latin typeface="Consolas" pitchFamily="34" charset="0"/>
                <a:ea typeface="Consolas" pitchFamily="34" charset="-122"/>
                <a:cs typeface="Consolas" pitchFamily="34" charset="-120"/>
              </a:rPr>
              <a:t>    off += ufs_agg_attr_width[i];</a:t>
            </a:r>
            <a:endParaRPr lang="en-US" sz="850" dirty="0"/>
          </a:p>
          <a:p>
            <a:pPr marL="0" indent="0">
              <a:buNone/>
            </a:pPr>
            <a:r>
              <a:rPr lang="en-US" sz="850" dirty="0">
                <a:solidFill>
                  <a:srgbClr val="E6EDF7"/>
                </a:solidFill>
                <a:latin typeface="Consolas" pitchFamily="34" charset="0"/>
                <a:ea typeface="Consolas" pitchFamily="34" charset="-122"/>
                <a:cs typeface="Consolas" pitchFamily="34" charset="-120"/>
              </a:rPr>
              <a:t>if (off + ufs_agg_attr_width[idn] &gt; group_len) return -ENOENT;</a:t>
            </a:r>
            <a:endParaRPr lang="en-US" sz="850" dirty="0"/>
          </a:p>
          <a:p>
            <a:pPr marL="0" indent="0">
              <a:buNone/>
            </a:pPr>
            <a:r>
              <a:rPr lang="en-US" sz="850" dirty="0">
                <a:solidFill>
                  <a:srgbClr val="E6EDF7"/>
                </a:solidFill>
                <a:highlight>
                  <a:srgbClr val="7A5A00"/>
                </a:highlight>
                <a:latin typeface="Consolas" pitchFamily="34" charset="0"/>
                <a:ea typeface="Consolas" pitchFamily="34" charset="-122"/>
                <a:cs typeface="Consolas" pitchFamily="34" charset="-120"/>
              </a:rPr>
              <a:t>*out = 0;</a:t>
            </a:r>
            <a:endParaRPr lang="en-US" sz="850" dirty="0"/>
          </a:p>
          <a:p>
            <a:pPr marL="0" indent="0">
              <a:buNone/>
            </a:pPr>
            <a:r>
              <a:rPr lang="en-US" sz="850" dirty="0">
                <a:solidFill>
                  <a:srgbClr val="E6EDF7"/>
                </a:solidFill>
                <a:highlight>
                  <a:srgbClr val="7A5A00"/>
                </a:highlight>
                <a:latin typeface="Consolas" pitchFamily="34" charset="0"/>
                <a:ea typeface="Consolas" pitchFamily="34" charset="-122"/>
                <a:cs typeface="Consolas" pitchFamily="34" charset="-120"/>
              </a:rPr>
              <a:t>for (i = 0; i &lt; ufs_agg_attr_width[idn]; i++)</a:t>
            </a:r>
            <a:endParaRPr lang="en-US" sz="850" dirty="0"/>
          </a:p>
          <a:p>
            <a:pPr marL="0" indent="0">
              <a:buNone/>
            </a:pPr>
            <a:r>
              <a:rPr lang="en-US" sz="850" dirty="0">
                <a:solidFill>
                  <a:srgbClr val="E6EDF7"/>
                </a:solidFill>
                <a:highlight>
                  <a:srgbClr val="7A5A00"/>
                </a:highlight>
                <a:latin typeface="Consolas" pitchFamily="34" charset="0"/>
                <a:ea typeface="Consolas" pitchFamily="34" charset="-122"/>
                <a:cs typeface="Consolas" pitchFamily="34" charset="-120"/>
              </a:rPr>
              <a:t>    *out = (*out &lt;&lt; 8) | group_buf[off + i];</a:t>
            </a:r>
            <a:endParaRPr lang="en-US" sz="850" dirty="0"/>
          </a:p>
        </p:txBody>
      </p:sp>
      <p:sp>
        <p:nvSpPr>
          <p:cNvPr id="8" name="Text 5"/>
          <p:cNvSpPr txBox="1"/>
          <p:nvPr/>
        </p:nvSpPr>
        <p:spPr>
          <a:xfrm>
            <a:off x="274320" y="2971800"/>
            <a:ext cx="5394960" cy="228600"/>
          </a:xfrm>
          <a:prstGeom prst="rect">
            <a:avLst/>
          </a:prstGeom>
          <a:noFill/>
          <a:ln/>
        </p:spPr>
        <p:txBody>
          <a:bodyPr wrap="square" lIns="25400" tIns="25400" rIns="25400" bIns="25400" rtlCol="0" anchor="t"/>
          <a:lstStyle/>
          <a:p>
            <a:pPr marL="0" indent="0">
              <a:buNone/>
            </a:pPr>
            <a:r>
              <a:rPr lang="en-US" sz="900" b="1" dirty="0">
                <a:solidFill>
                  <a:srgbClr val="222222"/>
                </a:solidFill>
                <a:latin typeface="Calibri" pitchFamily="34" charset="0"/>
                <a:ea typeface="Calibri" pitchFamily="34" charset="-122"/>
                <a:cs typeface="Calibri" pitchFamily="34" charset="-120"/>
              </a:rPr>
              <a:t>ATTRS group (ILLUSTRATIVE widths, not from patch)</a:t>
            </a:r>
            <a:endParaRPr lang="en-US" sz="900" dirty="0"/>
          </a:p>
        </p:txBody>
      </p:sp>
      <p:sp>
        <p:nvSpPr>
          <p:cNvPr id="9" name="Text 6"/>
          <p:cNvSpPr/>
          <p:nvPr/>
        </p:nvSpPr>
        <p:spPr>
          <a:xfrm>
            <a:off x="274320" y="3246120"/>
            <a:ext cx="868680" cy="54864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Attr 0</a:t>
            </a:r>
            <a:endParaRPr lang="en-US" sz="1000" dirty="0"/>
          </a:p>
          <a:p>
            <a:pPr marL="0" indent="0" algn="ctr">
              <a:buNone/>
            </a:pPr>
            <a:r>
              <a:rPr lang="en-US" sz="1000" dirty="0">
                <a:solidFill>
                  <a:srgbClr val="0B1F3A"/>
                </a:solidFill>
                <a:latin typeface="Calibri" pitchFamily="34" charset="0"/>
                <a:ea typeface="Calibri" pitchFamily="34" charset="-122"/>
                <a:cs typeface="Calibri" pitchFamily="34" charset="-120"/>
              </a:rPr>
              <a:t>1 B</a:t>
            </a:r>
            <a:endParaRPr lang="en-US" sz="1000" dirty="0"/>
          </a:p>
        </p:txBody>
      </p:sp>
      <p:sp>
        <p:nvSpPr>
          <p:cNvPr id="10" name="Text 7"/>
          <p:cNvSpPr/>
          <p:nvPr/>
        </p:nvSpPr>
        <p:spPr>
          <a:xfrm>
            <a:off x="1188720" y="3246120"/>
            <a:ext cx="868680" cy="54864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Attr 1</a:t>
            </a:r>
            <a:endParaRPr lang="en-US" sz="1000" dirty="0"/>
          </a:p>
          <a:p>
            <a:pPr marL="0" indent="0" algn="ctr">
              <a:buNone/>
            </a:pPr>
            <a:r>
              <a:rPr lang="en-US" sz="1000" dirty="0">
                <a:solidFill>
                  <a:srgbClr val="0B1F3A"/>
                </a:solidFill>
                <a:latin typeface="Calibri" pitchFamily="34" charset="0"/>
                <a:ea typeface="Calibri" pitchFamily="34" charset="-122"/>
                <a:cs typeface="Calibri" pitchFamily="34" charset="-120"/>
              </a:rPr>
              <a:t>1 B</a:t>
            </a:r>
            <a:endParaRPr lang="en-US" sz="1000" dirty="0"/>
          </a:p>
        </p:txBody>
      </p:sp>
      <p:sp>
        <p:nvSpPr>
          <p:cNvPr id="11" name="Text 8"/>
          <p:cNvSpPr/>
          <p:nvPr/>
        </p:nvSpPr>
        <p:spPr>
          <a:xfrm>
            <a:off x="2103120" y="3246120"/>
            <a:ext cx="1554480" cy="548640"/>
          </a:xfrm>
          <a:prstGeom prst="rect">
            <a:avLst/>
          </a:prstGeom>
          <a:solidFill>
            <a:srgbClr val="F5A623"/>
          </a:solidFill>
          <a:ln w="12700">
            <a:solidFill>
              <a:srgbClr val="B8760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Attr 2</a:t>
            </a:r>
            <a:endParaRPr lang="en-US" sz="1000" dirty="0"/>
          </a:p>
          <a:p>
            <a:pPr marL="0" indent="0" algn="ctr">
              <a:buNone/>
            </a:pPr>
            <a:r>
              <a:rPr lang="en-US" sz="1000" dirty="0">
                <a:solidFill>
                  <a:srgbClr val="0B1F3A"/>
                </a:solidFill>
                <a:latin typeface="Calibri" pitchFamily="34" charset="0"/>
                <a:ea typeface="Calibri" pitchFamily="34" charset="-122"/>
                <a:cs typeface="Calibri" pitchFamily="34" charset="-120"/>
              </a:rPr>
              <a:t>4 B</a:t>
            </a:r>
            <a:endParaRPr lang="en-US" sz="1000" dirty="0"/>
          </a:p>
        </p:txBody>
      </p:sp>
      <p:sp>
        <p:nvSpPr>
          <p:cNvPr id="12" name="Text 9"/>
          <p:cNvSpPr/>
          <p:nvPr/>
        </p:nvSpPr>
        <p:spPr>
          <a:xfrm>
            <a:off x="3749040" y="3246120"/>
            <a:ext cx="868680" cy="54864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Attr 3</a:t>
            </a:r>
            <a:endParaRPr lang="en-US" sz="1000" dirty="0"/>
          </a:p>
          <a:p>
            <a:pPr marL="0" indent="0" algn="ctr">
              <a:buNone/>
            </a:pPr>
            <a:r>
              <a:rPr lang="en-US" sz="1000" dirty="0">
                <a:solidFill>
                  <a:srgbClr val="0B1F3A"/>
                </a:solidFill>
                <a:latin typeface="Calibri" pitchFamily="34" charset="0"/>
                <a:ea typeface="Calibri" pitchFamily="34" charset="-122"/>
                <a:cs typeface="Calibri" pitchFamily="34" charset="-120"/>
              </a:rPr>
              <a:t>1 B</a:t>
            </a:r>
            <a:endParaRPr lang="en-US" sz="1000" dirty="0"/>
          </a:p>
        </p:txBody>
      </p:sp>
      <p:sp>
        <p:nvSpPr>
          <p:cNvPr id="13" name="Text 10"/>
          <p:cNvSpPr txBox="1"/>
          <p:nvPr/>
        </p:nvSpPr>
        <p:spPr>
          <a:xfrm>
            <a:off x="274320" y="3840480"/>
            <a:ext cx="5394960" cy="274320"/>
          </a:xfrm>
          <a:prstGeom prst="rect">
            <a:avLst/>
          </a:prstGeom>
          <a:noFill/>
          <a:ln/>
        </p:spPr>
        <p:txBody>
          <a:bodyPr wrap="square" lIns="25400" tIns="25400" rIns="25400" bIns="25400" rtlCol="0" anchor="t"/>
          <a:lstStyle/>
          <a:p>
            <a:pPr marL="0" indent="0">
              <a:buNone/>
            </a:pPr>
            <a:r>
              <a:rPr lang="en-US" sz="1000" dirty="0">
                <a:solidFill>
                  <a:srgbClr val="222222"/>
                </a:solidFill>
                <a:latin typeface="Consolas" pitchFamily="34" charset="0"/>
                <a:ea typeface="Consolas" pitchFamily="34" charset="-122"/>
                <a:cs typeface="Consolas" pitchFamily="34" charset="-120"/>
              </a:rPr>
              <a:t>offset(Attr 3) = 1+1+4 = 6</a:t>
            </a:r>
            <a:endParaRPr lang="en-US" sz="1000" dirty="0"/>
          </a:p>
        </p:txBody>
      </p:sp>
      <p:sp>
        <p:nvSpPr>
          <p:cNvPr id="14" name="Text 11"/>
          <p:cNvSpPr txBox="1"/>
          <p:nvPr/>
        </p:nvSpPr>
        <p:spPr>
          <a:xfrm>
            <a:off x="274320" y="4160520"/>
            <a:ext cx="8595360" cy="274320"/>
          </a:xfrm>
          <a:prstGeom prst="rect">
            <a:avLst/>
          </a:prstGeom>
          <a:noFill/>
          <a:ln/>
        </p:spPr>
        <p:txBody>
          <a:bodyPr wrap="square" lIns="25400" tIns="25400" rIns="25400" bIns="25400" rtlCol="0" anchor="t"/>
          <a:lstStyle/>
          <a:p>
            <a:pPr marL="0" indent="0">
              <a:buNone/>
            </a:pPr>
            <a:r>
              <a:rPr lang="en-US" sz="900" dirty="0">
                <a:solidFill>
                  <a:srgbClr val="222222"/>
                </a:solidFill>
                <a:latin typeface="Consolas" pitchFamily="34" charset="0"/>
                <a:ea typeface="Consolas" pitchFamily="34" charset="-122"/>
                <a:cs typeface="Consolas" pitchFamily="34" charset="-120"/>
              </a:rPr>
              <a:t>Bytes 12 34 56 78  -&gt;  ((((0&lt;&lt;8|0x12)&lt;&lt;8|0x34)&lt;&lt;8|0x56)&lt;&lt;8|0x78) = 0x12345678</a:t>
            </a:r>
            <a:endParaRPr lang="en-US" sz="900" dirty="0"/>
          </a:p>
        </p:txBody>
      </p:sp>
      <p:sp>
        <p:nvSpPr>
          <p:cNvPr id="15" name="Text 12"/>
          <p:cNvSpPr txBox="1"/>
          <p:nvPr/>
        </p:nvSpPr>
        <p:spPr>
          <a:xfrm>
            <a:off x="5943600" y="731520"/>
            <a:ext cx="2926080" cy="1828800"/>
          </a:xfrm>
          <a:prstGeom prst="rect">
            <a:avLst/>
          </a:prstGeom>
          <a:noFill/>
          <a:ln/>
        </p:spPr>
        <p:txBody>
          <a:bodyPr wrap="square" lIns="25400" tIns="25400" rIns="25400" bIns="25400" rtlCol="0" anchor="t"/>
          <a:lstStyle/>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Hit: return 0. Miss: -ENOENT.</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Only index 0 attributes (see ufshcd_read_attr).</a:t>
            </a:r>
            <a:endParaRPr lang="en-US" sz="1000" dirty="0"/>
          </a:p>
        </p:txBody>
      </p:sp>
      <p:sp>
        <p:nvSpPr>
          <p:cNvPr id="16" name="Text 13"/>
          <p:cNvSpPr/>
          <p:nvPr/>
        </p:nvSpPr>
        <p:spPr>
          <a:xfrm>
            <a:off x="5943600" y="2651760"/>
            <a:ext cx="2926080" cy="822960"/>
          </a:xfrm>
          <a:prstGeom prst="rect">
            <a:avLst/>
          </a:prstGeom>
          <a:solidFill>
            <a:srgbClr val="F5A623"/>
          </a:solidFill>
          <a:ln w="12700">
            <a:solidFill>
              <a:srgbClr val="B8760C"/>
            </a:solidFill>
          </a:ln>
        </p:spPr>
        <p:txBody>
          <a:bodyPr wrap="square" lIns="38100" tIns="38100" rIns="38100" bIns="38100" rtlCol="0" anchor="ctr"/>
          <a:lstStyle/>
          <a:p>
            <a:pPr marL="0" indent="0" algn="l">
              <a:buNone/>
            </a:pPr>
            <a:r>
              <a:rPr lang="en-US" sz="900" dirty="0">
                <a:solidFill>
                  <a:srgbClr val="0B1F3A"/>
                </a:solidFill>
                <a:latin typeface="Calibri" pitchFamily="34" charset="0"/>
                <a:ea typeface="Calibri" pitchFamily="34" charset="-122"/>
                <a:cs typeface="Calibri" pitchFamily="34" charset="-120"/>
              </a:rPr>
              <a:t>Not specified in the patch: IDN numeric values other than 0x0c, 0x17, 0x1b, 0x1e (defined in ufs.h, outside the diff).</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ufs_agg_attr_width[]  (JESD220H Table 14.28)</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6 Data Extraction</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18  |  Source: [PATCH v2 1/2], [PATCH v2 2/2]</a:t>
            </a:r>
            <a:endParaRPr lang="en-US" sz="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274320" y="731520"/>
          <a:ext cx="859536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7498080">
                  <a:extLst>
                    <a:ext uri="{9D8B030D-6E8A-4147-A177-3AD203B41FA5}">
                      <a16:colId xmlns:a16="http://schemas.microsoft.com/office/drawing/2014/main" val="20001"/>
                    </a:ext>
                  </a:extLst>
                </a:gridCol>
              </a:tblGrid>
              <a:tr h="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Width</a:t>
                      </a:r>
                      <a:endParaRPr lang="en-US" sz="10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Attribute macros (QUERY_ATTR_IDN_...)</a:t>
                      </a:r>
                      <a:endParaRPr lang="en-US" sz="10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222222"/>
                          </a:solidFill>
                          <a:latin typeface="Calibri" pitchFamily="34" charset="0"/>
                          <a:ea typeface="Calibri" pitchFamily="34" charset="-122"/>
                          <a:cs typeface="Calibri" pitchFamily="34" charset="-120"/>
                        </a:rPr>
                        <a:t>1 byte</a:t>
                      </a:r>
                      <a:endParaRPr lang="en-US" sz="10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1000" dirty="0">
                          <a:solidFill>
                            <a:srgbClr val="222222"/>
                          </a:solidFill>
                          <a:latin typeface="Calibri" pitchFamily="34" charset="0"/>
                          <a:ea typeface="Calibri" pitchFamily="34" charset="-122"/>
                          <a:cs typeface="Calibri" pitchFamily="34" charset="-120"/>
                        </a:rPr>
                        <a:t>BOOT_LU_EN, POWER_MODE, ACTIVE_ICC_LVL, OOO_DATA_EN, BKOPS_STATUS, PURGE_STATUS, MAX_DATA_IN, MAX_DATA_OUT, REF_CLK_FREQ, CONF_DESC_LOCK, MAX_NUM_OF_RTT (0x0c), FFU_STATUS, PSA_STATE, REF_CLK_GATING_WAIT_TIME (0x17), CASE_ROUGH_TEMP, HIGH_TEMP_BOUND, LOW_TEMP_BOUND, [0x1b], WB_FLUSH_STATUS, AVAIL_WB_BUFF_SIZE, WB_BUFF_LIFE_TIME_EST (0x1e)</a:t>
                      </a:r>
                      <a:endParaRPr lang="en-US" sz="10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00" dirty="0">
                          <a:solidFill>
                            <a:srgbClr val="222222"/>
                          </a:solidFill>
                          <a:latin typeface="Calibri" pitchFamily="34" charset="0"/>
                          <a:ea typeface="Calibri" pitchFamily="34" charset="-122"/>
                          <a:cs typeface="Calibri" pitchFamily="34" charset="-120"/>
                        </a:rPr>
                        <a:t>2 bytes</a:t>
                      </a:r>
                      <a:endParaRPr lang="en-US" sz="10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1000" dirty="0">
                          <a:solidFill>
                            <a:srgbClr val="222222"/>
                          </a:solidFill>
                          <a:latin typeface="Consolas" pitchFamily="34" charset="0"/>
                          <a:ea typeface="Consolas" pitchFamily="34" charset="-122"/>
                          <a:cs typeface="Consolas" pitchFamily="34" charset="-120"/>
                        </a:rPr>
                        <a:t>EE_CONTROL, EE_STATUS, CNTX_CONF</a:t>
                      </a:r>
                      <a:endParaRPr lang="en-US" sz="10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2"/>
                  </a:ext>
                </a:extLst>
              </a:tr>
              <a:tr h="0">
                <a:tc>
                  <a:txBody>
                    <a:bodyPr/>
                    <a:lstStyle/>
                    <a:p>
                      <a:pPr marL="0" indent="0">
                        <a:buNone/>
                      </a:pPr>
                      <a:r>
                        <a:rPr lang="en-US" sz="1000" dirty="0">
                          <a:solidFill>
                            <a:srgbClr val="222222"/>
                          </a:solidFill>
                          <a:latin typeface="Calibri" pitchFamily="34" charset="0"/>
                          <a:ea typeface="Calibri" pitchFamily="34" charset="-122"/>
                          <a:cs typeface="Calibri" pitchFamily="34" charset="-120"/>
                        </a:rPr>
                        <a:t>4 bytes</a:t>
                      </a:r>
                      <a:endParaRPr lang="en-US" sz="10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1000" dirty="0">
                          <a:solidFill>
                            <a:srgbClr val="222222"/>
                          </a:solidFill>
                          <a:latin typeface="Calibri" pitchFamily="34" charset="0"/>
                          <a:ea typeface="Calibri" pitchFamily="34" charset="-122"/>
                          <a:cs typeface="Calibri" pitchFamily="34" charset="-120"/>
                        </a:rPr>
                        <a:t>DYN_CAP_NEEDED, SECONDS_PASSED, PSA_DATA_SIZE, CURR_WB_BUFF_SIZE</a:t>
                      </a:r>
                      <a:endParaRPr lang="en-US" sz="10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Text 4"/>
          <p:cNvSpPr/>
          <p:nvPr/>
        </p:nvSpPr>
        <p:spPr>
          <a:xfrm>
            <a:off x="274320" y="3108960"/>
            <a:ext cx="8595360" cy="45720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200" b="1" dirty="0">
                <a:solidFill>
                  <a:srgbClr val="0B1F3A"/>
                </a:solidFill>
                <a:latin typeface="Calibri" pitchFamily="34" charset="0"/>
                <a:ea typeface="Calibri" pitchFamily="34" charset="-122"/>
                <a:cs typeface="Calibri" pitchFamily="34" charset="-120"/>
              </a:rPr>
              <a:t>The table lets the parser locate an attribute inside the packed ATTRS group.</a:t>
            </a:r>
            <a:endParaRPr lang="en-US" sz="1200" dirty="0"/>
          </a:p>
        </p:txBody>
      </p:sp>
      <p:sp>
        <p:nvSpPr>
          <p:cNvPr id="9" name="Text 5"/>
          <p:cNvSpPr txBox="1"/>
          <p:nvPr/>
        </p:nvSpPr>
        <p:spPr>
          <a:xfrm>
            <a:off x="274320" y="3657600"/>
            <a:ext cx="8595360" cy="1097280"/>
          </a:xfrm>
          <a:prstGeom prst="rect">
            <a:avLst/>
          </a:prstGeom>
          <a:noFill/>
          <a:ln/>
        </p:spPr>
        <p:txBody>
          <a:bodyPr wrap="square" lIns="25400" tIns="25400" rIns="25400" bIns="25400" rtlCol="0" anchor="t"/>
          <a:lstStyle/>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The response has no standalone ID/length pair per value, so layout is implicit in IDN order.</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Unlisted IDNs have width 0: skipped in offset sum and rejected as targets.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ufshcd_agg_flag()</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6 Data Extraction</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19  |  Source: [PATCH v2 1/2], [PATCH v2 2/2]</a:t>
            </a:r>
            <a:endParaRPr lang="en-US" sz="800" dirty="0"/>
          </a:p>
        </p:txBody>
      </p:sp>
      <p:sp>
        <p:nvSpPr>
          <p:cNvPr id="7" name="Text 4"/>
          <p:cNvSpPr txBox="1"/>
          <p:nvPr/>
        </p:nvSpPr>
        <p:spPr>
          <a:xfrm>
            <a:off x="274320" y="731520"/>
            <a:ext cx="5120640" cy="1371600"/>
          </a:xfrm>
          <a:prstGeom prst="rect">
            <a:avLst/>
          </a:prstGeom>
          <a:solidFill>
            <a:srgbClr val="12233F"/>
          </a:solidFill>
          <a:ln w="12700">
            <a:solidFill>
              <a:srgbClr val="1F4E8C"/>
            </a:solidFill>
          </a:ln>
        </p:spPr>
        <p:txBody>
          <a:bodyPr wrap="square" lIns="76200" tIns="76200" rIns="76200" bIns="76200" rtlCol="0" anchor="t"/>
          <a:lstStyle/>
          <a:p>
            <a:pPr marL="0" indent="0">
              <a:buNone/>
            </a:pPr>
            <a:r>
              <a:rPr lang="en-US" sz="950" dirty="0">
                <a:solidFill>
                  <a:srgbClr val="E6EDF7"/>
                </a:solidFill>
                <a:latin typeface="Consolas" pitchFamily="34" charset="0"/>
                <a:ea typeface="Consolas" pitchFamily="34" charset="-122"/>
                <a:cs typeface="Consolas" pitchFamily="34" charset="-120"/>
              </a:rPr>
              <a:t>group_buf = ufshcd_agg_group(hba, UFS_AGG_GROUP_FLAGS, &amp;group_len);</a:t>
            </a:r>
            <a:endParaRPr lang="en-US" sz="950" dirty="0"/>
          </a:p>
          <a:p>
            <a:pPr marL="0" indent="0">
              <a:buNone/>
            </a:pPr>
            <a:r>
              <a:rPr lang="en-US" sz="950" dirty="0">
                <a:solidFill>
                  <a:srgbClr val="E6EDF7"/>
                </a:solidFill>
                <a:highlight>
                  <a:srgbClr val="7A5A00"/>
                </a:highlight>
                <a:latin typeface="Consolas" pitchFamily="34" charset="0"/>
                <a:ea typeface="Consolas" pitchFamily="34" charset="-122"/>
                <a:cs typeface="Consolas" pitchFamily="34" charset="-120"/>
              </a:rPr>
              <a:t>if (!group_buf || idn &gt;= group_len)</a:t>
            </a:r>
            <a:endParaRPr lang="en-US" sz="950" dirty="0"/>
          </a:p>
          <a:p>
            <a:pPr marL="0" indent="0">
              <a:buNone/>
            </a:pPr>
            <a:r>
              <a:rPr lang="en-US" sz="950" dirty="0">
                <a:solidFill>
                  <a:srgbClr val="E6EDF7"/>
                </a:solidFill>
                <a:highlight>
                  <a:srgbClr val="7A5A00"/>
                </a:highlight>
                <a:latin typeface="Consolas" pitchFamily="34" charset="0"/>
                <a:ea typeface="Consolas" pitchFamily="34" charset="-122"/>
                <a:cs typeface="Consolas" pitchFamily="34" charset="-120"/>
              </a:rPr>
              <a:t>    return -ENOENT;</a:t>
            </a:r>
            <a:endParaRPr lang="en-US" sz="950" dirty="0"/>
          </a:p>
          <a:p>
            <a:pPr marL="0" indent="0">
              <a:buNone/>
            </a:pPr>
            <a:r>
              <a:rPr lang="en-US" sz="950" dirty="0">
                <a:solidFill>
                  <a:srgbClr val="E6EDF7"/>
                </a:solidFill>
                <a:highlight>
                  <a:srgbClr val="7A5A00"/>
                </a:highlight>
                <a:latin typeface="Consolas" pitchFamily="34" charset="0"/>
                <a:ea typeface="Consolas" pitchFamily="34" charset="-122"/>
                <a:cs typeface="Consolas" pitchFamily="34" charset="-120"/>
              </a:rPr>
              <a:t>*out = group_buf[idn];</a:t>
            </a:r>
            <a:endParaRPr lang="en-US" sz="950" dirty="0"/>
          </a:p>
          <a:p>
            <a:pPr marL="0" indent="0">
              <a:buNone/>
            </a:pPr>
            <a:r>
              <a:rPr lang="en-US" sz="950" dirty="0">
                <a:solidFill>
                  <a:srgbClr val="E6EDF7"/>
                </a:solidFill>
                <a:latin typeface="Consolas" pitchFamily="34" charset="0"/>
                <a:ea typeface="Consolas" pitchFamily="34" charset="-122"/>
                <a:cs typeface="Consolas" pitchFamily="34" charset="-120"/>
              </a:rPr>
              <a:t>return 0;</a:t>
            </a:r>
            <a:endParaRPr lang="en-US" sz="950" dirty="0"/>
          </a:p>
        </p:txBody>
      </p:sp>
      <p:sp>
        <p:nvSpPr>
          <p:cNvPr id="8" name="Text 5"/>
          <p:cNvSpPr txBox="1"/>
          <p:nvPr/>
        </p:nvSpPr>
        <p:spPr>
          <a:xfrm>
            <a:off x="5669280" y="685800"/>
            <a:ext cx="3200400" cy="274320"/>
          </a:xfrm>
          <a:prstGeom prst="rect">
            <a:avLst/>
          </a:prstGeom>
          <a:noFill/>
          <a:ln/>
        </p:spPr>
        <p:txBody>
          <a:bodyPr wrap="square" lIns="25400" tIns="25400" rIns="25400" bIns="25400" rtlCol="0" anchor="t"/>
          <a:lstStyle/>
          <a:p>
            <a:pPr marL="0" indent="0">
              <a:buNone/>
            </a:pPr>
            <a:r>
              <a:rPr lang="en-US" sz="1100" b="1" dirty="0">
                <a:solidFill>
                  <a:srgbClr val="222222"/>
                </a:solidFill>
                <a:latin typeface="Calibri" pitchFamily="34" charset="0"/>
                <a:ea typeface="Calibri" pitchFamily="34" charset="-122"/>
                <a:cs typeface="Calibri" pitchFamily="34" charset="-120"/>
              </a:rPr>
              <a:t>FLAGS group payload</a:t>
            </a:r>
            <a:endParaRPr lang="en-US" sz="1100" dirty="0"/>
          </a:p>
        </p:txBody>
      </p:sp>
      <p:sp>
        <p:nvSpPr>
          <p:cNvPr id="9" name="Text 6"/>
          <p:cNvSpPr/>
          <p:nvPr/>
        </p:nvSpPr>
        <p:spPr>
          <a:xfrm>
            <a:off x="5669280" y="960120"/>
            <a:ext cx="3200400" cy="36576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offset 0 -&gt; flag IDN 0</a:t>
            </a:r>
            <a:endParaRPr lang="en-US" sz="1000" dirty="0"/>
          </a:p>
        </p:txBody>
      </p:sp>
      <p:sp>
        <p:nvSpPr>
          <p:cNvPr id="10" name="Text 7"/>
          <p:cNvSpPr/>
          <p:nvPr/>
        </p:nvSpPr>
        <p:spPr>
          <a:xfrm>
            <a:off x="5669280" y="1371600"/>
            <a:ext cx="3200400" cy="36576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offset 1 -&gt; flag IDN 1</a:t>
            </a:r>
            <a:endParaRPr lang="en-US" sz="1000" dirty="0"/>
          </a:p>
        </p:txBody>
      </p:sp>
      <p:sp>
        <p:nvSpPr>
          <p:cNvPr id="11" name="Text 8"/>
          <p:cNvSpPr/>
          <p:nvPr/>
        </p:nvSpPr>
        <p:spPr>
          <a:xfrm>
            <a:off x="5669280" y="1783080"/>
            <a:ext cx="3200400" cy="36576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offset 2 -&gt; flag IDN 2</a:t>
            </a:r>
            <a:endParaRPr lang="en-US" sz="1000" dirty="0"/>
          </a:p>
        </p:txBody>
      </p:sp>
      <p:sp>
        <p:nvSpPr>
          <p:cNvPr id="12" name="Text 9"/>
          <p:cNvSpPr/>
          <p:nvPr/>
        </p:nvSpPr>
        <p:spPr>
          <a:xfrm>
            <a:off x="5669280" y="2194560"/>
            <a:ext cx="3200400" cy="365760"/>
          </a:xfrm>
          <a:prstGeom prst="rect">
            <a:avLst/>
          </a:prstGeom>
          <a:solidFill>
            <a:srgbClr val="F5A623"/>
          </a:solidFill>
          <a:ln w="12700">
            <a:solidFill>
              <a:srgbClr val="B8760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offset 3 -&gt; flag IDN 3 (fPowerOnWPEn)</a:t>
            </a:r>
            <a:endParaRPr lang="en-US" sz="1000" dirty="0"/>
          </a:p>
        </p:txBody>
      </p:sp>
      <p:sp>
        <p:nvSpPr>
          <p:cNvPr id="13" name="Text 10"/>
          <p:cNvSpPr/>
          <p:nvPr/>
        </p:nvSpPr>
        <p:spPr>
          <a:xfrm>
            <a:off x="5669280" y="2606040"/>
            <a:ext cx="3200400" cy="36576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a:t>
            </a:r>
            <a:endParaRPr lang="en-US" sz="1000" dirty="0"/>
          </a:p>
        </p:txBody>
      </p:sp>
      <p:sp>
        <p:nvSpPr>
          <p:cNvPr id="14" name="Text 11"/>
          <p:cNvSpPr txBox="1"/>
          <p:nvPr/>
        </p:nvSpPr>
        <p:spPr>
          <a:xfrm>
            <a:off x="274320" y="2377440"/>
            <a:ext cx="5120640" cy="1828800"/>
          </a:xfrm>
          <a:prstGeom prst="rect">
            <a:avLst/>
          </a:prstGeom>
          <a:noFill/>
          <a:ln/>
        </p:spPr>
        <p:txBody>
          <a:bodyPr wrap="square" lIns="25400" tIns="25400" rIns="25400" bIns="25400" rtlCol="0" anchor="t"/>
          <a:lstStyle/>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Flag layout assumption (1 byte per flag at offset IDN) is implicit in the code.</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Used by ufshcd_read_flag() for QUERY_FLAG_IDN_PWR_ON_WPE.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ufshcd_agg_desc()</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6 Data Extraction</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20  |  Source: [PATCH v2 1/2], [PATCH v2 2/2]</a:t>
            </a:r>
            <a:endParaRPr lang="en-US" sz="800" dirty="0"/>
          </a:p>
        </p:txBody>
      </p:sp>
      <p:sp>
        <p:nvSpPr>
          <p:cNvPr id="7" name="Text 4"/>
          <p:cNvSpPr txBox="1"/>
          <p:nvPr/>
        </p:nvSpPr>
        <p:spPr>
          <a:xfrm>
            <a:off x="274320" y="685800"/>
            <a:ext cx="5577840" cy="2926080"/>
          </a:xfrm>
          <a:prstGeom prst="rect">
            <a:avLst/>
          </a:prstGeom>
          <a:solidFill>
            <a:srgbClr val="12233F"/>
          </a:solidFill>
          <a:ln w="12700">
            <a:solidFill>
              <a:srgbClr val="1F4E8C"/>
            </a:solidFill>
          </a:ln>
        </p:spPr>
        <p:txBody>
          <a:bodyPr wrap="square" lIns="76200" tIns="76200" rIns="76200" bIns="76200" rtlCol="0" anchor="t"/>
          <a:lstStyle/>
          <a:p>
            <a:pPr marL="0" indent="0">
              <a:buNone/>
            </a:pPr>
            <a:r>
              <a:rPr lang="en-US" sz="800" dirty="0">
                <a:solidFill>
                  <a:srgbClr val="E6EDF7"/>
                </a:solidFill>
                <a:latin typeface="Consolas" pitchFamily="34" charset="0"/>
                <a:ea typeface="Consolas" pitchFamily="34" charset="-122"/>
                <a:cs typeface="Consolas" pitchFamily="34" charset="-120"/>
              </a:rPr>
              <a:t>if (idn == QUERY_DESC_IDN_STRING) return ufshcd_agg_string(hba,index,len);</a:t>
            </a:r>
            <a:endParaRPr lang="en-US" sz="800" dirty="0"/>
          </a:p>
          <a:p>
            <a:pPr marL="0" indent="0">
              <a:buNone/>
            </a:pPr>
            <a:r>
              <a:rPr lang="en-US" sz="800" dirty="0">
                <a:solidFill>
                  <a:srgbClr val="E6EDF7"/>
                </a:solidFill>
                <a:latin typeface="Consolas" pitchFamily="34" charset="0"/>
                <a:ea typeface="Consolas" pitchFamily="34" charset="-122"/>
                <a:cs typeface="Consolas" pitchFamily="34" charset="-120"/>
              </a:rPr>
              <a:t>group_buf = ufshcd_agg_group(hba, UFS_AGG_GROUP_DESCS, &amp;group_len);</a:t>
            </a:r>
            <a:endParaRPr lang="en-US" sz="800" dirty="0"/>
          </a:p>
          <a:p>
            <a:pPr marL="0" indent="0">
              <a:buNone/>
            </a:pPr>
            <a:r>
              <a:rPr lang="en-US" sz="800" dirty="0">
                <a:solidFill>
                  <a:srgbClr val="E6EDF7"/>
                </a:solidFill>
                <a:latin typeface="Consolas" pitchFamily="34" charset="0"/>
                <a:ea typeface="Consolas" pitchFamily="34" charset="-122"/>
                <a:cs typeface="Consolas" pitchFamily="34" charset="-120"/>
              </a:rPr>
              <a:t>while (group_buf &amp;&amp; off + QUERY_DESC_HDR_SIZE &lt;= group_len) {</a:t>
            </a:r>
            <a:endParaRPr lang="en-US" sz="800" dirty="0"/>
          </a:p>
          <a:p>
            <a:pPr marL="0" indent="0">
              <a:buNone/>
            </a:pPr>
            <a:r>
              <a:rPr lang="en-US" sz="800" dirty="0">
                <a:solidFill>
                  <a:srgbClr val="E6EDF7"/>
                </a:solidFill>
                <a:latin typeface="Consolas" pitchFamily="34" charset="0"/>
                <a:ea typeface="Consolas" pitchFamily="34" charset="-122"/>
                <a:cs typeface="Consolas" pitchFamily="34" charset="-120"/>
              </a:rPr>
              <a:t>  desc_len = desc_buf[QUERY_DESC_LENGTH_OFFSET];</a:t>
            </a:r>
            <a:endParaRPr lang="en-US" sz="800" dirty="0"/>
          </a:p>
          <a:p>
            <a:pPr marL="0" indent="0">
              <a:buNone/>
            </a:pPr>
            <a:r>
              <a:rPr lang="en-US" sz="800" dirty="0">
                <a:solidFill>
                  <a:srgbClr val="E6EDF7"/>
                </a:solidFill>
                <a:latin typeface="Consolas" pitchFamily="34" charset="0"/>
                <a:ea typeface="Consolas" pitchFamily="34" charset="-122"/>
                <a:cs typeface="Consolas" pitchFamily="34" charset="-120"/>
              </a:rPr>
              <a:t>  if (desc_len &lt; QUERY_DESC_HDR_SIZE || off + desc_len &gt; group_len) break;</a:t>
            </a:r>
            <a:endParaRPr lang="en-US" sz="800" dirty="0"/>
          </a:p>
          <a:p>
            <a:pPr marL="0" indent="0">
              <a:buNone/>
            </a:pPr>
            <a:r>
              <a:rPr lang="en-US" sz="800" dirty="0">
                <a:solidFill>
                  <a:srgbClr val="E6EDF7"/>
                </a:solidFill>
                <a:highlight>
                  <a:srgbClr val="7A5A00"/>
                </a:highlight>
                <a:latin typeface="Consolas" pitchFamily="34" charset="0"/>
                <a:ea typeface="Consolas" pitchFamily="34" charset="-122"/>
                <a:cs typeface="Consolas" pitchFamily="34" charset="-120"/>
              </a:rPr>
              <a:t>  if (desc_buf[QUERY_DESC_DESC_TYPE_OFFSET] == idn &amp;&amp;</a:t>
            </a:r>
            <a:endParaRPr lang="en-US" sz="800" dirty="0"/>
          </a:p>
          <a:p>
            <a:pPr marL="0" indent="0">
              <a:buNone/>
            </a:pPr>
            <a:r>
              <a:rPr lang="en-US" sz="800" dirty="0">
                <a:solidFill>
                  <a:srgbClr val="E6EDF7"/>
                </a:solidFill>
                <a:highlight>
                  <a:srgbClr val="7A5A00"/>
                </a:highlight>
                <a:latin typeface="Consolas" pitchFamily="34" charset="0"/>
                <a:ea typeface="Consolas" pitchFamily="34" charset="-122"/>
                <a:cs typeface="Consolas" pitchFamily="34" charset="-120"/>
              </a:rPr>
              <a:t>      (idn != QUERY_DESC_IDN_UNIT ||</a:t>
            </a:r>
            <a:endParaRPr lang="en-US" sz="800" dirty="0"/>
          </a:p>
          <a:p>
            <a:pPr marL="0" indent="0">
              <a:buNone/>
            </a:pPr>
            <a:r>
              <a:rPr lang="en-US" sz="800" dirty="0">
                <a:solidFill>
                  <a:srgbClr val="E6EDF7"/>
                </a:solidFill>
                <a:highlight>
                  <a:srgbClr val="7A5A00"/>
                </a:highlight>
                <a:latin typeface="Consolas" pitchFamily="34" charset="0"/>
                <a:ea typeface="Consolas" pitchFamily="34" charset="-122"/>
                <a:cs typeface="Consolas" pitchFamily="34" charset="-120"/>
              </a:rPr>
              <a:t>       (desc_len &gt; UNIT_DESC_PARAM_UNIT_INDEX &amp;&amp;</a:t>
            </a:r>
            <a:endParaRPr lang="en-US" sz="800" dirty="0"/>
          </a:p>
          <a:p>
            <a:pPr marL="0" indent="0">
              <a:buNone/>
            </a:pPr>
            <a:r>
              <a:rPr lang="en-US" sz="800" dirty="0">
                <a:solidFill>
                  <a:srgbClr val="E6EDF7"/>
                </a:solidFill>
                <a:highlight>
                  <a:srgbClr val="7A5A00"/>
                </a:highlight>
                <a:latin typeface="Consolas" pitchFamily="34" charset="0"/>
                <a:ea typeface="Consolas" pitchFamily="34" charset="-122"/>
                <a:cs typeface="Consolas" pitchFamily="34" charset="-120"/>
              </a:rPr>
              <a:t>        desc_buf[UNIT_DESC_PARAM_UNIT_INDEX] == index)))</a:t>
            </a:r>
            <a:endParaRPr lang="en-US" sz="800" dirty="0"/>
          </a:p>
          <a:p>
            <a:pPr marL="0" indent="0">
              <a:buNone/>
            </a:pPr>
            <a:r>
              <a:rPr lang="en-US" sz="800" dirty="0">
                <a:solidFill>
                  <a:srgbClr val="E6EDF7"/>
                </a:solidFill>
                <a:latin typeface="Consolas" pitchFamily="34" charset="0"/>
                <a:ea typeface="Consolas" pitchFamily="34" charset="-122"/>
                <a:cs typeface="Consolas" pitchFamily="34" charset="-120"/>
              </a:rPr>
              <a:t>     { *len = desc_len; return desc_buf; }</a:t>
            </a:r>
            <a:endParaRPr lang="en-US" sz="800" dirty="0"/>
          </a:p>
          <a:p>
            <a:pPr marL="0" indent="0">
              <a:buNone/>
            </a:pPr>
            <a:r>
              <a:rPr lang="en-US" sz="800" dirty="0">
                <a:solidFill>
                  <a:srgbClr val="E6EDF7"/>
                </a:solidFill>
                <a:latin typeface="Consolas" pitchFamily="34" charset="0"/>
                <a:ea typeface="Consolas" pitchFamily="34" charset="-122"/>
                <a:cs typeface="Consolas" pitchFamily="34" charset="-120"/>
              </a:rPr>
              <a:t>  off += desc_len; }</a:t>
            </a:r>
            <a:endParaRPr lang="en-US" sz="800" dirty="0"/>
          </a:p>
        </p:txBody>
      </p:sp>
      <p:sp>
        <p:nvSpPr>
          <p:cNvPr id="8" name="Text 5"/>
          <p:cNvSpPr txBox="1"/>
          <p:nvPr/>
        </p:nvSpPr>
        <p:spPr>
          <a:xfrm>
            <a:off x="6126480" y="685800"/>
            <a:ext cx="2743200" cy="274320"/>
          </a:xfrm>
          <a:prstGeom prst="rect">
            <a:avLst/>
          </a:prstGeom>
          <a:noFill/>
          <a:ln/>
        </p:spPr>
        <p:txBody>
          <a:bodyPr wrap="square" lIns="25400" tIns="25400" rIns="25400" bIns="25400" rtlCol="0" anchor="t"/>
          <a:lstStyle/>
          <a:p>
            <a:pPr marL="0" indent="0">
              <a:buNone/>
            </a:pPr>
            <a:r>
              <a:rPr lang="en-US" sz="1000" b="1" dirty="0">
                <a:solidFill>
                  <a:srgbClr val="222222"/>
                </a:solidFill>
                <a:latin typeface="Calibri" pitchFamily="34" charset="0"/>
                <a:ea typeface="Calibri" pitchFamily="34" charset="-122"/>
                <a:cs typeface="Calibri" pitchFamily="34" charset="-120"/>
              </a:rPr>
              <a:t>DESCRIPTORS group (example)</a:t>
            </a:r>
            <a:endParaRPr lang="en-US" sz="1000" dirty="0"/>
          </a:p>
        </p:txBody>
      </p:sp>
      <p:sp>
        <p:nvSpPr>
          <p:cNvPr id="9" name="Text 6"/>
          <p:cNvSpPr/>
          <p:nvPr/>
        </p:nvSpPr>
        <p:spPr>
          <a:xfrm>
            <a:off x="6126480" y="960120"/>
            <a:ext cx="2743200" cy="50292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Device Desc</a:t>
            </a:r>
            <a:endParaRPr lang="en-US" sz="900" dirty="0"/>
          </a:p>
          <a:p>
            <a:pPr marL="0" indent="0" algn="ctr">
              <a:buNone/>
            </a:pPr>
            <a:r>
              <a:rPr lang="en-US" sz="900" dirty="0">
                <a:solidFill>
                  <a:srgbClr val="0B1F3A"/>
                </a:solidFill>
                <a:latin typeface="Calibri" pitchFamily="34" charset="0"/>
                <a:ea typeface="Calibri" pitchFamily="34" charset="-122"/>
                <a:cs typeface="Calibri" pitchFamily="34" charset="-120"/>
              </a:rPr>
              <a:t>bLength | bType | ...</a:t>
            </a:r>
            <a:endParaRPr lang="en-US" sz="900" dirty="0"/>
          </a:p>
        </p:txBody>
      </p:sp>
      <p:sp>
        <p:nvSpPr>
          <p:cNvPr id="10" name="Shape 7"/>
          <p:cNvSpPr/>
          <p:nvPr/>
        </p:nvSpPr>
        <p:spPr>
          <a:xfrm>
            <a:off x="7498080" y="1463040"/>
            <a:ext cx="0" cy="64008"/>
          </a:xfrm>
          <a:prstGeom prst="line">
            <a:avLst/>
          </a:prstGeom>
          <a:noFill/>
          <a:ln w="19050">
            <a:solidFill>
              <a:srgbClr val="5A6B7F"/>
            </a:solidFill>
            <a:prstDash val="solid"/>
            <a:tailEnd type="triangle"/>
          </a:ln>
        </p:spPr>
      </p:sp>
      <p:sp>
        <p:nvSpPr>
          <p:cNvPr id="11" name="Text 8"/>
          <p:cNvSpPr/>
          <p:nvPr/>
        </p:nvSpPr>
        <p:spPr>
          <a:xfrm>
            <a:off x="6126480" y="1527048"/>
            <a:ext cx="2743200" cy="50292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Unit Desc 0</a:t>
            </a:r>
            <a:endParaRPr lang="en-US" sz="900" dirty="0"/>
          </a:p>
          <a:p>
            <a:pPr marL="0" indent="0" algn="ctr">
              <a:buNone/>
            </a:pPr>
            <a:r>
              <a:rPr lang="en-US" sz="900" dirty="0">
                <a:solidFill>
                  <a:srgbClr val="0B1F3A"/>
                </a:solidFill>
                <a:latin typeface="Calibri" pitchFamily="34" charset="0"/>
                <a:ea typeface="Calibri" pitchFamily="34" charset="-122"/>
                <a:cs typeface="Calibri" pitchFamily="34" charset="-120"/>
              </a:rPr>
              <a:t>bLength | bType | ...</a:t>
            </a:r>
            <a:endParaRPr lang="en-US" sz="900" dirty="0"/>
          </a:p>
        </p:txBody>
      </p:sp>
      <p:sp>
        <p:nvSpPr>
          <p:cNvPr id="12" name="Shape 9"/>
          <p:cNvSpPr/>
          <p:nvPr/>
        </p:nvSpPr>
        <p:spPr>
          <a:xfrm>
            <a:off x="7498080" y="2029968"/>
            <a:ext cx="0" cy="64008"/>
          </a:xfrm>
          <a:prstGeom prst="line">
            <a:avLst/>
          </a:prstGeom>
          <a:noFill/>
          <a:ln w="19050">
            <a:solidFill>
              <a:srgbClr val="5A6B7F"/>
            </a:solidFill>
            <a:prstDash val="solid"/>
            <a:tailEnd type="triangle"/>
          </a:ln>
        </p:spPr>
      </p:sp>
      <p:sp>
        <p:nvSpPr>
          <p:cNvPr id="13" name="Text 10"/>
          <p:cNvSpPr/>
          <p:nvPr/>
        </p:nvSpPr>
        <p:spPr>
          <a:xfrm>
            <a:off x="6126480" y="2093976"/>
            <a:ext cx="2743200" cy="502920"/>
          </a:xfrm>
          <a:prstGeom prst="rect">
            <a:avLst/>
          </a:prstGeom>
          <a:solidFill>
            <a:srgbClr val="F5A623"/>
          </a:solidFill>
          <a:ln w="12700">
            <a:solidFill>
              <a:srgbClr val="B8760C"/>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Unit Desc 1</a:t>
            </a:r>
            <a:endParaRPr lang="en-US" sz="900" dirty="0"/>
          </a:p>
          <a:p>
            <a:pPr marL="0" indent="0" algn="ctr">
              <a:buNone/>
            </a:pPr>
            <a:r>
              <a:rPr lang="en-US" sz="900" dirty="0">
                <a:solidFill>
                  <a:srgbClr val="0B1F3A"/>
                </a:solidFill>
                <a:latin typeface="Calibri" pitchFamily="34" charset="0"/>
                <a:ea typeface="Calibri" pitchFamily="34" charset="-122"/>
                <a:cs typeface="Calibri" pitchFamily="34" charset="-120"/>
              </a:rPr>
              <a:t>bLength | bType | ...</a:t>
            </a:r>
            <a:endParaRPr lang="en-US" sz="900" dirty="0"/>
          </a:p>
        </p:txBody>
      </p:sp>
      <p:sp>
        <p:nvSpPr>
          <p:cNvPr id="14" name="Shape 11"/>
          <p:cNvSpPr/>
          <p:nvPr/>
        </p:nvSpPr>
        <p:spPr>
          <a:xfrm>
            <a:off x="7498080" y="2596896"/>
            <a:ext cx="0" cy="64008"/>
          </a:xfrm>
          <a:prstGeom prst="line">
            <a:avLst/>
          </a:prstGeom>
          <a:noFill/>
          <a:ln w="19050">
            <a:solidFill>
              <a:srgbClr val="5A6B7F"/>
            </a:solidFill>
            <a:prstDash val="solid"/>
            <a:tailEnd type="triangle"/>
          </a:ln>
        </p:spPr>
      </p:sp>
      <p:sp>
        <p:nvSpPr>
          <p:cNvPr id="15" name="Text 12"/>
          <p:cNvSpPr/>
          <p:nvPr/>
        </p:nvSpPr>
        <p:spPr>
          <a:xfrm>
            <a:off x="6126480" y="2660904"/>
            <a:ext cx="2743200" cy="50292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Geometry</a:t>
            </a:r>
            <a:endParaRPr lang="en-US" sz="900" dirty="0"/>
          </a:p>
          <a:p>
            <a:pPr marL="0" indent="0" algn="ctr">
              <a:buNone/>
            </a:pPr>
            <a:r>
              <a:rPr lang="en-US" sz="900" dirty="0">
                <a:solidFill>
                  <a:srgbClr val="0B1F3A"/>
                </a:solidFill>
                <a:latin typeface="Calibri" pitchFamily="34" charset="0"/>
                <a:ea typeface="Calibri" pitchFamily="34" charset="-122"/>
                <a:cs typeface="Calibri" pitchFamily="34" charset="-120"/>
              </a:rPr>
              <a:t>bLength | bType | ...</a:t>
            </a:r>
            <a:endParaRPr lang="en-US" sz="900" dirty="0"/>
          </a:p>
        </p:txBody>
      </p:sp>
      <p:sp>
        <p:nvSpPr>
          <p:cNvPr id="16" name="Text 13"/>
          <p:cNvSpPr txBox="1"/>
          <p:nvPr/>
        </p:nvSpPr>
        <p:spPr>
          <a:xfrm>
            <a:off x="6126480" y="3291840"/>
            <a:ext cx="2743200" cy="365760"/>
          </a:xfrm>
          <a:prstGeom prst="rect">
            <a:avLst/>
          </a:prstGeom>
          <a:noFill/>
          <a:ln/>
        </p:spPr>
        <p:txBody>
          <a:bodyPr wrap="square" lIns="25400" tIns="25400" rIns="25400" bIns="25400" rtlCol="0" anchor="t"/>
          <a:lstStyle/>
          <a:p>
            <a:pPr marL="0" indent="0">
              <a:buNone/>
            </a:pPr>
            <a:r>
              <a:rPr lang="en-US" sz="900" dirty="0">
                <a:solidFill>
                  <a:srgbClr val="222222"/>
                </a:solidFill>
                <a:latin typeface="Calibri" pitchFamily="34" charset="0"/>
                <a:ea typeface="Calibri" pitchFamily="34" charset="-122"/>
                <a:cs typeface="Calibri" pitchFamily="34" charset="-120"/>
              </a:rPr>
              <a:t>off += desc_len walks to the next descriptor</a:t>
            </a:r>
            <a:endParaRPr lang="en-US" sz="900" dirty="0"/>
          </a:p>
        </p:txBody>
      </p:sp>
      <p:sp>
        <p:nvSpPr>
          <p:cNvPr id="17" name="Text 14"/>
          <p:cNvSpPr txBox="1"/>
          <p:nvPr/>
        </p:nvSpPr>
        <p:spPr>
          <a:xfrm>
            <a:off x="274320" y="3703320"/>
            <a:ext cx="8595360" cy="914400"/>
          </a:xfrm>
          <a:prstGeom prst="rect">
            <a:avLst/>
          </a:prstGeom>
          <a:noFill/>
          <a:ln/>
        </p:spPr>
        <p:txBody>
          <a:bodyPr wrap="square" lIns="25400" tIns="25400" rIns="25400" bIns="25400" rtlCol="0" anchor="t"/>
          <a:lstStyle/>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IDN selects the type; for UNIT: IDN + unit index.</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Malformed length -&gt; break -&gt; NULL -&gt; fallback.</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ufshcd_agg_string()  and agg_str_idx[]</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6 Data Extraction</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21  |  Source: [PATCH v2 1/2], [PATCH v2 2/2]</a:t>
            </a:r>
            <a:endParaRPr lang="en-US" sz="800" dirty="0"/>
          </a:p>
        </p:txBody>
      </p:sp>
      <p:sp>
        <p:nvSpPr>
          <p:cNvPr id="7" name="Text 4"/>
          <p:cNvSpPr/>
          <p:nvPr/>
        </p:nvSpPr>
        <p:spPr>
          <a:xfrm>
            <a:off x="274320" y="731520"/>
            <a:ext cx="2194560" cy="41148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Device Descriptor</a:t>
            </a:r>
            <a:endParaRPr lang="en-US" sz="1000" dirty="0"/>
          </a:p>
        </p:txBody>
      </p:sp>
      <p:sp>
        <p:nvSpPr>
          <p:cNvPr id="8" name="Text 5"/>
          <p:cNvSpPr/>
          <p:nvPr/>
        </p:nvSpPr>
        <p:spPr>
          <a:xfrm>
            <a:off x="274320" y="1280160"/>
            <a:ext cx="2560320" cy="384048"/>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800" dirty="0">
                <a:solidFill>
                  <a:srgbClr val="0B1F3A"/>
                </a:solidFill>
                <a:latin typeface="Calibri" pitchFamily="34" charset="0"/>
                <a:ea typeface="Calibri" pitchFamily="34" charset="-122"/>
                <a:cs typeface="Calibri" pitchFamily="34" charset="-120"/>
              </a:rPr>
              <a:t>DEVICE_DESC_PARAM_MANF_NAME</a:t>
            </a:r>
            <a:endParaRPr lang="en-US" sz="800" dirty="0"/>
          </a:p>
        </p:txBody>
      </p:sp>
      <p:sp>
        <p:nvSpPr>
          <p:cNvPr id="9" name="Shape 6"/>
          <p:cNvSpPr/>
          <p:nvPr/>
        </p:nvSpPr>
        <p:spPr>
          <a:xfrm>
            <a:off x="2834640" y="1472184"/>
            <a:ext cx="457200" cy="0"/>
          </a:xfrm>
          <a:prstGeom prst="line">
            <a:avLst/>
          </a:prstGeom>
          <a:noFill/>
          <a:ln w="19050">
            <a:solidFill>
              <a:srgbClr val="5A6B7F"/>
            </a:solidFill>
            <a:prstDash val="solid"/>
            <a:tailEnd type="triangle"/>
          </a:ln>
        </p:spPr>
      </p:sp>
      <p:sp>
        <p:nvSpPr>
          <p:cNvPr id="10" name="Text 7"/>
          <p:cNvSpPr/>
          <p:nvPr/>
        </p:nvSpPr>
        <p:spPr>
          <a:xfrm>
            <a:off x="3291840" y="1280160"/>
            <a:ext cx="1737360" cy="384048"/>
          </a:xfrm>
          <a:prstGeom prst="rect">
            <a:avLst/>
          </a:prstGeom>
          <a:solidFill>
            <a:srgbClr val="F5A623"/>
          </a:solidFill>
          <a:ln w="12700">
            <a:solidFill>
              <a:srgbClr val="B8760C"/>
            </a:solidFill>
          </a:ln>
        </p:spPr>
        <p:txBody>
          <a:bodyPr wrap="square" lIns="38100" tIns="38100" rIns="38100" bIns="38100" rtlCol="0" anchor="ctr"/>
          <a:lstStyle/>
          <a:p>
            <a:pPr marL="0" indent="0" algn="ctr">
              <a:buNone/>
            </a:pPr>
            <a:r>
              <a:rPr lang="en-US" sz="800" dirty="0">
                <a:solidFill>
                  <a:srgbClr val="0B1F3A"/>
                </a:solidFill>
                <a:latin typeface="Consolas" pitchFamily="34" charset="0"/>
                <a:ea typeface="Consolas" pitchFamily="34" charset="-122"/>
                <a:cs typeface="Consolas" pitchFamily="34" charset="-120"/>
              </a:rPr>
              <a:t>agg_str_idx[0]</a:t>
            </a:r>
            <a:endParaRPr lang="en-US" sz="800" dirty="0"/>
          </a:p>
        </p:txBody>
      </p:sp>
      <p:sp>
        <p:nvSpPr>
          <p:cNvPr id="11" name="Shape 8"/>
          <p:cNvSpPr/>
          <p:nvPr/>
        </p:nvSpPr>
        <p:spPr>
          <a:xfrm>
            <a:off x="5029200" y="1472184"/>
            <a:ext cx="457200" cy="0"/>
          </a:xfrm>
          <a:prstGeom prst="line">
            <a:avLst/>
          </a:prstGeom>
          <a:noFill/>
          <a:ln w="19050">
            <a:solidFill>
              <a:srgbClr val="5A6B7F"/>
            </a:solidFill>
            <a:prstDash val="solid"/>
            <a:tailEnd type="triangle"/>
          </a:ln>
        </p:spPr>
      </p:sp>
      <p:sp>
        <p:nvSpPr>
          <p:cNvPr id="12" name="Text 9"/>
          <p:cNvSpPr/>
          <p:nvPr/>
        </p:nvSpPr>
        <p:spPr>
          <a:xfrm>
            <a:off x="5486400" y="1280160"/>
            <a:ext cx="2377440" cy="384048"/>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800" dirty="0">
                <a:solidFill>
                  <a:srgbClr val="0B1F3A"/>
                </a:solidFill>
                <a:latin typeface="Calibri" pitchFamily="34" charset="0"/>
                <a:ea typeface="Calibri" pitchFamily="34" charset="-122"/>
                <a:cs typeface="Calibri" pitchFamily="34" charset="-120"/>
              </a:rPr>
              <a:t>MANUFACTURER_STR 0x04</a:t>
            </a:r>
            <a:endParaRPr lang="en-US" sz="800" dirty="0"/>
          </a:p>
        </p:txBody>
      </p:sp>
      <p:sp>
        <p:nvSpPr>
          <p:cNvPr id="13" name="Text 10"/>
          <p:cNvSpPr/>
          <p:nvPr/>
        </p:nvSpPr>
        <p:spPr>
          <a:xfrm>
            <a:off x="274320" y="1783080"/>
            <a:ext cx="2560320" cy="384048"/>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800" dirty="0">
                <a:solidFill>
                  <a:srgbClr val="0B1F3A"/>
                </a:solidFill>
                <a:latin typeface="Calibri" pitchFamily="34" charset="0"/>
                <a:ea typeface="Calibri" pitchFamily="34" charset="-122"/>
                <a:cs typeface="Calibri" pitchFamily="34" charset="-120"/>
              </a:rPr>
              <a:t>..._PRDCT_NAME</a:t>
            </a:r>
            <a:endParaRPr lang="en-US" sz="800" dirty="0"/>
          </a:p>
        </p:txBody>
      </p:sp>
      <p:sp>
        <p:nvSpPr>
          <p:cNvPr id="14" name="Shape 11"/>
          <p:cNvSpPr/>
          <p:nvPr/>
        </p:nvSpPr>
        <p:spPr>
          <a:xfrm>
            <a:off x="2834640" y="1975104"/>
            <a:ext cx="457200" cy="0"/>
          </a:xfrm>
          <a:prstGeom prst="line">
            <a:avLst/>
          </a:prstGeom>
          <a:noFill/>
          <a:ln w="19050">
            <a:solidFill>
              <a:srgbClr val="5A6B7F"/>
            </a:solidFill>
            <a:prstDash val="solid"/>
            <a:tailEnd type="triangle"/>
          </a:ln>
        </p:spPr>
      </p:sp>
      <p:sp>
        <p:nvSpPr>
          <p:cNvPr id="15" name="Text 12"/>
          <p:cNvSpPr/>
          <p:nvPr/>
        </p:nvSpPr>
        <p:spPr>
          <a:xfrm>
            <a:off x="3291840" y="1783080"/>
            <a:ext cx="1737360" cy="384048"/>
          </a:xfrm>
          <a:prstGeom prst="rect">
            <a:avLst/>
          </a:prstGeom>
          <a:solidFill>
            <a:srgbClr val="F5A623"/>
          </a:solidFill>
          <a:ln w="12700">
            <a:solidFill>
              <a:srgbClr val="B8760C"/>
            </a:solidFill>
          </a:ln>
        </p:spPr>
        <p:txBody>
          <a:bodyPr wrap="square" lIns="38100" tIns="38100" rIns="38100" bIns="38100" rtlCol="0" anchor="ctr"/>
          <a:lstStyle/>
          <a:p>
            <a:pPr marL="0" indent="0" algn="ctr">
              <a:buNone/>
            </a:pPr>
            <a:r>
              <a:rPr lang="en-US" sz="800" dirty="0">
                <a:solidFill>
                  <a:srgbClr val="0B1F3A"/>
                </a:solidFill>
                <a:latin typeface="Consolas" pitchFamily="34" charset="0"/>
                <a:ea typeface="Consolas" pitchFamily="34" charset="-122"/>
                <a:cs typeface="Consolas" pitchFamily="34" charset="-120"/>
              </a:rPr>
              <a:t>agg_str_idx[1]</a:t>
            </a:r>
            <a:endParaRPr lang="en-US" sz="800" dirty="0"/>
          </a:p>
        </p:txBody>
      </p:sp>
      <p:sp>
        <p:nvSpPr>
          <p:cNvPr id="16" name="Shape 13"/>
          <p:cNvSpPr/>
          <p:nvPr/>
        </p:nvSpPr>
        <p:spPr>
          <a:xfrm>
            <a:off x="5029200" y="1975104"/>
            <a:ext cx="457200" cy="0"/>
          </a:xfrm>
          <a:prstGeom prst="line">
            <a:avLst/>
          </a:prstGeom>
          <a:noFill/>
          <a:ln w="19050">
            <a:solidFill>
              <a:srgbClr val="5A6B7F"/>
            </a:solidFill>
            <a:prstDash val="solid"/>
            <a:tailEnd type="triangle"/>
          </a:ln>
        </p:spPr>
      </p:sp>
      <p:sp>
        <p:nvSpPr>
          <p:cNvPr id="17" name="Text 14"/>
          <p:cNvSpPr/>
          <p:nvPr/>
        </p:nvSpPr>
        <p:spPr>
          <a:xfrm>
            <a:off x="5486400" y="1783080"/>
            <a:ext cx="2377440" cy="384048"/>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800" dirty="0">
                <a:solidFill>
                  <a:srgbClr val="0B1F3A"/>
                </a:solidFill>
                <a:latin typeface="Calibri" pitchFamily="34" charset="0"/>
                <a:ea typeface="Calibri" pitchFamily="34" charset="-122"/>
                <a:cs typeface="Calibri" pitchFamily="34" charset="-120"/>
              </a:rPr>
              <a:t>PRODUCT_NAME_STR 0x05</a:t>
            </a:r>
            <a:endParaRPr lang="en-US" sz="800" dirty="0"/>
          </a:p>
        </p:txBody>
      </p:sp>
      <p:sp>
        <p:nvSpPr>
          <p:cNvPr id="18" name="Text 15"/>
          <p:cNvSpPr/>
          <p:nvPr/>
        </p:nvSpPr>
        <p:spPr>
          <a:xfrm>
            <a:off x="274320" y="2286000"/>
            <a:ext cx="2560320" cy="384048"/>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800" dirty="0">
                <a:solidFill>
                  <a:srgbClr val="0B1F3A"/>
                </a:solidFill>
                <a:latin typeface="Calibri" pitchFamily="34" charset="0"/>
                <a:ea typeface="Calibri" pitchFamily="34" charset="-122"/>
                <a:cs typeface="Calibri" pitchFamily="34" charset="-120"/>
              </a:rPr>
              <a:t>..._OEM_ID</a:t>
            </a:r>
            <a:endParaRPr lang="en-US" sz="800" dirty="0"/>
          </a:p>
        </p:txBody>
      </p:sp>
      <p:sp>
        <p:nvSpPr>
          <p:cNvPr id="19" name="Shape 16"/>
          <p:cNvSpPr/>
          <p:nvPr/>
        </p:nvSpPr>
        <p:spPr>
          <a:xfrm>
            <a:off x="2834640" y="2478024"/>
            <a:ext cx="457200" cy="0"/>
          </a:xfrm>
          <a:prstGeom prst="line">
            <a:avLst/>
          </a:prstGeom>
          <a:noFill/>
          <a:ln w="19050">
            <a:solidFill>
              <a:srgbClr val="5A6B7F"/>
            </a:solidFill>
            <a:prstDash val="solid"/>
            <a:tailEnd type="triangle"/>
          </a:ln>
        </p:spPr>
      </p:sp>
      <p:sp>
        <p:nvSpPr>
          <p:cNvPr id="20" name="Text 17"/>
          <p:cNvSpPr/>
          <p:nvPr/>
        </p:nvSpPr>
        <p:spPr>
          <a:xfrm>
            <a:off x="3291840" y="2286000"/>
            <a:ext cx="1737360" cy="384048"/>
          </a:xfrm>
          <a:prstGeom prst="rect">
            <a:avLst/>
          </a:prstGeom>
          <a:solidFill>
            <a:srgbClr val="F5A623"/>
          </a:solidFill>
          <a:ln w="12700">
            <a:solidFill>
              <a:srgbClr val="B8760C"/>
            </a:solidFill>
          </a:ln>
        </p:spPr>
        <p:txBody>
          <a:bodyPr wrap="square" lIns="38100" tIns="38100" rIns="38100" bIns="38100" rtlCol="0" anchor="ctr"/>
          <a:lstStyle/>
          <a:p>
            <a:pPr marL="0" indent="0" algn="ctr">
              <a:buNone/>
            </a:pPr>
            <a:r>
              <a:rPr lang="en-US" sz="800" dirty="0">
                <a:solidFill>
                  <a:srgbClr val="0B1F3A"/>
                </a:solidFill>
                <a:latin typeface="Consolas" pitchFamily="34" charset="0"/>
                <a:ea typeface="Consolas" pitchFamily="34" charset="-122"/>
                <a:cs typeface="Consolas" pitchFamily="34" charset="-120"/>
              </a:rPr>
              <a:t>agg_str_idx[2]</a:t>
            </a:r>
            <a:endParaRPr lang="en-US" sz="800" dirty="0"/>
          </a:p>
        </p:txBody>
      </p:sp>
      <p:sp>
        <p:nvSpPr>
          <p:cNvPr id="21" name="Shape 18"/>
          <p:cNvSpPr/>
          <p:nvPr/>
        </p:nvSpPr>
        <p:spPr>
          <a:xfrm>
            <a:off x="5029200" y="2478024"/>
            <a:ext cx="457200" cy="0"/>
          </a:xfrm>
          <a:prstGeom prst="line">
            <a:avLst/>
          </a:prstGeom>
          <a:noFill/>
          <a:ln w="19050">
            <a:solidFill>
              <a:srgbClr val="5A6B7F"/>
            </a:solidFill>
            <a:prstDash val="solid"/>
            <a:tailEnd type="triangle"/>
          </a:ln>
        </p:spPr>
      </p:sp>
      <p:sp>
        <p:nvSpPr>
          <p:cNvPr id="22" name="Text 19"/>
          <p:cNvSpPr/>
          <p:nvPr/>
        </p:nvSpPr>
        <p:spPr>
          <a:xfrm>
            <a:off x="5486400" y="2286000"/>
            <a:ext cx="2377440" cy="384048"/>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800" dirty="0">
                <a:solidFill>
                  <a:srgbClr val="0B1F3A"/>
                </a:solidFill>
                <a:latin typeface="Calibri" pitchFamily="34" charset="0"/>
                <a:ea typeface="Calibri" pitchFamily="34" charset="-122"/>
                <a:cs typeface="Calibri" pitchFamily="34" charset="-120"/>
              </a:rPr>
              <a:t>OEM_ID_STR 0x06</a:t>
            </a:r>
            <a:endParaRPr lang="en-US" sz="800" dirty="0"/>
          </a:p>
        </p:txBody>
      </p:sp>
      <p:sp>
        <p:nvSpPr>
          <p:cNvPr id="23" name="Text 20"/>
          <p:cNvSpPr/>
          <p:nvPr/>
        </p:nvSpPr>
        <p:spPr>
          <a:xfrm>
            <a:off x="274320" y="2788920"/>
            <a:ext cx="2560320" cy="384048"/>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800" dirty="0">
                <a:solidFill>
                  <a:srgbClr val="0B1F3A"/>
                </a:solidFill>
                <a:latin typeface="Calibri" pitchFamily="34" charset="0"/>
                <a:ea typeface="Calibri" pitchFamily="34" charset="-122"/>
                <a:cs typeface="Calibri" pitchFamily="34" charset="-120"/>
              </a:rPr>
              <a:t>..._SN</a:t>
            </a:r>
            <a:endParaRPr lang="en-US" sz="800" dirty="0"/>
          </a:p>
        </p:txBody>
      </p:sp>
      <p:sp>
        <p:nvSpPr>
          <p:cNvPr id="24" name="Shape 21"/>
          <p:cNvSpPr/>
          <p:nvPr/>
        </p:nvSpPr>
        <p:spPr>
          <a:xfrm>
            <a:off x="2834640" y="2980944"/>
            <a:ext cx="457200" cy="0"/>
          </a:xfrm>
          <a:prstGeom prst="line">
            <a:avLst/>
          </a:prstGeom>
          <a:noFill/>
          <a:ln w="19050">
            <a:solidFill>
              <a:srgbClr val="5A6B7F"/>
            </a:solidFill>
            <a:prstDash val="solid"/>
            <a:tailEnd type="triangle"/>
          </a:ln>
        </p:spPr>
      </p:sp>
      <p:sp>
        <p:nvSpPr>
          <p:cNvPr id="25" name="Text 22"/>
          <p:cNvSpPr/>
          <p:nvPr/>
        </p:nvSpPr>
        <p:spPr>
          <a:xfrm>
            <a:off x="3291840" y="2788920"/>
            <a:ext cx="1737360" cy="384048"/>
          </a:xfrm>
          <a:prstGeom prst="rect">
            <a:avLst/>
          </a:prstGeom>
          <a:solidFill>
            <a:srgbClr val="F5A623"/>
          </a:solidFill>
          <a:ln w="12700">
            <a:solidFill>
              <a:srgbClr val="B8760C"/>
            </a:solidFill>
          </a:ln>
        </p:spPr>
        <p:txBody>
          <a:bodyPr wrap="square" lIns="38100" tIns="38100" rIns="38100" bIns="38100" rtlCol="0" anchor="ctr"/>
          <a:lstStyle/>
          <a:p>
            <a:pPr marL="0" indent="0" algn="ctr">
              <a:buNone/>
            </a:pPr>
            <a:r>
              <a:rPr lang="en-US" sz="800" dirty="0">
                <a:solidFill>
                  <a:srgbClr val="0B1F3A"/>
                </a:solidFill>
                <a:latin typeface="Consolas" pitchFamily="34" charset="0"/>
                <a:ea typeface="Consolas" pitchFamily="34" charset="-122"/>
                <a:cs typeface="Consolas" pitchFamily="34" charset="-120"/>
              </a:rPr>
              <a:t>agg_str_idx[3]</a:t>
            </a:r>
            <a:endParaRPr lang="en-US" sz="800" dirty="0"/>
          </a:p>
        </p:txBody>
      </p:sp>
      <p:sp>
        <p:nvSpPr>
          <p:cNvPr id="26" name="Shape 23"/>
          <p:cNvSpPr/>
          <p:nvPr/>
        </p:nvSpPr>
        <p:spPr>
          <a:xfrm>
            <a:off x="5029200" y="2980944"/>
            <a:ext cx="457200" cy="0"/>
          </a:xfrm>
          <a:prstGeom prst="line">
            <a:avLst/>
          </a:prstGeom>
          <a:noFill/>
          <a:ln w="19050">
            <a:solidFill>
              <a:srgbClr val="5A6B7F"/>
            </a:solidFill>
            <a:prstDash val="solid"/>
            <a:tailEnd type="triangle"/>
          </a:ln>
        </p:spPr>
      </p:sp>
      <p:sp>
        <p:nvSpPr>
          <p:cNvPr id="27" name="Text 24"/>
          <p:cNvSpPr/>
          <p:nvPr/>
        </p:nvSpPr>
        <p:spPr>
          <a:xfrm>
            <a:off x="5486400" y="2788920"/>
            <a:ext cx="2377440" cy="384048"/>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800" dirty="0">
                <a:solidFill>
                  <a:srgbClr val="0B1F3A"/>
                </a:solidFill>
                <a:latin typeface="Calibri" pitchFamily="34" charset="0"/>
                <a:ea typeface="Calibri" pitchFamily="34" charset="-122"/>
                <a:cs typeface="Calibri" pitchFamily="34" charset="-120"/>
              </a:rPr>
              <a:t>SERIAL_NUMBER_STR 0x07</a:t>
            </a:r>
            <a:endParaRPr lang="en-US" sz="800" dirty="0"/>
          </a:p>
        </p:txBody>
      </p:sp>
      <p:sp>
        <p:nvSpPr>
          <p:cNvPr id="28" name="Text 25"/>
          <p:cNvSpPr/>
          <p:nvPr/>
        </p:nvSpPr>
        <p:spPr>
          <a:xfrm>
            <a:off x="274320" y="3291840"/>
            <a:ext cx="2560320" cy="384048"/>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800" dirty="0">
                <a:solidFill>
                  <a:srgbClr val="0B1F3A"/>
                </a:solidFill>
                <a:latin typeface="Calibri" pitchFamily="34" charset="0"/>
                <a:ea typeface="Calibri" pitchFamily="34" charset="-122"/>
                <a:cs typeface="Calibri" pitchFamily="34" charset="-120"/>
              </a:rPr>
              <a:t>..._PRDCT_REV</a:t>
            </a:r>
            <a:endParaRPr lang="en-US" sz="800" dirty="0"/>
          </a:p>
        </p:txBody>
      </p:sp>
      <p:sp>
        <p:nvSpPr>
          <p:cNvPr id="29" name="Shape 26"/>
          <p:cNvSpPr/>
          <p:nvPr/>
        </p:nvSpPr>
        <p:spPr>
          <a:xfrm>
            <a:off x="2834640" y="3483864"/>
            <a:ext cx="457200" cy="0"/>
          </a:xfrm>
          <a:prstGeom prst="line">
            <a:avLst/>
          </a:prstGeom>
          <a:noFill/>
          <a:ln w="19050">
            <a:solidFill>
              <a:srgbClr val="5A6B7F"/>
            </a:solidFill>
            <a:prstDash val="solid"/>
            <a:tailEnd type="triangle"/>
          </a:ln>
        </p:spPr>
      </p:sp>
      <p:sp>
        <p:nvSpPr>
          <p:cNvPr id="30" name="Text 27"/>
          <p:cNvSpPr/>
          <p:nvPr/>
        </p:nvSpPr>
        <p:spPr>
          <a:xfrm>
            <a:off x="3291840" y="3291840"/>
            <a:ext cx="1737360" cy="384048"/>
          </a:xfrm>
          <a:prstGeom prst="rect">
            <a:avLst/>
          </a:prstGeom>
          <a:solidFill>
            <a:srgbClr val="F5A623"/>
          </a:solidFill>
          <a:ln w="12700">
            <a:solidFill>
              <a:srgbClr val="B8760C"/>
            </a:solidFill>
          </a:ln>
        </p:spPr>
        <p:txBody>
          <a:bodyPr wrap="square" lIns="38100" tIns="38100" rIns="38100" bIns="38100" rtlCol="0" anchor="ctr"/>
          <a:lstStyle/>
          <a:p>
            <a:pPr marL="0" indent="0" algn="ctr">
              <a:buNone/>
            </a:pPr>
            <a:r>
              <a:rPr lang="en-US" sz="800" dirty="0">
                <a:solidFill>
                  <a:srgbClr val="0B1F3A"/>
                </a:solidFill>
                <a:latin typeface="Consolas" pitchFamily="34" charset="0"/>
                <a:ea typeface="Consolas" pitchFamily="34" charset="-122"/>
                <a:cs typeface="Consolas" pitchFamily="34" charset="-120"/>
              </a:rPr>
              <a:t>agg_str_idx[4]</a:t>
            </a:r>
            <a:endParaRPr lang="en-US" sz="800" dirty="0"/>
          </a:p>
        </p:txBody>
      </p:sp>
      <p:sp>
        <p:nvSpPr>
          <p:cNvPr id="31" name="Shape 28"/>
          <p:cNvSpPr/>
          <p:nvPr/>
        </p:nvSpPr>
        <p:spPr>
          <a:xfrm>
            <a:off x="5029200" y="3483864"/>
            <a:ext cx="457200" cy="0"/>
          </a:xfrm>
          <a:prstGeom prst="line">
            <a:avLst/>
          </a:prstGeom>
          <a:noFill/>
          <a:ln w="19050">
            <a:solidFill>
              <a:srgbClr val="5A6B7F"/>
            </a:solidFill>
            <a:prstDash val="solid"/>
            <a:tailEnd type="triangle"/>
          </a:ln>
        </p:spPr>
      </p:sp>
      <p:sp>
        <p:nvSpPr>
          <p:cNvPr id="32" name="Text 29"/>
          <p:cNvSpPr/>
          <p:nvPr/>
        </p:nvSpPr>
        <p:spPr>
          <a:xfrm>
            <a:off x="5486400" y="3291840"/>
            <a:ext cx="2377440" cy="384048"/>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800" dirty="0">
                <a:solidFill>
                  <a:srgbClr val="0B1F3A"/>
                </a:solidFill>
                <a:latin typeface="Calibri" pitchFamily="34" charset="0"/>
                <a:ea typeface="Calibri" pitchFamily="34" charset="-122"/>
                <a:cs typeface="Calibri" pitchFamily="34" charset="-120"/>
              </a:rPr>
              <a:t>PRODUCT_REV_STR 0x08</a:t>
            </a:r>
            <a:endParaRPr lang="en-US" sz="800" dirty="0"/>
          </a:p>
        </p:txBody>
      </p:sp>
      <p:sp>
        <p:nvSpPr>
          <p:cNvPr id="33" name="Text 30"/>
          <p:cNvSpPr txBox="1"/>
          <p:nvPr/>
        </p:nvSpPr>
        <p:spPr>
          <a:xfrm>
            <a:off x="274320" y="3840480"/>
            <a:ext cx="8595360" cy="685800"/>
          </a:xfrm>
          <a:prstGeom prst="rect">
            <a:avLst/>
          </a:prstGeom>
          <a:solidFill>
            <a:srgbClr val="12233F"/>
          </a:solidFill>
          <a:ln w="12700">
            <a:solidFill>
              <a:srgbClr val="1F4E8C"/>
            </a:solidFill>
          </a:ln>
        </p:spPr>
        <p:txBody>
          <a:bodyPr wrap="square" lIns="76200" tIns="76200" rIns="76200" bIns="76200" rtlCol="0" anchor="t"/>
          <a:lstStyle/>
          <a:p>
            <a:pPr marL="0" indent="0">
              <a:buNone/>
            </a:pPr>
            <a:r>
              <a:rPr lang="en-US" sz="850" dirty="0">
                <a:solidFill>
                  <a:srgbClr val="E6EDF7"/>
                </a:solidFill>
                <a:latin typeface="Consolas" pitchFamily="34" charset="0"/>
                <a:ea typeface="Consolas" pitchFamily="34" charset="-122"/>
                <a:cs typeface="Consolas" pitchFamily="34" charset="-120"/>
              </a:rPr>
              <a:t>for (i = 0; i &lt; ARRAY_SIZE(hba-&gt;agg_str_idx); i++)</a:t>
            </a:r>
            <a:endParaRPr lang="en-US" sz="850" dirty="0"/>
          </a:p>
          <a:p>
            <a:pPr marL="0" indent="0">
              <a:buNone/>
            </a:pPr>
            <a:r>
              <a:rPr lang="en-US" sz="850" dirty="0">
                <a:solidFill>
                  <a:srgbClr val="E6EDF7"/>
                </a:solidFill>
                <a:latin typeface="Consolas" pitchFamily="34" charset="0"/>
                <a:ea typeface="Consolas" pitchFamily="34" charset="-122"/>
                <a:cs typeface="Consolas" pitchFamily="34" charset="-120"/>
              </a:rPr>
              <a:t>    if (hba-&gt;agg_str_idx[i] == index) break;</a:t>
            </a:r>
            <a:endParaRPr lang="en-US" sz="850" dirty="0"/>
          </a:p>
          <a:p>
            <a:pPr marL="0" indent="0">
              <a:buNone/>
            </a:pPr>
            <a:r>
              <a:rPr lang="en-US" sz="850" dirty="0">
                <a:solidFill>
                  <a:srgbClr val="E6EDF7"/>
                </a:solidFill>
                <a:latin typeface="Consolas" pitchFamily="34" charset="0"/>
                <a:ea typeface="Consolas" pitchFamily="34" charset="-122"/>
                <a:cs typeface="Consolas" pitchFamily="34" charset="-120"/>
              </a:rPr>
              <a:t>group_buf = ufshcd_agg_group(hba, UFS_AGG_GROUP_MANUFACTURER_STR + i, &amp;group_len);</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ufshcd_read_attr()  - abstraction + fallback</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7 Fallback / Integration</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22  |  Source: [PATCH v2 1/2], [PATCH v2 2/2]</a:t>
            </a:r>
            <a:endParaRPr lang="en-US" sz="800" dirty="0"/>
          </a:p>
        </p:txBody>
      </p:sp>
      <p:sp>
        <p:nvSpPr>
          <p:cNvPr id="7" name="Text 4"/>
          <p:cNvSpPr txBox="1"/>
          <p:nvPr/>
        </p:nvSpPr>
        <p:spPr>
          <a:xfrm>
            <a:off x="274320" y="685800"/>
            <a:ext cx="8595360" cy="1280160"/>
          </a:xfrm>
          <a:prstGeom prst="rect">
            <a:avLst/>
          </a:prstGeom>
          <a:solidFill>
            <a:srgbClr val="12233F"/>
          </a:solidFill>
          <a:ln w="12700">
            <a:solidFill>
              <a:srgbClr val="1F4E8C"/>
            </a:solidFill>
          </a:ln>
        </p:spPr>
        <p:txBody>
          <a:bodyPr wrap="square" lIns="76200" tIns="76200" rIns="76200" bIns="76200" rtlCol="0" anchor="t"/>
          <a:lstStyle/>
          <a:p>
            <a:pPr marL="0" indent="0">
              <a:buNone/>
            </a:pPr>
            <a:r>
              <a:rPr lang="en-US" sz="900" dirty="0">
                <a:solidFill>
                  <a:srgbClr val="E6EDF7"/>
                </a:solidFill>
                <a:latin typeface="Consolas" pitchFamily="34" charset="0"/>
                <a:ea typeface="Consolas" pitchFamily="34" charset="-122"/>
                <a:cs typeface="Consolas" pitchFamily="34" charset="-120"/>
              </a:rPr>
              <a:t>static int ufshcd_read_attr(struct ufs_hba *hba, u8 idn, u8 index, u32 *out)</a:t>
            </a:r>
            <a:endParaRPr lang="en-US" sz="900" dirty="0"/>
          </a:p>
          <a:p>
            <a:pPr marL="0" indent="0">
              <a:buNone/>
            </a:pPr>
            <a:r>
              <a:rPr lang="en-US" sz="900" dirty="0">
                <a:solidFill>
                  <a:srgbClr val="E6EDF7"/>
                </a:solidFill>
                <a:latin typeface="Consolas" pitchFamily="34" charset="0"/>
                <a:ea typeface="Consolas" pitchFamily="34" charset="-122"/>
                <a:cs typeface="Consolas" pitchFamily="34" charset="-120"/>
              </a:rPr>
              <a:t>{</a:t>
            </a:r>
            <a:endParaRPr lang="en-US" sz="900" dirty="0"/>
          </a:p>
          <a:p>
            <a:pPr marL="0" indent="0">
              <a:buNone/>
            </a:pPr>
            <a:r>
              <a:rPr lang="en-US" sz="900" dirty="0">
                <a:solidFill>
                  <a:srgbClr val="E6EDF7"/>
                </a:solidFill>
                <a:highlight>
                  <a:srgbClr val="7A5A00"/>
                </a:highlight>
                <a:latin typeface="Consolas" pitchFamily="34" charset="0"/>
                <a:ea typeface="Consolas" pitchFamily="34" charset="-122"/>
                <a:cs typeface="Consolas" pitchFamily="34" charset="-120"/>
              </a:rPr>
              <a:t>    if (index == 0 &amp;&amp; !ufshcd_agg_attr(hba, idn, out))</a:t>
            </a:r>
            <a:endParaRPr lang="en-US" sz="900" dirty="0"/>
          </a:p>
          <a:p>
            <a:pPr marL="0" indent="0">
              <a:buNone/>
            </a:pPr>
            <a:r>
              <a:rPr lang="en-US" sz="900" dirty="0">
                <a:solidFill>
                  <a:srgbClr val="E6EDF7"/>
                </a:solidFill>
                <a:highlight>
                  <a:srgbClr val="7A5A00"/>
                </a:highlight>
                <a:latin typeface="Consolas" pitchFamily="34" charset="0"/>
                <a:ea typeface="Consolas" pitchFamily="34" charset="-122"/>
                <a:cs typeface="Consolas" pitchFamily="34" charset="-120"/>
              </a:rPr>
              <a:t>        return 0;</a:t>
            </a:r>
            <a:endParaRPr lang="en-US" sz="900" dirty="0"/>
          </a:p>
          <a:p>
            <a:pPr marL="0" indent="0">
              <a:buNone/>
            </a:pPr>
            <a:r>
              <a:rPr lang="en-US" sz="900" dirty="0">
                <a:solidFill>
                  <a:srgbClr val="E6EDF7"/>
                </a:solidFill>
                <a:latin typeface="Consolas" pitchFamily="34" charset="0"/>
                <a:ea typeface="Consolas" pitchFamily="34" charset="-122"/>
                <a:cs typeface="Consolas" pitchFamily="34" charset="-120"/>
              </a:rPr>
              <a:t>    return ufshcd_query_attr_retry(hba, UPIU_QUERY_OPCODE_READ_ATTR,</a:t>
            </a:r>
            <a:endParaRPr lang="en-US" sz="900" dirty="0"/>
          </a:p>
          <a:p>
            <a:pPr marL="0" indent="0">
              <a:buNone/>
            </a:pPr>
            <a:r>
              <a:rPr lang="en-US" sz="900" dirty="0">
                <a:solidFill>
                  <a:srgbClr val="E6EDF7"/>
                </a:solidFill>
                <a:latin typeface="Consolas" pitchFamily="34" charset="0"/>
                <a:ea typeface="Consolas" pitchFamily="34" charset="-122"/>
                <a:cs typeface="Consolas" pitchFamily="34" charset="-120"/>
              </a:rPr>
              <a:t>                                   idn, index, 0, out);</a:t>
            </a:r>
            <a:endParaRPr lang="en-US" sz="900" dirty="0"/>
          </a:p>
          <a:p>
            <a:pPr marL="0" indent="0">
              <a:buNone/>
            </a:pPr>
            <a:r>
              <a:rPr lang="en-US" sz="900" dirty="0">
                <a:solidFill>
                  <a:srgbClr val="E6EDF7"/>
                </a:solidFill>
                <a:latin typeface="Consolas" pitchFamily="34" charset="0"/>
                <a:ea typeface="Consolas" pitchFamily="34" charset="-122"/>
                <a:cs typeface="Consolas" pitchFamily="34" charset="-120"/>
              </a:rPr>
              <a:t>}</a:t>
            </a:r>
            <a:endParaRPr lang="en-US" sz="900" dirty="0"/>
          </a:p>
        </p:txBody>
      </p:sp>
      <p:sp>
        <p:nvSpPr>
          <p:cNvPr id="8" name="Text 5"/>
          <p:cNvSpPr/>
          <p:nvPr/>
        </p:nvSpPr>
        <p:spPr>
          <a:xfrm>
            <a:off x="3474720" y="2103120"/>
            <a:ext cx="2194560" cy="36576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ufshcd_read_attr()</a:t>
            </a:r>
            <a:endParaRPr lang="en-US" sz="1000" dirty="0"/>
          </a:p>
        </p:txBody>
      </p:sp>
      <p:sp>
        <p:nvSpPr>
          <p:cNvPr id="9" name="Shape 6"/>
          <p:cNvSpPr/>
          <p:nvPr/>
        </p:nvSpPr>
        <p:spPr>
          <a:xfrm>
            <a:off x="4572000" y="2468880"/>
            <a:ext cx="0" cy="182880"/>
          </a:xfrm>
          <a:prstGeom prst="line">
            <a:avLst/>
          </a:prstGeom>
          <a:noFill/>
          <a:ln w="19050">
            <a:solidFill>
              <a:srgbClr val="5A6B7F"/>
            </a:solidFill>
            <a:prstDash val="solid"/>
            <a:tailEnd type="triangle"/>
          </a:ln>
        </p:spPr>
      </p:sp>
      <p:sp>
        <p:nvSpPr>
          <p:cNvPr id="10" name="Text 7"/>
          <p:cNvSpPr/>
          <p:nvPr/>
        </p:nvSpPr>
        <p:spPr>
          <a:xfrm>
            <a:off x="3474720" y="2651760"/>
            <a:ext cx="2194560" cy="36576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index == 0 ?</a:t>
            </a:r>
            <a:endParaRPr lang="en-US" sz="1000" dirty="0"/>
          </a:p>
        </p:txBody>
      </p:sp>
      <p:sp>
        <p:nvSpPr>
          <p:cNvPr id="11" name="Shape 8"/>
          <p:cNvSpPr/>
          <p:nvPr/>
        </p:nvSpPr>
        <p:spPr>
          <a:xfrm flipH="1">
            <a:off x="1828800" y="2834640"/>
            <a:ext cx="1645920" cy="365760"/>
          </a:xfrm>
          <a:prstGeom prst="line">
            <a:avLst/>
          </a:prstGeom>
          <a:noFill/>
          <a:ln w="19050">
            <a:solidFill>
              <a:srgbClr val="5A6B7F"/>
            </a:solidFill>
            <a:prstDash val="solid"/>
            <a:tailEnd type="triangle"/>
          </a:ln>
        </p:spPr>
      </p:sp>
      <p:sp>
        <p:nvSpPr>
          <p:cNvPr id="12" name="Shape 9"/>
          <p:cNvSpPr/>
          <p:nvPr/>
        </p:nvSpPr>
        <p:spPr>
          <a:xfrm>
            <a:off x="5669280" y="2834640"/>
            <a:ext cx="1645920" cy="365760"/>
          </a:xfrm>
          <a:prstGeom prst="line">
            <a:avLst/>
          </a:prstGeom>
          <a:noFill/>
          <a:ln w="19050">
            <a:solidFill>
              <a:srgbClr val="5A6B7F"/>
            </a:solidFill>
            <a:prstDash val="solid"/>
            <a:tailEnd type="triangle"/>
          </a:ln>
        </p:spPr>
      </p:sp>
      <p:sp>
        <p:nvSpPr>
          <p:cNvPr id="13" name="Text 10"/>
          <p:cNvSpPr/>
          <p:nvPr/>
        </p:nvSpPr>
        <p:spPr>
          <a:xfrm>
            <a:off x="731520" y="3200400"/>
            <a:ext cx="2377440" cy="50292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YES: ufshcd_agg_attr()</a:t>
            </a:r>
            <a:endParaRPr lang="en-US" sz="1000" dirty="0"/>
          </a:p>
          <a:p>
            <a:pPr marL="0" indent="0" algn="ctr">
              <a:buNone/>
            </a:pPr>
            <a:r>
              <a:rPr lang="en-US" sz="1000" dirty="0">
                <a:solidFill>
                  <a:srgbClr val="0B1F3A"/>
                </a:solidFill>
                <a:latin typeface="Calibri" pitchFamily="34" charset="0"/>
                <a:ea typeface="Calibri" pitchFamily="34" charset="-122"/>
                <a:cs typeface="Calibri" pitchFamily="34" charset="-120"/>
              </a:rPr>
              <a:t>hit -&gt; return 0</a:t>
            </a:r>
            <a:endParaRPr lang="en-US" sz="1000" dirty="0"/>
          </a:p>
        </p:txBody>
      </p:sp>
      <p:sp>
        <p:nvSpPr>
          <p:cNvPr id="14" name="Text 11"/>
          <p:cNvSpPr/>
          <p:nvPr/>
        </p:nvSpPr>
        <p:spPr>
          <a:xfrm>
            <a:off x="6035040" y="3200400"/>
            <a:ext cx="2743200" cy="502920"/>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NO, or miss -&gt; normal QUERY ATTR</a:t>
            </a:r>
            <a:endParaRPr lang="en-US" sz="1000" dirty="0"/>
          </a:p>
          <a:p>
            <a:pPr marL="0" indent="0" algn="ctr">
              <a:buNone/>
            </a:pPr>
            <a:r>
              <a:rPr lang="en-US" sz="1000" dirty="0">
                <a:solidFill>
                  <a:srgbClr val="0B1F3A"/>
                </a:solidFill>
                <a:latin typeface="Calibri" pitchFamily="34" charset="0"/>
                <a:ea typeface="Calibri" pitchFamily="34" charset="-122"/>
                <a:cs typeface="Calibri" pitchFamily="34" charset="-120"/>
              </a:rPr>
              <a:t>(ufshcd_query_attr_retry)</a:t>
            </a:r>
            <a:endParaRPr lang="en-US" sz="1000" dirty="0"/>
          </a:p>
        </p:txBody>
      </p:sp>
      <p:sp>
        <p:nvSpPr>
          <p:cNvPr id="15" name="Shape 12"/>
          <p:cNvSpPr/>
          <p:nvPr/>
        </p:nvSpPr>
        <p:spPr>
          <a:xfrm flipV="1">
            <a:off x="1920240" y="3474720"/>
            <a:ext cx="4114800" cy="228600"/>
          </a:xfrm>
          <a:prstGeom prst="line">
            <a:avLst/>
          </a:prstGeom>
          <a:noFill/>
          <a:ln w="19050">
            <a:solidFill>
              <a:srgbClr val="5A6B7F"/>
            </a:solidFill>
            <a:prstDash val="solid"/>
            <a:tailEnd type="triangle"/>
          </a:ln>
        </p:spPr>
      </p:sp>
      <p:sp>
        <p:nvSpPr>
          <p:cNvPr id="16" name="Text 13"/>
          <p:cNvSpPr/>
          <p:nvPr/>
        </p:nvSpPr>
        <p:spPr>
          <a:xfrm>
            <a:off x="274320" y="4114800"/>
            <a:ext cx="8595360" cy="45720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100" b="1" dirty="0">
                <a:solidFill>
                  <a:srgbClr val="0B1F3A"/>
                </a:solidFill>
                <a:latin typeface="Calibri" pitchFamily="34" charset="0"/>
                <a:ea typeface="Calibri" pitchFamily="34" charset="-122"/>
                <a:cs typeface="Calibri" pitchFamily="34" charset="-120"/>
              </a:rPr>
              <a:t>Existing callers use one API without knowing whether data came from aggregation or a normal query.</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ufshcd_read_flag() and ufshcd_read_desc_param()</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7 Fallback / Integration</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23  |  Source: [PATCH v2 1/2], [PATCH v2 2/2]</a:t>
            </a:r>
            <a:endParaRPr lang="en-US" sz="800" dirty="0"/>
          </a:p>
        </p:txBody>
      </p:sp>
      <p:sp>
        <p:nvSpPr>
          <p:cNvPr id="7" name="Text 4"/>
          <p:cNvSpPr txBox="1"/>
          <p:nvPr/>
        </p:nvSpPr>
        <p:spPr>
          <a:xfrm>
            <a:off x="274320" y="640080"/>
            <a:ext cx="4206240" cy="274320"/>
          </a:xfrm>
          <a:prstGeom prst="rect">
            <a:avLst/>
          </a:prstGeom>
          <a:noFill/>
          <a:ln/>
        </p:spPr>
        <p:txBody>
          <a:bodyPr wrap="square" lIns="25400" tIns="25400" rIns="25400" bIns="25400" rtlCol="0" anchor="t"/>
          <a:lstStyle/>
          <a:p>
            <a:pPr marL="0" indent="0">
              <a:buNone/>
            </a:pPr>
            <a:r>
              <a:rPr lang="en-US" sz="1100" b="1" dirty="0">
                <a:solidFill>
                  <a:srgbClr val="222222"/>
                </a:solidFill>
                <a:latin typeface="Calibri" pitchFamily="34" charset="0"/>
                <a:ea typeface="Calibri" pitchFamily="34" charset="-122"/>
                <a:cs typeface="Calibri" pitchFamily="34" charset="-120"/>
              </a:rPr>
              <a:t>ufshcd_read_flag()</a:t>
            </a:r>
            <a:endParaRPr lang="en-US" sz="1100" dirty="0"/>
          </a:p>
        </p:txBody>
      </p:sp>
      <p:sp>
        <p:nvSpPr>
          <p:cNvPr id="8" name="Text 5"/>
          <p:cNvSpPr/>
          <p:nvPr/>
        </p:nvSpPr>
        <p:spPr>
          <a:xfrm>
            <a:off x="1188720" y="960120"/>
            <a:ext cx="2011680" cy="36576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ufshcd_agg_flag()</a:t>
            </a:r>
            <a:endParaRPr lang="en-US" sz="1000" dirty="0"/>
          </a:p>
        </p:txBody>
      </p:sp>
      <p:sp>
        <p:nvSpPr>
          <p:cNvPr id="9" name="Shape 6"/>
          <p:cNvSpPr/>
          <p:nvPr/>
        </p:nvSpPr>
        <p:spPr>
          <a:xfrm flipH="1">
            <a:off x="1188720" y="1325880"/>
            <a:ext cx="1005840" cy="320040"/>
          </a:xfrm>
          <a:prstGeom prst="line">
            <a:avLst/>
          </a:prstGeom>
          <a:noFill/>
          <a:ln w="19050">
            <a:solidFill>
              <a:srgbClr val="5A6B7F"/>
            </a:solidFill>
            <a:prstDash val="solid"/>
            <a:tailEnd type="triangle"/>
          </a:ln>
        </p:spPr>
      </p:sp>
      <p:sp>
        <p:nvSpPr>
          <p:cNvPr id="10" name="Shape 7"/>
          <p:cNvSpPr/>
          <p:nvPr/>
        </p:nvSpPr>
        <p:spPr>
          <a:xfrm>
            <a:off x="2194560" y="1325880"/>
            <a:ext cx="1280160" cy="320040"/>
          </a:xfrm>
          <a:prstGeom prst="line">
            <a:avLst/>
          </a:prstGeom>
          <a:noFill/>
          <a:ln w="19050">
            <a:solidFill>
              <a:srgbClr val="5A6B7F"/>
            </a:solidFill>
            <a:prstDash val="solid"/>
            <a:tailEnd type="triangle"/>
          </a:ln>
        </p:spPr>
      </p:sp>
      <p:sp>
        <p:nvSpPr>
          <p:cNvPr id="11" name="Text 8"/>
          <p:cNvSpPr/>
          <p:nvPr/>
        </p:nvSpPr>
        <p:spPr>
          <a:xfrm>
            <a:off x="274320" y="1645920"/>
            <a:ext cx="1828800" cy="36576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found: return 0</a:t>
            </a:r>
            <a:endParaRPr lang="en-US" sz="1000" dirty="0"/>
          </a:p>
        </p:txBody>
      </p:sp>
      <p:sp>
        <p:nvSpPr>
          <p:cNvPr id="12" name="Text 9"/>
          <p:cNvSpPr/>
          <p:nvPr/>
        </p:nvSpPr>
        <p:spPr>
          <a:xfrm>
            <a:off x="2468880" y="1645920"/>
            <a:ext cx="2011680" cy="457200"/>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miss: QUERY FLAG</a:t>
            </a:r>
            <a:endParaRPr lang="en-US" sz="1000" dirty="0"/>
          </a:p>
          <a:p>
            <a:pPr marL="0" indent="0" algn="ctr">
              <a:buNone/>
            </a:pPr>
            <a:r>
              <a:rPr lang="en-US" sz="1000" dirty="0">
                <a:solidFill>
                  <a:srgbClr val="0B1F3A"/>
                </a:solidFill>
                <a:latin typeface="Calibri" pitchFamily="34" charset="0"/>
                <a:ea typeface="Calibri" pitchFamily="34" charset="-122"/>
                <a:cs typeface="Calibri" pitchFamily="34" charset="-120"/>
              </a:rPr>
              <a:t>(ufshcd_query_flag_retry)</a:t>
            </a:r>
            <a:endParaRPr lang="en-US" sz="1000" dirty="0"/>
          </a:p>
        </p:txBody>
      </p:sp>
      <p:sp>
        <p:nvSpPr>
          <p:cNvPr id="13" name="Text 10"/>
          <p:cNvSpPr txBox="1"/>
          <p:nvPr/>
        </p:nvSpPr>
        <p:spPr>
          <a:xfrm>
            <a:off x="274320" y="2286000"/>
            <a:ext cx="4206240" cy="822960"/>
          </a:xfrm>
          <a:prstGeom prst="rect">
            <a:avLst/>
          </a:prstGeom>
          <a:solidFill>
            <a:srgbClr val="12233F"/>
          </a:solidFill>
          <a:ln w="12700">
            <a:solidFill>
              <a:srgbClr val="1F4E8C"/>
            </a:solidFill>
          </a:ln>
        </p:spPr>
        <p:txBody>
          <a:bodyPr wrap="square" lIns="76200" tIns="76200" rIns="76200" bIns="76200" rtlCol="0" anchor="t"/>
          <a:lstStyle/>
          <a:p>
            <a:pPr marL="0" indent="0">
              <a:buNone/>
            </a:pPr>
            <a:r>
              <a:rPr lang="en-US" sz="800" dirty="0">
                <a:solidFill>
                  <a:srgbClr val="E6EDF7"/>
                </a:solidFill>
                <a:latin typeface="Consolas" pitchFamily="34" charset="0"/>
                <a:ea typeface="Consolas" pitchFamily="34" charset="-122"/>
                <a:cs typeface="Consolas" pitchFamily="34" charset="-120"/>
              </a:rPr>
              <a:t>if (!ufshcd_agg_flag(hba, idn, out)) return 0;</a:t>
            </a:r>
            <a:endParaRPr lang="en-US" sz="800" dirty="0"/>
          </a:p>
          <a:p>
            <a:pPr marL="0" indent="0">
              <a:buNone/>
            </a:pPr>
            <a:r>
              <a:rPr lang="en-US" sz="800" dirty="0">
                <a:solidFill>
                  <a:srgbClr val="E6EDF7"/>
                </a:solidFill>
                <a:latin typeface="Consolas" pitchFamily="34" charset="0"/>
                <a:ea typeface="Consolas" pitchFamily="34" charset="-122"/>
                <a:cs typeface="Consolas" pitchFamily="34" charset="-120"/>
              </a:rPr>
              <a:t>return ufshcd_query_flag_retry(hba,</a:t>
            </a:r>
            <a:endParaRPr lang="en-US" sz="800" dirty="0"/>
          </a:p>
          <a:p>
            <a:pPr marL="0" indent="0">
              <a:buNone/>
            </a:pPr>
            <a:r>
              <a:rPr lang="en-US" sz="800" dirty="0">
                <a:solidFill>
                  <a:srgbClr val="E6EDF7"/>
                </a:solidFill>
                <a:latin typeface="Consolas" pitchFamily="34" charset="0"/>
                <a:ea typeface="Consolas" pitchFamily="34" charset="-122"/>
                <a:cs typeface="Consolas" pitchFamily="34" charset="-120"/>
              </a:rPr>
              <a:t>    UPIU_QUERY_OPCODE_READ_FLAG, idn, 0, out);</a:t>
            </a:r>
            <a:endParaRPr lang="en-US" sz="800" dirty="0"/>
          </a:p>
        </p:txBody>
      </p:sp>
      <p:sp>
        <p:nvSpPr>
          <p:cNvPr id="14" name="Text 11"/>
          <p:cNvSpPr txBox="1"/>
          <p:nvPr/>
        </p:nvSpPr>
        <p:spPr>
          <a:xfrm>
            <a:off x="4754880" y="640080"/>
            <a:ext cx="4114800" cy="274320"/>
          </a:xfrm>
          <a:prstGeom prst="rect">
            <a:avLst/>
          </a:prstGeom>
          <a:noFill/>
          <a:ln/>
        </p:spPr>
        <p:txBody>
          <a:bodyPr wrap="square" lIns="25400" tIns="25400" rIns="25400" bIns="25400" rtlCol="0" anchor="t"/>
          <a:lstStyle/>
          <a:p>
            <a:pPr marL="0" indent="0">
              <a:buNone/>
            </a:pPr>
            <a:r>
              <a:rPr lang="en-US" sz="1100" b="1" dirty="0">
                <a:solidFill>
                  <a:srgbClr val="222222"/>
                </a:solidFill>
                <a:latin typeface="Calibri" pitchFamily="34" charset="0"/>
                <a:ea typeface="Calibri" pitchFamily="34" charset="-122"/>
                <a:cs typeface="Calibri" pitchFamily="34" charset="-120"/>
              </a:rPr>
              <a:t>ufshcd_read_desc_param()</a:t>
            </a:r>
            <a:endParaRPr lang="en-US" sz="1100" dirty="0"/>
          </a:p>
        </p:txBody>
      </p:sp>
      <p:sp>
        <p:nvSpPr>
          <p:cNvPr id="15" name="Text 12"/>
          <p:cNvSpPr/>
          <p:nvPr/>
        </p:nvSpPr>
        <p:spPr>
          <a:xfrm>
            <a:off x="4754880" y="960120"/>
            <a:ext cx="4114800" cy="36576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ufshcd_agg_desc(hba, desc_id, desc_index, &amp;desc_len)</a:t>
            </a:r>
            <a:endParaRPr lang="en-US" sz="1000" dirty="0"/>
          </a:p>
        </p:txBody>
      </p:sp>
      <p:sp>
        <p:nvSpPr>
          <p:cNvPr id="16" name="Shape 13"/>
          <p:cNvSpPr/>
          <p:nvPr/>
        </p:nvSpPr>
        <p:spPr>
          <a:xfrm flipH="1">
            <a:off x="5394960" y="1325880"/>
            <a:ext cx="365760" cy="320040"/>
          </a:xfrm>
          <a:prstGeom prst="line">
            <a:avLst/>
          </a:prstGeom>
          <a:noFill/>
          <a:ln w="19050">
            <a:solidFill>
              <a:srgbClr val="5A6B7F"/>
            </a:solidFill>
            <a:prstDash val="solid"/>
            <a:tailEnd type="triangle"/>
          </a:ln>
        </p:spPr>
      </p:sp>
      <p:sp>
        <p:nvSpPr>
          <p:cNvPr id="17" name="Shape 14"/>
          <p:cNvSpPr/>
          <p:nvPr/>
        </p:nvSpPr>
        <p:spPr>
          <a:xfrm>
            <a:off x="7315200" y="1325880"/>
            <a:ext cx="365760" cy="320040"/>
          </a:xfrm>
          <a:prstGeom prst="line">
            <a:avLst/>
          </a:prstGeom>
          <a:noFill/>
          <a:ln w="19050">
            <a:solidFill>
              <a:srgbClr val="5A6B7F"/>
            </a:solidFill>
            <a:prstDash val="solid"/>
            <a:tailEnd type="triangle"/>
          </a:ln>
        </p:spPr>
      </p:sp>
      <p:sp>
        <p:nvSpPr>
          <p:cNvPr id="18" name="Text 15"/>
          <p:cNvSpPr/>
          <p:nvPr/>
        </p:nvSpPr>
        <p:spPr>
          <a:xfrm>
            <a:off x="4754880" y="1645920"/>
            <a:ext cx="1920240" cy="41148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found: memcpy, ret = 0</a:t>
            </a:r>
            <a:endParaRPr lang="en-US" sz="1000" dirty="0"/>
          </a:p>
        </p:txBody>
      </p:sp>
      <p:sp>
        <p:nvSpPr>
          <p:cNvPr id="19" name="Text 16"/>
          <p:cNvSpPr/>
          <p:nvPr/>
        </p:nvSpPr>
        <p:spPr>
          <a:xfrm>
            <a:off x="6949440" y="1645920"/>
            <a:ext cx="1920240" cy="411480"/>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miss: QUERY DESC</a:t>
            </a:r>
            <a:endParaRPr lang="en-US" sz="1000" dirty="0"/>
          </a:p>
        </p:txBody>
      </p:sp>
      <p:sp>
        <p:nvSpPr>
          <p:cNvPr id="20" name="Text 17"/>
          <p:cNvSpPr txBox="1"/>
          <p:nvPr/>
        </p:nvSpPr>
        <p:spPr>
          <a:xfrm>
            <a:off x="4754880" y="2286000"/>
            <a:ext cx="4114800" cy="822960"/>
          </a:xfrm>
          <a:prstGeom prst="rect">
            <a:avLst/>
          </a:prstGeom>
          <a:solidFill>
            <a:srgbClr val="12233F"/>
          </a:solidFill>
          <a:ln w="12700">
            <a:solidFill>
              <a:srgbClr val="1F4E8C"/>
            </a:solidFill>
          </a:ln>
        </p:spPr>
        <p:txBody>
          <a:bodyPr wrap="square" lIns="76200" tIns="76200" rIns="76200" bIns="76200" rtlCol="0" anchor="t"/>
          <a:lstStyle/>
          <a:p>
            <a:pPr marL="0" indent="0">
              <a:buNone/>
            </a:pPr>
            <a:r>
              <a:rPr lang="en-US" sz="800" dirty="0">
                <a:solidFill>
                  <a:srgbClr val="E6EDF7"/>
                </a:solidFill>
                <a:latin typeface="Consolas" pitchFamily="34" charset="0"/>
                <a:ea typeface="Consolas" pitchFamily="34" charset="-122"/>
                <a:cs typeface="Consolas" pitchFamily="34" charset="-120"/>
              </a:rPr>
              <a:t>descp = ufshcd_agg_desc(hba, desc_id, desc_index, &amp;desc_len);</a:t>
            </a:r>
            <a:endParaRPr lang="en-US" sz="800" dirty="0"/>
          </a:p>
          <a:p>
            <a:pPr marL="0" indent="0">
              <a:buNone/>
            </a:pPr>
            <a:r>
              <a:rPr lang="en-US" sz="800" dirty="0">
                <a:solidFill>
                  <a:srgbClr val="E6EDF7"/>
                </a:solidFill>
                <a:latin typeface="Consolas" pitchFamily="34" charset="0"/>
                <a:ea typeface="Consolas" pitchFamily="34" charset="-122"/>
                <a:cs typeface="Consolas" pitchFamily="34" charset="-120"/>
              </a:rPr>
              <a:t>if (descp) { memcpy(desc_buf, descp, desc_len); ret = 0; }</a:t>
            </a:r>
            <a:endParaRPr lang="en-US" sz="800" dirty="0"/>
          </a:p>
          <a:p>
            <a:pPr marL="0" indent="0">
              <a:buNone/>
            </a:pPr>
            <a:r>
              <a:rPr lang="en-US" sz="800" dirty="0">
                <a:solidFill>
                  <a:srgbClr val="E6EDF7"/>
                </a:solidFill>
                <a:latin typeface="Consolas" pitchFamily="34" charset="0"/>
                <a:ea typeface="Consolas" pitchFamily="34" charset="-122"/>
                <a:cs typeface="Consolas" pitchFamily="34" charset="-120"/>
              </a:rPr>
              <a:t>else { ret = ufshcd_query_descriptor_retry(...); ... }</a:t>
            </a:r>
            <a:endParaRPr lang="en-US" sz="800" dirty="0"/>
          </a:p>
        </p:txBody>
      </p:sp>
      <p:sp>
        <p:nvSpPr>
          <p:cNvPr id="21" name="Text 18"/>
          <p:cNvSpPr/>
          <p:nvPr/>
        </p:nvSpPr>
        <p:spPr>
          <a:xfrm>
            <a:off x="274320" y="3383280"/>
            <a:ext cx="8595360" cy="640080"/>
          </a:xfrm>
          <a:prstGeom prst="rect">
            <a:avLst/>
          </a:prstGeom>
          <a:solidFill>
            <a:srgbClr val="F5A623"/>
          </a:solidFill>
          <a:ln w="12700">
            <a:solidFill>
              <a:srgbClr val="B8760C"/>
            </a:solidFill>
          </a:ln>
        </p:spPr>
        <p:txBody>
          <a:bodyPr wrap="square" lIns="38100" tIns="38100" rIns="38100" bIns="38100" rtlCol="0" anchor="ctr"/>
          <a:lstStyle/>
          <a:p>
            <a:pPr marL="0" indent="0" algn="l">
              <a:buNone/>
            </a:pPr>
            <a:r>
              <a:rPr lang="en-US" sz="900" dirty="0">
                <a:solidFill>
                  <a:srgbClr val="0B1F3A"/>
                </a:solidFill>
                <a:latin typeface="Calibri" pitchFamily="34" charset="0"/>
                <a:ea typeface="Calibri" pitchFamily="34" charset="-122"/>
                <a:cs typeface="Calibri" pitchFamily="34" charset="-120"/>
              </a:rPr>
              <a:t>Not specified in the patch: desc_buf capacity vs desc_len on the hit path, and buff_len handling afterwards (code after the hunk).</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Data Structure Changes</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8 Data Structures</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24  |  Source: [PATCH v2 1/2], [PATCH v2 2/2]</a:t>
            </a:r>
            <a:endParaRPr lang="en-US" sz="800" dirty="0"/>
          </a:p>
        </p:txBody>
      </p:sp>
      <p:sp>
        <p:nvSpPr>
          <p:cNvPr id="7" name="Text 4"/>
          <p:cNvSpPr/>
          <p:nvPr/>
        </p:nvSpPr>
        <p:spPr>
          <a:xfrm>
            <a:off x="274320" y="685800"/>
            <a:ext cx="4114800" cy="36576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struct ufs_hba</a:t>
            </a:r>
            <a:endParaRPr lang="en-US" sz="1000" dirty="0"/>
          </a:p>
        </p:txBody>
      </p:sp>
      <p:sp>
        <p:nvSpPr>
          <p:cNvPr id="8" name="Text 5"/>
          <p:cNvSpPr/>
          <p:nvPr/>
        </p:nvSpPr>
        <p:spPr>
          <a:xfrm>
            <a:off x="274320" y="1188720"/>
            <a:ext cx="1828800" cy="411480"/>
          </a:xfrm>
          <a:prstGeom prst="rect">
            <a:avLst/>
          </a:prstGeom>
          <a:solidFill>
            <a:srgbClr val="F5A623"/>
          </a:solidFill>
          <a:ln w="12700">
            <a:solidFill>
              <a:srgbClr val="B8760C"/>
            </a:solidFill>
          </a:ln>
        </p:spPr>
        <p:txBody>
          <a:bodyPr wrap="square" lIns="38100" tIns="38100" rIns="38100" bIns="38100" rtlCol="0" anchor="ctr"/>
          <a:lstStyle/>
          <a:p>
            <a:pPr marL="0" indent="0" algn="ctr">
              <a:buNone/>
            </a:pPr>
            <a:r>
              <a:rPr lang="en-US" sz="900" dirty="0">
                <a:solidFill>
                  <a:srgbClr val="0B1F3A"/>
                </a:solidFill>
                <a:latin typeface="Consolas" pitchFamily="34" charset="0"/>
                <a:ea typeface="Consolas" pitchFamily="34" charset="-122"/>
                <a:cs typeface="Consolas" pitchFamily="34" charset="-120"/>
              </a:rPr>
              <a:t>u8 *agg_packet</a:t>
            </a:r>
            <a:endParaRPr lang="en-US" sz="900" dirty="0"/>
          </a:p>
        </p:txBody>
      </p:sp>
      <p:sp>
        <p:nvSpPr>
          <p:cNvPr id="9" name="Shape 6"/>
          <p:cNvSpPr/>
          <p:nvPr/>
        </p:nvSpPr>
        <p:spPr>
          <a:xfrm>
            <a:off x="2103120" y="1389888"/>
            <a:ext cx="365760" cy="0"/>
          </a:xfrm>
          <a:prstGeom prst="line">
            <a:avLst/>
          </a:prstGeom>
          <a:noFill/>
          <a:ln w="19050">
            <a:solidFill>
              <a:srgbClr val="5A6B7F"/>
            </a:solidFill>
            <a:prstDash val="solid"/>
            <a:tailEnd type="triangle"/>
          </a:ln>
        </p:spPr>
      </p:sp>
      <p:sp>
        <p:nvSpPr>
          <p:cNvPr id="10" name="Text 7"/>
          <p:cNvSpPr/>
          <p:nvPr/>
        </p:nvSpPr>
        <p:spPr>
          <a:xfrm>
            <a:off x="2468880" y="1188720"/>
            <a:ext cx="1920240" cy="41148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cached aggregated reply (NULL when none)</a:t>
            </a:r>
            <a:endParaRPr lang="en-US" sz="900" dirty="0"/>
          </a:p>
        </p:txBody>
      </p:sp>
      <p:sp>
        <p:nvSpPr>
          <p:cNvPr id="11" name="Text 8"/>
          <p:cNvSpPr/>
          <p:nvPr/>
        </p:nvSpPr>
        <p:spPr>
          <a:xfrm>
            <a:off x="274320" y="1874520"/>
            <a:ext cx="1828800" cy="411480"/>
          </a:xfrm>
          <a:prstGeom prst="rect">
            <a:avLst/>
          </a:prstGeom>
          <a:solidFill>
            <a:srgbClr val="F5A623"/>
          </a:solidFill>
          <a:ln w="12700">
            <a:solidFill>
              <a:srgbClr val="B8760C"/>
            </a:solidFill>
          </a:ln>
        </p:spPr>
        <p:txBody>
          <a:bodyPr wrap="square" lIns="38100" tIns="38100" rIns="38100" bIns="38100" rtlCol="0" anchor="ctr"/>
          <a:lstStyle/>
          <a:p>
            <a:pPr marL="0" indent="0" algn="ctr">
              <a:buNone/>
            </a:pPr>
            <a:r>
              <a:rPr lang="en-US" sz="900" dirty="0">
                <a:solidFill>
                  <a:srgbClr val="0B1F3A"/>
                </a:solidFill>
                <a:latin typeface="Consolas" pitchFamily="34" charset="0"/>
                <a:ea typeface="Consolas" pitchFamily="34" charset="-122"/>
                <a:cs typeface="Consolas" pitchFamily="34" charset="-120"/>
              </a:rPr>
              <a:t>u16 agg_packet_len</a:t>
            </a:r>
            <a:endParaRPr lang="en-US" sz="900" dirty="0"/>
          </a:p>
        </p:txBody>
      </p:sp>
      <p:sp>
        <p:nvSpPr>
          <p:cNvPr id="12" name="Shape 9"/>
          <p:cNvSpPr/>
          <p:nvPr/>
        </p:nvSpPr>
        <p:spPr>
          <a:xfrm>
            <a:off x="2103120" y="2075688"/>
            <a:ext cx="365760" cy="0"/>
          </a:xfrm>
          <a:prstGeom prst="line">
            <a:avLst/>
          </a:prstGeom>
          <a:noFill/>
          <a:ln w="19050">
            <a:solidFill>
              <a:srgbClr val="5A6B7F"/>
            </a:solidFill>
            <a:prstDash val="solid"/>
            <a:tailEnd type="triangle"/>
          </a:ln>
        </p:spPr>
      </p:sp>
      <p:sp>
        <p:nvSpPr>
          <p:cNvPr id="13" name="Text 10"/>
          <p:cNvSpPr/>
          <p:nvPr/>
        </p:nvSpPr>
        <p:spPr>
          <a:xfrm>
            <a:off x="2468880" y="1874520"/>
            <a:ext cx="1920240" cy="41148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valid response size</a:t>
            </a:r>
            <a:endParaRPr lang="en-US" sz="900" dirty="0"/>
          </a:p>
        </p:txBody>
      </p:sp>
      <p:sp>
        <p:nvSpPr>
          <p:cNvPr id="14" name="Text 11"/>
          <p:cNvSpPr/>
          <p:nvPr/>
        </p:nvSpPr>
        <p:spPr>
          <a:xfrm>
            <a:off x="274320" y="2560320"/>
            <a:ext cx="1828800" cy="411480"/>
          </a:xfrm>
          <a:prstGeom prst="rect">
            <a:avLst/>
          </a:prstGeom>
          <a:solidFill>
            <a:srgbClr val="F5A623"/>
          </a:solidFill>
          <a:ln w="12700">
            <a:solidFill>
              <a:srgbClr val="B8760C"/>
            </a:solidFill>
          </a:ln>
        </p:spPr>
        <p:txBody>
          <a:bodyPr wrap="square" lIns="38100" tIns="38100" rIns="38100" bIns="38100" rtlCol="0" anchor="ctr"/>
          <a:lstStyle/>
          <a:p>
            <a:pPr marL="0" indent="0" algn="ctr">
              <a:buNone/>
            </a:pPr>
            <a:r>
              <a:rPr lang="en-US" sz="900" dirty="0">
                <a:solidFill>
                  <a:srgbClr val="0B1F3A"/>
                </a:solidFill>
                <a:latin typeface="Consolas" pitchFamily="34" charset="0"/>
                <a:ea typeface="Consolas" pitchFamily="34" charset="-122"/>
                <a:cs typeface="Consolas" pitchFamily="34" charset="-120"/>
              </a:rPr>
              <a:t>u8 agg_str_idx[5]</a:t>
            </a:r>
            <a:endParaRPr lang="en-US" sz="900" dirty="0"/>
          </a:p>
        </p:txBody>
      </p:sp>
      <p:sp>
        <p:nvSpPr>
          <p:cNvPr id="15" name="Shape 12"/>
          <p:cNvSpPr/>
          <p:nvPr/>
        </p:nvSpPr>
        <p:spPr>
          <a:xfrm>
            <a:off x="2103120" y="2761488"/>
            <a:ext cx="365760" cy="0"/>
          </a:xfrm>
          <a:prstGeom prst="line">
            <a:avLst/>
          </a:prstGeom>
          <a:noFill/>
          <a:ln w="19050">
            <a:solidFill>
              <a:srgbClr val="5A6B7F"/>
            </a:solidFill>
            <a:prstDash val="solid"/>
            <a:tailEnd type="triangle"/>
          </a:ln>
        </p:spPr>
      </p:sp>
      <p:sp>
        <p:nvSpPr>
          <p:cNvPr id="16" name="Text 13"/>
          <p:cNvSpPr/>
          <p:nvPr/>
        </p:nvSpPr>
        <p:spPr>
          <a:xfrm>
            <a:off x="2468880" y="2560320"/>
            <a:ext cx="1920240" cy="41148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string index per string group</a:t>
            </a:r>
            <a:endParaRPr lang="en-US" sz="900" dirty="0"/>
          </a:p>
        </p:txBody>
      </p:sp>
      <p:sp>
        <p:nvSpPr>
          <p:cNvPr id="17" name="Text 14"/>
          <p:cNvSpPr/>
          <p:nvPr/>
        </p:nvSpPr>
        <p:spPr>
          <a:xfrm>
            <a:off x="4754880" y="685800"/>
            <a:ext cx="4114800" cy="36576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struct ufs_dev_info</a:t>
            </a:r>
            <a:endParaRPr lang="en-US" sz="1000" dirty="0"/>
          </a:p>
        </p:txBody>
      </p:sp>
      <p:sp>
        <p:nvSpPr>
          <p:cNvPr id="18" name="Text 15"/>
          <p:cNvSpPr/>
          <p:nvPr/>
        </p:nvSpPr>
        <p:spPr>
          <a:xfrm>
            <a:off x="4754880" y="1188720"/>
            <a:ext cx="2011680" cy="411480"/>
          </a:xfrm>
          <a:prstGeom prst="rect">
            <a:avLst/>
          </a:prstGeom>
          <a:solidFill>
            <a:srgbClr val="F5A623"/>
          </a:solidFill>
          <a:ln w="12700">
            <a:solidFill>
              <a:srgbClr val="B8760C"/>
            </a:solidFill>
          </a:ln>
        </p:spPr>
        <p:txBody>
          <a:bodyPr wrap="square" lIns="38100" tIns="38100" rIns="38100" bIns="38100" rtlCol="0" anchor="ctr"/>
          <a:lstStyle/>
          <a:p>
            <a:pPr marL="0" indent="0" algn="ctr">
              <a:buNone/>
            </a:pPr>
            <a:r>
              <a:rPr lang="en-US" sz="900" dirty="0">
                <a:solidFill>
                  <a:srgbClr val="0B1F3A"/>
                </a:solidFill>
                <a:latin typeface="Consolas" pitchFamily="34" charset="0"/>
                <a:ea typeface="Consolas" pitchFamily="34" charset="-122"/>
                <a:cs typeface="Consolas" pitchFamily="34" charset="-120"/>
              </a:rPr>
              <a:t>bool agg_read_unsupported</a:t>
            </a:r>
            <a:endParaRPr lang="en-US" sz="900" dirty="0"/>
          </a:p>
        </p:txBody>
      </p:sp>
      <p:sp>
        <p:nvSpPr>
          <p:cNvPr id="19" name="Text 16"/>
          <p:cNvSpPr/>
          <p:nvPr/>
        </p:nvSpPr>
        <p:spPr>
          <a:xfrm>
            <a:off x="4754880" y="1828800"/>
            <a:ext cx="1828800" cy="36576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850" dirty="0">
                <a:solidFill>
                  <a:srgbClr val="0B1F3A"/>
                </a:solidFill>
                <a:latin typeface="Calibri" pitchFamily="34" charset="0"/>
                <a:ea typeface="Calibri" pitchFamily="34" charset="-122"/>
                <a:cs typeface="Calibri" pitchFamily="34" charset="-120"/>
              </a:rPr>
              <a:t>default false</a:t>
            </a:r>
            <a:endParaRPr lang="en-US" sz="850" dirty="0"/>
          </a:p>
        </p:txBody>
      </p:sp>
      <p:sp>
        <p:nvSpPr>
          <p:cNvPr id="20" name="Text 17"/>
          <p:cNvSpPr/>
          <p:nvPr/>
        </p:nvSpPr>
        <p:spPr>
          <a:xfrm>
            <a:off x="4754880" y="2286000"/>
            <a:ext cx="1828800" cy="36576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850" dirty="0">
                <a:solidFill>
                  <a:srgbClr val="0B1F3A"/>
                </a:solidFill>
                <a:latin typeface="Calibri" pitchFamily="34" charset="0"/>
                <a:ea typeface="Calibri" pitchFamily="34" charset="-122"/>
                <a:cs typeface="Calibri" pitchFamily="34" charset="-120"/>
              </a:rPr>
              <a:t>AGG READ attempted</a:t>
            </a:r>
            <a:endParaRPr lang="en-US" sz="850" dirty="0"/>
          </a:p>
        </p:txBody>
      </p:sp>
      <p:sp>
        <p:nvSpPr>
          <p:cNvPr id="21" name="Text 18"/>
          <p:cNvSpPr/>
          <p:nvPr/>
        </p:nvSpPr>
        <p:spPr>
          <a:xfrm>
            <a:off x="4754880" y="2743200"/>
            <a:ext cx="1828800" cy="36576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850" dirty="0">
                <a:solidFill>
                  <a:srgbClr val="0B1F3A"/>
                </a:solidFill>
                <a:latin typeface="Calibri" pitchFamily="34" charset="0"/>
                <a:ea typeface="Calibri" pitchFamily="34" charset="-122"/>
                <a:cs typeface="Calibri" pitchFamily="34" charset="-120"/>
              </a:rPr>
              <a:t>success: stays false</a:t>
            </a:r>
            <a:endParaRPr lang="en-US" sz="850" dirty="0"/>
          </a:p>
        </p:txBody>
      </p:sp>
      <p:sp>
        <p:nvSpPr>
          <p:cNvPr id="22" name="Text 19"/>
          <p:cNvSpPr/>
          <p:nvPr/>
        </p:nvSpPr>
        <p:spPr>
          <a:xfrm>
            <a:off x="6583680" y="2743200"/>
            <a:ext cx="2286000" cy="365760"/>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850" dirty="0">
                <a:solidFill>
                  <a:srgbClr val="0B1F3A"/>
                </a:solidFill>
                <a:latin typeface="Calibri" pitchFamily="34" charset="0"/>
                <a:ea typeface="Calibri" pitchFamily="34" charset="-122"/>
                <a:cs typeface="Calibri" pitchFamily="34" charset="-120"/>
              </a:rPr>
              <a:t>all retries fail: true -&gt; skip future attempts</a:t>
            </a:r>
            <a:endParaRPr lang="en-US" sz="850" dirty="0"/>
          </a:p>
        </p:txBody>
      </p:sp>
      <p:sp>
        <p:nvSpPr>
          <p:cNvPr id="23" name="Shape 20"/>
          <p:cNvSpPr/>
          <p:nvPr/>
        </p:nvSpPr>
        <p:spPr>
          <a:xfrm>
            <a:off x="5669280" y="2194560"/>
            <a:ext cx="0" cy="91440"/>
          </a:xfrm>
          <a:prstGeom prst="line">
            <a:avLst/>
          </a:prstGeom>
          <a:noFill/>
          <a:ln w="19050">
            <a:solidFill>
              <a:srgbClr val="5A6B7F"/>
            </a:solidFill>
            <a:prstDash val="solid"/>
            <a:tailEnd type="triangle"/>
          </a:ln>
        </p:spPr>
      </p:sp>
      <p:sp>
        <p:nvSpPr>
          <p:cNvPr id="24" name="Shape 21"/>
          <p:cNvSpPr/>
          <p:nvPr/>
        </p:nvSpPr>
        <p:spPr>
          <a:xfrm>
            <a:off x="5669280" y="2651760"/>
            <a:ext cx="0" cy="91440"/>
          </a:xfrm>
          <a:prstGeom prst="line">
            <a:avLst/>
          </a:prstGeom>
          <a:noFill/>
          <a:ln w="19050">
            <a:solidFill>
              <a:srgbClr val="5A6B7F"/>
            </a:solidFill>
            <a:prstDash val="solid"/>
            <a:tailEnd type="triangle"/>
          </a:ln>
        </p:spPr>
      </p:sp>
      <p:sp>
        <p:nvSpPr>
          <p:cNvPr id="25" name="Shape 22"/>
          <p:cNvSpPr/>
          <p:nvPr/>
        </p:nvSpPr>
        <p:spPr>
          <a:xfrm>
            <a:off x="6583680" y="2651760"/>
            <a:ext cx="640080" cy="91440"/>
          </a:xfrm>
          <a:prstGeom prst="line">
            <a:avLst/>
          </a:prstGeom>
          <a:noFill/>
          <a:ln w="19050">
            <a:solidFill>
              <a:srgbClr val="5A6B7F"/>
            </a:solidFill>
            <a:prstDash val="solid"/>
            <a:tailEnd type="triangle"/>
          </a:ln>
        </p:spPr>
      </p:sp>
      <p:sp>
        <p:nvSpPr>
          <p:cNvPr id="26" name="Text 23"/>
          <p:cNvSpPr/>
          <p:nvPr/>
        </p:nvSpPr>
        <p:spPr>
          <a:xfrm>
            <a:off x="274320" y="3566160"/>
            <a:ext cx="8595360" cy="45720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hba-&gt;agg_packet -&gt; [HDR][ATTRS][HDR][FLAGS][HDR][DESCS][HDR][STRINGS...]  (chain via next_group_offset)</a:t>
            </a:r>
            <a:endParaRPr lang="en-US" sz="1000" dirty="0"/>
          </a:p>
        </p:txBody>
      </p:sp>
      <p:sp>
        <p:nvSpPr>
          <p:cNvPr id="27" name="Text 24"/>
          <p:cNvSpPr txBox="1"/>
          <p:nvPr/>
        </p:nvSpPr>
        <p:spPr>
          <a:xfrm>
            <a:off x="274320" y="4114800"/>
            <a:ext cx="8595360" cy="365760"/>
          </a:xfrm>
          <a:prstGeom prst="rect">
            <a:avLst/>
          </a:prstGeom>
          <a:noFill/>
          <a:ln/>
        </p:spPr>
        <p:txBody>
          <a:bodyPr wrap="square" lIns="25400" tIns="25400" rIns="25400" bIns="25400" rtlCol="0" anchor="t"/>
          <a:lstStyle/>
          <a:p>
            <a:pPr marL="0" indent="0">
              <a:buNone/>
            </a:pPr>
            <a:r>
              <a:rPr lang="en-US" sz="1100" b="1" dirty="0">
                <a:solidFill>
                  <a:srgbClr val="222222"/>
                </a:solidFill>
                <a:latin typeface="Calibri" pitchFamily="34" charset="0"/>
                <a:ea typeface="Calibri" pitchFamily="34" charset="-122"/>
                <a:cs typeface="Calibri" pitchFamily="34" charset="-120"/>
              </a:rPr>
              <a:t>Lifecycle: allocate (begin) -&gt; fill -&gt; consume during init -&gt; free (end)</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Patch 1/2 - Protocol and Reply Format</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9 Patch 1 vs Patch 2</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25  |  Source: [PATCH v2 1/2], [PATCH v2 2/2]</a:t>
            </a:r>
            <a:endParaRPr lang="en-US" sz="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274320" y="685800"/>
          <a:ext cx="8595360" cy="914400"/>
        </p:xfrm>
        <a:graphic>
          <a:graphicData uri="http://schemas.openxmlformats.org/drawingml/2006/table">
            <a:tbl>
              <a:tblPr/>
              <a:tblGrid>
                <a:gridCol w="29260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File / area</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Patch 1 change</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Purpose</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extLst>
                  <a:ext uri="{0D108BD9-81ED-4DB2-BD59-A6C34878D82A}">
                    <a16:rowId xmlns:a16="http://schemas.microsoft.com/office/drawing/2014/main" val="10000"/>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ufs.h: QUERY_AGG_GROUP_HDR_SIZE</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new macro = 4</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header size for parsing</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ufs.h: enum ufs_agg_type</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new BIT(0..7) mask</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AGGREGATION TYPE of request</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2"/>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ufs.h: enum ufs_agg_group_type</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new 0x00..0x08</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identify response groups</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ufs.h: struct utp_agg_group_header</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new + static_assert</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parse group chain</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4"/>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ufshcd.h: struct ufs_query_res</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 u16 data_segment_length</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know returned size</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ufshcd.c: ufshcd_copy_query_response()</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records be16_to_cpu(data_segment_length); copies data also for UPIU_QUERY_OPCODE_AGGREGATED_READ</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store payload in dev_cmd.query.descriptor</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6"/>
                  </a:ext>
                </a:extLst>
              </a:tr>
            </a:tbl>
          </a:graphicData>
        </a:graphic>
      </p:graphicFrame>
      <p:sp>
        <p:nvSpPr>
          <p:cNvPr id="8" name="Text 4"/>
          <p:cNvSpPr/>
          <p:nvPr/>
        </p:nvSpPr>
        <p:spPr>
          <a:xfrm>
            <a:off x="274320" y="3840480"/>
            <a:ext cx="8595360" cy="640080"/>
          </a:xfrm>
          <a:prstGeom prst="rect">
            <a:avLst/>
          </a:prstGeom>
          <a:solidFill>
            <a:srgbClr val="F5A623"/>
          </a:solidFill>
          <a:ln w="12700">
            <a:solidFill>
              <a:srgbClr val="B8760C"/>
            </a:solidFill>
          </a:ln>
        </p:spPr>
        <p:txBody>
          <a:bodyPr wrap="square" lIns="38100" tIns="38100" rIns="38100" bIns="38100" rtlCol="0" anchor="ctr"/>
          <a:lstStyle/>
          <a:p>
            <a:pPr marL="0" indent="0" algn="l">
              <a:buNone/>
            </a:pPr>
            <a:r>
              <a:rPr lang="en-US" sz="900" dirty="0">
                <a:solidFill>
                  <a:srgbClr val="0B1F3A"/>
                </a:solidFill>
                <a:latin typeface="Calibri" pitchFamily="34" charset="0"/>
                <a:ea typeface="Calibri" pitchFamily="34" charset="-122"/>
                <a:cs typeface="Calibri" pitchFamily="34" charset="-120"/>
              </a:rPr>
              <a:t>Not specified in the patch: definition of UPIU_QUERY_OPCODE_AGGREGATED_READ (not in diff; commit message says opcode 0x9). Stat: 3 files, +51 / -2.</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Patch 2/2 - Implementation and Integration</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9 Patch 1 vs Patch 2</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26  |  Source: [PATCH v2 1/2], [PATCH v2 2/2]</a:t>
            </a:r>
            <a:endParaRPr lang="en-US" sz="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274320" y="685800"/>
          <a:ext cx="530352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0">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Function</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Responsibility</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extLst>
                  <a:ext uri="{0D108BD9-81ED-4DB2-BD59-A6C34878D82A}">
                    <a16:rowId xmlns:a16="http://schemas.microsoft.com/office/drawing/2014/main" val="10000"/>
                  </a:ext>
                </a:extLst>
              </a:tr>
              <a:tr h="0">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ufshcd_agg_group()</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locate group by type, validate offsets</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ufshcd_agg_string()</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map string index -&gt; string group</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2"/>
                  </a:ext>
                </a:extLst>
              </a:tr>
              <a:tr h="0">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ufshcd_agg_desc()</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locate descriptor (string -&gt; agg_string)</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ufshcd_agg_attr()</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extract attribute using width table</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4"/>
                  </a:ext>
                </a:extLst>
              </a:tr>
              <a:tr h="0">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ufshcd_agg_flag()</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extract flag byte</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ufshcd_read_attr()</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aggregate + fallback (index 0)</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6"/>
                  </a:ext>
                </a:extLst>
              </a:tr>
              <a:tr h="0">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ufshcd_read_flag()</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aggregate + fallback</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ufshcd_query_aggregated_read()</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send AGGREGATED READ</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8"/>
                  </a:ext>
                </a:extLst>
              </a:tr>
              <a:tr h="0">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ufshcd_agg_read_begin()</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gate, allocate, retry, cache</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ufshcd_agg_read_end()</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kfree, NULL, len = 0</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10"/>
                  </a:ext>
                </a:extLst>
              </a:tr>
            </a:tbl>
          </a:graphicData>
        </a:graphic>
      </p:graphicFrame>
      <p:sp>
        <p:nvSpPr>
          <p:cNvPr id="8" name="Text 4"/>
          <p:cNvSpPr txBox="1"/>
          <p:nvPr/>
        </p:nvSpPr>
        <p:spPr>
          <a:xfrm>
            <a:off x="5760720" y="731520"/>
            <a:ext cx="3108960" cy="3840480"/>
          </a:xfrm>
          <a:prstGeom prst="rect">
            <a:avLst/>
          </a:prstGeom>
          <a:noFill/>
          <a:ln/>
        </p:spPr>
        <p:txBody>
          <a:bodyPr wrap="square" lIns="25400" tIns="25400" rIns="25400" bIns="25400" rtlCol="0" anchor="t"/>
          <a:lstStyle/>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Packet allocation, aggregated query, parsing, cache, fallback, init integration, cleanup.</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Modified: ufshcd_read_desc_param(), ufshcd_get_ref_clk_gating_wait(), ufshcd_is_wb_buf_lifetime_available(), ufshcd_set_rtt(), ufs_get_device_desc(), ufshcd_device_params_init().</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New fields: hba-&gt;agg_packet, agg_packet_len, agg_str_idx[]; dev_info.agg_read_unsupported.</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Patch 1 + Patch 2 Relationship</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9 Patch 1 vs Patch 2</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27  |  Source: [PATCH v2 1/2], [PATCH v2 2/2]</a:t>
            </a:r>
            <a:endParaRPr lang="en-US" sz="800" dirty="0"/>
          </a:p>
        </p:txBody>
      </p:sp>
      <p:sp>
        <p:nvSpPr>
          <p:cNvPr id="7" name="Text 4"/>
          <p:cNvSpPr/>
          <p:nvPr/>
        </p:nvSpPr>
        <p:spPr>
          <a:xfrm>
            <a:off x="365760" y="822960"/>
            <a:ext cx="2743200" cy="73152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PATCH 1</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Protocol foundation</a:t>
            </a:r>
            <a:endParaRPr lang="en-US" sz="1000" dirty="0"/>
          </a:p>
        </p:txBody>
      </p:sp>
      <p:sp>
        <p:nvSpPr>
          <p:cNvPr id="8" name="Shape 5"/>
          <p:cNvSpPr/>
          <p:nvPr/>
        </p:nvSpPr>
        <p:spPr>
          <a:xfrm>
            <a:off x="1737360" y="1554480"/>
            <a:ext cx="0" cy="365760"/>
          </a:xfrm>
          <a:prstGeom prst="line">
            <a:avLst/>
          </a:prstGeom>
          <a:noFill/>
          <a:ln w="19050">
            <a:solidFill>
              <a:srgbClr val="5A6B7F"/>
            </a:solidFill>
            <a:prstDash val="solid"/>
            <a:tailEnd type="triangle"/>
          </a:ln>
        </p:spPr>
      </p:sp>
      <p:sp>
        <p:nvSpPr>
          <p:cNvPr id="9" name="Text 6"/>
          <p:cNvSpPr/>
          <p:nvPr/>
        </p:nvSpPr>
        <p:spPr>
          <a:xfrm>
            <a:off x="365760" y="1920240"/>
            <a:ext cx="2743200" cy="82296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Understand AGG READ reply:</a:t>
            </a:r>
            <a:endParaRPr lang="en-US" sz="1000" dirty="0"/>
          </a:p>
          <a:p>
            <a:pPr marL="0" indent="0" algn="ctr">
              <a:buNone/>
            </a:pPr>
            <a:r>
              <a:rPr lang="en-US" sz="1000" dirty="0">
                <a:solidFill>
                  <a:srgbClr val="0B1F3A"/>
                </a:solidFill>
                <a:latin typeface="Calibri" pitchFamily="34" charset="0"/>
                <a:ea typeface="Calibri" pitchFamily="34" charset="-122"/>
                <a:cs typeface="Calibri" pitchFamily="34" charset="-120"/>
              </a:rPr>
              <a:t>types, groups, header, data_segment_length, reply copy</a:t>
            </a:r>
            <a:endParaRPr lang="en-US" sz="1000" dirty="0"/>
          </a:p>
        </p:txBody>
      </p:sp>
      <p:sp>
        <p:nvSpPr>
          <p:cNvPr id="10" name="Shape 7"/>
          <p:cNvSpPr/>
          <p:nvPr/>
        </p:nvSpPr>
        <p:spPr>
          <a:xfrm>
            <a:off x="3108960" y="2286000"/>
            <a:ext cx="914400" cy="0"/>
          </a:xfrm>
          <a:prstGeom prst="line">
            <a:avLst/>
          </a:prstGeom>
          <a:noFill/>
          <a:ln w="19050">
            <a:solidFill>
              <a:srgbClr val="5A6B7F"/>
            </a:solidFill>
            <a:prstDash val="solid"/>
            <a:tailEnd type="triangle"/>
          </a:ln>
        </p:spPr>
      </p:sp>
      <p:sp>
        <p:nvSpPr>
          <p:cNvPr id="11" name="Text 8"/>
          <p:cNvSpPr/>
          <p:nvPr/>
        </p:nvSpPr>
        <p:spPr>
          <a:xfrm>
            <a:off x="4023360" y="822960"/>
            <a:ext cx="2011680" cy="73152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PATCH 2</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Implementation</a:t>
            </a:r>
            <a:endParaRPr lang="en-US" sz="1000" dirty="0"/>
          </a:p>
        </p:txBody>
      </p:sp>
      <p:sp>
        <p:nvSpPr>
          <p:cNvPr id="12" name="Text 9"/>
          <p:cNvSpPr/>
          <p:nvPr/>
        </p:nvSpPr>
        <p:spPr>
          <a:xfrm>
            <a:off x="6400800" y="731520"/>
            <a:ext cx="2103120" cy="41148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Send</a:t>
            </a:r>
            <a:endParaRPr lang="en-US" sz="1000" dirty="0"/>
          </a:p>
        </p:txBody>
      </p:sp>
      <p:sp>
        <p:nvSpPr>
          <p:cNvPr id="13" name="Shape 10"/>
          <p:cNvSpPr/>
          <p:nvPr/>
        </p:nvSpPr>
        <p:spPr>
          <a:xfrm flipV="1">
            <a:off x="6035040" y="932688"/>
            <a:ext cx="365760" cy="256032"/>
          </a:xfrm>
          <a:prstGeom prst="line">
            <a:avLst/>
          </a:prstGeom>
          <a:noFill/>
          <a:ln w="19050">
            <a:solidFill>
              <a:srgbClr val="5A6B7F"/>
            </a:solidFill>
            <a:prstDash val="solid"/>
            <a:tailEnd type="triangle"/>
          </a:ln>
        </p:spPr>
      </p:sp>
      <p:sp>
        <p:nvSpPr>
          <p:cNvPr id="14" name="Text 11"/>
          <p:cNvSpPr/>
          <p:nvPr/>
        </p:nvSpPr>
        <p:spPr>
          <a:xfrm>
            <a:off x="6400800" y="1234440"/>
            <a:ext cx="2103120" cy="41148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Cache</a:t>
            </a:r>
            <a:endParaRPr lang="en-US" sz="1000" dirty="0"/>
          </a:p>
        </p:txBody>
      </p:sp>
      <p:sp>
        <p:nvSpPr>
          <p:cNvPr id="15" name="Shape 12"/>
          <p:cNvSpPr/>
          <p:nvPr/>
        </p:nvSpPr>
        <p:spPr>
          <a:xfrm>
            <a:off x="6035040" y="1188720"/>
            <a:ext cx="365760" cy="246888"/>
          </a:xfrm>
          <a:prstGeom prst="line">
            <a:avLst/>
          </a:prstGeom>
          <a:noFill/>
          <a:ln w="19050">
            <a:solidFill>
              <a:srgbClr val="5A6B7F"/>
            </a:solidFill>
            <a:prstDash val="solid"/>
            <a:tailEnd type="triangle"/>
          </a:ln>
        </p:spPr>
      </p:sp>
      <p:sp>
        <p:nvSpPr>
          <p:cNvPr id="16" name="Text 13"/>
          <p:cNvSpPr/>
          <p:nvPr/>
        </p:nvSpPr>
        <p:spPr>
          <a:xfrm>
            <a:off x="6400800" y="1737360"/>
            <a:ext cx="2103120" cy="41148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Parse</a:t>
            </a:r>
            <a:endParaRPr lang="en-US" sz="1000" dirty="0"/>
          </a:p>
        </p:txBody>
      </p:sp>
      <p:sp>
        <p:nvSpPr>
          <p:cNvPr id="17" name="Shape 14"/>
          <p:cNvSpPr/>
          <p:nvPr/>
        </p:nvSpPr>
        <p:spPr>
          <a:xfrm>
            <a:off x="6035040" y="1188720"/>
            <a:ext cx="365760" cy="749808"/>
          </a:xfrm>
          <a:prstGeom prst="line">
            <a:avLst/>
          </a:prstGeom>
          <a:noFill/>
          <a:ln w="19050">
            <a:solidFill>
              <a:srgbClr val="5A6B7F"/>
            </a:solidFill>
            <a:prstDash val="solid"/>
            <a:tailEnd type="triangle"/>
          </a:ln>
        </p:spPr>
      </p:sp>
      <p:sp>
        <p:nvSpPr>
          <p:cNvPr id="18" name="Text 15"/>
          <p:cNvSpPr/>
          <p:nvPr/>
        </p:nvSpPr>
        <p:spPr>
          <a:xfrm>
            <a:off x="6400800" y="2240280"/>
            <a:ext cx="2103120" cy="41148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Integrate</a:t>
            </a:r>
            <a:endParaRPr lang="en-US" sz="1000" dirty="0"/>
          </a:p>
        </p:txBody>
      </p:sp>
      <p:sp>
        <p:nvSpPr>
          <p:cNvPr id="19" name="Shape 16"/>
          <p:cNvSpPr/>
          <p:nvPr/>
        </p:nvSpPr>
        <p:spPr>
          <a:xfrm>
            <a:off x="6035040" y="1188720"/>
            <a:ext cx="365760" cy="1252728"/>
          </a:xfrm>
          <a:prstGeom prst="line">
            <a:avLst/>
          </a:prstGeom>
          <a:noFill/>
          <a:ln w="19050">
            <a:solidFill>
              <a:srgbClr val="5A6B7F"/>
            </a:solidFill>
            <a:prstDash val="solid"/>
            <a:tailEnd type="triangle"/>
          </a:ln>
        </p:spPr>
      </p:sp>
      <p:sp>
        <p:nvSpPr>
          <p:cNvPr id="20" name="Text 17"/>
          <p:cNvSpPr/>
          <p:nvPr/>
        </p:nvSpPr>
        <p:spPr>
          <a:xfrm>
            <a:off x="6400800" y="2743200"/>
            <a:ext cx="2103120" cy="41148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Fallback</a:t>
            </a:r>
            <a:endParaRPr lang="en-US" sz="1000" dirty="0"/>
          </a:p>
        </p:txBody>
      </p:sp>
      <p:sp>
        <p:nvSpPr>
          <p:cNvPr id="21" name="Shape 18"/>
          <p:cNvSpPr/>
          <p:nvPr/>
        </p:nvSpPr>
        <p:spPr>
          <a:xfrm>
            <a:off x="6035040" y="1188720"/>
            <a:ext cx="365760" cy="1755648"/>
          </a:xfrm>
          <a:prstGeom prst="line">
            <a:avLst/>
          </a:prstGeom>
          <a:noFill/>
          <a:ln w="19050">
            <a:solidFill>
              <a:srgbClr val="5A6B7F"/>
            </a:solidFill>
            <a:prstDash val="solid"/>
            <a:tailEnd type="triangle"/>
          </a:ln>
        </p:spPr>
      </p:sp>
      <p:sp>
        <p:nvSpPr>
          <p:cNvPr id="22" name="Text 19"/>
          <p:cNvSpPr/>
          <p:nvPr/>
        </p:nvSpPr>
        <p:spPr>
          <a:xfrm>
            <a:off x="6400800" y="3246120"/>
            <a:ext cx="2103120" cy="41148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Cleanup</a:t>
            </a:r>
            <a:endParaRPr lang="en-US" sz="1000" dirty="0"/>
          </a:p>
        </p:txBody>
      </p:sp>
      <p:sp>
        <p:nvSpPr>
          <p:cNvPr id="23" name="Shape 20"/>
          <p:cNvSpPr/>
          <p:nvPr/>
        </p:nvSpPr>
        <p:spPr>
          <a:xfrm>
            <a:off x="6035040" y="1188720"/>
            <a:ext cx="365760" cy="2258568"/>
          </a:xfrm>
          <a:prstGeom prst="line">
            <a:avLst/>
          </a:prstGeom>
          <a:noFill/>
          <a:ln w="19050">
            <a:solidFill>
              <a:srgbClr val="5A6B7F"/>
            </a:solidFill>
            <a:prstDash val="solid"/>
            <a:tailEnd type="triangle"/>
          </a:ln>
        </p:spPr>
      </p:sp>
      <p:sp>
        <p:nvSpPr>
          <p:cNvPr id="24" name="Shape 21"/>
          <p:cNvSpPr/>
          <p:nvPr/>
        </p:nvSpPr>
        <p:spPr>
          <a:xfrm>
            <a:off x="5029200" y="1554480"/>
            <a:ext cx="0" cy="640080"/>
          </a:xfrm>
          <a:prstGeom prst="line">
            <a:avLst/>
          </a:prstGeom>
          <a:noFill/>
          <a:ln w="19050">
            <a:solidFill>
              <a:srgbClr val="5A6B7F"/>
            </a:solidFill>
            <a:prstDash val="solid"/>
            <a:tailEnd type="triangle"/>
          </a:ln>
        </p:spPr>
      </p:sp>
      <p:sp>
        <p:nvSpPr>
          <p:cNvPr id="25" name="Text 22"/>
          <p:cNvSpPr/>
          <p:nvPr/>
        </p:nvSpPr>
        <p:spPr>
          <a:xfrm>
            <a:off x="4023360" y="2194560"/>
            <a:ext cx="2011680" cy="548640"/>
          </a:xfrm>
          <a:prstGeom prst="rect">
            <a:avLst/>
          </a:prstGeom>
          <a:solidFill>
            <a:srgbClr val="F5A623"/>
          </a:solidFill>
          <a:ln w="12700">
            <a:solidFill>
              <a:srgbClr val="B8760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depends on Patch 1 definitions</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Complete Device Initialization Flow</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10 Complete Flow</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28  |  Source: [PATCH v2 1/2], [PATCH v2 2/2]</a:t>
            </a:r>
            <a:endParaRPr lang="en-US" sz="800" dirty="0"/>
          </a:p>
        </p:txBody>
      </p:sp>
      <p:sp>
        <p:nvSpPr>
          <p:cNvPr id="7" name="Text 4"/>
          <p:cNvSpPr/>
          <p:nvPr/>
        </p:nvSpPr>
        <p:spPr>
          <a:xfrm>
            <a:off x="274320" y="658368"/>
            <a:ext cx="8595360" cy="36576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ufs_get_device_desc(): read Device Descriptor -&gt; populate agg_str_idx[]</a:t>
            </a:r>
            <a:endParaRPr lang="en-US" sz="1000" dirty="0"/>
          </a:p>
        </p:txBody>
      </p:sp>
      <p:sp>
        <p:nvSpPr>
          <p:cNvPr id="8" name="Shape 5"/>
          <p:cNvSpPr/>
          <p:nvPr/>
        </p:nvSpPr>
        <p:spPr>
          <a:xfrm>
            <a:off x="4572000" y="1024128"/>
            <a:ext cx="0" cy="164592"/>
          </a:xfrm>
          <a:prstGeom prst="line">
            <a:avLst/>
          </a:prstGeom>
          <a:noFill/>
          <a:ln w="19050">
            <a:solidFill>
              <a:srgbClr val="5A6B7F"/>
            </a:solidFill>
            <a:prstDash val="solid"/>
            <a:tailEnd type="triangle"/>
          </a:ln>
        </p:spPr>
      </p:sp>
      <p:sp>
        <p:nvSpPr>
          <p:cNvPr id="9" name="Text 6"/>
          <p:cNvSpPr/>
          <p:nvPr/>
        </p:nvSpPr>
        <p:spPr>
          <a:xfrm>
            <a:off x="3200400" y="1188720"/>
            <a:ext cx="2743200" cy="365760"/>
          </a:xfrm>
          <a:prstGeom prst="rect">
            <a:avLst/>
          </a:prstGeom>
          <a:solidFill>
            <a:srgbClr val="F5A623"/>
          </a:solidFill>
          <a:ln w="12700">
            <a:solidFill>
              <a:srgbClr val="B8760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ufshcd_agg_read_begin()</a:t>
            </a:r>
            <a:endParaRPr lang="en-US" sz="1000" dirty="0"/>
          </a:p>
        </p:txBody>
      </p:sp>
      <p:sp>
        <p:nvSpPr>
          <p:cNvPr id="10" name="Shape 7"/>
          <p:cNvSpPr/>
          <p:nvPr/>
        </p:nvSpPr>
        <p:spPr>
          <a:xfrm flipH="1">
            <a:off x="2103120" y="1554480"/>
            <a:ext cx="1554480" cy="274320"/>
          </a:xfrm>
          <a:prstGeom prst="line">
            <a:avLst/>
          </a:prstGeom>
          <a:noFill/>
          <a:ln w="19050">
            <a:solidFill>
              <a:srgbClr val="5A6B7F"/>
            </a:solidFill>
            <a:prstDash val="solid"/>
            <a:tailEnd type="triangle"/>
          </a:ln>
        </p:spPr>
      </p:sp>
      <p:sp>
        <p:nvSpPr>
          <p:cNvPr id="11" name="Shape 8"/>
          <p:cNvSpPr/>
          <p:nvPr/>
        </p:nvSpPr>
        <p:spPr>
          <a:xfrm>
            <a:off x="5486400" y="1554480"/>
            <a:ext cx="1371600" cy="274320"/>
          </a:xfrm>
          <a:prstGeom prst="line">
            <a:avLst/>
          </a:prstGeom>
          <a:noFill/>
          <a:ln w="19050">
            <a:solidFill>
              <a:srgbClr val="5A6B7F"/>
            </a:solidFill>
            <a:prstDash val="solid"/>
            <a:tailEnd type="triangle"/>
          </a:ln>
        </p:spPr>
      </p:sp>
      <p:sp>
        <p:nvSpPr>
          <p:cNvPr id="12" name="Text 9"/>
          <p:cNvSpPr/>
          <p:nvPr/>
        </p:nvSpPr>
        <p:spPr>
          <a:xfrm>
            <a:off x="365760" y="1828800"/>
            <a:ext cx="3474720" cy="365760"/>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wspecversion &lt; 0x500 -&gt; normal path</a:t>
            </a:r>
            <a:endParaRPr lang="en-US" sz="1000" dirty="0"/>
          </a:p>
        </p:txBody>
      </p:sp>
      <p:sp>
        <p:nvSpPr>
          <p:cNvPr id="13" name="Text 10"/>
          <p:cNvSpPr/>
          <p:nvPr/>
        </p:nvSpPr>
        <p:spPr>
          <a:xfrm>
            <a:off x="5120640" y="1828800"/>
            <a:ext cx="3474720" cy="36576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&gt;= 0x500 -&gt; AGGREGATED READ</a:t>
            </a:r>
            <a:endParaRPr lang="en-US" sz="1000" dirty="0"/>
          </a:p>
        </p:txBody>
      </p:sp>
      <p:sp>
        <p:nvSpPr>
          <p:cNvPr id="14" name="Shape 11"/>
          <p:cNvSpPr/>
          <p:nvPr/>
        </p:nvSpPr>
        <p:spPr>
          <a:xfrm flipH="1">
            <a:off x="5120640" y="2194560"/>
            <a:ext cx="914400" cy="274320"/>
          </a:xfrm>
          <a:prstGeom prst="line">
            <a:avLst/>
          </a:prstGeom>
          <a:noFill/>
          <a:ln w="19050">
            <a:solidFill>
              <a:srgbClr val="5A6B7F"/>
            </a:solidFill>
            <a:prstDash val="solid"/>
            <a:tailEnd type="triangle"/>
          </a:ln>
        </p:spPr>
      </p:sp>
      <p:sp>
        <p:nvSpPr>
          <p:cNvPr id="15" name="Shape 12"/>
          <p:cNvSpPr/>
          <p:nvPr/>
        </p:nvSpPr>
        <p:spPr>
          <a:xfrm>
            <a:off x="7680960" y="2194560"/>
            <a:ext cx="182880" cy="274320"/>
          </a:xfrm>
          <a:prstGeom prst="line">
            <a:avLst/>
          </a:prstGeom>
          <a:noFill/>
          <a:ln w="19050">
            <a:solidFill>
              <a:srgbClr val="5A6B7F"/>
            </a:solidFill>
            <a:prstDash val="solid"/>
            <a:tailEnd type="triangle"/>
          </a:ln>
        </p:spPr>
      </p:sp>
      <p:sp>
        <p:nvSpPr>
          <p:cNvPr id="16" name="Text 13"/>
          <p:cNvSpPr/>
          <p:nvPr/>
        </p:nvSpPr>
        <p:spPr>
          <a:xfrm>
            <a:off x="3291840" y="2468880"/>
            <a:ext cx="2743200" cy="36576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success -&gt; cache packet</a:t>
            </a:r>
            <a:endParaRPr lang="en-US" sz="1000" dirty="0"/>
          </a:p>
        </p:txBody>
      </p:sp>
      <p:sp>
        <p:nvSpPr>
          <p:cNvPr id="17" name="Text 14"/>
          <p:cNvSpPr/>
          <p:nvPr/>
        </p:nvSpPr>
        <p:spPr>
          <a:xfrm>
            <a:off x="6400800" y="2468880"/>
            <a:ext cx="2377440" cy="365760"/>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failure -&gt; mark unsupported</a:t>
            </a:r>
            <a:endParaRPr lang="en-US" sz="1000" dirty="0"/>
          </a:p>
        </p:txBody>
      </p:sp>
      <p:sp>
        <p:nvSpPr>
          <p:cNvPr id="18" name="Shape 15"/>
          <p:cNvSpPr/>
          <p:nvPr/>
        </p:nvSpPr>
        <p:spPr>
          <a:xfrm>
            <a:off x="4663440" y="2834640"/>
            <a:ext cx="0" cy="182880"/>
          </a:xfrm>
          <a:prstGeom prst="line">
            <a:avLst/>
          </a:prstGeom>
          <a:noFill/>
          <a:ln w="19050">
            <a:solidFill>
              <a:srgbClr val="5A6B7F"/>
            </a:solidFill>
            <a:prstDash val="solid"/>
            <a:tailEnd type="triangle"/>
          </a:ln>
        </p:spPr>
      </p:sp>
      <p:sp>
        <p:nvSpPr>
          <p:cNvPr id="19" name="Text 16"/>
          <p:cNvSpPr/>
          <p:nvPr/>
        </p:nvSpPr>
        <p:spPr>
          <a:xfrm>
            <a:off x="274320" y="3017520"/>
            <a:ext cx="8595360" cy="36576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device init: ATTR reads | FLAG reads | DESC/STRING reads  -&gt;  agg_attr | agg_flag | agg_desc</a:t>
            </a:r>
            <a:endParaRPr lang="en-US" sz="900" dirty="0"/>
          </a:p>
        </p:txBody>
      </p:sp>
      <p:sp>
        <p:nvSpPr>
          <p:cNvPr id="20" name="Shape 17"/>
          <p:cNvSpPr/>
          <p:nvPr/>
        </p:nvSpPr>
        <p:spPr>
          <a:xfrm>
            <a:off x="4572000" y="3383280"/>
            <a:ext cx="0" cy="137160"/>
          </a:xfrm>
          <a:prstGeom prst="line">
            <a:avLst/>
          </a:prstGeom>
          <a:noFill/>
          <a:ln w="19050">
            <a:solidFill>
              <a:srgbClr val="5A6B7F"/>
            </a:solidFill>
            <a:prstDash val="solid"/>
            <a:tailEnd type="triangle"/>
          </a:ln>
        </p:spPr>
      </p:sp>
      <p:sp>
        <p:nvSpPr>
          <p:cNvPr id="21" name="Text 18"/>
          <p:cNvSpPr/>
          <p:nvPr/>
        </p:nvSpPr>
        <p:spPr>
          <a:xfrm>
            <a:off x="2194560" y="3520440"/>
            <a:ext cx="4754880" cy="320040"/>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miss or no cache -&gt; fallback QUERY (existing code)</a:t>
            </a:r>
            <a:endParaRPr lang="en-US" sz="1000" dirty="0"/>
          </a:p>
        </p:txBody>
      </p:sp>
      <p:sp>
        <p:nvSpPr>
          <p:cNvPr id="22" name="Shape 19"/>
          <p:cNvSpPr/>
          <p:nvPr/>
        </p:nvSpPr>
        <p:spPr>
          <a:xfrm>
            <a:off x="4572000" y="3840480"/>
            <a:ext cx="0" cy="182880"/>
          </a:xfrm>
          <a:prstGeom prst="line">
            <a:avLst/>
          </a:prstGeom>
          <a:noFill/>
          <a:ln w="19050">
            <a:solidFill>
              <a:srgbClr val="5A6B7F"/>
            </a:solidFill>
            <a:prstDash val="solid"/>
            <a:tailEnd type="triangle"/>
          </a:ln>
        </p:spPr>
      </p:sp>
      <p:sp>
        <p:nvSpPr>
          <p:cNvPr id="23" name="Text 20"/>
          <p:cNvSpPr/>
          <p:nvPr/>
        </p:nvSpPr>
        <p:spPr>
          <a:xfrm>
            <a:off x="2194560" y="4023360"/>
            <a:ext cx="4754880" cy="365760"/>
          </a:xfrm>
          <a:prstGeom prst="rect">
            <a:avLst/>
          </a:prstGeom>
          <a:solidFill>
            <a:srgbClr val="0B1F3A"/>
          </a:solidFill>
          <a:ln w="12700">
            <a:solidFill>
              <a:srgbClr val="0B1F3A"/>
            </a:solidFill>
          </a:ln>
        </p:spPr>
        <p:txBody>
          <a:bodyPr wrap="square" lIns="38100" tIns="38100" rIns="38100" bIns="381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ufshcd_agg_read_end()  (end of ufshcd_device_params_init)</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Example: bMaxNumOfRTT (0x0c)</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11 Example Traces</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29  |  Source: [PATCH v2 1/2], [PATCH v2 2/2]</a:t>
            </a:r>
            <a:endParaRPr lang="en-US" sz="800" dirty="0"/>
          </a:p>
        </p:txBody>
      </p:sp>
      <p:sp>
        <p:nvSpPr>
          <p:cNvPr id="7" name="Text 4"/>
          <p:cNvSpPr txBox="1"/>
          <p:nvPr/>
        </p:nvSpPr>
        <p:spPr>
          <a:xfrm>
            <a:off x="274320" y="640080"/>
            <a:ext cx="4206240" cy="274320"/>
          </a:xfrm>
          <a:prstGeom prst="rect">
            <a:avLst/>
          </a:prstGeom>
          <a:noFill/>
          <a:ln/>
        </p:spPr>
        <p:txBody>
          <a:bodyPr wrap="square" lIns="25400" tIns="25400" rIns="25400" bIns="25400" rtlCol="0" anchor="t"/>
          <a:lstStyle/>
          <a:p>
            <a:pPr marL="0" indent="0">
              <a:buNone/>
            </a:pPr>
            <a:r>
              <a:rPr lang="en-US" sz="1100" b="1" dirty="0">
                <a:solidFill>
                  <a:srgbClr val="2E8B57"/>
                </a:solidFill>
                <a:latin typeface="Calibri" pitchFamily="34" charset="0"/>
                <a:ea typeface="Calibri" pitchFamily="34" charset="-122"/>
                <a:cs typeface="Calibri" pitchFamily="34" charset="-120"/>
              </a:rPr>
              <a:t>AFTER (UFS 5.0, cache hit)</a:t>
            </a:r>
            <a:endParaRPr lang="en-US" sz="1100" dirty="0"/>
          </a:p>
        </p:txBody>
      </p:sp>
      <p:sp>
        <p:nvSpPr>
          <p:cNvPr id="8" name="Text 5"/>
          <p:cNvSpPr/>
          <p:nvPr/>
        </p:nvSpPr>
        <p:spPr>
          <a:xfrm>
            <a:off x="274320" y="914400"/>
            <a:ext cx="4206240" cy="347472"/>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ufshcd_set_rtt()</a:t>
            </a:r>
            <a:endParaRPr lang="en-US" sz="900" dirty="0"/>
          </a:p>
        </p:txBody>
      </p:sp>
      <p:sp>
        <p:nvSpPr>
          <p:cNvPr id="9" name="Shape 6"/>
          <p:cNvSpPr/>
          <p:nvPr/>
        </p:nvSpPr>
        <p:spPr>
          <a:xfrm>
            <a:off x="2377440" y="1261872"/>
            <a:ext cx="0" cy="109728"/>
          </a:xfrm>
          <a:prstGeom prst="line">
            <a:avLst/>
          </a:prstGeom>
          <a:noFill/>
          <a:ln w="19050">
            <a:solidFill>
              <a:srgbClr val="5A6B7F"/>
            </a:solidFill>
            <a:prstDash val="solid"/>
            <a:tailEnd type="triangle"/>
          </a:ln>
        </p:spPr>
      </p:sp>
      <p:sp>
        <p:nvSpPr>
          <p:cNvPr id="10" name="Text 7"/>
          <p:cNvSpPr/>
          <p:nvPr/>
        </p:nvSpPr>
        <p:spPr>
          <a:xfrm>
            <a:off x="274320" y="1371600"/>
            <a:ext cx="4206240" cy="347472"/>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ufshcd_read_attr(idn, index 0)</a:t>
            </a:r>
            <a:endParaRPr lang="en-US" sz="900" dirty="0"/>
          </a:p>
        </p:txBody>
      </p:sp>
      <p:sp>
        <p:nvSpPr>
          <p:cNvPr id="11" name="Shape 8"/>
          <p:cNvSpPr/>
          <p:nvPr/>
        </p:nvSpPr>
        <p:spPr>
          <a:xfrm>
            <a:off x="2377440" y="1719072"/>
            <a:ext cx="0" cy="109728"/>
          </a:xfrm>
          <a:prstGeom prst="line">
            <a:avLst/>
          </a:prstGeom>
          <a:noFill/>
          <a:ln w="19050">
            <a:solidFill>
              <a:srgbClr val="5A6B7F"/>
            </a:solidFill>
            <a:prstDash val="solid"/>
            <a:tailEnd type="triangle"/>
          </a:ln>
        </p:spPr>
      </p:sp>
      <p:sp>
        <p:nvSpPr>
          <p:cNvPr id="12" name="Text 9"/>
          <p:cNvSpPr/>
          <p:nvPr/>
        </p:nvSpPr>
        <p:spPr>
          <a:xfrm>
            <a:off x="274320" y="1828800"/>
            <a:ext cx="4206240" cy="347472"/>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ufshcd_agg_attr()</a:t>
            </a:r>
            <a:endParaRPr lang="en-US" sz="900" dirty="0"/>
          </a:p>
        </p:txBody>
      </p:sp>
      <p:sp>
        <p:nvSpPr>
          <p:cNvPr id="13" name="Shape 10"/>
          <p:cNvSpPr/>
          <p:nvPr/>
        </p:nvSpPr>
        <p:spPr>
          <a:xfrm>
            <a:off x="2377440" y="2176272"/>
            <a:ext cx="0" cy="109728"/>
          </a:xfrm>
          <a:prstGeom prst="line">
            <a:avLst/>
          </a:prstGeom>
          <a:noFill/>
          <a:ln w="19050">
            <a:solidFill>
              <a:srgbClr val="5A6B7F"/>
            </a:solidFill>
            <a:prstDash val="solid"/>
            <a:tailEnd type="triangle"/>
          </a:ln>
        </p:spPr>
      </p:sp>
      <p:sp>
        <p:nvSpPr>
          <p:cNvPr id="14" name="Text 11"/>
          <p:cNvSpPr/>
          <p:nvPr/>
        </p:nvSpPr>
        <p:spPr>
          <a:xfrm>
            <a:off x="274320" y="2286000"/>
            <a:ext cx="4206240" cy="347472"/>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ATTRS group via ufshcd_agg_group()</a:t>
            </a:r>
            <a:endParaRPr lang="en-US" sz="900" dirty="0"/>
          </a:p>
        </p:txBody>
      </p:sp>
      <p:sp>
        <p:nvSpPr>
          <p:cNvPr id="15" name="Shape 12"/>
          <p:cNvSpPr/>
          <p:nvPr/>
        </p:nvSpPr>
        <p:spPr>
          <a:xfrm>
            <a:off x="2377440" y="2633472"/>
            <a:ext cx="0" cy="109728"/>
          </a:xfrm>
          <a:prstGeom prst="line">
            <a:avLst/>
          </a:prstGeom>
          <a:noFill/>
          <a:ln w="19050">
            <a:solidFill>
              <a:srgbClr val="5A6B7F"/>
            </a:solidFill>
            <a:prstDash val="solid"/>
            <a:tailEnd type="triangle"/>
          </a:ln>
        </p:spPr>
      </p:sp>
      <p:sp>
        <p:nvSpPr>
          <p:cNvPr id="16" name="Text 13"/>
          <p:cNvSpPr/>
          <p:nvPr/>
        </p:nvSpPr>
        <p:spPr>
          <a:xfrm>
            <a:off x="274320" y="2743200"/>
            <a:ext cx="4206240" cy="347472"/>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off = sum(ufs_agg_attr_width[0..idn-1])</a:t>
            </a:r>
            <a:endParaRPr lang="en-US" sz="900" dirty="0"/>
          </a:p>
        </p:txBody>
      </p:sp>
      <p:sp>
        <p:nvSpPr>
          <p:cNvPr id="17" name="Shape 14"/>
          <p:cNvSpPr/>
          <p:nvPr/>
        </p:nvSpPr>
        <p:spPr>
          <a:xfrm>
            <a:off x="2377440" y="3090672"/>
            <a:ext cx="0" cy="109728"/>
          </a:xfrm>
          <a:prstGeom prst="line">
            <a:avLst/>
          </a:prstGeom>
          <a:noFill/>
          <a:ln w="19050">
            <a:solidFill>
              <a:srgbClr val="5A6B7F"/>
            </a:solidFill>
            <a:prstDash val="solid"/>
            <a:tailEnd type="triangle"/>
          </a:ln>
        </p:spPr>
      </p:sp>
      <p:sp>
        <p:nvSpPr>
          <p:cNvPr id="18" name="Text 15"/>
          <p:cNvSpPr/>
          <p:nvPr/>
        </p:nvSpPr>
        <p:spPr>
          <a:xfrm>
            <a:off x="274320" y="3200400"/>
            <a:ext cx="4206240" cy="347472"/>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assemble width bytes big-endian</a:t>
            </a:r>
            <a:endParaRPr lang="en-US" sz="900" dirty="0"/>
          </a:p>
        </p:txBody>
      </p:sp>
      <p:sp>
        <p:nvSpPr>
          <p:cNvPr id="19" name="Shape 16"/>
          <p:cNvSpPr/>
          <p:nvPr/>
        </p:nvSpPr>
        <p:spPr>
          <a:xfrm>
            <a:off x="2377440" y="3547872"/>
            <a:ext cx="0" cy="109728"/>
          </a:xfrm>
          <a:prstGeom prst="line">
            <a:avLst/>
          </a:prstGeom>
          <a:noFill/>
          <a:ln w="19050">
            <a:solidFill>
              <a:srgbClr val="5A6B7F"/>
            </a:solidFill>
            <a:prstDash val="solid"/>
            <a:tailEnd type="triangle"/>
          </a:ln>
        </p:spPr>
      </p:sp>
      <p:sp>
        <p:nvSpPr>
          <p:cNvPr id="20" name="Text 17"/>
          <p:cNvSpPr/>
          <p:nvPr/>
        </p:nvSpPr>
        <p:spPr>
          <a:xfrm>
            <a:off x="274320" y="3657600"/>
            <a:ext cx="4206240" cy="347472"/>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return value  (no device QUERY)</a:t>
            </a:r>
            <a:endParaRPr lang="en-US" sz="900" dirty="0"/>
          </a:p>
        </p:txBody>
      </p:sp>
      <p:sp>
        <p:nvSpPr>
          <p:cNvPr id="21" name="Text 18"/>
          <p:cNvSpPr txBox="1"/>
          <p:nvPr/>
        </p:nvSpPr>
        <p:spPr>
          <a:xfrm>
            <a:off x="4846320" y="640080"/>
            <a:ext cx="4023360" cy="274320"/>
          </a:xfrm>
          <a:prstGeom prst="rect">
            <a:avLst/>
          </a:prstGeom>
          <a:noFill/>
          <a:ln/>
        </p:spPr>
        <p:txBody>
          <a:bodyPr wrap="square" lIns="25400" tIns="25400" rIns="25400" bIns="25400" rtlCol="0" anchor="t"/>
          <a:lstStyle/>
          <a:p>
            <a:pPr marL="0" indent="0">
              <a:buNone/>
            </a:pPr>
            <a:r>
              <a:rPr lang="en-US" sz="1100" b="1" dirty="0">
                <a:solidFill>
                  <a:srgbClr val="B03A2E"/>
                </a:solidFill>
                <a:latin typeface="Calibri" pitchFamily="34" charset="0"/>
                <a:ea typeface="Calibri" pitchFamily="34" charset="-122"/>
                <a:cs typeface="Calibri" pitchFamily="34" charset="-120"/>
              </a:rPr>
              <a:t>BEFORE</a:t>
            </a:r>
            <a:endParaRPr lang="en-US" sz="1100" dirty="0"/>
          </a:p>
        </p:txBody>
      </p:sp>
      <p:sp>
        <p:nvSpPr>
          <p:cNvPr id="22" name="Text 19"/>
          <p:cNvSpPr/>
          <p:nvPr/>
        </p:nvSpPr>
        <p:spPr>
          <a:xfrm>
            <a:off x="4846320" y="914400"/>
            <a:ext cx="4023360" cy="347472"/>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ufshcd_set_rtt()</a:t>
            </a:r>
            <a:endParaRPr lang="en-US" sz="900" dirty="0"/>
          </a:p>
        </p:txBody>
      </p:sp>
      <p:sp>
        <p:nvSpPr>
          <p:cNvPr id="23" name="Shape 20"/>
          <p:cNvSpPr/>
          <p:nvPr/>
        </p:nvSpPr>
        <p:spPr>
          <a:xfrm>
            <a:off x="6858000" y="1261872"/>
            <a:ext cx="0" cy="109728"/>
          </a:xfrm>
          <a:prstGeom prst="line">
            <a:avLst/>
          </a:prstGeom>
          <a:noFill/>
          <a:ln w="19050">
            <a:solidFill>
              <a:srgbClr val="5A6B7F"/>
            </a:solidFill>
            <a:prstDash val="solid"/>
            <a:tailEnd type="triangle"/>
          </a:ln>
        </p:spPr>
      </p:sp>
      <p:sp>
        <p:nvSpPr>
          <p:cNvPr id="24" name="Text 21"/>
          <p:cNvSpPr/>
          <p:nvPr/>
        </p:nvSpPr>
        <p:spPr>
          <a:xfrm>
            <a:off x="4846320" y="1371600"/>
            <a:ext cx="4023360" cy="347472"/>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ufshcd_query_attr_retry(READ_ATTR, bMaxNumOfRTT)</a:t>
            </a:r>
            <a:endParaRPr lang="en-US" sz="900" dirty="0"/>
          </a:p>
        </p:txBody>
      </p:sp>
      <p:sp>
        <p:nvSpPr>
          <p:cNvPr id="25" name="Shape 22"/>
          <p:cNvSpPr/>
          <p:nvPr/>
        </p:nvSpPr>
        <p:spPr>
          <a:xfrm>
            <a:off x="6858000" y="1719072"/>
            <a:ext cx="0" cy="109728"/>
          </a:xfrm>
          <a:prstGeom prst="line">
            <a:avLst/>
          </a:prstGeom>
          <a:noFill/>
          <a:ln w="19050">
            <a:solidFill>
              <a:srgbClr val="5A6B7F"/>
            </a:solidFill>
            <a:prstDash val="solid"/>
            <a:tailEnd type="triangle"/>
          </a:ln>
        </p:spPr>
      </p:sp>
      <p:sp>
        <p:nvSpPr>
          <p:cNvPr id="26" name="Text 23"/>
          <p:cNvSpPr/>
          <p:nvPr/>
        </p:nvSpPr>
        <p:spPr>
          <a:xfrm>
            <a:off x="4846320" y="1828800"/>
            <a:ext cx="4023360" cy="347472"/>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QUERY ATTR to device</a:t>
            </a:r>
            <a:endParaRPr lang="en-US" sz="900" dirty="0"/>
          </a:p>
        </p:txBody>
      </p:sp>
      <p:sp>
        <p:nvSpPr>
          <p:cNvPr id="27" name="Shape 24"/>
          <p:cNvSpPr/>
          <p:nvPr/>
        </p:nvSpPr>
        <p:spPr>
          <a:xfrm>
            <a:off x="6858000" y="2176272"/>
            <a:ext cx="0" cy="109728"/>
          </a:xfrm>
          <a:prstGeom prst="line">
            <a:avLst/>
          </a:prstGeom>
          <a:noFill/>
          <a:ln w="19050">
            <a:solidFill>
              <a:srgbClr val="5A6B7F"/>
            </a:solidFill>
            <a:prstDash val="solid"/>
            <a:tailEnd type="triangle"/>
          </a:ln>
        </p:spPr>
      </p:sp>
      <p:sp>
        <p:nvSpPr>
          <p:cNvPr id="28" name="Text 25"/>
          <p:cNvSpPr/>
          <p:nvPr/>
        </p:nvSpPr>
        <p:spPr>
          <a:xfrm>
            <a:off x="4846320" y="2286000"/>
            <a:ext cx="4023360" cy="347472"/>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device response</a:t>
            </a:r>
            <a:endParaRPr lang="en-US" sz="900" dirty="0"/>
          </a:p>
        </p:txBody>
      </p:sp>
      <p:sp>
        <p:nvSpPr>
          <p:cNvPr id="29" name="Text 26"/>
          <p:cNvSpPr/>
          <p:nvPr/>
        </p:nvSpPr>
        <p:spPr>
          <a:xfrm>
            <a:off x="4846320" y="2926080"/>
            <a:ext cx="4023360" cy="548640"/>
          </a:xfrm>
          <a:prstGeom prst="rect">
            <a:avLst/>
          </a:prstGeom>
          <a:solidFill>
            <a:srgbClr val="F5A623"/>
          </a:solidFill>
          <a:ln w="12700">
            <a:solidFill>
              <a:srgbClr val="B8760C"/>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UFS 4.x or unsupported 5.0: ufshcd_agg_attr -&gt; -ENOENT -&gt; same QUERY as before</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Example: String Descriptor (Product Name / Serial Number)</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11 Example Traces</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30  |  Source: [PATCH v2 1/2], [PATCH v2 2/2]</a:t>
            </a:r>
            <a:endParaRPr lang="en-US" sz="800" dirty="0"/>
          </a:p>
        </p:txBody>
      </p:sp>
      <p:sp>
        <p:nvSpPr>
          <p:cNvPr id="7" name="Text 4"/>
          <p:cNvSpPr/>
          <p:nvPr/>
        </p:nvSpPr>
        <p:spPr>
          <a:xfrm>
            <a:off x="914400" y="731520"/>
            <a:ext cx="7315200" cy="41148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Device Descriptor (bProductNameIdx etc.)</a:t>
            </a:r>
            <a:endParaRPr lang="en-US" sz="1000" dirty="0"/>
          </a:p>
        </p:txBody>
      </p:sp>
      <p:sp>
        <p:nvSpPr>
          <p:cNvPr id="8" name="Shape 5"/>
          <p:cNvSpPr/>
          <p:nvPr/>
        </p:nvSpPr>
        <p:spPr>
          <a:xfrm>
            <a:off x="4572000" y="1143000"/>
            <a:ext cx="0" cy="155448"/>
          </a:xfrm>
          <a:prstGeom prst="line">
            <a:avLst/>
          </a:prstGeom>
          <a:noFill/>
          <a:ln w="19050">
            <a:solidFill>
              <a:srgbClr val="5A6B7F"/>
            </a:solidFill>
            <a:prstDash val="solid"/>
            <a:tailEnd type="triangle"/>
          </a:ln>
        </p:spPr>
      </p:sp>
      <p:sp>
        <p:nvSpPr>
          <p:cNvPr id="9" name="Text 6"/>
          <p:cNvSpPr/>
          <p:nvPr/>
        </p:nvSpPr>
        <p:spPr>
          <a:xfrm>
            <a:off x="914400" y="1298448"/>
            <a:ext cx="7315200" cy="41148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hba-&gt;agg_str_idx[1] = desc_buf[DEVICE_DESC_PARAM_PRDCT_NAME]</a:t>
            </a:r>
            <a:endParaRPr lang="en-US" sz="1000" dirty="0"/>
          </a:p>
        </p:txBody>
      </p:sp>
      <p:sp>
        <p:nvSpPr>
          <p:cNvPr id="10" name="Shape 7"/>
          <p:cNvSpPr/>
          <p:nvPr/>
        </p:nvSpPr>
        <p:spPr>
          <a:xfrm>
            <a:off x="4572000" y="1709928"/>
            <a:ext cx="0" cy="155448"/>
          </a:xfrm>
          <a:prstGeom prst="line">
            <a:avLst/>
          </a:prstGeom>
          <a:noFill/>
          <a:ln w="19050">
            <a:solidFill>
              <a:srgbClr val="5A6B7F"/>
            </a:solidFill>
            <a:prstDash val="solid"/>
            <a:tailEnd type="triangle"/>
          </a:ln>
        </p:spPr>
      </p:sp>
      <p:sp>
        <p:nvSpPr>
          <p:cNvPr id="11" name="Text 8"/>
          <p:cNvSpPr/>
          <p:nvPr/>
        </p:nvSpPr>
        <p:spPr>
          <a:xfrm>
            <a:off x="914400" y="1865376"/>
            <a:ext cx="7315200" cy="41148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read string index -&gt; ufshcd_read_desc_param(IDN_STRING, index)</a:t>
            </a:r>
            <a:endParaRPr lang="en-US" sz="1000" dirty="0"/>
          </a:p>
        </p:txBody>
      </p:sp>
      <p:sp>
        <p:nvSpPr>
          <p:cNvPr id="12" name="Shape 9"/>
          <p:cNvSpPr/>
          <p:nvPr/>
        </p:nvSpPr>
        <p:spPr>
          <a:xfrm>
            <a:off x="4572000" y="2276856"/>
            <a:ext cx="0" cy="155448"/>
          </a:xfrm>
          <a:prstGeom prst="line">
            <a:avLst/>
          </a:prstGeom>
          <a:noFill/>
          <a:ln w="19050">
            <a:solidFill>
              <a:srgbClr val="5A6B7F"/>
            </a:solidFill>
            <a:prstDash val="solid"/>
            <a:tailEnd type="triangle"/>
          </a:ln>
        </p:spPr>
      </p:sp>
      <p:sp>
        <p:nvSpPr>
          <p:cNvPr id="13" name="Text 10"/>
          <p:cNvSpPr/>
          <p:nvPr/>
        </p:nvSpPr>
        <p:spPr>
          <a:xfrm>
            <a:off x="914400" y="2432304"/>
            <a:ext cx="7315200" cy="41148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ufshcd_agg_desc() -&gt; ufshcd_agg_string(index)</a:t>
            </a:r>
            <a:endParaRPr lang="en-US" sz="1000" dirty="0"/>
          </a:p>
        </p:txBody>
      </p:sp>
      <p:sp>
        <p:nvSpPr>
          <p:cNvPr id="14" name="Shape 11"/>
          <p:cNvSpPr/>
          <p:nvPr/>
        </p:nvSpPr>
        <p:spPr>
          <a:xfrm>
            <a:off x="4572000" y="2843784"/>
            <a:ext cx="0" cy="155448"/>
          </a:xfrm>
          <a:prstGeom prst="line">
            <a:avLst/>
          </a:prstGeom>
          <a:noFill/>
          <a:ln w="19050">
            <a:solidFill>
              <a:srgbClr val="5A6B7F"/>
            </a:solidFill>
            <a:prstDash val="solid"/>
            <a:tailEnd type="triangle"/>
          </a:ln>
        </p:spPr>
      </p:sp>
      <p:sp>
        <p:nvSpPr>
          <p:cNvPr id="15" name="Text 12"/>
          <p:cNvSpPr/>
          <p:nvPr/>
        </p:nvSpPr>
        <p:spPr>
          <a:xfrm>
            <a:off x="914400" y="2999232"/>
            <a:ext cx="7315200" cy="41148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group type = MANUFACTURER_STR + i  (i = matching agg_str_idx slot)</a:t>
            </a:r>
            <a:endParaRPr lang="en-US" sz="1000" dirty="0"/>
          </a:p>
        </p:txBody>
      </p:sp>
      <p:sp>
        <p:nvSpPr>
          <p:cNvPr id="16" name="Shape 13"/>
          <p:cNvSpPr/>
          <p:nvPr/>
        </p:nvSpPr>
        <p:spPr>
          <a:xfrm>
            <a:off x="4572000" y="3410712"/>
            <a:ext cx="0" cy="155448"/>
          </a:xfrm>
          <a:prstGeom prst="line">
            <a:avLst/>
          </a:prstGeom>
          <a:noFill/>
          <a:ln w="19050">
            <a:solidFill>
              <a:srgbClr val="5A6B7F"/>
            </a:solidFill>
            <a:prstDash val="solid"/>
            <a:tailEnd type="triangle"/>
          </a:ln>
        </p:spPr>
      </p:sp>
      <p:sp>
        <p:nvSpPr>
          <p:cNvPr id="17" name="Text 14"/>
          <p:cNvSpPr/>
          <p:nvPr/>
        </p:nvSpPr>
        <p:spPr>
          <a:xfrm>
            <a:off x="914400" y="3566160"/>
            <a:ext cx="7315200" cy="41148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return group payload (string descriptor), len = bLength</a:t>
            </a:r>
            <a:endParaRPr lang="en-US" sz="1000" dirty="0"/>
          </a:p>
        </p:txBody>
      </p:sp>
      <p:sp>
        <p:nvSpPr>
          <p:cNvPr id="18" name="Text 15"/>
          <p:cNvSpPr/>
          <p:nvPr/>
        </p:nvSpPr>
        <p:spPr>
          <a:xfrm>
            <a:off x="914400" y="4206240"/>
            <a:ext cx="7315200" cy="457200"/>
          </a:xfrm>
          <a:prstGeom prst="rect">
            <a:avLst/>
          </a:prstGeom>
          <a:solidFill>
            <a:srgbClr val="F5A623"/>
          </a:solidFill>
          <a:ln w="12700">
            <a:solidFill>
              <a:srgbClr val="B8760C"/>
            </a:solidFill>
          </a:ln>
        </p:spPr>
        <p:txBody>
          <a:bodyPr wrap="square" lIns="38100" tIns="38100" rIns="38100" bIns="38100" rtlCol="0" anchor="ctr"/>
          <a:lstStyle/>
          <a:p>
            <a:pPr marL="0" indent="0" algn="l">
              <a:buNone/>
            </a:pPr>
            <a:r>
              <a:rPr lang="en-US" sz="900" dirty="0">
                <a:solidFill>
                  <a:srgbClr val="0B1F3A"/>
                </a:solidFill>
                <a:latin typeface="Calibri" pitchFamily="34" charset="0"/>
                <a:ea typeface="Calibri" pitchFamily="34" charset="-122"/>
                <a:cs typeface="Calibri" pitchFamily="34" charset="-120"/>
              </a:rPr>
              <a:t>Not specified in the patch: the wrapper that reads strings (e.g. ufs_read_string_desc) is not in the diff.</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Why Aggregation Reduces Overhead (qualitative)</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12 Design Analysis</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31  |  Source: [PATCH v2 1/2], [PATCH v2 2/2]</a:t>
            </a:r>
            <a:endParaRPr lang="en-US" sz="800" dirty="0"/>
          </a:p>
        </p:txBody>
      </p:sp>
      <p:sp>
        <p:nvSpPr>
          <p:cNvPr id="7" name="Text 4"/>
          <p:cNvSpPr/>
          <p:nvPr/>
        </p:nvSpPr>
        <p:spPr>
          <a:xfrm>
            <a:off x="457200" y="914400"/>
            <a:ext cx="3291840" cy="457200"/>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Multiple QUERY commands</a:t>
            </a:r>
            <a:endParaRPr lang="en-US" sz="1000" dirty="0"/>
          </a:p>
        </p:txBody>
      </p:sp>
      <p:sp>
        <p:nvSpPr>
          <p:cNvPr id="8" name="Shape 5"/>
          <p:cNvSpPr/>
          <p:nvPr/>
        </p:nvSpPr>
        <p:spPr>
          <a:xfrm>
            <a:off x="2103120" y="1371600"/>
            <a:ext cx="0" cy="274320"/>
          </a:xfrm>
          <a:prstGeom prst="line">
            <a:avLst/>
          </a:prstGeom>
          <a:noFill/>
          <a:ln w="19050">
            <a:solidFill>
              <a:srgbClr val="5A6B7F"/>
            </a:solidFill>
            <a:prstDash val="solid"/>
            <a:tailEnd type="triangle"/>
          </a:ln>
        </p:spPr>
      </p:sp>
      <p:sp>
        <p:nvSpPr>
          <p:cNvPr id="9" name="Text 6"/>
          <p:cNvSpPr/>
          <p:nvPr/>
        </p:nvSpPr>
        <p:spPr>
          <a:xfrm>
            <a:off x="457200" y="1645920"/>
            <a:ext cx="3291840" cy="457200"/>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multiple command/response interactions</a:t>
            </a:r>
            <a:endParaRPr lang="en-US" sz="1000" dirty="0"/>
          </a:p>
        </p:txBody>
      </p:sp>
      <p:sp>
        <p:nvSpPr>
          <p:cNvPr id="10" name="Shape 7"/>
          <p:cNvSpPr/>
          <p:nvPr/>
        </p:nvSpPr>
        <p:spPr>
          <a:xfrm>
            <a:off x="2103120" y="2103120"/>
            <a:ext cx="0" cy="274320"/>
          </a:xfrm>
          <a:prstGeom prst="line">
            <a:avLst/>
          </a:prstGeom>
          <a:noFill/>
          <a:ln w="19050">
            <a:solidFill>
              <a:srgbClr val="5A6B7F"/>
            </a:solidFill>
            <a:prstDash val="solid"/>
            <a:tailEnd type="triangle"/>
          </a:ln>
        </p:spPr>
      </p:sp>
      <p:sp>
        <p:nvSpPr>
          <p:cNvPr id="11" name="Text 8"/>
          <p:cNvSpPr/>
          <p:nvPr/>
        </p:nvSpPr>
        <p:spPr>
          <a:xfrm>
            <a:off x="457200" y="2377440"/>
            <a:ext cx="3291840" cy="457200"/>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initialization overhead</a:t>
            </a:r>
            <a:endParaRPr lang="en-US" sz="1000" dirty="0"/>
          </a:p>
        </p:txBody>
      </p:sp>
      <p:sp>
        <p:nvSpPr>
          <p:cNvPr id="12" name="Text 9"/>
          <p:cNvSpPr txBox="1"/>
          <p:nvPr/>
        </p:nvSpPr>
        <p:spPr>
          <a:xfrm>
            <a:off x="3931920" y="1828800"/>
            <a:ext cx="1280160" cy="365760"/>
          </a:xfrm>
          <a:prstGeom prst="rect">
            <a:avLst/>
          </a:prstGeom>
          <a:noFill/>
          <a:ln/>
        </p:spPr>
        <p:txBody>
          <a:bodyPr wrap="square" lIns="25400" tIns="25400" rIns="25400" bIns="25400" rtlCol="0" anchor="t"/>
          <a:lstStyle/>
          <a:p>
            <a:pPr marL="0" indent="0" algn="ctr">
              <a:buNone/>
            </a:pPr>
            <a:r>
              <a:rPr lang="en-US" sz="1100" b="1" dirty="0">
                <a:solidFill>
                  <a:srgbClr val="222222"/>
                </a:solidFill>
                <a:latin typeface="Calibri" pitchFamily="34" charset="0"/>
                <a:ea typeface="Calibri" pitchFamily="34" charset="-122"/>
                <a:cs typeface="Calibri" pitchFamily="34" charset="-120"/>
              </a:rPr>
              <a:t>versus</a:t>
            </a:r>
            <a:endParaRPr lang="en-US" sz="1100" dirty="0"/>
          </a:p>
        </p:txBody>
      </p:sp>
      <p:sp>
        <p:nvSpPr>
          <p:cNvPr id="13" name="Text 10"/>
          <p:cNvSpPr/>
          <p:nvPr/>
        </p:nvSpPr>
        <p:spPr>
          <a:xfrm>
            <a:off x="5394960" y="914400"/>
            <a:ext cx="3291840" cy="45720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single AGGREGATED READ</a:t>
            </a:r>
            <a:endParaRPr lang="en-US" sz="1000" dirty="0"/>
          </a:p>
        </p:txBody>
      </p:sp>
      <p:sp>
        <p:nvSpPr>
          <p:cNvPr id="14" name="Shape 11"/>
          <p:cNvSpPr/>
          <p:nvPr/>
        </p:nvSpPr>
        <p:spPr>
          <a:xfrm>
            <a:off x="7040880" y="1371600"/>
            <a:ext cx="0" cy="274320"/>
          </a:xfrm>
          <a:prstGeom prst="line">
            <a:avLst/>
          </a:prstGeom>
          <a:noFill/>
          <a:ln w="19050">
            <a:solidFill>
              <a:srgbClr val="5A6B7F"/>
            </a:solidFill>
            <a:prstDash val="solid"/>
            <a:tailEnd type="triangle"/>
          </a:ln>
        </p:spPr>
      </p:sp>
      <p:sp>
        <p:nvSpPr>
          <p:cNvPr id="15" name="Text 12"/>
          <p:cNvSpPr/>
          <p:nvPr/>
        </p:nvSpPr>
        <p:spPr>
          <a:xfrm>
            <a:off x="5394960" y="1645920"/>
            <a:ext cx="3291840" cy="45720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one response with multiple values</a:t>
            </a:r>
            <a:endParaRPr lang="en-US" sz="1000" dirty="0"/>
          </a:p>
        </p:txBody>
      </p:sp>
      <p:sp>
        <p:nvSpPr>
          <p:cNvPr id="16" name="Shape 13"/>
          <p:cNvSpPr/>
          <p:nvPr/>
        </p:nvSpPr>
        <p:spPr>
          <a:xfrm>
            <a:off x="7040880" y="2103120"/>
            <a:ext cx="0" cy="274320"/>
          </a:xfrm>
          <a:prstGeom prst="line">
            <a:avLst/>
          </a:prstGeom>
          <a:noFill/>
          <a:ln w="19050">
            <a:solidFill>
              <a:srgbClr val="5A6B7F"/>
            </a:solidFill>
            <a:prstDash val="solid"/>
            <a:tailEnd type="triangle"/>
          </a:ln>
        </p:spPr>
      </p:sp>
      <p:sp>
        <p:nvSpPr>
          <p:cNvPr id="17" name="Text 14"/>
          <p:cNvSpPr/>
          <p:nvPr/>
        </p:nvSpPr>
        <p:spPr>
          <a:xfrm>
            <a:off x="5394960" y="2377440"/>
            <a:ext cx="3291840" cy="45720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cached local reads</a:t>
            </a:r>
            <a:endParaRPr lang="en-US" sz="1000" dirty="0"/>
          </a:p>
        </p:txBody>
      </p:sp>
      <p:sp>
        <p:nvSpPr>
          <p:cNvPr id="18" name="Text 15"/>
          <p:cNvSpPr/>
          <p:nvPr/>
        </p:nvSpPr>
        <p:spPr>
          <a:xfrm>
            <a:off x="457200" y="3474720"/>
            <a:ext cx="8229600" cy="548640"/>
          </a:xfrm>
          <a:prstGeom prst="rect">
            <a:avLst/>
          </a:prstGeom>
          <a:solidFill>
            <a:srgbClr val="F5A623"/>
          </a:solidFill>
          <a:ln w="12700">
            <a:solidFill>
              <a:srgbClr val="B8760C"/>
            </a:solidFill>
          </a:ln>
        </p:spPr>
        <p:txBody>
          <a:bodyPr wrap="square" lIns="38100" tIns="38100" rIns="38100" bIns="38100"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The patch does not provide benchmark numbers in the source provided.</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Design Advantages and Tradeoffs</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12 Design Analysis</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32  |  Source: [PATCH v2 1/2], [PATCH v2 2/2]</a:t>
            </a:r>
            <a:endParaRPr lang="en-US" sz="800" dirty="0"/>
          </a:p>
        </p:txBody>
      </p:sp>
      <p:sp>
        <p:nvSpPr>
          <p:cNvPr id="7" name="Text 4"/>
          <p:cNvSpPr txBox="1"/>
          <p:nvPr/>
        </p:nvSpPr>
        <p:spPr>
          <a:xfrm>
            <a:off x="274320" y="640080"/>
            <a:ext cx="4206240" cy="274320"/>
          </a:xfrm>
          <a:prstGeom prst="rect">
            <a:avLst/>
          </a:prstGeom>
          <a:noFill/>
          <a:ln/>
        </p:spPr>
        <p:txBody>
          <a:bodyPr wrap="square" lIns="25400" tIns="25400" rIns="25400" bIns="25400" rtlCol="0" anchor="t"/>
          <a:lstStyle/>
          <a:p>
            <a:pPr marL="0" indent="0">
              <a:buNone/>
            </a:pPr>
            <a:r>
              <a:rPr lang="en-US" sz="1100" b="1" dirty="0">
                <a:solidFill>
                  <a:srgbClr val="2E8B57"/>
                </a:solidFill>
                <a:latin typeface="Calibri" pitchFamily="34" charset="0"/>
                <a:ea typeface="Calibri" pitchFamily="34" charset="-122"/>
                <a:cs typeface="Calibri" pitchFamily="34" charset="-120"/>
              </a:rPr>
              <a:t>Advantages</a:t>
            </a:r>
            <a:endParaRPr lang="en-US" sz="1100" dirty="0"/>
          </a:p>
        </p:txBody>
      </p:sp>
      <p:sp>
        <p:nvSpPr>
          <p:cNvPr id="8" name="Text 5"/>
          <p:cNvSpPr txBox="1"/>
          <p:nvPr/>
        </p:nvSpPr>
        <p:spPr>
          <a:xfrm>
            <a:off x="274320" y="914400"/>
            <a:ext cx="4206240" cy="3657600"/>
          </a:xfrm>
          <a:prstGeom prst="rect">
            <a:avLst/>
          </a:prstGeom>
          <a:noFill/>
          <a:ln/>
        </p:spPr>
        <p:txBody>
          <a:bodyPr wrap="square" lIns="25400" tIns="25400" rIns="25400" bIns="25400" rtlCol="0" anchor="t"/>
          <a:lstStyle/>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Fewer QUERY transactions during init</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Cached access to init data</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Minimal change to callers (read_attr/read_flag)</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Transparent fallback</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wspecversion &gt;= 0x500 gating</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Unsupported-device detection (agg_read_unsupported)</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Bounds checking in all parsers</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Cache lifetime limited to init (kfree in end)</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Reuses existing query infrastructure (ufshcd_exec_dev_cmd, copy_query_response)</a:t>
            </a:r>
            <a:endParaRPr lang="en-US" sz="1000" dirty="0"/>
          </a:p>
        </p:txBody>
      </p:sp>
      <p:sp>
        <p:nvSpPr>
          <p:cNvPr id="9" name="Text 6"/>
          <p:cNvSpPr txBox="1"/>
          <p:nvPr/>
        </p:nvSpPr>
        <p:spPr>
          <a:xfrm>
            <a:off x="4663440" y="640080"/>
            <a:ext cx="4206240" cy="274320"/>
          </a:xfrm>
          <a:prstGeom prst="rect">
            <a:avLst/>
          </a:prstGeom>
          <a:noFill/>
          <a:ln/>
        </p:spPr>
        <p:txBody>
          <a:bodyPr wrap="square" lIns="25400" tIns="25400" rIns="25400" bIns="25400" rtlCol="0" anchor="t"/>
          <a:lstStyle/>
          <a:p>
            <a:pPr marL="0" indent="0">
              <a:buNone/>
            </a:pPr>
            <a:r>
              <a:rPr lang="en-US" sz="1100" b="1" dirty="0">
                <a:solidFill>
                  <a:srgbClr val="B03A2E"/>
                </a:solidFill>
                <a:latin typeface="Calibri" pitchFamily="34" charset="0"/>
                <a:ea typeface="Calibri" pitchFamily="34" charset="-122"/>
                <a:cs typeface="Calibri" pitchFamily="34" charset="-120"/>
              </a:rPr>
              <a:t>Tradeoffs / complexity</a:t>
            </a:r>
            <a:endParaRPr lang="en-US" sz="1100" dirty="0"/>
          </a:p>
        </p:txBody>
      </p:sp>
      <p:sp>
        <p:nvSpPr>
          <p:cNvPr id="10" name="Text 7"/>
          <p:cNvSpPr txBox="1"/>
          <p:nvPr/>
        </p:nvSpPr>
        <p:spPr>
          <a:xfrm>
            <a:off x="4663440" y="914400"/>
            <a:ext cx="4206240" cy="3657600"/>
          </a:xfrm>
          <a:prstGeom prst="rect">
            <a:avLst/>
          </a:prstGeom>
          <a:noFill/>
          <a:ln/>
        </p:spPr>
        <p:txBody>
          <a:bodyPr wrap="square" lIns="25400" tIns="25400" rIns="25400" bIns="25400" rtlCol="0" anchor="t"/>
          <a:lstStyle/>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Additional parsing logic (group walker, 5 parsers)</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Aggregate response handling</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Attribute-width metadata must match the spec table</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String index mapping via agg_str_idx[]</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Device compatibility handling (retry + unsupported flag)</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More validation requirements</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Temporary memory (up to QUERY_AGGREGATED_MAX_SIZE)</a:t>
            </a:r>
            <a:endParaRPr lang="en-US" sz="1000" dirty="0"/>
          </a:p>
          <a:p>
            <a:pPr marL="342900" indent="-3429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More code paths during init</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Code Review Checklist</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13 Code Review</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33  |  Source: [PATCH v2 1/2], [PATCH v2 2/2]</a:t>
            </a:r>
            <a:endParaRPr lang="en-US" sz="8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274320" y="685800"/>
          <a:ext cx="8595360" cy="914400"/>
        </p:xfrm>
        <a:graphic>
          <a:graphicData uri="http://schemas.openxmlformats.org/drawingml/2006/table">
            <a:tbl>
              <a:tblPr/>
              <a:tblGrid>
                <a:gridCol w="36576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0">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Verify</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Where</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extLst>
                  <a:ext uri="{0D108BD9-81ED-4DB2-BD59-A6C34878D82A}">
                    <a16:rowId xmlns:a16="http://schemas.microsoft.com/office/drawing/2014/main" val="10000"/>
                  </a:ext>
                </a:extLst>
              </a:tr>
              <a:tr h="0">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 version gating (&lt; 0x500 return)</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agg_read_begin</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Opcode correctness (0x9 per message; macro outside diff)</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query_aggregated_read</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2"/>
                  </a:ext>
                </a:extLst>
              </a:tr>
              <a:tr h="0">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Response length handling</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copy_query_response / buf_len</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Buffer bounds; zeroing</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kzalloc, agg_packet_len</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4"/>
                  </a:ext>
                </a:extLst>
              </a:tr>
              <a:tr h="0">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Group offset validation</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agg_group</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Attribute-width table vs JESD220H</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ufs_agg_attr_width[]</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6"/>
                  </a:ext>
                </a:extLst>
              </a:tr>
              <a:tr h="0">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7</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String-index mapping</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agg_str_idx, agg_string</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8</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Unit descriptor index</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agg_desc</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8"/>
                  </a:ext>
                </a:extLst>
              </a:tr>
              <a:tr h="0">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9</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Retry behavior; flag set after all retries (any error)</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agg_read_begin</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Unsupported-device behavior; reset on re-init?</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agg_read_unsupported</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10"/>
                  </a:ext>
                </a:extLst>
              </a:tr>
              <a:tr h="0">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11</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Cleanup on all paths between begin and end ?</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device_params_init out:</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0">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12</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850" dirty="0">
                          <a:solidFill>
                            <a:srgbClr val="222222"/>
                          </a:solidFill>
                          <a:latin typeface="Calibri" pitchFamily="34" charset="0"/>
                          <a:ea typeface="Calibri" pitchFamily="34" charset="-122"/>
                          <a:cs typeface="Calibri" pitchFamily="34" charset="-120"/>
                        </a:rPr>
                        <a:t>Fallback to existing QUERY</a:t>
                      </a:r>
                      <a:endParaRPr lang="en-US" sz="85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850" dirty="0">
                          <a:solidFill>
                            <a:srgbClr val="222222"/>
                          </a:solidFill>
                          <a:latin typeface="Consolas" pitchFamily="34" charset="0"/>
                          <a:ea typeface="Consolas" pitchFamily="34" charset="-122"/>
                          <a:cs typeface="Consolas" pitchFamily="34" charset="-120"/>
                        </a:rPr>
                        <a:t>read_attr / read_flag / read_desc_param</a:t>
                      </a:r>
                      <a:endParaRPr lang="en-US" sz="85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Function Dependency Map and Architecture Summary</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13 Code Review</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34  |  Source: [PATCH v2 1/2], [PATCH v2 2/2]</a:t>
            </a:r>
            <a:endParaRPr lang="en-US" sz="800" dirty="0"/>
          </a:p>
        </p:txBody>
      </p:sp>
      <p:sp>
        <p:nvSpPr>
          <p:cNvPr id="7" name="Text 4"/>
          <p:cNvSpPr/>
          <p:nvPr/>
        </p:nvSpPr>
        <p:spPr>
          <a:xfrm>
            <a:off x="274320" y="731520"/>
            <a:ext cx="2926080" cy="41148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ufshcd_agg_read_begin()</a:t>
            </a:r>
            <a:endParaRPr lang="en-US" sz="900" dirty="0"/>
          </a:p>
        </p:txBody>
      </p:sp>
      <p:sp>
        <p:nvSpPr>
          <p:cNvPr id="8" name="Shape 5"/>
          <p:cNvSpPr/>
          <p:nvPr/>
        </p:nvSpPr>
        <p:spPr>
          <a:xfrm>
            <a:off x="1737360" y="1143000"/>
            <a:ext cx="0" cy="228600"/>
          </a:xfrm>
          <a:prstGeom prst="line">
            <a:avLst/>
          </a:prstGeom>
          <a:noFill/>
          <a:ln w="19050">
            <a:solidFill>
              <a:srgbClr val="5A6B7F"/>
            </a:solidFill>
            <a:prstDash val="solid"/>
            <a:tailEnd type="triangle"/>
          </a:ln>
        </p:spPr>
      </p:sp>
      <p:sp>
        <p:nvSpPr>
          <p:cNvPr id="9" name="Text 6"/>
          <p:cNvSpPr/>
          <p:nvPr/>
        </p:nvSpPr>
        <p:spPr>
          <a:xfrm>
            <a:off x="274320" y="1371600"/>
            <a:ext cx="2926080" cy="41148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ufshcd_query_aggregated_read()</a:t>
            </a:r>
            <a:endParaRPr lang="en-US" sz="900" dirty="0"/>
          </a:p>
        </p:txBody>
      </p:sp>
      <p:sp>
        <p:nvSpPr>
          <p:cNvPr id="10" name="Shape 7"/>
          <p:cNvSpPr/>
          <p:nvPr/>
        </p:nvSpPr>
        <p:spPr>
          <a:xfrm>
            <a:off x="1737360" y="1783080"/>
            <a:ext cx="0" cy="228600"/>
          </a:xfrm>
          <a:prstGeom prst="line">
            <a:avLst/>
          </a:prstGeom>
          <a:noFill/>
          <a:ln w="19050">
            <a:solidFill>
              <a:srgbClr val="5A6B7F"/>
            </a:solidFill>
            <a:prstDash val="solid"/>
            <a:tailEnd type="triangle"/>
          </a:ln>
        </p:spPr>
      </p:sp>
      <p:sp>
        <p:nvSpPr>
          <p:cNvPr id="11" name="Text 8"/>
          <p:cNvSpPr/>
          <p:nvPr/>
        </p:nvSpPr>
        <p:spPr>
          <a:xfrm>
            <a:off x="274320" y="2011680"/>
            <a:ext cx="2926080" cy="41148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ufshcd_copy_query_response()  (Patch 1)</a:t>
            </a:r>
            <a:endParaRPr lang="en-US" sz="900" dirty="0"/>
          </a:p>
        </p:txBody>
      </p:sp>
      <p:sp>
        <p:nvSpPr>
          <p:cNvPr id="12" name="Shape 9"/>
          <p:cNvSpPr/>
          <p:nvPr/>
        </p:nvSpPr>
        <p:spPr>
          <a:xfrm>
            <a:off x="1737360" y="2423160"/>
            <a:ext cx="0" cy="228600"/>
          </a:xfrm>
          <a:prstGeom prst="line">
            <a:avLst/>
          </a:prstGeom>
          <a:noFill/>
          <a:ln w="19050">
            <a:solidFill>
              <a:srgbClr val="5A6B7F"/>
            </a:solidFill>
            <a:prstDash val="solid"/>
            <a:tailEnd type="triangle"/>
          </a:ln>
        </p:spPr>
      </p:sp>
      <p:sp>
        <p:nvSpPr>
          <p:cNvPr id="13" name="Text 10"/>
          <p:cNvSpPr/>
          <p:nvPr/>
        </p:nvSpPr>
        <p:spPr>
          <a:xfrm>
            <a:off x="274320" y="2651760"/>
            <a:ext cx="2926080" cy="41148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hba-&gt;agg_packet</a:t>
            </a:r>
            <a:endParaRPr lang="en-US" sz="900" dirty="0"/>
          </a:p>
        </p:txBody>
      </p:sp>
      <p:sp>
        <p:nvSpPr>
          <p:cNvPr id="14" name="Shape 11"/>
          <p:cNvSpPr/>
          <p:nvPr/>
        </p:nvSpPr>
        <p:spPr>
          <a:xfrm>
            <a:off x="1737360" y="2788920"/>
            <a:ext cx="0" cy="320040"/>
          </a:xfrm>
          <a:prstGeom prst="line">
            <a:avLst/>
          </a:prstGeom>
          <a:noFill/>
          <a:ln w="19050">
            <a:solidFill>
              <a:srgbClr val="5A6B7F"/>
            </a:solidFill>
            <a:prstDash val="solid"/>
            <a:tailEnd type="triangle"/>
          </a:ln>
        </p:spPr>
      </p:sp>
      <p:sp>
        <p:nvSpPr>
          <p:cNvPr id="15" name="Text 12"/>
          <p:cNvSpPr/>
          <p:nvPr/>
        </p:nvSpPr>
        <p:spPr>
          <a:xfrm>
            <a:off x="274320" y="3108960"/>
            <a:ext cx="2926080" cy="54864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ufshcd_agg_group()  -&gt;  ATTR | FLAG | DESC | STRING</a:t>
            </a:r>
            <a:endParaRPr lang="en-US" sz="900" dirty="0"/>
          </a:p>
        </p:txBody>
      </p:sp>
      <p:sp>
        <p:nvSpPr>
          <p:cNvPr id="16" name="Text 13"/>
          <p:cNvSpPr/>
          <p:nvPr/>
        </p:nvSpPr>
        <p:spPr>
          <a:xfrm>
            <a:off x="3840480" y="731520"/>
            <a:ext cx="1645920" cy="36576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ufshcd_read_attr()</a:t>
            </a:r>
            <a:endParaRPr lang="en-US" sz="1000" dirty="0"/>
          </a:p>
        </p:txBody>
      </p:sp>
      <p:sp>
        <p:nvSpPr>
          <p:cNvPr id="17" name="Text 14"/>
          <p:cNvSpPr/>
          <p:nvPr/>
        </p:nvSpPr>
        <p:spPr>
          <a:xfrm>
            <a:off x="5669280" y="731520"/>
            <a:ext cx="1463040" cy="36576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ufshcd_read_flag()</a:t>
            </a:r>
            <a:endParaRPr lang="en-US" sz="1000" dirty="0"/>
          </a:p>
        </p:txBody>
      </p:sp>
      <p:sp>
        <p:nvSpPr>
          <p:cNvPr id="18" name="Text 15"/>
          <p:cNvSpPr/>
          <p:nvPr/>
        </p:nvSpPr>
        <p:spPr>
          <a:xfrm>
            <a:off x="7315200" y="731520"/>
            <a:ext cx="1554480" cy="365760"/>
          </a:xfrm>
          <a:prstGeom prst="rect">
            <a:avLst/>
          </a:prstGeom>
          <a:solidFill>
            <a:srgbClr val="E8F0FA"/>
          </a:solidFill>
          <a:ln w="12700">
            <a:solidFill>
              <a:srgbClr val="1F4E8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ufshcd_read_desc_param()</a:t>
            </a:r>
            <a:endParaRPr lang="en-US" sz="1000" dirty="0"/>
          </a:p>
        </p:txBody>
      </p:sp>
      <p:sp>
        <p:nvSpPr>
          <p:cNvPr id="19" name="Text 16"/>
          <p:cNvSpPr/>
          <p:nvPr/>
        </p:nvSpPr>
        <p:spPr>
          <a:xfrm>
            <a:off x="3840480" y="1463040"/>
            <a:ext cx="1645920" cy="36576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agg_attr()</a:t>
            </a:r>
            <a:endParaRPr lang="en-US" sz="1000" dirty="0"/>
          </a:p>
        </p:txBody>
      </p:sp>
      <p:sp>
        <p:nvSpPr>
          <p:cNvPr id="20" name="Text 17"/>
          <p:cNvSpPr/>
          <p:nvPr/>
        </p:nvSpPr>
        <p:spPr>
          <a:xfrm>
            <a:off x="5669280" y="1463040"/>
            <a:ext cx="1463040" cy="36576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agg_flag()</a:t>
            </a:r>
            <a:endParaRPr lang="en-US" sz="1000" dirty="0"/>
          </a:p>
        </p:txBody>
      </p:sp>
      <p:sp>
        <p:nvSpPr>
          <p:cNvPr id="21" name="Text 18"/>
          <p:cNvSpPr/>
          <p:nvPr/>
        </p:nvSpPr>
        <p:spPr>
          <a:xfrm>
            <a:off x="7315200" y="1463040"/>
            <a:ext cx="1554480" cy="365760"/>
          </a:xfrm>
          <a:prstGeom prst="rect">
            <a:avLst/>
          </a:prstGeom>
          <a:solidFill>
            <a:srgbClr val="DDF1E4"/>
          </a:solidFill>
          <a:ln w="12700">
            <a:solidFill>
              <a:srgbClr val="2E8B57"/>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agg_desc() / agg_string()</a:t>
            </a:r>
            <a:endParaRPr lang="en-US" sz="1000" dirty="0"/>
          </a:p>
        </p:txBody>
      </p:sp>
      <p:sp>
        <p:nvSpPr>
          <p:cNvPr id="22" name="Shape 19"/>
          <p:cNvSpPr/>
          <p:nvPr/>
        </p:nvSpPr>
        <p:spPr>
          <a:xfrm>
            <a:off x="4663440" y="1097280"/>
            <a:ext cx="0" cy="365760"/>
          </a:xfrm>
          <a:prstGeom prst="line">
            <a:avLst/>
          </a:prstGeom>
          <a:noFill/>
          <a:ln w="19050">
            <a:solidFill>
              <a:srgbClr val="5A6B7F"/>
            </a:solidFill>
            <a:prstDash val="solid"/>
            <a:tailEnd type="triangle"/>
          </a:ln>
        </p:spPr>
      </p:sp>
      <p:sp>
        <p:nvSpPr>
          <p:cNvPr id="23" name="Shape 20"/>
          <p:cNvSpPr/>
          <p:nvPr/>
        </p:nvSpPr>
        <p:spPr>
          <a:xfrm>
            <a:off x="6400800" y="1097280"/>
            <a:ext cx="0" cy="365760"/>
          </a:xfrm>
          <a:prstGeom prst="line">
            <a:avLst/>
          </a:prstGeom>
          <a:noFill/>
          <a:ln w="19050">
            <a:solidFill>
              <a:srgbClr val="5A6B7F"/>
            </a:solidFill>
            <a:prstDash val="solid"/>
            <a:tailEnd type="triangle"/>
          </a:ln>
        </p:spPr>
      </p:sp>
      <p:sp>
        <p:nvSpPr>
          <p:cNvPr id="24" name="Shape 21"/>
          <p:cNvSpPr/>
          <p:nvPr/>
        </p:nvSpPr>
        <p:spPr>
          <a:xfrm>
            <a:off x="8092440" y="1097280"/>
            <a:ext cx="0" cy="365760"/>
          </a:xfrm>
          <a:prstGeom prst="line">
            <a:avLst/>
          </a:prstGeom>
          <a:noFill/>
          <a:ln w="19050">
            <a:solidFill>
              <a:srgbClr val="5A6B7F"/>
            </a:solidFill>
            <a:prstDash val="solid"/>
            <a:tailEnd type="triangle"/>
          </a:ln>
        </p:spPr>
      </p:sp>
      <p:sp>
        <p:nvSpPr>
          <p:cNvPr id="25" name="Shape 22"/>
          <p:cNvSpPr/>
          <p:nvPr/>
        </p:nvSpPr>
        <p:spPr>
          <a:xfrm flipV="1">
            <a:off x="3200400" y="2743200"/>
            <a:ext cx="640080" cy="640080"/>
          </a:xfrm>
          <a:prstGeom prst="line">
            <a:avLst/>
          </a:prstGeom>
          <a:noFill/>
          <a:ln w="19050">
            <a:solidFill>
              <a:srgbClr val="5A6B7F"/>
            </a:solidFill>
            <a:prstDash val="solid"/>
            <a:tailEnd type="triangle"/>
          </a:ln>
        </p:spPr>
      </p:sp>
      <p:sp>
        <p:nvSpPr>
          <p:cNvPr id="26" name="Text 23"/>
          <p:cNvSpPr/>
          <p:nvPr/>
        </p:nvSpPr>
        <p:spPr>
          <a:xfrm>
            <a:off x="3840480" y="2194560"/>
            <a:ext cx="5029200" cy="365760"/>
          </a:xfrm>
          <a:prstGeom prst="rect">
            <a:avLst/>
          </a:prstGeom>
          <a:solidFill>
            <a:srgbClr val="F5A623"/>
          </a:solidFill>
          <a:ln w="12700">
            <a:solidFill>
              <a:srgbClr val="B8760C"/>
            </a:solidFill>
          </a:ln>
        </p:spPr>
        <p:txBody>
          <a:bodyPr wrap="square" lIns="38100" tIns="38100" rIns="38100" bIns="38100" rtlCol="0" anchor="ctr"/>
          <a:lstStyle/>
          <a:p>
            <a:pPr marL="0" indent="0" algn="ctr">
              <a:buNone/>
            </a:pPr>
            <a:r>
              <a:rPr lang="en-US" sz="1000" dirty="0">
                <a:solidFill>
                  <a:srgbClr val="0B1F3A"/>
                </a:solidFill>
                <a:latin typeface="Calibri" pitchFamily="34" charset="0"/>
                <a:ea typeface="Calibri" pitchFamily="34" charset="-122"/>
                <a:cs typeface="Calibri" pitchFamily="34" charset="-120"/>
              </a:rPr>
              <a:t>cached packet (ATTRS/FLAGS/DESCS+STRINGS)</a:t>
            </a:r>
            <a:endParaRPr lang="en-US" sz="1000" dirty="0"/>
          </a:p>
        </p:txBody>
      </p:sp>
      <p:sp>
        <p:nvSpPr>
          <p:cNvPr id="27" name="Shape 24"/>
          <p:cNvSpPr/>
          <p:nvPr/>
        </p:nvSpPr>
        <p:spPr>
          <a:xfrm>
            <a:off x="6400800" y="1828800"/>
            <a:ext cx="0" cy="365760"/>
          </a:xfrm>
          <a:prstGeom prst="line">
            <a:avLst/>
          </a:prstGeom>
          <a:noFill/>
          <a:ln w="19050">
            <a:solidFill>
              <a:srgbClr val="5A6B7F"/>
            </a:solidFill>
            <a:prstDash val="solid"/>
            <a:tailEnd type="triangle"/>
          </a:ln>
        </p:spPr>
      </p:sp>
      <p:sp>
        <p:nvSpPr>
          <p:cNvPr id="28" name="Shape 25"/>
          <p:cNvSpPr/>
          <p:nvPr/>
        </p:nvSpPr>
        <p:spPr>
          <a:xfrm>
            <a:off x="6400800" y="2560320"/>
            <a:ext cx="0" cy="274320"/>
          </a:xfrm>
          <a:prstGeom prst="line">
            <a:avLst/>
          </a:prstGeom>
          <a:noFill/>
          <a:ln w="19050">
            <a:solidFill>
              <a:srgbClr val="5A6B7F"/>
            </a:solidFill>
            <a:prstDash val="solid"/>
            <a:tailEnd type="triangle"/>
          </a:ln>
        </p:spPr>
      </p:sp>
      <p:sp>
        <p:nvSpPr>
          <p:cNvPr id="29" name="Text 26"/>
          <p:cNvSpPr/>
          <p:nvPr/>
        </p:nvSpPr>
        <p:spPr>
          <a:xfrm>
            <a:off x="3840480" y="2834640"/>
            <a:ext cx="5029200" cy="457200"/>
          </a:xfrm>
          <a:prstGeom prst="rect">
            <a:avLst/>
          </a:prstGeom>
          <a:solidFill>
            <a:srgbClr val="F7DEDA"/>
          </a:solidFill>
          <a:ln w="12700">
            <a:solidFill>
              <a:srgbClr val="B03A2E"/>
            </a:solidFill>
          </a:ln>
        </p:spPr>
        <p:txBody>
          <a:bodyPr wrap="square" lIns="38100" tIns="38100" rIns="38100" bIns="38100" rtlCol="0" anchor="ctr"/>
          <a:lstStyle/>
          <a:p>
            <a:pPr marL="0" indent="0" algn="ctr">
              <a:buNone/>
            </a:pPr>
            <a:r>
              <a:rPr lang="en-US" sz="900" dirty="0">
                <a:solidFill>
                  <a:srgbClr val="0B1F3A"/>
                </a:solidFill>
                <a:latin typeface="Calibri" pitchFamily="34" charset="0"/>
                <a:ea typeface="Calibri" pitchFamily="34" charset="-122"/>
                <a:cs typeface="Calibri" pitchFamily="34" charset="-120"/>
              </a:rPr>
              <a:t>if unavailable -&gt; normal QUERY -&gt; device init -&gt; ufshcd_agg_read_end() (free)</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Key Takeaways</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14 Summary</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35  |  Source: [PATCH v2 1/2], [PATCH v2 2/2]</a:t>
            </a:r>
            <a:endParaRPr lang="en-US" sz="8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274320" y="731520"/>
          <a:ext cx="8595360" cy="914400"/>
        </p:xfrm>
        <a:graphic>
          <a:graphicData uri="http://schemas.openxmlformats.org/drawingml/2006/table">
            <a:tbl>
              <a:tblPr/>
              <a:tblGrid>
                <a:gridCol w="219456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Problem</a:t>
                      </a:r>
                      <a:endParaRPr lang="en-US" sz="12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Many individual QUERY operations during UFS init</a:t>
                      </a:r>
                      <a:endParaRPr lang="en-US" sz="12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Solution</a:t>
                      </a:r>
                      <a:endParaRPr lang="en-US" sz="12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UFS 5.0 AGGREGATED READ, one query, typed group chain</a:t>
                      </a:r>
                      <a:endParaRPr lang="en-US" sz="12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Kernel implementation</a:t>
                      </a:r>
                      <a:endParaRPr lang="en-US" sz="12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Retrieve once -&gt; cache -&gt; parse locally -&gt; fallback if necessary</a:t>
                      </a:r>
                      <a:endParaRPr lang="en-US" sz="12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Components</a:t>
                      </a:r>
                      <a:endParaRPr lang="en-US" sz="12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AGG READ -&gt; CACHE -&gt; PARSERS -&gt; existing APIs</a:t>
                      </a:r>
                      <a:endParaRPr lang="en-US" sz="12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UFS &lt; 5.0</a:t>
                      </a:r>
                      <a:endParaRPr lang="en-US" sz="12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existing QUERY path</a:t>
                      </a:r>
                      <a:endParaRPr lang="en-US" sz="12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4"/>
                  </a:ext>
                </a:extLst>
              </a:tr>
              <a:tr h="0">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UFS 5.0 supported</a:t>
                      </a:r>
                      <a:endParaRPr lang="en-US" sz="12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aggregate path</a:t>
                      </a:r>
                      <a:endParaRPr lang="en-US" sz="12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UFS 5.0 unsupported</a:t>
                      </a:r>
                      <a:endParaRPr lang="en-US" sz="12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1200" dirty="0">
                          <a:solidFill>
                            <a:srgbClr val="222222"/>
                          </a:solidFill>
                          <a:latin typeface="Calibri" pitchFamily="34" charset="0"/>
                          <a:ea typeface="Calibri" pitchFamily="34" charset="-122"/>
                          <a:cs typeface="Calibri" pitchFamily="34" charset="-120"/>
                        </a:rPr>
                        <a:t>agg_read_unsupported -&gt; fallback QUERY path</a:t>
                      </a:r>
                      <a:endParaRPr lang="en-US" sz="12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6"/>
                  </a:ext>
                </a:extLst>
              </a:tr>
            </a:tbl>
          </a:graphicData>
        </a:graphic>
      </p:graphicFrame>
      <p:sp>
        <p:nvSpPr>
          <p:cNvPr id="7" name="Text 4"/>
          <p:cNvSpPr/>
          <p:nvPr/>
        </p:nvSpPr>
        <p:spPr>
          <a:xfrm>
            <a:off x="274320" y="3840480"/>
            <a:ext cx="8595360" cy="640080"/>
          </a:xfrm>
          <a:prstGeom prst="rect">
            <a:avLst/>
          </a:prstGeom>
          <a:solidFill>
            <a:srgbClr val="F5A623"/>
          </a:solidFill>
          <a:ln w="12700">
            <a:solidFill>
              <a:srgbClr val="B8760C"/>
            </a:solidFill>
          </a:ln>
        </p:spPr>
        <p:txBody>
          <a:bodyPr wrap="square" lIns="38100" tIns="38100" rIns="38100" bIns="38100"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Aggregated read does NOT replace the QUERY mechanism: aggregate first, if unavailable, normal QUERY.</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Appendix A - Macros and Constants</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Appendix</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36  |  Source: [PATCH v2 1/2], [PATCH v2 2/2]</a:t>
            </a:r>
            <a:endParaRPr lang="en-US" sz="8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274320" y="731520"/>
          <a:ext cx="8595360" cy="914400"/>
        </p:xfrm>
        <a:graphic>
          <a:graphicData uri="http://schemas.openxmlformats.org/drawingml/2006/table">
            <a:tbl>
              <a:tblPr/>
              <a:tblGrid>
                <a:gridCol w="475488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Macro / enum</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Value / note</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extLst>
                  <a:ext uri="{0D108BD9-81ED-4DB2-BD59-A6C34878D82A}">
                    <a16:rowId xmlns:a16="http://schemas.microsoft.com/office/drawing/2014/main" val="10000"/>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QUERY_AGG_GROUP_HDR_SIZE</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4 (new, Patch 1)</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QUERY_AGGREGATED_MAX_SIZE</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4096 - GENERAL_UPIU_REQUEST_SIZE (existing)</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2"/>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UPIU_QUERY_OPCODE_AGGREGATED_READ</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used; 0x9 per commit message; defined outside diff</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UFS_AGG_TYPE_* / UFS_AGG_GROUP_*</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see slide 8</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4"/>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QUERY_REQ_RETRIES</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retry count; value not in patch</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QUERY_DESC_HDR_SIZE / QUERY_DESC_LENGTH_OFFSET / QUERY_DESC_DESC_TYPE_OFFSET</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descriptor header parsing (existing)</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6"/>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UNIT_DESC_PARAM_UNIT_INDEX</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unit index offset (existing)</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DEVICE_DESC_PARAM_MANF_NAME / PRDCT_NAME / OEM_ID / SN / PRDCT_REV</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string index offsets in Device Descriptor</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Appendix B - Function Reference</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Appendix</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37  |  Source: [PATCH v2 1/2], [PATCH v2 2/2]</a:t>
            </a:r>
            <a:endParaRPr lang="en-US" sz="8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274320" y="731520"/>
          <a:ext cx="8595360" cy="914400"/>
        </p:xfrm>
        <a:graphic>
          <a:graphicData uri="http://schemas.openxmlformats.org/drawingml/2006/table">
            <a:tbl>
              <a:tblPr/>
              <a:tblGrid>
                <a:gridCol w="310896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Function</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One line</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extLst>
                  <a:ext uri="{0D108BD9-81ED-4DB2-BD59-A6C34878D82A}">
                    <a16:rowId xmlns:a16="http://schemas.microsoft.com/office/drawing/2014/main" val="10000"/>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ufshcd_agg_group</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walk header chain, return payload of given group type</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ufshcd_agg_string</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string index -&gt; string group via agg_str_idx[]</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2"/>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ufshcd_agg_desc</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find descriptor by type (+unit index) in DESCS group</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ufshcd_agg_attr</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offset by width table; big-endian assemble</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4"/>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ufshcd_agg_flag</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return byte at flag IDN</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ufshcd_read_attr</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cache-first attr read, index 0 only; else QUERY</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6"/>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ufshcd_read_flag</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cache-first flag read; else QUERY</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ufshcd_query_aggregated_read</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issue AGGREGATED READ and return received length</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8"/>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ufshcd_agg_read_begin / _end</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cache once (UFS&gt;=5.0) / free</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ufshcd_copy_query_response (mod)</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also stores data_segment_length; copies agg data</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10"/>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ufshcd_read_desc_param (mod)</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cache hit memcpy else QUERY DESC</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0B1F3A"/>
          </a:solidFill>
          <a:ln w="12700">
            <a:solidFill>
              <a:srgbClr val="0B1F3A"/>
            </a:solidFill>
            <a:prstDash val="solid"/>
          </a:ln>
        </p:spPr>
      </p:sp>
      <p:sp>
        <p:nvSpPr>
          <p:cNvPr id="3" name="Text 1"/>
          <p:cNvSpPr txBox="1"/>
          <p:nvPr/>
        </p:nvSpPr>
        <p:spPr>
          <a:xfrm>
            <a:off x="274320" y="45720"/>
            <a:ext cx="694944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Appendix C/D - Structures and Before vs After</a:t>
            </a:r>
            <a:endParaRPr lang="en-US" sz="1900" dirty="0"/>
          </a:p>
        </p:txBody>
      </p:sp>
      <p:sp>
        <p:nvSpPr>
          <p:cNvPr id="4" name="Text 2"/>
          <p:cNvSpPr txBox="1"/>
          <p:nvPr/>
        </p:nvSpPr>
        <p:spPr>
          <a:xfrm>
            <a:off x="6949440" y="45720"/>
            <a:ext cx="2011680" cy="457200"/>
          </a:xfrm>
          <a:prstGeom prst="rect">
            <a:avLst/>
          </a:prstGeom>
          <a:noFill/>
          <a:ln/>
        </p:spPr>
        <p:txBody>
          <a:bodyPr wrap="square" lIns="0" tIns="0" rIns="0" bIns="0" rtlCol="0" anchor="ctr"/>
          <a:lstStyle/>
          <a:p>
            <a:pPr marL="0" indent="0" algn="r">
              <a:buNone/>
            </a:pPr>
            <a:r>
              <a:rPr lang="en-US" sz="900" dirty="0">
                <a:solidFill>
                  <a:srgbClr val="9FB6D6"/>
                </a:solidFill>
                <a:latin typeface="Calibri" pitchFamily="34" charset="0"/>
                <a:ea typeface="Calibri" pitchFamily="34" charset="-122"/>
                <a:cs typeface="Calibri" pitchFamily="34" charset="-120"/>
              </a:rPr>
              <a:t>Appendix</a:t>
            </a:r>
            <a:endParaRPr lang="en-US" sz="900" dirty="0"/>
          </a:p>
        </p:txBody>
      </p:sp>
      <p:sp>
        <p:nvSpPr>
          <p:cNvPr id="5" name="Text 3"/>
          <p:cNvSpPr txBox="1"/>
          <p:nvPr/>
        </p:nvSpPr>
        <p:spPr>
          <a:xfrm>
            <a:off x="274320" y="4919472"/>
            <a:ext cx="8595360" cy="182880"/>
          </a:xfrm>
          <a:prstGeom prst="rect">
            <a:avLst/>
          </a:prstGeom>
          <a:noFill/>
          <a:ln/>
        </p:spPr>
        <p:txBody>
          <a:bodyPr wrap="square" lIns="0" tIns="0" rIns="0" bIns="0" rtlCol="0" anchor="ctr"/>
          <a:lstStyle/>
          <a:p>
            <a:pPr marL="0" indent="0">
              <a:buNone/>
            </a:pPr>
            <a:r>
              <a:rPr lang="en-US" sz="800" dirty="0">
                <a:solidFill>
                  <a:srgbClr val="5A6B7F"/>
                </a:solidFill>
                <a:latin typeface="Calibri" pitchFamily="34" charset="0"/>
                <a:ea typeface="Calibri" pitchFamily="34" charset="-122"/>
                <a:cs typeface="Calibri" pitchFamily="34" charset="-120"/>
              </a:rPr>
              <a:t>38  |  Source: [PATCH v2 1/2], [PATCH v2 2/2]</a:t>
            </a:r>
            <a:endParaRPr lang="en-US" sz="8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274320" y="731520"/>
          <a:ext cx="8595360" cy="914400"/>
        </p:xfrm>
        <a:graphic>
          <a:graphicData uri="http://schemas.openxmlformats.org/drawingml/2006/table">
            <a:tbl>
              <a:tblPr/>
              <a:tblGrid>
                <a:gridCol w="256032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tblGrid>
              <a:tr h="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Structure</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New field</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extLst>
                  <a:ext uri="{0D108BD9-81ED-4DB2-BD59-A6C34878D82A}">
                    <a16:rowId xmlns:a16="http://schemas.microsoft.com/office/drawing/2014/main" val="10000"/>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struct ufs_query_res</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u16 data_segment_length</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struct utp_agg_group_header</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u8 group_type; u8 reserved; __be16 next_group_offset</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2"/>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struct ufs_hba</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u8 *agg_packet; u16 agg_packet_len; u8 agg_str_idx[5]</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struct ufs_dev_info</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bool agg_read_unsupported</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4"/>
                  </a:ext>
                </a:extLst>
              </a:tr>
            </a:tbl>
          </a:graphicData>
        </a:graphic>
      </p:graphicFrame>
      <p:graphicFrame>
        <p:nvGraphicFramePr>
          <p:cNvPr id="77" name="Table 1"/>
          <p:cNvGraphicFramePr>
            <a:graphicFrameLocks noGrp="1"/>
          </p:cNvGraphicFramePr>
          <p:nvPr>
            <p:extLst>
              <p:ext uri="{D42A27DB-BD31-4B8C-83A1-F6EECF244321}">
                <p14:modId xmlns:p14="http://schemas.microsoft.com/office/powerpoint/2010/main" val="1579011935"/>
              </p:ext>
            </p:extLst>
          </p:nvPr>
        </p:nvGraphicFramePr>
        <p:xfrm>
          <a:off x="274320" y="2377440"/>
          <a:ext cx="859536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0">
                <a:tc>
                  <a:txBody>
                    <a:bodyPr/>
                    <a:lstStyle/>
                    <a:p>
                      <a:pPr marL="0" indent="0">
                        <a:buNone/>
                      </a:pP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Before</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After</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1F4E8C"/>
                    </a:solidFill>
                  </a:tcPr>
                </a:tc>
                <a:extLst>
                  <a:ext uri="{0D108BD9-81ED-4DB2-BD59-A6C34878D82A}">
                    <a16:rowId xmlns:a16="http://schemas.microsoft.com/office/drawing/2014/main" val="10000"/>
                  </a:ext>
                </a:extLst>
              </a:tr>
              <a:tr h="0">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Init reads</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one QUERY each</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one AGGREGATED READ (UFS&gt;=5.0) then cache</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Callers</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ufshcd_query_attr/flag_retry</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onsolas" pitchFamily="34" charset="0"/>
                          <a:ea typeface="Consolas" pitchFamily="34" charset="-122"/>
                          <a:cs typeface="Consolas" pitchFamily="34" charset="-120"/>
                        </a:rPr>
                        <a:t>ufshcd_read_attr / ufshcd_read_flag</a:t>
                      </a:r>
                      <a:endParaRPr lang="en-US" sz="900" dirty="0">
                        <a:latin typeface="Consolas" charset="0"/>
                        <a:ea typeface="Consolas" charset="0"/>
                        <a:cs typeface="Consolas"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2"/>
                  </a:ext>
                </a:extLst>
              </a:tr>
              <a:tr h="0">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Failure</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n/a</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retry, unsupported flag, fallback</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Memory</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none</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tc>
                  <a:txBody>
                    <a:bodyPr/>
                    <a:lstStyle/>
                    <a:p>
                      <a:pPr marL="0" indent="0">
                        <a:buNone/>
                      </a:pPr>
                      <a:r>
                        <a:rPr lang="en-US" sz="900" dirty="0">
                          <a:solidFill>
                            <a:srgbClr val="222222"/>
                          </a:solidFill>
                          <a:latin typeface="Calibri" pitchFamily="34" charset="0"/>
                          <a:ea typeface="Calibri" pitchFamily="34" charset="-122"/>
                          <a:cs typeface="Calibri" pitchFamily="34" charset="-120"/>
                        </a:rPr>
                        <a:t>temporary packet, freed at end of params init</a:t>
                      </a:r>
                      <a:endParaRPr lang="en-US" sz="900" dirty="0">
                        <a:latin typeface="Calibri" charset="0"/>
                        <a:ea typeface="Calibri" charset="0"/>
                        <a:cs typeface="Calibri" charset="0"/>
                      </a:endParaRPr>
                    </a:p>
                  </a:txBody>
                  <a:tcPr marL="36576" marR="36576" marT="36576" marB="36576">
                    <a:lnL w="9525" cap="flat" cmpd="sng" algn="ctr">
                      <a:solidFill>
                        <a:srgbClr val="C5D2E4"/>
                      </a:solidFill>
                      <a:prstDash val="solid"/>
                      <a:round/>
                      <a:headEnd type="none" w="med" len="med"/>
                      <a:tailEnd type="none" w="med" len="med"/>
                    </a:lnL>
                    <a:lnR w="9525" cap="flat" cmpd="sng" algn="ctr">
                      <a:solidFill>
                        <a:srgbClr val="C5D2E4"/>
                      </a:solidFill>
                      <a:prstDash val="solid"/>
                      <a:round/>
                      <a:headEnd type="none" w="med" len="med"/>
                      <a:tailEnd type="none" w="med" len="med"/>
                    </a:lnR>
                    <a:lnT w="9525" cap="flat" cmpd="sng" algn="ctr">
                      <a:solidFill>
                        <a:srgbClr val="C5D2E4"/>
                      </a:solidFill>
                      <a:prstDash val="solid"/>
                      <a:round/>
                      <a:headEnd type="none" w="med" len="med"/>
                      <a:tailEnd type="none" w="med" len="med"/>
                    </a:lnT>
                    <a:lnB w="9525" cap="flat" cmpd="sng" algn="ctr">
                      <a:solidFill>
                        <a:srgbClr val="C5D2E4"/>
                      </a:solidFill>
                      <a:prstDash val="solid"/>
                      <a:round/>
                      <a:headEnd type="none" w="med" len="med"/>
                      <a:tailEnd type="none" w="med" len="med"/>
                    </a:lnB>
                    <a:solidFill>
                      <a:srgbClr val="F2F6FB"/>
                    </a:solidFill>
                  </a:tcPr>
                </a:tc>
                <a:extLst>
                  <a:ext uri="{0D108BD9-81ED-4DB2-BD59-A6C34878D82A}">
                    <a16:rowId xmlns:a16="http://schemas.microsoft.com/office/drawing/2014/main" val="10004"/>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UFS 5.0 Aggregated Read - Patch Analysis</dc:title>
  <dc:subject>PptxGenJS Presentation</dc:subject>
  <dc:creator>PptxGenJS</dc:creator>
  <cp:lastModifiedBy>Shriharsha Harihar</cp:lastModifiedBy>
  <cp:revision>2</cp:revision>
  <dcterms:created xsi:type="dcterms:W3CDTF">2026-10-06T12:06:23Z</dcterms:created>
  <dcterms:modified xsi:type="dcterms:W3CDTF">2026-10-06T13:32:30Z</dcterms:modified>
</cp:coreProperties>
</file>