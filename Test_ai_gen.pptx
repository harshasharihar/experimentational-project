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this deck analyses the two attached patches only: [PATCH v2 1/2] 'scsi: ufs: Add the aggregated read query opcode and its reply format' and [PATCH v2 2/2] 'scsi: ufs: Serve the device init reads from one aggregated read', both by Hyeoncheol Jeong, both carrying Reviewed-by: Peter Wang, posted 30 Sep 2026. Everything here is derived from the patch text. Each claim is tagged VERIFIED (directly visible in the diff), INFERENCE (reasonable engineering reading, not proven by the diff) or NEEDS TESTING (needs runtime, fault injection, hardware or the JESD220H text). No test or benchmark was run; all results fields are 'Not Run'. Base-tree code that the diff does not show (for example the rest of ufshcd_copy_query_response(), the caller of ufshcd_set_rtt(), the definition of UPIU_QUERY_OPCODE_AGGREGATED_READ) is not assumed to behave in any particular way.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Diagram D1 (arrows): A1 baseline path - each init consumer issues its own query. A2 UFS 5.0 path - ufshcd_agg_read_begin() issues one AGGREGATED READ after wSpecVersion is known. A3 baseline values come back one query at a time. A4 patched values are served from hba-&gt;agg_packet. A5 fallback: any item not present in the packet, an older device or a rejected opcode goes to the existing individual query (verified in ufshcd_read_attr(), ufshcd_read_flag(), ufshcd_read_desc_param(), ufshcd_agg_read_begin()). The problem statement comes from the P2 commit message ('Device init reads several attributes and flags one query at a time') and is corroborated by the removed lines, which show direct ufshcd_query_attr_retry()/ufshcd_query_flag_retry() calls. The benefit (fewer transactions, shorter init) is a HYPOTHESIS: the patch carries no measurements. Key question for reviewers: are the values seen by consumers identical, and does every unsupported/failed path still end in a working init?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Statistics are taken from the stat block in each commit: P1 = 3 files, 51 insertions(+), 2 deletions(-) (ufshcd.c 7, ufs.h 44, ufshcd.h 2 changed lines); P2 = 3 files, 351 insertions(+), 18 deletions(-) (ufshcd.c 357, ufs.h 3, ufshcd.h 9). The +402/-20 series total is simply the arithmetic sum. Dependency: P2 uses enum ufs_agg_type, enum ufs_agg_group_type, QUERY_AGG_GROUP_HDR_SIZE, struct utp_agg_group_header and ufs_query_res::data_segment_length from P1, so P1 must precede it. Expected benefits are hypotheses (fewer UFS query transactions, possibly shorter init); none is measured. Limitations: only UFS &gt;= 5.0; sticky agg_read_unsupported flag; the cache is only consulted for index 0 attributes; call sites of ufshcd_set_rtt() and the WB lifetime function are not in the diff, so whether they run inside the begin/end window is not established.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Diagram D3 (arrows). Baseline: A1 each consumer calls its own *_retry helper; A2 each helper produces one QUERY transaction on the device. Patched: A3 ufshcd_agg_read_begin() stores one AGGREGATED READ reply in hba-&gt;agg_packet; A4 consumers go through ufshcd_read_attr()/ufshcd_read_flag()/ufshcd_read_desc_param(), which first look into the packet; A5 (amber) any miss falls back to the same individual query helper that was used before. VERIFIED baseline: the removed lines show ufshcd_query_attr_retry() in ufshcd_get_ref_clk_gating_wait(), ufshcd_is_wb_buf_lifetime_available() and ufshcd_set_rtt(), and ufshcd_query_flag_retry() in ufshcd_device_params_init(); the removed block in ufshcd_read_desc_param() is the unconditional ufshcd_query_descriptor_retry(). The ordering between those consumers is NOT claimed beyond what the diff shows (ufshcd_get_ref_clk_gating_wait() precedes the flag read inside ufshcd_device_params_init()). Sequence: device init -&gt; query operations -&gt; response processing -&gt; parameter initialization.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Diagram D2 (arrows). A1 solid: dependency, P2 consumes the P1 definitions (enum ufs_agg_type, enum ufs_agg_group_type, struct utp_agg_group_header, QUERY_AGG_GROUP_HDR_SIZE, ufs_query_res::data_segment_length, and the extended copy path). A2/A3 dashed: base-tree prerequisites. UPIU_QUERY_OPCODE_AGGREGATED_READ is USED by P1 (ufshcd_copy_query_response) and P2 (ufshcd_query_aggregated_read) but is not DEFINED in either diff - INFERENCE that it exists in the base tree, to be confirmed by a build. QUERY_AGGREGATED_MAX_SIZE (4096 - GENERAL_UPIU_REQUEST_SIZE) appears as unchanged context in P1's ufs.h hunk, so it pre-dates the series (VERIFIED). QUERY_REQ_RETRIES, dev_cmd_timeout, ufshcd_exec_dev_cmd(), ufshcd_init_query() and the *_retry helpers are likewise used but not defined here. Division of responsibility: P1 = pure plumbing (types + response capture), no behaviour change for existing opcodes except that data_segment_length is now recorded for every query response; P2 = all behaviour.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values copied from the P1 diff; BIT(n) gives 0x01..0x80. ufs_agg_type is a bit mask carried in the request OSF; the P2 code passes it as the 'idn' argument of ufshcd_init_query(). Group types distinguish FLAGS, ATTRS, DESCS (all descriptors with a unique IDN, i.e. everything but strings) and five string groups; only 0x00 is reserved. The commit message cites opcode 0x9 and JESD220H 10.7.9.14; the numeric opcode value itself is not part of the diff. Diagram D4 (arrows): A1 ufshcd_query_aggregated_read() fills the request (opcode AGGREGATED_READ, idn = agg_type, query_func STANDARD_READ_REQUEST, upiu_req.length = be16(buf_len)) and calls ufshcd_exec_dev_cmd(); A2 dashed, the UPIU exchange on the wire (conceptual); A3 dashed, the response reaches ufshcd_copy_query_response() - the call from the exec path is NOT in the diff (INFERENCE); A4 dashed, the data segment is copied into hba-&gt;dev_cmd.query.descriptor (= caller buf) - the copy body lies outside the hunk, so this relies on the commit message. VERIFIED response-copy edits: data_segment_length = be16_to_cpu(header.data_segment_length) for every query response; the descriptor branch now also fires for UPIU_QUERY_OPCODE_AGGREGATED_READ. NEEDS TESTING: that the existing resp_len clamp inside that branch also bounds aggregated replies.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D11 arrows: A1 ufs_get_device_desc() parses the device descriptor; the context lines show the SPEC_VER bytes being assembled just before the new code, and begin() tests hba-&gt;dev_info.wspecversion, so wSpecVersion is available at this point (target field name inferred from begin()/ufshcd_set_rtt()). A2 the five string-descriptor indexes are stored in hba-&gt;agg_str_idx[0..4] (MANF_NAME, PRDCT_NAME, OEM_ID, SN, PRDCT_REV) unconditionally, before the version gate. A3 begin() is called with ALL_ATTRS | ALL_FLAGS | STRING_DESC and returns early if wspecversion &lt; 0x500 or agg_read_unsupported. A4 ufshcd_device_params_init() runs ufshcd_get_ref_clk_gating_wait() and ufshcd_read_flag(); the single ufshcd_agg_read_end() is placed at its out: label. Important qualification: where ufshcd_set_rtt() and the WriteBooster lifetime function are called relative to this window is not in the diff (NEEDS TESTING). D9 arrows: C1 kzalloc succeeded; C2 query succeeded (loop breaks on first success); C3 end() frees, NULLs and zeroes the length; C4 allocation failure returns silently - no flag, no log; C5 all QUERY_REQ_RETRIES attempts failed: dev_dbg, agg_read_unsupported = true, kfree; C6 per-item misses use the existing queries. The sticky flag is set for ANY failure, not only a genuine 'unsupported' reply (VERIFIED code; semantic effect NEEDS TESTING).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D5 is a memory-layout view; the FLAGS / ATTRS / STRING order shown is ILLUSTRATIVE - the patch never fixes the order of groups, and ufshcd_agg_group() finds a group by type wherever it is. A1 (dashed) expands the 4-byte header: group_type (u8, offset 0), reserved (u8, offset 1), next_group_offset (__be16, offsets 2-3). Payload layouts differ by group (VERIFIED from the parsers): FLAGS - ufshcd_agg_flag() reads group_buf[idn], one byte per flag indexed by IDN; ATTRS - ufshcd_agg_attr() sums ufs_agg_attr_width[] for all IDNs below idn and assembles the value most-significant byte first; DESCS - ufshcd_agg_desc() walks back-to-back descriptors using the length byte at QUERY_DESC_LENGTH_OFFSET (and matches UNIT descriptors on UNIT_DESC_PARAM_UNIT_INDEX); STRING groups - ufshcd_agg_string() reads one string descriptor whose length byte is checked against the group length. next_group_offset is documented in the P1 kernel-doc as a byte offset from the start of the packet with zero ending the chain, and ufshcd_agg_group() implements exactly that (VERIFIED). D6 arrows: T1 first group's next_group_offset = N1 (offset from packet start); T2 next = N2; T3 next = 0 ends the chain and the last group length is agg_packet_len - payload_off; T4 group_type equals the requested type -&gt; payload pointer and group_len returned; T5 invalid offset (next &lt; payload_off or next + 4 &gt; packet_len) returns NULL, which makes the wrappers fall back. Strict monotonic progress (next &gt;= payload_off &gt; group_off) guarantees termination. u16 arithmetic is promoted to int in C, so group_off + 4 cannot wrap. NEEDS TESTING: agg_packet_len larger than the allocated buffer (see slide 13).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D7 shows the consume path; the acquire/release path (begin -&gt; ufshcd_query_aggregated_read -&gt; exec_dev_cmd -&gt; copy_query_response, and end) is drawn in D4 and D11/D9 so this diagram stays readable. Row 1: A1 three existing functions call ufshcd_read_attr() (VERIFIED by the diff: ufshcd_get_ref_clk_gating_wait(), ufshcd_is_wb_buf_lifetime_available(), ufshcd_set_rtt()); A2 for index 0 it tries ufshcd_agg_attr(); A3 the parser finds the ATTRS group via ufshcd_agg_group(); A4 (amber) -ENOENT or index != 0 falls through to ufshcd_query_attr_retry(). Row 2: A5 ufshcd_device_params_init() calls ufshcd_read_flag(); A6 ufshcd_agg_flag(); A7 ufshcd_agg_group(); A8 fallback ufshcd_query_flag_retry(). Row 3: A9 (dashed) the string readers are not in the diff - ufs_get_device_desc() and ufshcd_create_device_id() are named by the commit message, but their string-read code is not shown, so the link to ufshcd_read_desc_param() is INFERENCE; A10 ufshcd_read_desc_param() calls ufshcd_agg_desc() (VERIFIED), which delegates STRING requests to ufshcd_agg_string(); A11 both end in ufshcd_agg_group(); A12 fallback ufshcd_query_descriptor_retry(). Relationships deliberately NOT drawn: ufshcd_wb_probe() -&gt; ufshcd_is_wb_buf_lifetime_available() (not in the diff), and ufshcd_set_rtt()'s caller.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Ownership and lifetime (VERIFIED from code): hba-&gt;agg_packet is allocated by ufshcd_agg_read_begin() with kzalloc(QUERY_AGGREGATED_MAX_SIZE, GFP_KERNEL) - zeroed 'so a device over-reporting LENGTH terminates the walk safely', per the code comment - and released by ufshcd_agg_read_end() with kfree(), which also NULLs the pointer and zeroes agg_packet_len. begin() does not free a previous pointer before assigning, and end() is only placed at the out: label of ufshcd_device_params_init(), so correctness depends on begin()/end() being strictly paired per init (NEEDS TESTING). agg_packet_len is set from the u16 data_segment_length returned through *buf_len; nothing in the diff compares it with QUERY_AGGREGATED_MAX_SIZE after the call (the request length is bounded before the call). agg_str_idx has PRODUCT_REV_STR - MANUFACTURER_STR + 1 = 5 entries, indexed by group type minus UFS_AGG_GROUP_MANUFACTURER_STR. agg_read_unsupported lives in ufs_dev_info and is never cleared in the diff. The numeric value of QUERY_AGGREGATED_MAX_SIZE depends on GENERAL_UPIU_REQUEST_SIZE, which is not in the diff, so no number is stated.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IDN numbers (0x0c, 0x17, 0x1e, 0x03) come from the P2 commit message; the macro values themselves are not in the diff. Corrections to the supplied associations: (1) the function actually edited for bWriteBoosterBufferLifeTimeEst is ufshcd_is_wb_buf_lifetime_available() (named in the hunk header); the commit message says ufshcd_wb_probe(), and the diff does not show the call between them (INFERENCE). (2) The shared-buffer qualification is not enforced by name in the code: ufshcd_read_attr() uses the cache only when index == 0, and the index comes from ufshcd_wb_get_query_index(), whose body is not in the diff. That index 0 corresponds to shared-buffer mode is the commit message's statement (INFERENCE). (3) For strings, the diff changes neither ufs_get_device_desc()'s string read nor ufshcd_create_device_id(); the cache is reached through ufshcd_read_desc_param() -&gt; ufshcd_agg_desc() -&gt; ufshcd_agg_string() with the index matched against agg_str_idx[] (Product Name = group 0x05 via agg_str_idx[1], Serial Number = group 0x07 via agg_str_idx[3]). Whether those callers use ufshcd_read_desc_param() is INFERENCE. Version gates: ufshcd_set_rtt() still returns for wspecversion &lt; 0x400, ufshcd_get_ref_clk_gating_wait() still requires &gt;= 0x300; the aggregated read itself needs &gt;= 0x500. Requested groups (ALL_ATTRS, ALL_FLAGS, STRING_DESC) are a superset of the six documented consumers: other index-0 attribute/flag reads and the other three string groups could also hit the cache, but only these six are documented by the patch. Nothing is 'always cached'.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D8 arrows: A1 version below 0x500 or agg_read_unsupported already set -&gt; begin() returns, agg_packet stays NULL, every read uses the pre-existing query (VERIFIED). A2 gate passed. A3 kzalloc failed -&gt; silent return: no log, no unsupported flag (VERIFIED). A4 allocation ok. A5 all QUERY_REQ_RETRIES attempts failed -&gt; dev_dbg, agg_read_unsupported = true, kfree (VERIFIED); note the flag is set for any failure type, so a transient timeout also disables aggregation for later inits unless dev_info is rebuilt (NEEDS TESTING). A6 success -&gt; agg_packet and agg_packet_len set. A7 group/item missing, index != 0, or invalid offset in the chain -&gt; ufshcd_agg_group()/parsers return NULL or -ENOENT -&gt; existing query (VERIFIED by code reading; runtime behaviour NEEDS TESTING). A8 found -&gt; cached value used. Not established by the diff: behaviour when data_segment_length exceeds the buffer, or when the device returns a truncated packet whose last group is cut short (the parsers bound everything by agg_packet_len, but that length is only as trustworthy as the copy path). Repeated initialization: end() NULLs the pointer, but begin() does not free an existing one, so a skipped end() would leak and then overwrite (INFERENCE). Cleanup depends on every exit of device_params_init reaching out:, which cannot be checked from the diff.</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risk is not a confirmed bug: only the rows marked VERIFIED are statements about the code as written. F2: ufshcd_agg_read_begin() stores len, which ufshcd_query_aggregated_read() overwrote with response-&gt;data_segment_length (u16). The buffer is QUERY_AGGREGATED_MAX_SIZE. Whether the copy loop in ufshcd_copy_query_response() clamps resp_len to the supplied buffer is outside the hunk; if it does not, agg_packet_len could exceed the allocation and the parsers would read past it. Needs a KASAN-instrumented harness. F3: the retry loop treats every non-zero return the same; the dev_dbg text says 'unsupported'. F4: begin() is in ufs_get_device_desc() and end() only at out: of ufshcd_device_params_init(); any path that skips the latter leaves the packet allocated until the next begin() overwrites the pointer. F6: on a cache hit the code does memcpy(desc_buf, descp, desc_len) and sets ret = 0 but does not update buff_len; the lines that follow ('Update descriptor length') are not in the hunk, so their effect on a cache hit is unknown. F7/F8: parsers hard-code the layout (packed IDN order with a width table cited as JESD220H Table 14.28; flags one byte per IDN) - correct only if that matches the spec text, which this analysis did not have. The literal [0x1b] = 1 entry has no symbolic name. F10: duplicate string indexes match the first agg_str_idx entry. F12: agg_packet is accessed without locking; init is presumed single-threaded.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D12 is a PROPOSED workflow, hence all arrows are dashed. B1 fix hardware: identical UFS 5.0 device and firmware, kernel config and device tree, same init workload. B2 add instrumentation. B3 baseline runs on the base tree without the series, B4 patched runs, B5 fault-injection runs, B6 compare and report. Instrumentation status: nothing here is 'existing and verified'. Candidates are temporary counters in ufshcd_query_attr_retry(), ufshcd_query_flag_retry(), ufshcd_query_descriptor_retry() and ufshcd_query_aggregated_read(), dynamic debug (the patch adds a dev_dbg message 'aggregated read unsupported, using individual queries'), or function tracing. Whether UFS tracepoints exist and which fields they expose in the target kernel must be checked before use; no tracepoint names are assumed. Repeat each configuration N times (cold start and re-initialization are different populations), report sample count, median, mean and spread (min/max or standard deviation). Keep the same temperature/power state across runs. A lower query count and shorter init support the hypothesis only if the correctness checks (appendix A6) pass.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twelve scenarios are PROPOSED; none has been executed, so every Result is 'Not Run'. Expected paths are derived from the code: scenario 2 -&gt; begin() early return on wspecversion &lt; 0x500; 3 and 8 -&gt; retry exhaustion sets agg_read_unsupported; 4/5/6 -&gt; -ENOENT or NULL from ufshcd_agg_attr/flag/desc leading to the *_retry helpers; 7 -&gt; silent return after kzalloc failure; 9 -&gt; ufshcd_agg_group() returns NULL for invalid offsets, while truncated payload behaviour is the open question (F2, F6); 11/12 -&gt; ufshcd_read_attr() only consults the cache for index 0. 'Expected fallback' is stated only where the code demonstrates it; for scenario 9 the fallback is explicitly something to observe, not a promise. Scenarios 3 and 8 need a controllable device model or a fault-injection hook in the query path because a real UFS 5.0 device that rejects the opcode may not be available.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is intentionally blank. Percentage change = ((Patch enabled - Baseline) / Baseline) x 100%. If the baseline is zero the percentage is undefined / not applicable and must be reported as such (this can happen for aggregated query count, which is expected to be 0 on the baseline kernel). Interpretation guard: fewer total query transactions and a lower initialization duration would support the optimisation hypothesis only if every correctness check passes. A speed-up is not guaranteed: the aggregated reply is larger (up to QUERY_AGGREGATED_MAX_SIZE), is copied and parsed on the CPU, and a failed aggregated query adds extra attempts (up to QUERY_REQ_RETRIES) before falling back. Report sample count, median, mean and spread per cell. The three extra rows (execution time, cache hits/fallbacks, CPU overhead) come from the requested measurement plan.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Supported conclusions are those the diff proves. Unproven hypotheses are the performance claims. Validation priorities are ordered by risk: first build-level dependency (opcode definition), then memory-safety of the packet walk against over-long or malformed replies (F2, F6), then lifecycle (F4, F5) and the sticky flag (F3), then spec conformance of the attribute/flag layouts (F7, F8), and only then measurement. Ask the author: (a) is the copy path bounded by the supplied buffer? (b) should agg_read_unsupported be set only for a genuine rejection? (c) can begin() be called twice without end()? (d) should the cache window be tied to a scoped helper to make pairing structural?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Locations use the function named in each diff hunk header or the unchanged context shown in the hunk, because absolute line numbers are not reliable for a patch posted against a moving tree. New code in P2 forms one contiguous block inserted after ufshcd_query_descriptor_retry() and before ufshcd_read_desc_param(). Not in any diff and therefore not modified: ufshcd_wb_probe(), ufshcd_create_device_id(), ufshcd_exec_dev_cmd(), ufshcd_init_query(), the body of ufshcd_copy_query_response() beyond the shown hunk.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'Verified call relationship' entry is a call visible in the P2 diff. The inverse (what calls what) is only claimed where the call sits in a changed hunk. ufshcd_agg_desc() calls ufshcd_agg_group() directly for non-string IDNs and ufshcd_agg_string() for QUERY_DESC_IDN_STRING. The request mask used by this series does not include any non-string descriptor group, so the DESCS branch is expected to return NULL for this series' requests (VERIFIED by mask plus code).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Return types shown as 'not shown' are not visible in the supplied hunks. ufshcd_wb_probe() and ufshcd_create_device_id() are named only in the P2 commit message; the diff neither modifies nor calls them, so no call relationship is claimed. ufshcd_get_ref_clk_gating_wait() is called from ufshcd_device_params_init(), which is visible as unchanged context around the modified flag-read line.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D10 arrows (two per lane): first the wrapper invokes its parser, then the parser reads its group. Payload layouts are NOT identical (VERIFIED from code): ATTRS - values packed in IDN order using ufs_agg_attr_width[], big-endian; FLAGS - one byte per IDN, indexed directly; DESCS - descriptors back to back, each starting with a length byte, UNIT descriptors matched on UNIT_DESC_PARAM_UNIT_INDEX (not requested by this series); STRING groups - one string descriptor per group (0x04-0x08), selected by matching the requested string index against agg_str_idx[]; length byte validated against group length. Spec conformance of these layouts to JESD220H is NEEDS TESTING.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Scenarios 4-6 require a controlled harness or fault-injection layer in the query path because real devices will normally return the groups requested. Expected fallbacks follow the code: ufshcd_read_attr() and ufshcd_read_flag() fall back on any non-zero parser return; ufshcd_read_desc_param() falls back when ufshcd_agg_desc() returns NULL. For the string case, ufshcd_agg_string() also rejects a length byte below QUERY_DESC_HDR_SIZE or above the group length, which is a cheap malformed-input check. Results: Not Run.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9 is the memory-safety test: use a KASAN-enabled kernel and a harness that injects crafted reply packets into hba-&gt;dev_cmd; it answers F2 and F6 from the review. Scenarios 11 and 12 depend on ufshcd_wb_get_query_index(), whose body is not in the diff, so the exact condition for index 0 must be read from the target tree. Results: Not Run.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Checklist items map to the findings: stale data after re-init (F4), invalid cache after failure (F2, F3), lifecycle boundary (F4, F5). Recommended tooling, none of which has been run: build the series on the intended base tree for arm64 and x86 with UFS enabled; scripts/checkpatch.pl; sparse and smatch or coccinelle for the new parsers; KASAN, KFENCE and kmemleak plus failslab fault injection for the allocation and malformed-packet cases; dmesg and dynamic debug for the dev_dbg message; function-level tracing for query counts. No tracepoint names are claimed because availability in the target kernel has not been verified.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626"/>
        </a:solidFill>
        <a:effectLst/>
      </p:bgPr>
    </p:bg>
    <p:spTree>
      <p:nvGrpSpPr>
        <p:cNvPr id="1" name=""/>
        <p:cNvGrpSpPr/>
        <p:nvPr/>
      </p:nvGrpSpPr>
      <p:grpSpPr/>
      <p:sp>
        <p:nvSpPr>
          <p:cNvPr id="2" name="Title"/>
          <p:cNvSpPr txBox="1"/>
          <p:nvPr/>
        </p:nvSpPr>
        <p:spPr>
          <a:xfrm>
            <a:off x="457200" y="274320"/>
            <a:ext cx="11247120" cy="548640"/>
          </a:xfrm>
          <a:prstGeom prst="rect">
            <a:avLst/>
          </a:prstGeom>
          <a:noFill/>
        </p:spPr>
        <p:txBody>
          <a:bodyPr wrap="square" anchor="ctr" lIns="36576" rIns="36576" tIns="18288" bIns="18288">
            <a:spAutoFit/>
          </a:bodyPr>
          <a:lstStyle/>
          <a:p>
            <a:r>
              <a:rPr sz="2400" b="1" i="0">
                <a:solidFill>
                  <a:srgbClr val="E8EEF6"/>
                </a:solidFill>
                <a:latin typeface="Calibri"/>
              </a:rPr>
              <a:t>UFS 5.0 Aggregated Read: Linux Kernel Patch Analysis</a:t>
            </a:r>
          </a:p>
        </p:txBody>
      </p:sp>
      <p:sp>
        <p:nvSpPr>
          <p:cNvPr id="3" name="Slide Number"/>
          <p:cNvSpPr txBox="1"/>
          <p:nvPr/>
        </p:nvSpPr>
        <p:spPr>
          <a:xfrm>
            <a:off x="11064240" y="6473952"/>
            <a:ext cx="685800" cy="256032"/>
          </a:xfrm>
          <a:prstGeom prst="rect">
            <a:avLst/>
          </a:prstGeom>
          <a:noFill/>
        </p:spPr>
        <p:txBody>
          <a:bodyPr wrap="none">
            <a:spAutoFit/>
          </a:bodyPr>
          <a:lstStyle/>
          <a:p>
            <a:pPr algn="r"/>
            <a:fld id="{B6F15528-21DE-4FAA-801E-634DDDAF4B2B}" type="slidenum">
              <a:rPr lang="en-US" sz="1100">
                <a:solidFill>
                  <a:srgbClr val="A9B8CC"/>
                </a:solidFill>
                <a:latin typeface="Calibri"/>
              </a:rPr>
              <a:t>1</a:t>
            </a:fld>
          </a:p>
        </p:txBody>
      </p:sp>
      <p:sp>
        <p:nvSpPr>
          <p:cNvPr id="4" name="TextBox 3"/>
          <p:cNvSpPr txBox="1"/>
          <p:nvPr/>
        </p:nvSpPr>
        <p:spPr>
          <a:xfrm>
            <a:off x="731520" y="1554480"/>
            <a:ext cx="10698480" cy="1371600"/>
          </a:xfrm>
          <a:prstGeom prst="rect">
            <a:avLst/>
          </a:prstGeom>
          <a:noFill/>
        </p:spPr>
        <p:txBody>
          <a:bodyPr wrap="square" anchor="t" lIns="36576" rIns="36576" tIns="18288" bIns="18288">
            <a:spAutoFit/>
          </a:bodyPr>
          <a:lstStyle/>
          <a:p>
            <a:r>
              <a:rPr sz="4400" b="1" i="0">
                <a:solidFill>
                  <a:srgbClr val="E8EEF6"/>
                </a:solidFill>
                <a:latin typeface="Calibri"/>
              </a:rPr>
              <a:t>UFS 5.0 Aggregated Read:</a:t>
            </a:r>
          </a:p>
          <a:p>
            <a:r>
              <a:rPr sz="4400" b="1" i="0">
                <a:solidFill>
                  <a:srgbClr val="2DD4BF"/>
                </a:solidFill>
                <a:latin typeface="Calibri"/>
              </a:rPr>
              <a:t>Linux Kernel Patch Analysis</a:t>
            </a:r>
          </a:p>
        </p:txBody>
      </p:sp>
      <p:sp>
        <p:nvSpPr>
          <p:cNvPr id="5" name="TextBox 4"/>
          <p:cNvSpPr txBox="1"/>
          <p:nvPr/>
        </p:nvSpPr>
        <p:spPr>
          <a:xfrm>
            <a:off x="731520" y="3154680"/>
            <a:ext cx="10698480" cy="822960"/>
          </a:xfrm>
          <a:prstGeom prst="rect">
            <a:avLst/>
          </a:prstGeom>
          <a:noFill/>
        </p:spPr>
        <p:txBody>
          <a:bodyPr wrap="square" anchor="t" lIns="36576" rIns="36576" tIns="18288" bIns="18288">
            <a:spAutoFit/>
          </a:bodyPr>
          <a:lstStyle/>
          <a:p>
            <a:pPr>
              <a:spcAft>
                <a:spcPts val="400"/>
              </a:spcAft>
            </a:pPr>
            <a:r>
              <a:rPr sz="1600" b="0" i="0">
                <a:solidFill>
                  <a:srgbClr val="E8EEF6"/>
                </a:solidFill>
                <a:latin typeface="Calibri"/>
              </a:rPr>
              <a:t>[PATCH v2 1/2] scsi: ufs: Add the aggregated read query opcode and its reply format</a:t>
            </a:r>
          </a:p>
          <a:p>
            <a:pPr>
              <a:spcAft>
                <a:spcPts val="400"/>
              </a:spcAft>
            </a:pPr>
            <a:r>
              <a:rPr sz="1600" b="0" i="0">
                <a:solidFill>
                  <a:srgbClr val="E8EEF6"/>
                </a:solidFill>
                <a:latin typeface="Calibri"/>
              </a:rPr>
              <a:t>[PATCH v2 2/2] scsi: ufs: Serve the device init reads from one aggregated read</a:t>
            </a:r>
          </a:p>
        </p:txBody>
      </p:sp>
      <p:sp>
        <p:nvSpPr>
          <p:cNvPr id="6" name="TextBox 5"/>
          <p:cNvSpPr txBox="1"/>
          <p:nvPr/>
        </p:nvSpPr>
        <p:spPr>
          <a:xfrm>
            <a:off x="731520" y="4023360"/>
            <a:ext cx="10698480" cy="548640"/>
          </a:xfrm>
          <a:prstGeom prst="rect">
            <a:avLst/>
          </a:prstGeom>
          <a:noFill/>
        </p:spPr>
        <p:txBody>
          <a:bodyPr wrap="square" anchor="t" lIns="36576" rIns="36576" tIns="18288" bIns="18288">
            <a:spAutoFit/>
          </a:bodyPr>
          <a:lstStyle/>
          <a:p>
            <a:r>
              <a:rPr sz="1300" b="0" i="0">
                <a:solidFill>
                  <a:srgbClr val="A9B8CC"/>
                </a:solidFill>
                <a:latin typeface="Calibri"/>
              </a:rPr>
              <a:t>Author: Hyeoncheol Jeong · Reviewed-by: Peter Wang · Files: drivers/ufs/core/ufshcd.c, include/ufs/ufs.h, include/ufs/ufshcd.h</a:t>
            </a:r>
          </a:p>
        </p:txBody>
      </p:sp>
      <p:sp>
        <p:nvSpPr>
          <p:cNvPr id="7" name="Rounded Rectangle 6"/>
          <p:cNvSpPr/>
          <p:nvPr/>
        </p:nvSpPr>
        <p:spPr>
          <a:xfrm>
            <a:off x="731520" y="4800600"/>
            <a:ext cx="1463040" cy="256032"/>
          </a:xfrm>
          <a:prstGeom prst="roundRect">
            <a:avLst>
              <a:gd name="adj" fmla="val 50000"/>
            </a:avLst>
          </a:prstGeom>
          <a:solidFill>
            <a:srgbClr val="14243B"/>
          </a:solidFill>
          <a:ln w="12700">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i="0">
                <a:solidFill>
                  <a:srgbClr val="4ADE80"/>
                </a:solidFill>
                <a:latin typeface="Calibri"/>
              </a:rPr>
              <a:t>VERIFIED</a:t>
            </a:r>
          </a:p>
        </p:txBody>
      </p:sp>
      <p:sp>
        <p:nvSpPr>
          <p:cNvPr id="8" name="TextBox 7"/>
          <p:cNvSpPr txBox="1"/>
          <p:nvPr/>
        </p:nvSpPr>
        <p:spPr>
          <a:xfrm>
            <a:off x="2286000" y="4800600"/>
            <a:ext cx="2377440" cy="274320"/>
          </a:xfrm>
          <a:prstGeom prst="rect">
            <a:avLst/>
          </a:prstGeom>
          <a:noFill/>
        </p:spPr>
        <p:txBody>
          <a:bodyPr wrap="square" anchor="t" lIns="36576" rIns="36576" tIns="18288" bIns="18288">
            <a:spAutoFit/>
          </a:bodyPr>
          <a:lstStyle/>
          <a:p>
            <a:r>
              <a:rPr sz="1100" b="0" i="0">
                <a:solidFill>
                  <a:srgbClr val="A9B8CC"/>
                </a:solidFill>
                <a:latin typeface="Calibri"/>
              </a:rPr>
              <a:t>directly supported by the diff</a:t>
            </a:r>
          </a:p>
        </p:txBody>
      </p:sp>
      <p:sp>
        <p:nvSpPr>
          <p:cNvPr id="9" name="Rounded Rectangle 8"/>
          <p:cNvSpPr/>
          <p:nvPr/>
        </p:nvSpPr>
        <p:spPr>
          <a:xfrm>
            <a:off x="4754880" y="4800600"/>
            <a:ext cx="1463040" cy="256032"/>
          </a:xfrm>
          <a:prstGeom prst="roundRect">
            <a:avLst>
              <a:gd name="adj" fmla="val 50000"/>
            </a:avLst>
          </a:prstGeom>
          <a:solidFill>
            <a:srgbClr val="14243B"/>
          </a:solidFill>
          <a:ln w="12700">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i="0">
                <a:solidFill>
                  <a:srgbClr val="FBBF24"/>
                </a:solidFill>
                <a:latin typeface="Calibri"/>
              </a:rPr>
              <a:t>INFERENCE</a:t>
            </a:r>
          </a:p>
        </p:txBody>
      </p:sp>
      <p:sp>
        <p:nvSpPr>
          <p:cNvPr id="10" name="TextBox 9"/>
          <p:cNvSpPr txBox="1"/>
          <p:nvPr/>
        </p:nvSpPr>
        <p:spPr>
          <a:xfrm>
            <a:off x="6309360" y="4800600"/>
            <a:ext cx="2377440" cy="274320"/>
          </a:xfrm>
          <a:prstGeom prst="rect">
            <a:avLst/>
          </a:prstGeom>
          <a:noFill/>
        </p:spPr>
        <p:txBody>
          <a:bodyPr wrap="square" anchor="t" lIns="36576" rIns="36576" tIns="18288" bIns="18288">
            <a:spAutoFit/>
          </a:bodyPr>
          <a:lstStyle/>
          <a:p>
            <a:r>
              <a:rPr sz="1100" b="0" i="0">
                <a:solidFill>
                  <a:srgbClr val="A9B8CC"/>
                </a:solidFill>
                <a:latin typeface="Calibri"/>
              </a:rPr>
              <a:t>engineering interpretation</a:t>
            </a:r>
          </a:p>
        </p:txBody>
      </p:sp>
      <p:sp>
        <p:nvSpPr>
          <p:cNvPr id="11" name="Rounded Rectangle 10"/>
          <p:cNvSpPr/>
          <p:nvPr/>
        </p:nvSpPr>
        <p:spPr>
          <a:xfrm>
            <a:off x="8595360" y="4800600"/>
            <a:ext cx="1737360" cy="256032"/>
          </a:xfrm>
          <a:prstGeom prst="roundRect">
            <a:avLst>
              <a:gd name="adj" fmla="val 50000"/>
            </a:avLst>
          </a:prstGeom>
          <a:solidFill>
            <a:srgbClr val="14243B"/>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i="0">
                <a:solidFill>
                  <a:srgbClr val="F87171"/>
                </a:solidFill>
                <a:latin typeface="Calibri"/>
              </a:rPr>
              <a:t>NEEDS TESTING</a:t>
            </a:r>
          </a:p>
        </p:txBody>
      </p:sp>
      <p:sp>
        <p:nvSpPr>
          <p:cNvPr id="12" name="TextBox 11"/>
          <p:cNvSpPr txBox="1"/>
          <p:nvPr/>
        </p:nvSpPr>
        <p:spPr>
          <a:xfrm>
            <a:off x="10424160" y="4800600"/>
            <a:ext cx="1463040" cy="274320"/>
          </a:xfrm>
          <a:prstGeom prst="rect">
            <a:avLst/>
          </a:prstGeom>
          <a:noFill/>
        </p:spPr>
        <p:txBody>
          <a:bodyPr wrap="square" anchor="t" lIns="36576" rIns="36576" tIns="18288" bIns="18288">
            <a:spAutoFit/>
          </a:bodyPr>
          <a:lstStyle/>
          <a:p>
            <a:r>
              <a:rPr sz="1100" b="0" i="0">
                <a:solidFill>
                  <a:srgbClr val="A9B8CC"/>
                </a:solidFill>
                <a:latin typeface="Calibri"/>
              </a:rPr>
              <a:t>runtime / spec check</a:t>
            </a:r>
          </a:p>
        </p:txBody>
      </p:sp>
      <p:sp>
        <p:nvSpPr>
          <p:cNvPr id="13" name="Rounded Rectangle 12"/>
          <p:cNvSpPr/>
          <p:nvPr/>
        </p:nvSpPr>
        <p:spPr>
          <a:xfrm>
            <a:off x="731520" y="5394960"/>
            <a:ext cx="10881360" cy="640080"/>
          </a:xfrm>
          <a:prstGeom prst="roundRect">
            <a:avLst>
              <a:gd name="adj" fmla="val 4000"/>
            </a:avLst>
          </a:prstGeom>
          <a:solidFill>
            <a:srgbClr val="14243B"/>
          </a:solidFill>
          <a:ln w="9525">
            <a:solidFill>
              <a:srgbClr val="3A52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440680"/>
            <a:ext cx="10515600" cy="548640"/>
          </a:xfrm>
          <a:prstGeom prst="rect">
            <a:avLst/>
          </a:prstGeom>
          <a:noFill/>
        </p:spPr>
        <p:txBody>
          <a:bodyPr wrap="square" anchor="ctr" lIns="36576" rIns="36576" tIns="18288" bIns="18288">
            <a:spAutoFit/>
          </a:bodyPr>
          <a:lstStyle/>
          <a:p>
            <a:r>
              <a:rPr sz="1300" b="1" i="0">
                <a:solidFill>
                  <a:srgbClr val="FBBF24"/>
                </a:solidFill>
                <a:latin typeface="Calibri"/>
              </a:rPr>
              <a:t>Status: </a:t>
            </a:r>
            <a:r>
              <a:rPr sz="1300" b="0" i="0">
                <a:solidFill>
                  <a:srgbClr val="E8EEF6"/>
                </a:solidFill>
                <a:latin typeface="Calibri"/>
              </a:rPr>
              <a:t>analysis of patch text only. No tests, benchmarks or hardware runs were performed; every result field in this deck is "Not Run" / TBD.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626"/>
        </a:solidFill>
        <a:effectLst/>
      </p:bgPr>
    </p:bg>
    <p:spTree>
      <p:nvGrpSpPr>
        <p:cNvPr id="1" name=""/>
        <p:cNvGrpSpPr/>
        <p:nvPr/>
      </p:nvGrpSpPr>
      <p:grpSpPr/>
      <p:sp>
        <p:nvSpPr>
          <p:cNvPr id="2" name="Title"/>
          <p:cNvSpPr txBox="1"/>
          <p:nvPr/>
        </p:nvSpPr>
        <p:spPr>
          <a:xfrm>
            <a:off x="457200" y="274320"/>
            <a:ext cx="11247120" cy="548640"/>
          </a:xfrm>
          <a:prstGeom prst="rect">
            <a:avLst/>
          </a:prstGeom>
          <a:noFill/>
        </p:spPr>
        <p:txBody>
          <a:bodyPr wrap="square" anchor="ctr" lIns="36576" rIns="36576" tIns="18288" bIns="18288">
            <a:spAutoFit/>
          </a:bodyPr>
          <a:lstStyle/>
          <a:p>
            <a:r>
              <a:rPr sz="2400" b="1" i="0">
                <a:solidFill>
                  <a:srgbClr val="E8EEF6"/>
                </a:solidFill>
                <a:latin typeface="Calibri"/>
              </a:rPr>
              <a:t>Purpose and Scope: Reducing Device-Init Query Transactions</a:t>
            </a:r>
          </a:p>
        </p:txBody>
      </p:sp>
      <p:sp>
        <p:nvSpPr>
          <p:cNvPr id="3" name="Source"/>
          <p:cNvSpPr txBox="1"/>
          <p:nvPr/>
        </p:nvSpPr>
        <p:spPr>
          <a:xfrm>
            <a:off x="457200" y="6473952"/>
            <a:ext cx="10424160" cy="256032"/>
          </a:xfrm>
          <a:prstGeom prst="rect">
            <a:avLst/>
          </a:prstGeom>
          <a:noFill/>
        </p:spPr>
        <p:txBody>
          <a:bodyPr wrap="square" anchor="t" lIns="36576" rIns="36576" tIns="18288" bIns="18288">
            <a:spAutoFit/>
          </a:bodyPr>
          <a:lstStyle/>
          <a:p>
            <a:r>
              <a:rPr sz="1000" b="0" i="0">
                <a:solidFill>
                  <a:srgbClr val="A9B8CC"/>
                </a:solidFill>
                <a:latin typeface="Calibri"/>
              </a:rPr>
              <a:t>Source: [PATCH v2 2/2] commit message; drivers/ufs/core/ufshcd.c — ufshcd_agg_read_begin(), ufshcd_device_params_init()</a:t>
            </a:r>
          </a:p>
        </p:txBody>
      </p:sp>
      <p:sp>
        <p:nvSpPr>
          <p:cNvPr id="4" name="Slide Number"/>
          <p:cNvSpPr txBox="1"/>
          <p:nvPr/>
        </p:nvSpPr>
        <p:spPr>
          <a:xfrm>
            <a:off x="11064240" y="6473952"/>
            <a:ext cx="685800" cy="256032"/>
          </a:xfrm>
          <a:prstGeom prst="rect">
            <a:avLst/>
          </a:prstGeom>
          <a:noFill/>
        </p:spPr>
        <p:txBody>
          <a:bodyPr wrap="none">
            <a:spAutoFit/>
          </a:bodyPr>
          <a:lstStyle/>
          <a:p>
            <a:pPr algn="r"/>
            <a:fld id="{B6F15528-21DE-4FAA-801E-634DDDAF4B2B}" type="slidenum">
              <a:rPr lang="en-US" sz="1100">
                <a:solidFill>
                  <a:srgbClr val="A9B8CC"/>
                </a:solidFill>
                <a:latin typeface="Calibri"/>
              </a:rPr>
              <a:t>2</a:t>
            </a:fld>
          </a:p>
        </p:txBody>
      </p:sp>
      <p:sp>
        <p:nvSpPr>
          <p:cNvPr id="5" name="TextBox 4"/>
          <p:cNvSpPr txBox="1"/>
          <p:nvPr/>
        </p:nvSpPr>
        <p:spPr>
          <a:xfrm>
            <a:off x="457200" y="1097280"/>
            <a:ext cx="5486400" cy="274320"/>
          </a:xfrm>
          <a:prstGeom prst="rect">
            <a:avLst/>
          </a:prstGeom>
          <a:noFill/>
        </p:spPr>
        <p:txBody>
          <a:bodyPr wrap="square" anchor="t" lIns="36576" rIns="36576" tIns="18288" bIns="18288">
            <a:spAutoFit/>
          </a:bodyPr>
          <a:lstStyle/>
          <a:p>
            <a:r>
              <a:rPr sz="1400" b="1" i="0">
                <a:solidFill>
                  <a:srgbClr val="2DD4BF"/>
                </a:solidFill>
                <a:latin typeface="Calibri"/>
              </a:rPr>
              <a:t>Engineering problem</a:t>
            </a:r>
          </a:p>
        </p:txBody>
      </p:sp>
      <p:sp>
        <p:nvSpPr>
          <p:cNvPr id="6" name="TextBox 5"/>
          <p:cNvSpPr txBox="1"/>
          <p:nvPr/>
        </p:nvSpPr>
        <p:spPr>
          <a:xfrm>
            <a:off x="457200" y="1371600"/>
            <a:ext cx="5486400" cy="868680"/>
          </a:xfrm>
          <a:prstGeom prst="rect">
            <a:avLst/>
          </a:prstGeom>
          <a:noFill/>
        </p:spPr>
        <p:txBody>
          <a:bodyPr wrap="square" anchor="t" lIns="36576" rIns="36576" tIns="18288" bIns="18288">
            <a:spAutoFit/>
          </a:bodyPr>
          <a:lstStyle/>
          <a:p>
            <a:r>
              <a:rPr sz="1200" b="0" i="0">
                <a:solidFill>
                  <a:srgbClr val="E8EEF6"/>
                </a:solidFill>
                <a:latin typeface="Calibri"/>
              </a:rPr>
              <a:t>Init reads attributes, a flag and string descriptors one UPIU query at a time; each is a separate transaction (VERIFIED from removed lines).</a:t>
            </a:r>
          </a:p>
        </p:txBody>
      </p:sp>
      <p:sp>
        <p:nvSpPr>
          <p:cNvPr id="7" name="TextBox 6"/>
          <p:cNvSpPr txBox="1"/>
          <p:nvPr/>
        </p:nvSpPr>
        <p:spPr>
          <a:xfrm>
            <a:off x="457200" y="2286000"/>
            <a:ext cx="5486400" cy="274320"/>
          </a:xfrm>
          <a:prstGeom prst="rect">
            <a:avLst/>
          </a:prstGeom>
          <a:noFill/>
        </p:spPr>
        <p:txBody>
          <a:bodyPr wrap="square" anchor="t" lIns="36576" rIns="36576" tIns="18288" bIns="18288">
            <a:spAutoFit/>
          </a:bodyPr>
          <a:lstStyle/>
          <a:p>
            <a:r>
              <a:rPr sz="1400" b="1" i="0">
                <a:solidFill>
                  <a:srgbClr val="2DD4BF"/>
                </a:solidFill>
                <a:latin typeface="Calibri"/>
              </a:rPr>
              <a:t>Objectives</a:t>
            </a:r>
          </a:p>
        </p:txBody>
      </p:sp>
      <p:sp>
        <p:nvSpPr>
          <p:cNvPr id="8" name="TextBox 7"/>
          <p:cNvSpPr txBox="1"/>
          <p:nvPr/>
        </p:nvSpPr>
        <p:spPr>
          <a:xfrm>
            <a:off x="457200" y="2560320"/>
            <a:ext cx="5486400" cy="868680"/>
          </a:xfrm>
          <a:prstGeom prst="rect">
            <a:avLst/>
          </a:prstGeom>
          <a:noFill/>
        </p:spPr>
        <p:txBody>
          <a:bodyPr wrap="square" anchor="t" lIns="36576" rIns="36576" tIns="18288" bIns="18288">
            <a:spAutoFit/>
          </a:bodyPr>
          <a:lstStyle/>
          <a:p>
            <a:r>
              <a:rPr sz="1200" b="0" i="0">
                <a:solidFill>
                  <a:srgbClr val="E8EEF6"/>
                </a:solidFill>
                <a:latin typeface="Calibri"/>
              </a:rPr>
              <a:t>Serve those reads from one UFS 5.0 AGGREGATED READ reply cached in memory; keep individual queries as the fallback.</a:t>
            </a:r>
          </a:p>
        </p:txBody>
      </p:sp>
      <p:sp>
        <p:nvSpPr>
          <p:cNvPr id="9" name="TextBox 8"/>
          <p:cNvSpPr txBox="1"/>
          <p:nvPr/>
        </p:nvSpPr>
        <p:spPr>
          <a:xfrm>
            <a:off x="457200" y="3474720"/>
            <a:ext cx="5486400" cy="274320"/>
          </a:xfrm>
          <a:prstGeom prst="rect">
            <a:avLst/>
          </a:prstGeom>
          <a:noFill/>
        </p:spPr>
        <p:txBody>
          <a:bodyPr wrap="square" anchor="t" lIns="36576" rIns="36576" tIns="18288" bIns="18288">
            <a:spAutoFit/>
          </a:bodyPr>
          <a:lstStyle/>
          <a:p>
            <a:r>
              <a:rPr sz="1400" b="1" i="0">
                <a:solidFill>
                  <a:srgbClr val="2DD4BF"/>
                </a:solidFill>
                <a:latin typeface="Calibri"/>
              </a:rPr>
              <a:t>Boundaries</a:t>
            </a:r>
          </a:p>
        </p:txBody>
      </p:sp>
      <p:sp>
        <p:nvSpPr>
          <p:cNvPr id="10" name="TextBox 9"/>
          <p:cNvSpPr txBox="1"/>
          <p:nvPr/>
        </p:nvSpPr>
        <p:spPr>
          <a:xfrm>
            <a:off x="457200" y="3749039"/>
            <a:ext cx="5486400" cy="1188720"/>
          </a:xfrm>
          <a:prstGeom prst="rect">
            <a:avLst/>
          </a:prstGeom>
          <a:noFill/>
        </p:spPr>
        <p:txBody>
          <a:bodyPr wrap="square" anchor="t" lIns="36576" rIns="36576" tIns="18288" bIns="18288">
            <a:spAutoFit/>
          </a:bodyPr>
          <a:lstStyle/>
          <a:p>
            <a:r>
              <a:rPr sz="1200" b="0" i="0">
                <a:solidFill>
                  <a:srgbClr val="E8EEF6"/>
                </a:solidFill>
                <a:latin typeface="Calibri"/>
              </a:rPr>
              <a:t>Three files only. Cache lives from ufs_get_device_desc() until ufshcd_device_params_init() exits. Only when wspecversion ≥ 0x500. No other query paths are changed.</a:t>
            </a:r>
          </a:p>
        </p:txBody>
      </p:sp>
      <p:sp>
        <p:nvSpPr>
          <p:cNvPr id="11" name="TextBox 10"/>
          <p:cNvSpPr txBox="1"/>
          <p:nvPr/>
        </p:nvSpPr>
        <p:spPr>
          <a:xfrm>
            <a:off x="457200" y="4983480"/>
            <a:ext cx="5486400" cy="274320"/>
          </a:xfrm>
          <a:prstGeom prst="rect">
            <a:avLst/>
          </a:prstGeom>
          <a:noFill/>
        </p:spPr>
        <p:txBody>
          <a:bodyPr wrap="square" anchor="t" lIns="36576" rIns="36576" tIns="18288" bIns="18288">
            <a:spAutoFit/>
          </a:bodyPr>
          <a:lstStyle/>
          <a:p>
            <a:r>
              <a:rPr sz="1400" b="1" i="0">
                <a:solidFill>
                  <a:srgbClr val="2DD4BF"/>
                </a:solidFill>
                <a:latin typeface="Calibri"/>
              </a:rPr>
              <a:t>Key question</a:t>
            </a:r>
          </a:p>
        </p:txBody>
      </p:sp>
      <p:sp>
        <p:nvSpPr>
          <p:cNvPr id="12" name="TextBox 11"/>
          <p:cNvSpPr txBox="1"/>
          <p:nvPr/>
        </p:nvSpPr>
        <p:spPr>
          <a:xfrm>
            <a:off x="457200" y="5257800"/>
            <a:ext cx="5486400" cy="1097280"/>
          </a:xfrm>
          <a:prstGeom prst="rect">
            <a:avLst/>
          </a:prstGeom>
          <a:noFill/>
        </p:spPr>
        <p:txBody>
          <a:bodyPr wrap="square" anchor="t" lIns="36576" rIns="36576" tIns="18288" bIns="18288">
            <a:spAutoFit/>
          </a:bodyPr>
          <a:lstStyle/>
          <a:p>
            <a:r>
              <a:rPr sz="1200" b="0" i="0">
                <a:solidFill>
                  <a:srgbClr val="E8EEF6"/>
                </a:solidFill>
                <a:latin typeface="Calibri"/>
              </a:rPr>
              <a:t>Are init values unchanged for consumers, with fewer transactions, and do older, rejecting or failing devices still initialise? (Not yet measured.)</a:t>
            </a:r>
          </a:p>
        </p:txBody>
      </p:sp>
      <p:sp>
        <p:nvSpPr>
          <p:cNvPr id="13" name="Block 1"/>
          <p:cNvSpPr/>
          <p:nvPr/>
        </p:nvSpPr>
        <p:spPr>
          <a:xfrm>
            <a:off x="6949440" y="1188720"/>
            <a:ext cx="4206240" cy="685800"/>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2DD4BF"/>
                </a:solidFill>
                <a:latin typeface="Calibri"/>
              </a:rPr>
              <a:t>[1] </a:t>
            </a:r>
            <a:r>
              <a:rPr sz="1100" b="1" i="0">
                <a:solidFill>
                  <a:srgbClr val="E8EEF6"/>
                </a:solidFill>
                <a:latin typeface="Calibri"/>
              </a:rPr>
              <a:t>Device init</a:t>
            </a:r>
          </a:p>
          <a:p>
            <a:r>
              <a:rPr sz="1000" b="0" i="0">
                <a:solidFill>
                  <a:srgbClr val="A9B8CC"/>
                </a:solidFill>
                <a:latin typeface="Calibri"/>
              </a:rPr>
              <a:t>ufs_get_device_desc() → ufshcd_device_params_init()</a:t>
            </a:r>
          </a:p>
        </p:txBody>
      </p:sp>
      <p:sp>
        <p:nvSpPr>
          <p:cNvPr id="14" name="Block 2"/>
          <p:cNvSpPr/>
          <p:nvPr/>
        </p:nvSpPr>
        <p:spPr>
          <a:xfrm>
            <a:off x="6309360" y="2514600"/>
            <a:ext cx="2514600" cy="868680"/>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2DD4BF"/>
                </a:solidFill>
                <a:latin typeface="Calibri"/>
              </a:rPr>
              <a:t>[2] </a:t>
            </a:r>
            <a:r>
              <a:rPr sz="1100" b="1" i="0">
                <a:solidFill>
                  <a:srgbClr val="E8EEF6"/>
                </a:solidFill>
                <a:latin typeface="Calibri"/>
              </a:rPr>
              <a:t>Baseline</a:t>
            </a:r>
          </a:p>
          <a:p>
            <a:r>
              <a:rPr sz="1000" b="0" i="0">
                <a:solidFill>
                  <a:srgbClr val="A9B8CC"/>
                </a:solidFill>
                <a:latin typeface="Calibri"/>
              </a:rPr>
              <a:t>one query per item (READ_ATTR / READ_FLAG / READ_DESC)</a:t>
            </a:r>
          </a:p>
        </p:txBody>
      </p:sp>
      <p:sp>
        <p:nvSpPr>
          <p:cNvPr id="15" name="Block 3"/>
          <p:cNvSpPr/>
          <p:nvPr/>
        </p:nvSpPr>
        <p:spPr>
          <a:xfrm>
            <a:off x="9235440" y="2514600"/>
            <a:ext cx="2514600" cy="868680"/>
          </a:xfrm>
          <a:prstGeom prst="roundRect">
            <a:avLst>
              <a:gd name="adj" fmla="val 10000"/>
            </a:avLst>
          </a:prstGeom>
          <a:solidFill>
            <a:srgbClr val="1B304D"/>
          </a:solidFill>
          <a:ln w="15875">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2DD4BF"/>
                </a:solidFill>
                <a:latin typeface="Calibri"/>
              </a:rPr>
              <a:t>[3] </a:t>
            </a:r>
            <a:r>
              <a:rPr sz="1100" b="1" i="0">
                <a:solidFill>
                  <a:srgbClr val="E8EEF6"/>
                </a:solidFill>
                <a:latin typeface="Calibri"/>
              </a:rPr>
              <a:t>Patched, wspecversion ≥ 0x500</a:t>
            </a:r>
          </a:p>
          <a:p>
            <a:r>
              <a:rPr sz="1000" b="0" i="0">
                <a:solidFill>
                  <a:srgbClr val="A9B8CC"/>
                </a:solidFill>
                <a:latin typeface="Calibri"/>
              </a:rPr>
              <a:t>one AGGREGATED READ, cached packet</a:t>
            </a:r>
          </a:p>
        </p:txBody>
      </p:sp>
      <p:sp>
        <p:nvSpPr>
          <p:cNvPr id="16" name="Block 4"/>
          <p:cNvSpPr/>
          <p:nvPr/>
        </p:nvSpPr>
        <p:spPr>
          <a:xfrm>
            <a:off x="6949440" y="3840480"/>
            <a:ext cx="4206240" cy="685800"/>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2DD4BF"/>
                </a:solidFill>
                <a:latin typeface="Calibri"/>
              </a:rPr>
              <a:t>[4] </a:t>
            </a:r>
            <a:r>
              <a:rPr sz="1100" b="1" i="0">
                <a:solidFill>
                  <a:srgbClr val="E8EEF6"/>
                </a:solidFill>
                <a:latin typeface="Calibri"/>
              </a:rPr>
              <a:t>Parameter-init consumers</a:t>
            </a:r>
          </a:p>
          <a:p>
            <a:r>
              <a:rPr sz="1000" b="0" i="0">
                <a:solidFill>
                  <a:srgbClr val="A9B8CC"/>
                </a:solidFill>
                <a:latin typeface="Calibri"/>
              </a:rPr>
              <a:t>set_rtt · ref-clk wait · WB lifetime · fPowerOnWPEn · ID strings</a:t>
            </a:r>
          </a:p>
        </p:txBody>
      </p:sp>
      <p:cxnSp>
        <p:nvCxnSpPr>
          <p:cNvPr id="17" name="Arrow A1"/>
          <p:cNvCxnSpPr>
            <a:stCxn id="13" idx="2"/>
            <a:endCxn id="14" idx="0"/>
          </p:cNvCxnSpPr>
          <p:nvPr/>
        </p:nvCxnSpPr>
        <p:spPr>
          <a:xfrm flipH="1">
            <a:off x="7566660" y="1874520"/>
            <a:ext cx="1485900" cy="640080"/>
          </a:xfrm>
          <a:prstGeom prst="line">
            <a:avLst/>
          </a:prstGeom>
          <a:ln w="22225">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Label A1"/>
          <p:cNvSpPr/>
          <p:nvPr/>
        </p:nvSpPr>
        <p:spPr>
          <a:xfrm>
            <a:off x="8135873" y="2075688"/>
            <a:ext cx="347472" cy="237744"/>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A1</a:t>
            </a:r>
          </a:p>
        </p:txBody>
      </p:sp>
      <p:cxnSp>
        <p:nvCxnSpPr>
          <p:cNvPr id="19" name="Arrow A2"/>
          <p:cNvCxnSpPr>
            <a:stCxn id="13" idx="2"/>
            <a:endCxn id="15" idx="0"/>
          </p:cNvCxnSpPr>
          <p:nvPr/>
        </p:nvCxnSpPr>
        <p:spPr>
          <a:xfrm>
            <a:off x="9052560" y="1874520"/>
            <a:ext cx="1440180" cy="640080"/>
          </a:xfrm>
          <a:prstGeom prst="line">
            <a:avLst/>
          </a:prstGeom>
          <a:ln w="22225">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Label A2"/>
          <p:cNvSpPr/>
          <p:nvPr/>
        </p:nvSpPr>
        <p:spPr>
          <a:xfrm>
            <a:off x="9598914" y="2075688"/>
            <a:ext cx="347472" cy="237744"/>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A2</a:t>
            </a:r>
          </a:p>
        </p:txBody>
      </p:sp>
      <p:cxnSp>
        <p:nvCxnSpPr>
          <p:cNvPr id="21" name="Arrow A3"/>
          <p:cNvCxnSpPr>
            <a:stCxn id="14" idx="2"/>
            <a:endCxn id="16" idx="0"/>
          </p:cNvCxnSpPr>
          <p:nvPr/>
        </p:nvCxnSpPr>
        <p:spPr>
          <a:xfrm>
            <a:off x="7566660" y="3383280"/>
            <a:ext cx="1485900" cy="457200"/>
          </a:xfrm>
          <a:prstGeom prst="line">
            <a:avLst/>
          </a:prstGeom>
          <a:ln w="22225">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Label A3"/>
          <p:cNvSpPr/>
          <p:nvPr/>
        </p:nvSpPr>
        <p:spPr>
          <a:xfrm>
            <a:off x="8135873" y="3493008"/>
            <a:ext cx="347472" cy="237744"/>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A3</a:t>
            </a:r>
          </a:p>
        </p:txBody>
      </p:sp>
      <p:cxnSp>
        <p:nvCxnSpPr>
          <p:cNvPr id="23" name="Arrow A4"/>
          <p:cNvCxnSpPr>
            <a:stCxn id="15" idx="2"/>
            <a:endCxn id="16" idx="0"/>
          </p:cNvCxnSpPr>
          <p:nvPr/>
        </p:nvCxnSpPr>
        <p:spPr>
          <a:xfrm flipH="1">
            <a:off x="9052560" y="3383280"/>
            <a:ext cx="1440180" cy="457200"/>
          </a:xfrm>
          <a:prstGeom prst="line">
            <a:avLst/>
          </a:prstGeom>
          <a:ln w="22225">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Label A4"/>
          <p:cNvSpPr/>
          <p:nvPr/>
        </p:nvSpPr>
        <p:spPr>
          <a:xfrm>
            <a:off x="9598914" y="3493008"/>
            <a:ext cx="347472" cy="237744"/>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A4</a:t>
            </a:r>
          </a:p>
        </p:txBody>
      </p:sp>
      <p:cxnSp>
        <p:nvCxnSpPr>
          <p:cNvPr id="25" name="Arrow A5"/>
          <p:cNvCxnSpPr>
            <a:stCxn id="15" idx="1"/>
            <a:endCxn id="14" idx="3"/>
          </p:cNvCxnSpPr>
          <p:nvPr/>
        </p:nvCxnSpPr>
        <p:spPr>
          <a:xfrm flipH="1">
            <a:off x="8823960" y="2948940"/>
            <a:ext cx="411480" cy="0"/>
          </a:xfrm>
          <a:prstGeom prst="line">
            <a:avLst/>
          </a:prstGeom>
          <a:ln w="22225">
            <a:solidFill>
              <a:srgbClr val="FBBF2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Label A5"/>
          <p:cNvSpPr/>
          <p:nvPr/>
        </p:nvSpPr>
        <p:spPr>
          <a:xfrm>
            <a:off x="8855964" y="2830068"/>
            <a:ext cx="347472" cy="237744"/>
          </a:xfrm>
          <a:prstGeom prst="roundRect">
            <a:avLst>
              <a:gd name="adj" fmla="val 50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A5</a:t>
            </a:r>
          </a:p>
        </p:txBody>
      </p:sp>
      <p:sp>
        <p:nvSpPr>
          <p:cNvPr id="27" name="Legend key"/>
          <p:cNvSpPr txBox="1"/>
          <p:nvPr/>
        </p:nvSpPr>
        <p:spPr>
          <a:xfrm>
            <a:off x="6309360" y="4663440"/>
            <a:ext cx="5440680" cy="201168"/>
          </a:xfrm>
          <a:prstGeom prst="rect">
            <a:avLst/>
          </a:prstGeom>
          <a:noFill/>
        </p:spPr>
        <p:txBody>
          <a:bodyPr wrap="square" anchor="t" lIns="36576" rIns="36576" tIns="18288" bIns="18288">
            <a:spAutoFit/>
          </a:bodyPr>
          <a:lstStyle/>
          <a:p>
            <a:r>
              <a:rPr sz="1000" b="0" i="1">
                <a:solidFill>
                  <a:srgbClr val="A9B8CC"/>
                </a:solidFill>
                <a:latin typeface="Calibri"/>
              </a:rPr>
              <a:t>Solid = verified · dashed = conceptual / unverified · amber = fallback</a:t>
            </a:r>
          </a:p>
        </p:txBody>
      </p:sp>
      <p:sp>
        <p:nvSpPr>
          <p:cNvPr id="28" name="Legend 1"/>
          <p:cNvSpPr txBox="1"/>
          <p:nvPr/>
        </p:nvSpPr>
        <p:spPr>
          <a:xfrm>
            <a:off x="6309360" y="4864607"/>
            <a:ext cx="5349240" cy="1737360"/>
          </a:xfrm>
          <a:prstGeom prst="rect">
            <a:avLst/>
          </a:prstGeom>
          <a:noFill/>
        </p:spPr>
        <p:txBody>
          <a:bodyPr wrap="square" anchor="t" lIns="36576" rIns="36576" tIns="18288" bIns="18288">
            <a:spAutoFit/>
          </a:bodyPr>
          <a:lstStyle/>
          <a:p>
            <a:r>
              <a:rPr sz="1000" b="1" i="0">
                <a:solidFill>
                  <a:srgbClr val="2DD4BF"/>
                </a:solidFill>
                <a:latin typeface="Calibri"/>
              </a:rPr>
              <a:t>A1</a:t>
            </a:r>
            <a:r>
              <a:rPr sz="1000" b="0" i="0">
                <a:solidFill>
                  <a:srgbClr val="A9B8CC"/>
                </a:solidFill>
                <a:latin typeface="Calibri"/>
              </a:rPr>
              <a:t>  [1]→[2]  </a:t>
            </a:r>
            <a:r>
              <a:rPr sz="1000" b="0" i="0">
                <a:solidFill>
                  <a:srgbClr val="E8EEF6"/>
                </a:solidFill>
                <a:latin typeface="Calibri"/>
              </a:rPr>
              <a:t>baseline: every consumer issues its own query</a:t>
            </a:r>
          </a:p>
          <a:p>
            <a:r>
              <a:rPr sz="1000" b="1" i="0">
                <a:solidFill>
                  <a:srgbClr val="2DD4BF"/>
                </a:solidFill>
                <a:latin typeface="Calibri"/>
              </a:rPr>
              <a:t>A2</a:t>
            </a:r>
            <a:r>
              <a:rPr sz="1000" b="0" i="0">
                <a:solidFill>
                  <a:srgbClr val="A9B8CC"/>
                </a:solidFill>
                <a:latin typeface="Calibri"/>
              </a:rPr>
              <a:t>  [1]→[3]  </a:t>
            </a:r>
            <a:r>
              <a:rPr sz="1000" b="0" i="0">
                <a:solidFill>
                  <a:srgbClr val="E8EEF6"/>
                </a:solidFill>
                <a:latin typeface="Calibri"/>
              </a:rPr>
              <a:t>ufshcd_agg_read_begin() issues one AGGREGATED READ</a:t>
            </a:r>
          </a:p>
          <a:p>
            <a:r>
              <a:rPr sz="1000" b="1" i="0">
                <a:solidFill>
                  <a:srgbClr val="2DD4BF"/>
                </a:solidFill>
                <a:latin typeface="Calibri"/>
              </a:rPr>
              <a:t>A3</a:t>
            </a:r>
            <a:r>
              <a:rPr sz="1000" b="0" i="0">
                <a:solidFill>
                  <a:srgbClr val="A9B8CC"/>
                </a:solidFill>
                <a:latin typeface="Calibri"/>
              </a:rPr>
              <a:t>  [2]→[4]  </a:t>
            </a:r>
            <a:r>
              <a:rPr sz="1000" b="0" i="0">
                <a:solidFill>
                  <a:srgbClr val="E8EEF6"/>
                </a:solidFill>
                <a:latin typeface="Calibri"/>
              </a:rPr>
              <a:t>values returned item by item</a:t>
            </a:r>
          </a:p>
          <a:p>
            <a:r>
              <a:rPr sz="1000" b="1" i="0">
                <a:solidFill>
                  <a:srgbClr val="2DD4BF"/>
                </a:solidFill>
                <a:latin typeface="Calibri"/>
              </a:rPr>
              <a:t>A4</a:t>
            </a:r>
            <a:r>
              <a:rPr sz="1000" b="0" i="0">
                <a:solidFill>
                  <a:srgbClr val="A9B8CC"/>
                </a:solidFill>
                <a:latin typeface="Calibri"/>
              </a:rPr>
              <a:t>  [3]→[4]  </a:t>
            </a:r>
            <a:r>
              <a:rPr sz="1000" b="0" i="0">
                <a:solidFill>
                  <a:srgbClr val="E8EEF6"/>
                </a:solidFill>
                <a:latin typeface="Calibri"/>
              </a:rPr>
              <a:t>values served from hba-&gt;agg_packet</a:t>
            </a:r>
          </a:p>
          <a:p>
            <a:r>
              <a:rPr sz="1000" b="1" i="0">
                <a:solidFill>
                  <a:srgbClr val="FBBF24"/>
                </a:solidFill>
                <a:latin typeface="Calibri"/>
              </a:rPr>
              <a:t>A5</a:t>
            </a:r>
            <a:r>
              <a:rPr sz="1000" b="0" i="0">
                <a:solidFill>
                  <a:srgbClr val="A9B8CC"/>
                </a:solidFill>
                <a:latin typeface="Calibri"/>
              </a:rPr>
              <a:t>  [3]→[2]  </a:t>
            </a:r>
            <a:r>
              <a:rPr sz="1000" b="0" i="0">
                <a:solidFill>
                  <a:srgbClr val="E8EEF6"/>
                </a:solidFill>
                <a:latin typeface="Calibri"/>
              </a:rPr>
              <a:t>fallback: item absent, older device or rejected opcode → individual query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626"/>
        </a:solidFill>
        <a:effectLst/>
      </p:bgPr>
    </p:bg>
    <p:spTree>
      <p:nvGrpSpPr>
        <p:cNvPr id="1" name=""/>
        <p:cNvGrpSpPr/>
        <p:nvPr/>
      </p:nvGrpSpPr>
      <p:grpSpPr/>
      <p:sp>
        <p:nvSpPr>
          <p:cNvPr id="2" name="Title"/>
          <p:cNvSpPr txBox="1"/>
          <p:nvPr/>
        </p:nvSpPr>
        <p:spPr>
          <a:xfrm>
            <a:off x="457200" y="274320"/>
            <a:ext cx="11247120" cy="548640"/>
          </a:xfrm>
          <a:prstGeom prst="rect">
            <a:avLst/>
          </a:prstGeom>
          <a:noFill/>
        </p:spPr>
        <p:txBody>
          <a:bodyPr wrap="square" anchor="ctr" lIns="36576" rIns="36576" tIns="18288" bIns="18288">
            <a:spAutoFit/>
          </a:bodyPr>
          <a:lstStyle/>
          <a:p>
            <a:r>
              <a:rPr sz="2400" b="1" i="0">
                <a:solidFill>
                  <a:srgbClr val="E8EEF6"/>
                </a:solidFill>
                <a:latin typeface="Calibri"/>
              </a:rPr>
              <a:t>Executive Summary: Two Patches, One Cached Aggregated Read</a:t>
            </a:r>
          </a:p>
        </p:txBody>
      </p:sp>
      <p:sp>
        <p:nvSpPr>
          <p:cNvPr id="3" name="Source"/>
          <p:cNvSpPr txBox="1"/>
          <p:nvPr/>
        </p:nvSpPr>
        <p:spPr>
          <a:xfrm>
            <a:off x="457200" y="6473952"/>
            <a:ext cx="10424160" cy="256032"/>
          </a:xfrm>
          <a:prstGeom prst="rect">
            <a:avLst/>
          </a:prstGeom>
          <a:noFill/>
        </p:spPr>
        <p:txBody>
          <a:bodyPr wrap="square" anchor="t" lIns="36576" rIns="36576" tIns="18288" bIns="18288">
            <a:spAutoFit/>
          </a:bodyPr>
          <a:lstStyle/>
          <a:p>
            <a:r>
              <a:rPr sz="1000" b="0" i="0">
                <a:solidFill>
                  <a:srgbClr val="A9B8CC"/>
                </a:solidFill>
                <a:latin typeface="Calibri"/>
              </a:rPr>
              <a:t>Source: patch stat lines of [PATCH v2 1/2] and [PATCH v2 2/2]; totals are the sum of the two stat lines (no combined diffstat was supplied)</a:t>
            </a:r>
          </a:p>
        </p:txBody>
      </p:sp>
      <p:sp>
        <p:nvSpPr>
          <p:cNvPr id="4" name="Slide Number"/>
          <p:cNvSpPr txBox="1"/>
          <p:nvPr/>
        </p:nvSpPr>
        <p:spPr>
          <a:xfrm>
            <a:off x="11064240" y="6473952"/>
            <a:ext cx="685800" cy="256032"/>
          </a:xfrm>
          <a:prstGeom prst="rect">
            <a:avLst/>
          </a:prstGeom>
          <a:noFill/>
        </p:spPr>
        <p:txBody>
          <a:bodyPr wrap="none">
            <a:spAutoFit/>
          </a:bodyPr>
          <a:lstStyle/>
          <a:p>
            <a:pPr algn="r"/>
            <a:fld id="{B6F15528-21DE-4FAA-801E-634DDDAF4B2B}" type="slidenum">
              <a:rPr lang="en-US" sz="1100">
                <a:solidFill>
                  <a:srgbClr val="A9B8CC"/>
                </a:solidFill>
                <a:latin typeface="Calibri"/>
              </a:rPr>
              <a:t>3</a:t>
            </a:fld>
          </a:p>
        </p:txBody>
      </p:sp>
      <p:sp>
        <p:nvSpPr>
          <p:cNvPr id="5" name="Rounded Rectangle 4"/>
          <p:cNvSpPr/>
          <p:nvPr/>
        </p:nvSpPr>
        <p:spPr>
          <a:xfrm>
            <a:off x="457200" y="1097280"/>
            <a:ext cx="5532120" cy="2697480"/>
          </a:xfrm>
          <a:prstGeom prst="roundRect">
            <a:avLst>
              <a:gd name="adj" fmla="val 4000"/>
            </a:avLst>
          </a:prstGeom>
          <a:solidFill>
            <a:srgbClr val="14243B"/>
          </a:solidFill>
          <a:ln w="9525">
            <a:solidFill>
              <a:srgbClr val="3A52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170432"/>
            <a:ext cx="3840480" cy="320040"/>
          </a:xfrm>
          <a:prstGeom prst="rect">
            <a:avLst/>
          </a:prstGeom>
          <a:noFill/>
        </p:spPr>
        <p:txBody>
          <a:bodyPr wrap="square" anchor="t" lIns="36576" rIns="36576" tIns="18288" bIns="18288">
            <a:spAutoFit/>
          </a:bodyPr>
          <a:lstStyle/>
          <a:p>
            <a:r>
              <a:rPr sz="1400" b="1" i="0">
                <a:solidFill>
                  <a:srgbClr val="2DD4BF"/>
                </a:solidFill>
                <a:latin typeface="Calibri"/>
              </a:rPr>
              <a:t>Patch 1/2 · protocol and wire format</a:t>
            </a:r>
          </a:p>
        </p:txBody>
      </p:sp>
      <p:sp>
        <p:nvSpPr>
          <p:cNvPr id="7" name="Rounded Rectangle 6"/>
          <p:cNvSpPr/>
          <p:nvPr/>
        </p:nvSpPr>
        <p:spPr>
          <a:xfrm>
            <a:off x="4434840" y="1188720"/>
            <a:ext cx="1417320" cy="256032"/>
          </a:xfrm>
          <a:prstGeom prst="roundRect">
            <a:avLst>
              <a:gd name="adj" fmla="val 50000"/>
            </a:avLst>
          </a:prstGeom>
          <a:solidFill>
            <a:srgbClr val="14243B"/>
          </a:solidFill>
          <a:ln w="12700">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i="0">
                <a:solidFill>
                  <a:srgbClr val="4DA3FF"/>
                </a:solidFill>
                <a:latin typeface="Calibri"/>
              </a:rPr>
              <a:t>3 files · +51 / −2</a:t>
            </a:r>
          </a:p>
        </p:txBody>
      </p:sp>
      <p:sp>
        <p:nvSpPr>
          <p:cNvPr id="8" name="TextBox 7"/>
          <p:cNvSpPr txBox="1"/>
          <p:nvPr/>
        </p:nvSpPr>
        <p:spPr>
          <a:xfrm>
            <a:off x="594360" y="1554480"/>
            <a:ext cx="5257800" cy="2194560"/>
          </a:xfrm>
          <a:prstGeom prst="rect">
            <a:avLst/>
          </a:prstGeom>
          <a:noFill/>
        </p:spPr>
        <p:txBody>
          <a:bodyPr wrap="square" anchor="t" lIns="36576" rIns="36576" tIns="18288" bIns="18288">
            <a:spAutoFit/>
          </a:bodyPr>
          <a:lstStyle/>
          <a:p>
            <a:pPr marL="182880" indent="-182880">
              <a:spcAft>
                <a:spcPts val="300"/>
              </a:spcAft>
              <a:buClr>
                <a:srgbClr val="2DD4BF"/>
              </a:buClr>
              <a:buChar char="•"/>
            </a:pPr>
            <a:r>
              <a:rPr sz="1200" b="0" i="0">
                <a:solidFill>
                  <a:srgbClr val="E8EEF6"/>
                </a:solidFill>
                <a:latin typeface="Calibri"/>
              </a:rPr>
              <a:t>enum ufs_agg_type (BIT(0)–BIT(7)) and enum ufs_agg_group_type (0x00–0x08)</a:t>
            </a:r>
          </a:p>
          <a:p>
            <a:pPr marL="182880" indent="-182880">
              <a:spcAft>
                <a:spcPts val="300"/>
              </a:spcAft>
              <a:buClr>
                <a:srgbClr val="2DD4BF"/>
              </a:buClr>
              <a:buChar char="•"/>
            </a:pPr>
            <a:r>
              <a:rPr sz="1200" b="0" i="0">
                <a:solidFill>
                  <a:srgbClr val="E8EEF6"/>
                </a:solidFill>
                <a:latin typeface="Calibri"/>
              </a:rPr>
              <a:t>struct utp_agg_group_header: group_type, reserved, __be16 next_group_offset (4 B)</a:t>
            </a:r>
          </a:p>
          <a:p>
            <a:pPr marL="182880" indent="-182880">
              <a:spcAft>
                <a:spcPts val="300"/>
              </a:spcAft>
              <a:buClr>
                <a:srgbClr val="2DD4BF"/>
              </a:buClr>
              <a:buChar char="•"/>
            </a:pPr>
            <a:r>
              <a:rPr sz="1200" b="0" i="0">
                <a:solidFill>
                  <a:srgbClr val="E8EEF6"/>
                </a:solidFill>
                <a:latin typeface="Calibri"/>
              </a:rPr>
              <a:t>ufs_query_res gains u16 data_segment_length</a:t>
            </a:r>
          </a:p>
          <a:p>
            <a:pPr marL="182880" indent="-182880">
              <a:spcAft>
                <a:spcPts val="300"/>
              </a:spcAft>
              <a:buClr>
                <a:srgbClr val="2DD4BF"/>
              </a:buClr>
              <a:buChar char="•"/>
            </a:pPr>
            <a:r>
              <a:rPr sz="1200" b="0" i="0">
                <a:solidFill>
                  <a:srgbClr val="E8EEF6"/>
                </a:solidFill>
                <a:latin typeface="Calibri"/>
              </a:rPr>
              <a:t>ufshcd_copy_query_response() records it and copies the data segment for AGGREGATED_READ like READ_DESC</a:t>
            </a:r>
          </a:p>
        </p:txBody>
      </p:sp>
      <p:sp>
        <p:nvSpPr>
          <p:cNvPr id="9" name="Rounded Rectangle 8"/>
          <p:cNvSpPr/>
          <p:nvPr/>
        </p:nvSpPr>
        <p:spPr>
          <a:xfrm>
            <a:off x="6172200" y="1097280"/>
            <a:ext cx="5532120" cy="2697480"/>
          </a:xfrm>
          <a:prstGeom prst="roundRect">
            <a:avLst>
              <a:gd name="adj" fmla="val 4000"/>
            </a:avLst>
          </a:prstGeom>
          <a:solidFill>
            <a:srgbClr val="14243B"/>
          </a:solidFill>
          <a:ln w="9525">
            <a:solidFill>
              <a:srgbClr val="3A52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170432"/>
            <a:ext cx="3840480" cy="320040"/>
          </a:xfrm>
          <a:prstGeom prst="rect">
            <a:avLst/>
          </a:prstGeom>
          <a:noFill/>
        </p:spPr>
        <p:txBody>
          <a:bodyPr wrap="square" anchor="t" lIns="36576" rIns="36576" tIns="18288" bIns="18288">
            <a:spAutoFit/>
          </a:bodyPr>
          <a:lstStyle/>
          <a:p>
            <a:r>
              <a:rPr sz="1400" b="1" i="0">
                <a:solidFill>
                  <a:srgbClr val="2DD4BF"/>
                </a:solidFill>
                <a:latin typeface="Calibri"/>
              </a:rPr>
              <a:t>Patch 2/2 · cached init reads</a:t>
            </a:r>
          </a:p>
        </p:txBody>
      </p:sp>
      <p:sp>
        <p:nvSpPr>
          <p:cNvPr id="11" name="Rounded Rectangle 10"/>
          <p:cNvSpPr/>
          <p:nvPr/>
        </p:nvSpPr>
        <p:spPr>
          <a:xfrm>
            <a:off x="10149840" y="1188720"/>
            <a:ext cx="1417320" cy="256032"/>
          </a:xfrm>
          <a:prstGeom prst="roundRect">
            <a:avLst>
              <a:gd name="adj" fmla="val 50000"/>
            </a:avLst>
          </a:prstGeom>
          <a:solidFill>
            <a:srgbClr val="14243B"/>
          </a:solidFill>
          <a:ln w="12700">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i="0">
                <a:solidFill>
                  <a:srgbClr val="4DA3FF"/>
                </a:solidFill>
                <a:latin typeface="Calibri"/>
              </a:rPr>
              <a:t>3 files · +351 / −18</a:t>
            </a:r>
          </a:p>
        </p:txBody>
      </p:sp>
      <p:sp>
        <p:nvSpPr>
          <p:cNvPr id="12" name="TextBox 11"/>
          <p:cNvSpPr txBox="1"/>
          <p:nvPr/>
        </p:nvSpPr>
        <p:spPr>
          <a:xfrm>
            <a:off x="6309360" y="1554480"/>
            <a:ext cx="5257800" cy="2194560"/>
          </a:xfrm>
          <a:prstGeom prst="rect">
            <a:avLst/>
          </a:prstGeom>
          <a:noFill/>
        </p:spPr>
        <p:txBody>
          <a:bodyPr wrap="square" anchor="t" lIns="36576" rIns="36576" tIns="18288" bIns="18288">
            <a:spAutoFit/>
          </a:bodyPr>
          <a:lstStyle/>
          <a:p>
            <a:pPr marL="182880" indent="-182880">
              <a:spcAft>
                <a:spcPts val="300"/>
              </a:spcAft>
              <a:buClr>
                <a:srgbClr val="2DD4BF"/>
              </a:buClr>
              <a:buChar char="•"/>
            </a:pPr>
            <a:r>
              <a:rPr sz="1200" b="0" i="0">
                <a:solidFill>
                  <a:srgbClr val="E8EEF6"/>
                </a:solidFill>
                <a:latin typeface="Calibri"/>
              </a:rPr>
              <a:t>ufshcd_query_aggregated_read(); ufshcd_agg_read_begin()/end() cache one packet in hba-&gt;agg_packet</a:t>
            </a:r>
          </a:p>
          <a:p>
            <a:pPr marL="182880" indent="-182880">
              <a:spcAft>
                <a:spcPts val="300"/>
              </a:spcAft>
              <a:buClr>
                <a:srgbClr val="2DD4BF"/>
              </a:buClr>
              <a:buChar char="•"/>
            </a:pPr>
            <a:r>
              <a:rPr sz="1200" b="0" i="0">
                <a:solidFill>
                  <a:srgbClr val="E8EEF6"/>
                </a:solidFill>
                <a:latin typeface="Calibri"/>
              </a:rPr>
              <a:t>Parsers ufshcd_agg_group/string/desc/attr/flag with ufs_agg_attr_width[]</a:t>
            </a:r>
          </a:p>
          <a:p>
            <a:pPr marL="182880" indent="-182880">
              <a:spcAft>
                <a:spcPts val="300"/>
              </a:spcAft>
              <a:buClr>
                <a:srgbClr val="2DD4BF"/>
              </a:buClr>
              <a:buChar char="•"/>
            </a:pPr>
            <a:r>
              <a:rPr sz="1200" b="0" i="0">
                <a:solidFill>
                  <a:srgbClr val="E8EEF6"/>
                </a:solidFill>
                <a:latin typeface="Calibri"/>
              </a:rPr>
              <a:t>Wrappers ufshcd_read_attr()/ufshcd_read_flag(); ufshcd_read_desc_param() checks cache first</a:t>
            </a:r>
          </a:p>
          <a:p>
            <a:pPr marL="182880" indent="-182880">
              <a:spcAft>
                <a:spcPts val="300"/>
              </a:spcAft>
              <a:buClr>
                <a:srgbClr val="2DD4BF"/>
              </a:buClr>
              <a:buChar char="•"/>
            </a:pPr>
            <a:r>
              <a:rPr sz="1200" b="0" i="0">
                <a:solidFill>
                  <a:srgbClr val="E8EEF6"/>
                </a:solidFill>
                <a:latin typeface="Calibri"/>
              </a:rPr>
              <a:t>3 attribute reads and 1 flag read moved to wrappers; gate: wspecversion ≥ 0x500</a:t>
            </a:r>
          </a:p>
        </p:txBody>
      </p:sp>
      <p:sp>
        <p:nvSpPr>
          <p:cNvPr id="13" name="Rounded Rectangle 12"/>
          <p:cNvSpPr/>
          <p:nvPr/>
        </p:nvSpPr>
        <p:spPr>
          <a:xfrm>
            <a:off x="457200" y="3931920"/>
            <a:ext cx="5532120" cy="2331720"/>
          </a:xfrm>
          <a:prstGeom prst="roundRect">
            <a:avLst>
              <a:gd name="adj" fmla="val 4000"/>
            </a:avLst>
          </a:prstGeom>
          <a:solidFill>
            <a:srgbClr val="14243B"/>
          </a:solidFill>
          <a:ln w="9525">
            <a:solidFill>
              <a:srgbClr val="3A52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4005072"/>
            <a:ext cx="5212080" cy="320040"/>
          </a:xfrm>
          <a:prstGeom prst="rect">
            <a:avLst/>
          </a:prstGeom>
          <a:noFill/>
        </p:spPr>
        <p:txBody>
          <a:bodyPr wrap="square" anchor="t" lIns="36576" rIns="36576" tIns="18288" bIns="18288">
            <a:spAutoFit/>
          </a:bodyPr>
          <a:lstStyle/>
          <a:p>
            <a:r>
              <a:rPr sz="1400" b="1" i="0">
                <a:solidFill>
                  <a:srgbClr val="2DD4BF"/>
                </a:solidFill>
                <a:latin typeface="Calibri"/>
              </a:rPr>
              <a:t>Expected benefits (hypotheses, NOT measured)</a:t>
            </a:r>
          </a:p>
        </p:txBody>
      </p:sp>
      <p:sp>
        <p:nvSpPr>
          <p:cNvPr id="15" name="TextBox 14"/>
          <p:cNvSpPr txBox="1"/>
          <p:nvPr/>
        </p:nvSpPr>
        <p:spPr>
          <a:xfrm>
            <a:off x="594360" y="4370832"/>
            <a:ext cx="5257800" cy="1828800"/>
          </a:xfrm>
          <a:prstGeom prst="rect">
            <a:avLst/>
          </a:prstGeom>
          <a:noFill/>
        </p:spPr>
        <p:txBody>
          <a:bodyPr wrap="square" anchor="t" lIns="36576" rIns="36576" tIns="18288" bIns="18288">
            <a:spAutoFit/>
          </a:bodyPr>
          <a:lstStyle/>
          <a:p>
            <a:pPr marL="182880" indent="-182880">
              <a:spcAft>
                <a:spcPts val="300"/>
              </a:spcAft>
              <a:buClr>
                <a:srgbClr val="2DD4BF"/>
              </a:buClr>
              <a:buChar char="•"/>
            </a:pPr>
            <a:r>
              <a:rPr sz="1200" b="0" i="0">
                <a:solidFill>
                  <a:srgbClr val="E8EEF6"/>
                </a:solidFill>
                <a:latin typeface="Calibri"/>
              </a:rPr>
              <a:t>Fewer UFS query transactions during init</a:t>
            </a:r>
          </a:p>
          <a:p>
            <a:pPr marL="182880" indent="-182880">
              <a:spcAft>
                <a:spcPts val="300"/>
              </a:spcAft>
              <a:buClr>
                <a:srgbClr val="2DD4BF"/>
              </a:buClr>
              <a:buChar char="•"/>
            </a:pPr>
            <a:r>
              <a:rPr sz="1200" b="0" i="0">
                <a:solidFill>
                  <a:srgbClr val="E8EEF6"/>
                </a:solidFill>
                <a:latin typeface="Calibri"/>
              </a:rPr>
              <a:t>Possibly shorter init time, only if correctness is preserved</a:t>
            </a:r>
          </a:p>
          <a:p>
            <a:pPr marL="182880" indent="-182880">
              <a:spcAft>
                <a:spcPts val="300"/>
              </a:spcAft>
              <a:buClr>
                <a:srgbClr val="2DD4BF"/>
              </a:buClr>
              <a:buChar char="•"/>
            </a:pPr>
            <a:r>
              <a:rPr sz="1200" b="0" i="0">
                <a:solidFill>
                  <a:srgbClr val="E8EEF6"/>
                </a:solidFill>
                <a:latin typeface="Calibri"/>
              </a:rPr>
              <a:t>Unchanged behaviour for older devices via fallback (to be tested)</a:t>
            </a:r>
          </a:p>
        </p:txBody>
      </p:sp>
      <p:sp>
        <p:nvSpPr>
          <p:cNvPr id="16" name="Rounded Rectangle 15"/>
          <p:cNvSpPr/>
          <p:nvPr/>
        </p:nvSpPr>
        <p:spPr>
          <a:xfrm>
            <a:off x="6172200" y="3931920"/>
            <a:ext cx="5532120" cy="2331720"/>
          </a:xfrm>
          <a:prstGeom prst="roundRect">
            <a:avLst>
              <a:gd name="adj" fmla="val 4000"/>
            </a:avLst>
          </a:prstGeom>
          <a:solidFill>
            <a:srgbClr val="14243B"/>
          </a:solidFill>
          <a:ln w="9525">
            <a:solidFill>
              <a:srgbClr val="3A52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0" y="4005072"/>
            <a:ext cx="5212080" cy="320040"/>
          </a:xfrm>
          <a:prstGeom prst="rect">
            <a:avLst/>
          </a:prstGeom>
          <a:noFill/>
        </p:spPr>
        <p:txBody>
          <a:bodyPr wrap="square" anchor="t" lIns="36576" rIns="36576" tIns="18288" bIns="18288">
            <a:spAutoFit/>
          </a:bodyPr>
          <a:lstStyle/>
          <a:p>
            <a:r>
              <a:rPr sz="1400" b="1" i="0">
                <a:solidFill>
                  <a:srgbClr val="FBBF24"/>
                </a:solidFill>
                <a:latin typeface="Calibri"/>
              </a:rPr>
              <a:t>Limitations</a:t>
            </a:r>
          </a:p>
        </p:txBody>
      </p:sp>
      <p:sp>
        <p:nvSpPr>
          <p:cNvPr id="18" name="TextBox 17"/>
          <p:cNvSpPr txBox="1"/>
          <p:nvPr/>
        </p:nvSpPr>
        <p:spPr>
          <a:xfrm>
            <a:off x="6309360" y="4370832"/>
            <a:ext cx="5257800" cy="1828800"/>
          </a:xfrm>
          <a:prstGeom prst="rect">
            <a:avLst/>
          </a:prstGeom>
          <a:noFill/>
        </p:spPr>
        <p:txBody>
          <a:bodyPr wrap="square" anchor="t" lIns="36576" rIns="36576" tIns="18288" bIns="18288">
            <a:spAutoFit/>
          </a:bodyPr>
          <a:lstStyle/>
          <a:p>
            <a:pPr marL="182880" indent="-182880">
              <a:spcAft>
                <a:spcPts val="300"/>
              </a:spcAft>
              <a:buClr>
                <a:srgbClr val="2DD4BF"/>
              </a:buClr>
              <a:buChar char="•"/>
            </a:pPr>
            <a:r>
              <a:rPr sz="1200" b="0" i="0">
                <a:solidFill>
                  <a:srgbClr val="E8EEF6"/>
                </a:solidFill>
                <a:latin typeface="Calibri"/>
              </a:rPr>
              <a:t>Only UFS ≥ 5.0; any failed AGGREGATED READ sets a sticky agg_read_unsupported</a:t>
            </a:r>
          </a:p>
          <a:p>
            <a:pPr marL="182880" indent="-182880">
              <a:spcAft>
                <a:spcPts val="300"/>
              </a:spcAft>
              <a:buClr>
                <a:srgbClr val="2DD4BF"/>
              </a:buClr>
              <a:buChar char="•"/>
            </a:pPr>
            <a:r>
              <a:rPr sz="1200" b="0" i="0">
                <a:solidFill>
                  <a:srgbClr val="E8EEF6"/>
                </a:solidFill>
                <a:latin typeface="Calibri"/>
              </a:rPr>
              <a:t>Only documented items are consumers; not every read is cached</a:t>
            </a:r>
          </a:p>
          <a:p>
            <a:pPr marL="182880" indent="-182880">
              <a:spcAft>
                <a:spcPts val="300"/>
              </a:spcAft>
              <a:buClr>
                <a:srgbClr val="2DD4BF"/>
              </a:buClr>
              <a:buChar char="•"/>
            </a:pPr>
            <a:r>
              <a:rPr sz="1200" b="0" i="0">
                <a:solidFill>
                  <a:srgbClr val="E8EEF6"/>
                </a:solidFill>
                <a:latin typeface="Calibri"/>
              </a:rPr>
              <a:t>Series sum of stat lines: +402 / −20; zero measurements or tests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626"/>
        </a:solidFill>
        <a:effectLst/>
      </p:bgPr>
    </p:bg>
    <p:spTree>
      <p:nvGrpSpPr>
        <p:cNvPr id="1" name=""/>
        <p:cNvGrpSpPr/>
        <p:nvPr/>
      </p:nvGrpSpPr>
      <p:grpSpPr/>
      <p:sp>
        <p:nvSpPr>
          <p:cNvPr id="2" name="Title"/>
          <p:cNvSpPr txBox="1"/>
          <p:nvPr/>
        </p:nvSpPr>
        <p:spPr>
          <a:xfrm>
            <a:off x="457200" y="274320"/>
            <a:ext cx="11247120" cy="548640"/>
          </a:xfrm>
          <a:prstGeom prst="rect">
            <a:avLst/>
          </a:prstGeom>
          <a:noFill/>
        </p:spPr>
        <p:txBody>
          <a:bodyPr wrap="square" anchor="ctr" lIns="36576" rIns="36576" tIns="18288" bIns="18288">
            <a:spAutoFit/>
          </a:bodyPr>
          <a:lstStyle/>
          <a:p>
            <a:r>
              <a:rPr sz="2400" b="1" i="0">
                <a:solidFill>
                  <a:srgbClr val="E8EEF6"/>
                </a:solidFill>
                <a:latin typeface="Calibri"/>
              </a:rPr>
              <a:t>Existing Initialization Query Flow: Baseline Versus Patched</a:t>
            </a:r>
          </a:p>
        </p:txBody>
      </p:sp>
      <p:sp>
        <p:nvSpPr>
          <p:cNvPr id="3" name="Source"/>
          <p:cNvSpPr txBox="1"/>
          <p:nvPr/>
        </p:nvSpPr>
        <p:spPr>
          <a:xfrm>
            <a:off x="457200" y="6473952"/>
            <a:ext cx="10424160" cy="256032"/>
          </a:xfrm>
          <a:prstGeom prst="rect">
            <a:avLst/>
          </a:prstGeom>
          <a:noFill/>
        </p:spPr>
        <p:txBody>
          <a:bodyPr wrap="square" anchor="t" lIns="36576" rIns="36576" tIns="18288" bIns="18288">
            <a:spAutoFit/>
          </a:bodyPr>
          <a:lstStyle/>
          <a:p>
            <a:r>
              <a:rPr sz="1000" b="0" i="0">
                <a:solidFill>
                  <a:srgbClr val="A9B8CC"/>
                </a:solidFill>
                <a:latin typeface="Calibri"/>
              </a:rPr>
              <a:t>Source: drivers/ufs/core/ufshcd.c — ufshcd_set_rtt(), ufshcd_get_ref_clk_gating_wait(), ufshcd_read_desc_param(), ufshcd_read_attr()/ufshcd_read_flag() (P2)</a:t>
            </a:r>
          </a:p>
        </p:txBody>
      </p:sp>
      <p:sp>
        <p:nvSpPr>
          <p:cNvPr id="4" name="Slide Number"/>
          <p:cNvSpPr txBox="1"/>
          <p:nvPr/>
        </p:nvSpPr>
        <p:spPr>
          <a:xfrm>
            <a:off x="11064240" y="6473952"/>
            <a:ext cx="685800" cy="256032"/>
          </a:xfrm>
          <a:prstGeom prst="rect">
            <a:avLst/>
          </a:prstGeom>
          <a:noFill/>
        </p:spPr>
        <p:txBody>
          <a:bodyPr wrap="none">
            <a:spAutoFit/>
          </a:bodyPr>
          <a:lstStyle/>
          <a:p>
            <a:pPr algn="r"/>
            <a:fld id="{B6F15528-21DE-4FAA-801E-634DDDAF4B2B}" type="slidenum">
              <a:rPr lang="en-US" sz="1100">
                <a:solidFill>
                  <a:srgbClr val="A9B8CC"/>
                </a:solidFill>
                <a:latin typeface="Calibri"/>
              </a:rPr>
              <a:t>4</a:t>
            </a:fld>
          </a:p>
        </p:txBody>
      </p:sp>
      <p:sp>
        <p:nvSpPr>
          <p:cNvPr id="5" name="TextBox 4"/>
          <p:cNvSpPr txBox="1"/>
          <p:nvPr/>
        </p:nvSpPr>
        <p:spPr>
          <a:xfrm>
            <a:off x="457200" y="1051560"/>
            <a:ext cx="11247120" cy="868680"/>
          </a:xfrm>
          <a:prstGeom prst="rect">
            <a:avLst/>
          </a:prstGeom>
          <a:noFill/>
        </p:spPr>
        <p:txBody>
          <a:bodyPr wrap="square" anchor="t" lIns="36576" rIns="36576" tIns="18288" bIns="18288">
            <a:spAutoFit/>
          </a:bodyPr>
          <a:lstStyle/>
          <a:p>
            <a:pPr marL="182880" indent="-182880">
              <a:spcAft>
                <a:spcPts val="300"/>
              </a:spcAft>
              <a:buClr>
                <a:srgbClr val="2DD4BF"/>
              </a:buClr>
              <a:buChar char="•"/>
            </a:pPr>
            <a:r>
              <a:rPr sz="1100" b="0" i="0">
                <a:solidFill>
                  <a:srgbClr val="E8EEF6"/>
                </a:solidFill>
                <a:latin typeface="Calibri"/>
              </a:rPr>
              <a:t>Baseline (VERIFIED, removed lines): set_rtt, ref-clk wait, WB lifetime and fPowerOnWPEn each issued their own ufshcd_query_*_retry(); ufshcd_read_desc_param() always called ufshcd_query_descriptor_retry().</a:t>
            </a:r>
          </a:p>
          <a:p>
            <a:pPr marL="182880" indent="-182880">
              <a:spcAft>
                <a:spcPts val="300"/>
              </a:spcAft>
              <a:buClr>
                <a:srgbClr val="2DD4BF"/>
              </a:buClr>
              <a:buChar char="•"/>
            </a:pPr>
            <a:r>
              <a:rPr sz="1100" b="0" i="0">
                <a:solidFill>
                  <a:srgbClr val="E8EEF6"/>
                </a:solidFill>
                <a:latin typeface="Calibri"/>
              </a:rPr>
              <a:t>Flow: device init → query operations → response processing → parameter initialization.</a:t>
            </a:r>
          </a:p>
        </p:txBody>
      </p:sp>
      <p:sp>
        <p:nvSpPr>
          <p:cNvPr id="6" name="TextBox 5"/>
          <p:cNvSpPr txBox="1"/>
          <p:nvPr/>
        </p:nvSpPr>
        <p:spPr>
          <a:xfrm>
            <a:off x="457200" y="1965960"/>
            <a:ext cx="5394960" cy="274320"/>
          </a:xfrm>
          <a:prstGeom prst="rect">
            <a:avLst/>
          </a:prstGeom>
          <a:noFill/>
        </p:spPr>
        <p:txBody>
          <a:bodyPr wrap="square" anchor="t" lIns="36576" rIns="36576" tIns="18288" bIns="18288">
            <a:spAutoFit/>
          </a:bodyPr>
          <a:lstStyle/>
          <a:p>
            <a:r>
              <a:rPr sz="1200" b="1" i="0">
                <a:solidFill>
                  <a:srgbClr val="A9B8CC"/>
                </a:solidFill>
                <a:latin typeface="Calibri"/>
              </a:rPr>
              <a:t>BEFORE</a:t>
            </a:r>
          </a:p>
        </p:txBody>
      </p:sp>
      <p:sp>
        <p:nvSpPr>
          <p:cNvPr id="7" name="TextBox 6"/>
          <p:cNvSpPr txBox="1"/>
          <p:nvPr/>
        </p:nvSpPr>
        <p:spPr>
          <a:xfrm>
            <a:off x="6309360" y="1965960"/>
            <a:ext cx="5394960" cy="274320"/>
          </a:xfrm>
          <a:prstGeom prst="rect">
            <a:avLst/>
          </a:prstGeom>
          <a:noFill/>
        </p:spPr>
        <p:txBody>
          <a:bodyPr wrap="square" anchor="t" lIns="36576" rIns="36576" tIns="18288" bIns="18288">
            <a:spAutoFit/>
          </a:bodyPr>
          <a:lstStyle/>
          <a:p>
            <a:r>
              <a:rPr sz="1200" b="1" i="0">
                <a:solidFill>
                  <a:srgbClr val="2DD4BF"/>
                </a:solidFill>
                <a:latin typeface="Calibri"/>
              </a:rPr>
              <a:t>AFTER (wspecversion ≥ 0x500)</a:t>
            </a:r>
          </a:p>
        </p:txBody>
      </p:sp>
      <p:sp>
        <p:nvSpPr>
          <p:cNvPr id="8" name="Block 1"/>
          <p:cNvSpPr/>
          <p:nvPr/>
        </p:nvSpPr>
        <p:spPr>
          <a:xfrm>
            <a:off x="457200" y="2331720"/>
            <a:ext cx="5394960" cy="566928"/>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2DD4BF"/>
                </a:solidFill>
                <a:latin typeface="Calibri"/>
              </a:rPr>
              <a:t>[1] </a:t>
            </a:r>
            <a:r>
              <a:rPr sz="1100" b="1" i="0">
                <a:solidFill>
                  <a:srgbClr val="E8EEF6"/>
                </a:solidFill>
                <a:latin typeface="Calibri"/>
              </a:rPr>
              <a:t>Init consumers</a:t>
            </a:r>
          </a:p>
          <a:p>
            <a:r>
              <a:rPr sz="1000" b="0" i="0">
                <a:solidFill>
                  <a:srgbClr val="A9B8CC"/>
                </a:solidFill>
                <a:latin typeface="Calibri"/>
              </a:rPr>
              <a:t>set_rtt · ref-clk wait · WB lifetime · fPowerOnWPEn · strings</a:t>
            </a:r>
          </a:p>
        </p:txBody>
      </p:sp>
      <p:sp>
        <p:nvSpPr>
          <p:cNvPr id="9" name="Block 2"/>
          <p:cNvSpPr/>
          <p:nvPr/>
        </p:nvSpPr>
        <p:spPr>
          <a:xfrm>
            <a:off x="457200" y="3291840"/>
            <a:ext cx="5394960" cy="566928"/>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2DD4BF"/>
                </a:solidFill>
                <a:latin typeface="Calibri"/>
              </a:rPr>
              <a:t>[2] </a:t>
            </a:r>
            <a:r>
              <a:rPr sz="1100" b="1" i="0">
                <a:solidFill>
                  <a:srgbClr val="E8EEF6"/>
                </a:solidFill>
                <a:latin typeface="Calibri"/>
              </a:rPr>
              <a:t>ufshcd_query_attr_retry / _flag_retry / _descriptor_retry</a:t>
            </a:r>
          </a:p>
        </p:txBody>
      </p:sp>
      <p:sp>
        <p:nvSpPr>
          <p:cNvPr id="10" name="Block 3"/>
          <p:cNvSpPr/>
          <p:nvPr/>
        </p:nvSpPr>
        <p:spPr>
          <a:xfrm>
            <a:off x="457200" y="4251960"/>
            <a:ext cx="5394960" cy="566928"/>
          </a:xfrm>
          <a:prstGeom prst="roundRect">
            <a:avLst>
              <a:gd name="adj" fmla="val 10000"/>
            </a:avLst>
          </a:prstGeom>
          <a:solidFill>
            <a:srgbClr val="1B304D"/>
          </a:solidFill>
          <a:ln w="15875">
            <a:solidFill>
              <a:srgbClr val="A9B8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2DD4BF"/>
                </a:solidFill>
                <a:latin typeface="Calibri"/>
              </a:rPr>
              <a:t>[3] </a:t>
            </a:r>
            <a:r>
              <a:rPr sz="1100" b="1" i="0">
                <a:solidFill>
                  <a:srgbClr val="E8EEF6"/>
                </a:solidFill>
                <a:latin typeface="Calibri"/>
              </a:rPr>
              <a:t>UFS device</a:t>
            </a:r>
          </a:p>
          <a:p>
            <a:r>
              <a:rPr sz="1000" b="0" i="0">
                <a:solidFill>
                  <a:srgbClr val="A9B8CC"/>
                </a:solidFill>
                <a:latin typeface="Calibri"/>
              </a:rPr>
              <a:t>one QUERY transaction per item</a:t>
            </a:r>
          </a:p>
        </p:txBody>
      </p:sp>
      <p:sp>
        <p:nvSpPr>
          <p:cNvPr id="11" name="Block 4"/>
          <p:cNvSpPr/>
          <p:nvPr/>
        </p:nvSpPr>
        <p:spPr>
          <a:xfrm>
            <a:off x="6309360" y="2331720"/>
            <a:ext cx="5394960" cy="566928"/>
          </a:xfrm>
          <a:prstGeom prst="roundRect">
            <a:avLst>
              <a:gd name="adj" fmla="val 10000"/>
            </a:avLst>
          </a:prstGeom>
          <a:solidFill>
            <a:srgbClr val="1B304D"/>
          </a:solidFill>
          <a:ln w="15875">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2DD4BF"/>
                </a:solidFill>
                <a:latin typeface="Calibri"/>
              </a:rPr>
              <a:t>[4] </a:t>
            </a:r>
            <a:r>
              <a:rPr sz="1100" b="1" i="0">
                <a:solidFill>
                  <a:srgbClr val="E8EEF6"/>
                </a:solidFill>
                <a:latin typeface="Calibri"/>
              </a:rPr>
              <a:t>ufshcd_agg_read_begin()</a:t>
            </a:r>
          </a:p>
          <a:p>
            <a:r>
              <a:rPr sz="1000" b="0" i="0">
                <a:solidFill>
                  <a:srgbClr val="A9B8CC"/>
                </a:solidFill>
                <a:latin typeface="Calibri"/>
              </a:rPr>
              <a:t>1 AGGREGATED READ, reply cached</a:t>
            </a:r>
          </a:p>
        </p:txBody>
      </p:sp>
      <p:sp>
        <p:nvSpPr>
          <p:cNvPr id="12" name="Block 5"/>
          <p:cNvSpPr/>
          <p:nvPr/>
        </p:nvSpPr>
        <p:spPr>
          <a:xfrm>
            <a:off x="6309360" y="3291840"/>
            <a:ext cx="5394960" cy="566928"/>
          </a:xfrm>
          <a:prstGeom prst="roundRect">
            <a:avLst>
              <a:gd name="adj" fmla="val 10000"/>
            </a:avLst>
          </a:prstGeom>
          <a:solidFill>
            <a:srgbClr val="1B304D"/>
          </a:solidFill>
          <a:ln w="15875">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2DD4BF"/>
                </a:solidFill>
                <a:latin typeface="Calibri"/>
              </a:rPr>
              <a:t>[5] </a:t>
            </a:r>
            <a:r>
              <a:rPr sz="1100" b="1" i="0">
                <a:solidFill>
                  <a:srgbClr val="E8EEF6"/>
                </a:solidFill>
                <a:latin typeface="Calibri"/>
              </a:rPr>
              <a:t>hba-&gt;agg_packet / agg_packet_len</a:t>
            </a:r>
          </a:p>
        </p:txBody>
      </p:sp>
      <p:sp>
        <p:nvSpPr>
          <p:cNvPr id="13" name="Block 6"/>
          <p:cNvSpPr/>
          <p:nvPr/>
        </p:nvSpPr>
        <p:spPr>
          <a:xfrm>
            <a:off x="6309360" y="4251960"/>
            <a:ext cx="2377440" cy="566928"/>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2DD4BF"/>
                </a:solidFill>
                <a:latin typeface="Calibri"/>
              </a:rPr>
              <a:t>[6] </a:t>
            </a:r>
            <a:r>
              <a:rPr sz="1000" b="1" i="0">
                <a:solidFill>
                  <a:srgbClr val="E8EEF6"/>
                </a:solidFill>
                <a:latin typeface="Calibri"/>
              </a:rPr>
              <a:t>read_attr / read_flag / read_desc_param</a:t>
            </a:r>
          </a:p>
        </p:txBody>
      </p:sp>
      <p:sp>
        <p:nvSpPr>
          <p:cNvPr id="14" name="Block 7"/>
          <p:cNvSpPr/>
          <p:nvPr/>
        </p:nvSpPr>
        <p:spPr>
          <a:xfrm>
            <a:off x="9326880" y="4251960"/>
            <a:ext cx="2377440" cy="566928"/>
          </a:xfrm>
          <a:prstGeom prst="roundRect">
            <a:avLst>
              <a:gd name="adj" fmla="val 10000"/>
            </a:avLst>
          </a:prstGeom>
          <a:solidFill>
            <a:srgbClr val="1B304D"/>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2DD4BF"/>
                </a:solidFill>
                <a:latin typeface="Calibri"/>
              </a:rPr>
              <a:t>[7] </a:t>
            </a:r>
            <a:r>
              <a:rPr sz="1000" b="1" i="0">
                <a:solidFill>
                  <a:srgbClr val="E8EEF6"/>
                </a:solidFill>
                <a:latin typeface="Calibri"/>
              </a:rPr>
              <a:t>individual *_retry query</a:t>
            </a:r>
          </a:p>
        </p:txBody>
      </p:sp>
      <p:cxnSp>
        <p:nvCxnSpPr>
          <p:cNvPr id="15" name="Arrow A1"/>
          <p:cNvCxnSpPr>
            <a:stCxn id="8" idx="2"/>
            <a:endCxn id="9" idx="0"/>
          </p:cNvCxnSpPr>
          <p:nvPr/>
        </p:nvCxnSpPr>
        <p:spPr>
          <a:xfrm>
            <a:off x="3154680" y="2898648"/>
            <a:ext cx="0" cy="393192"/>
          </a:xfrm>
          <a:prstGeom prst="line">
            <a:avLst/>
          </a:prstGeom>
          <a:ln w="22225">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Label A1"/>
          <p:cNvSpPr/>
          <p:nvPr/>
        </p:nvSpPr>
        <p:spPr>
          <a:xfrm>
            <a:off x="2980944" y="2976372"/>
            <a:ext cx="347472" cy="237744"/>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A1</a:t>
            </a:r>
          </a:p>
        </p:txBody>
      </p:sp>
      <p:cxnSp>
        <p:nvCxnSpPr>
          <p:cNvPr id="17" name="Arrow A2"/>
          <p:cNvCxnSpPr>
            <a:stCxn id="9" idx="2"/>
            <a:endCxn id="10" idx="0"/>
          </p:cNvCxnSpPr>
          <p:nvPr/>
        </p:nvCxnSpPr>
        <p:spPr>
          <a:xfrm>
            <a:off x="3154680" y="3858768"/>
            <a:ext cx="0" cy="393192"/>
          </a:xfrm>
          <a:prstGeom prst="line">
            <a:avLst/>
          </a:prstGeom>
          <a:ln w="22225">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Label A2"/>
          <p:cNvSpPr/>
          <p:nvPr/>
        </p:nvSpPr>
        <p:spPr>
          <a:xfrm>
            <a:off x="2980944" y="3936492"/>
            <a:ext cx="347472" cy="237744"/>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A2</a:t>
            </a:r>
          </a:p>
        </p:txBody>
      </p:sp>
      <p:cxnSp>
        <p:nvCxnSpPr>
          <p:cNvPr id="19" name="Arrow A3"/>
          <p:cNvCxnSpPr>
            <a:stCxn id="11" idx="2"/>
            <a:endCxn id="12" idx="0"/>
          </p:cNvCxnSpPr>
          <p:nvPr/>
        </p:nvCxnSpPr>
        <p:spPr>
          <a:xfrm>
            <a:off x="9006840" y="2898648"/>
            <a:ext cx="0" cy="393192"/>
          </a:xfrm>
          <a:prstGeom prst="line">
            <a:avLst/>
          </a:prstGeom>
          <a:ln w="22225">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Label A3"/>
          <p:cNvSpPr/>
          <p:nvPr/>
        </p:nvSpPr>
        <p:spPr>
          <a:xfrm>
            <a:off x="8833104" y="2976372"/>
            <a:ext cx="347472" cy="237744"/>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A3</a:t>
            </a:r>
          </a:p>
        </p:txBody>
      </p:sp>
      <p:cxnSp>
        <p:nvCxnSpPr>
          <p:cNvPr id="21" name="Arrow A4"/>
          <p:cNvCxnSpPr>
            <a:stCxn id="13" idx="0"/>
            <a:endCxn id="12" idx="2"/>
          </p:cNvCxnSpPr>
          <p:nvPr/>
        </p:nvCxnSpPr>
        <p:spPr>
          <a:xfrm flipV="1">
            <a:off x="7498080" y="3858768"/>
            <a:ext cx="1508760" cy="393192"/>
          </a:xfrm>
          <a:prstGeom prst="line">
            <a:avLst/>
          </a:prstGeom>
          <a:ln w="22225">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Label A4"/>
          <p:cNvSpPr/>
          <p:nvPr/>
        </p:nvSpPr>
        <p:spPr>
          <a:xfrm>
            <a:off x="8078724" y="3936492"/>
            <a:ext cx="347472" cy="237744"/>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A4</a:t>
            </a:r>
          </a:p>
        </p:txBody>
      </p:sp>
      <p:cxnSp>
        <p:nvCxnSpPr>
          <p:cNvPr id="23" name="Arrow A5"/>
          <p:cNvCxnSpPr>
            <a:stCxn id="13" idx="3"/>
            <a:endCxn id="14" idx="1"/>
          </p:cNvCxnSpPr>
          <p:nvPr/>
        </p:nvCxnSpPr>
        <p:spPr>
          <a:xfrm>
            <a:off x="8686800" y="4535424"/>
            <a:ext cx="640080" cy="0"/>
          </a:xfrm>
          <a:prstGeom prst="line">
            <a:avLst/>
          </a:prstGeom>
          <a:ln w="22225">
            <a:solidFill>
              <a:srgbClr val="FBBF2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Label A5"/>
          <p:cNvSpPr/>
          <p:nvPr/>
        </p:nvSpPr>
        <p:spPr>
          <a:xfrm>
            <a:off x="8833104" y="4416552"/>
            <a:ext cx="347472" cy="237744"/>
          </a:xfrm>
          <a:prstGeom prst="roundRect">
            <a:avLst>
              <a:gd name="adj" fmla="val 50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A5</a:t>
            </a:r>
          </a:p>
        </p:txBody>
      </p:sp>
      <p:sp>
        <p:nvSpPr>
          <p:cNvPr id="25" name="Legend key"/>
          <p:cNvSpPr txBox="1"/>
          <p:nvPr/>
        </p:nvSpPr>
        <p:spPr>
          <a:xfrm>
            <a:off x="457200" y="4983480"/>
            <a:ext cx="11247120" cy="201168"/>
          </a:xfrm>
          <a:prstGeom prst="rect">
            <a:avLst/>
          </a:prstGeom>
          <a:noFill/>
        </p:spPr>
        <p:txBody>
          <a:bodyPr wrap="square" anchor="t" lIns="36576" rIns="36576" tIns="18288" bIns="18288">
            <a:spAutoFit/>
          </a:bodyPr>
          <a:lstStyle/>
          <a:p>
            <a:r>
              <a:rPr sz="1000" b="0" i="1">
                <a:solidFill>
                  <a:srgbClr val="A9B8CC"/>
                </a:solidFill>
                <a:latin typeface="Calibri"/>
              </a:rPr>
              <a:t>Solid = verified · dashed = conceptual / unverified · amber = fallback</a:t>
            </a:r>
          </a:p>
        </p:txBody>
      </p:sp>
      <p:sp>
        <p:nvSpPr>
          <p:cNvPr id="26" name="Legend 1"/>
          <p:cNvSpPr txBox="1"/>
          <p:nvPr/>
        </p:nvSpPr>
        <p:spPr>
          <a:xfrm>
            <a:off x="457200" y="5184648"/>
            <a:ext cx="5532120" cy="1371600"/>
          </a:xfrm>
          <a:prstGeom prst="rect">
            <a:avLst/>
          </a:prstGeom>
          <a:noFill/>
        </p:spPr>
        <p:txBody>
          <a:bodyPr wrap="square" anchor="t" lIns="36576" rIns="36576" tIns="18288" bIns="18288">
            <a:spAutoFit/>
          </a:bodyPr>
          <a:lstStyle/>
          <a:p>
            <a:r>
              <a:rPr sz="1000" b="1" i="0">
                <a:solidFill>
                  <a:srgbClr val="2DD4BF"/>
                </a:solidFill>
                <a:latin typeface="Calibri"/>
              </a:rPr>
              <a:t>A1</a:t>
            </a:r>
            <a:r>
              <a:rPr sz="1000" b="0" i="0">
                <a:solidFill>
                  <a:srgbClr val="A9B8CC"/>
                </a:solidFill>
                <a:latin typeface="Calibri"/>
              </a:rPr>
              <a:t>  [1]→[2]  </a:t>
            </a:r>
            <a:r>
              <a:rPr sz="1000" b="0" i="0">
                <a:solidFill>
                  <a:srgbClr val="E8EEF6"/>
                </a:solidFill>
                <a:latin typeface="Calibri"/>
              </a:rPr>
              <a:t>each consumer calls its own query helper</a:t>
            </a:r>
          </a:p>
          <a:p>
            <a:r>
              <a:rPr sz="1000" b="1" i="0">
                <a:solidFill>
                  <a:srgbClr val="2DD4BF"/>
                </a:solidFill>
                <a:latin typeface="Calibri"/>
              </a:rPr>
              <a:t>A2</a:t>
            </a:r>
            <a:r>
              <a:rPr sz="1000" b="0" i="0">
                <a:solidFill>
                  <a:srgbClr val="A9B8CC"/>
                </a:solidFill>
                <a:latin typeface="Calibri"/>
              </a:rPr>
              <a:t>  [2]→[3]  </a:t>
            </a:r>
            <a:r>
              <a:rPr sz="1000" b="0" i="0">
                <a:solidFill>
                  <a:srgbClr val="E8EEF6"/>
                </a:solidFill>
                <a:latin typeface="Calibri"/>
              </a:rPr>
              <a:t>one transaction per item</a:t>
            </a:r>
          </a:p>
          <a:p>
            <a:r>
              <a:rPr sz="1000" b="1" i="0">
                <a:solidFill>
                  <a:srgbClr val="2DD4BF"/>
                </a:solidFill>
                <a:latin typeface="Calibri"/>
              </a:rPr>
              <a:t>A3</a:t>
            </a:r>
            <a:r>
              <a:rPr sz="1000" b="0" i="0">
                <a:solidFill>
                  <a:srgbClr val="A9B8CC"/>
                </a:solidFill>
                <a:latin typeface="Calibri"/>
              </a:rPr>
              <a:t>  [4]→[5]  </a:t>
            </a:r>
            <a:r>
              <a:rPr sz="1000" b="0" i="0">
                <a:solidFill>
                  <a:srgbClr val="E8EEF6"/>
                </a:solidFill>
                <a:latin typeface="Calibri"/>
              </a:rPr>
              <a:t>reply stored on success</a:t>
            </a:r>
          </a:p>
        </p:txBody>
      </p:sp>
      <p:sp>
        <p:nvSpPr>
          <p:cNvPr id="27" name="Legend 2"/>
          <p:cNvSpPr txBox="1"/>
          <p:nvPr/>
        </p:nvSpPr>
        <p:spPr>
          <a:xfrm>
            <a:off x="6080760" y="5184648"/>
            <a:ext cx="5532120" cy="1371600"/>
          </a:xfrm>
          <a:prstGeom prst="rect">
            <a:avLst/>
          </a:prstGeom>
          <a:noFill/>
        </p:spPr>
        <p:txBody>
          <a:bodyPr wrap="square" anchor="t" lIns="36576" rIns="36576" tIns="18288" bIns="18288">
            <a:spAutoFit/>
          </a:bodyPr>
          <a:lstStyle/>
          <a:p>
            <a:r>
              <a:rPr sz="1000" b="1" i="0">
                <a:solidFill>
                  <a:srgbClr val="2DD4BF"/>
                </a:solidFill>
                <a:latin typeface="Calibri"/>
              </a:rPr>
              <a:t>A4</a:t>
            </a:r>
            <a:r>
              <a:rPr sz="1000" b="0" i="0">
                <a:solidFill>
                  <a:srgbClr val="A9B8CC"/>
                </a:solidFill>
                <a:latin typeface="Calibri"/>
              </a:rPr>
              <a:t>  [6]→[5]  </a:t>
            </a:r>
            <a:r>
              <a:rPr sz="1000" b="0" i="0">
                <a:solidFill>
                  <a:srgbClr val="E8EEF6"/>
                </a:solidFill>
                <a:latin typeface="Calibri"/>
              </a:rPr>
              <a:t>cache lookup via ufshcd_agg_* parsers</a:t>
            </a:r>
          </a:p>
          <a:p>
            <a:r>
              <a:rPr sz="1000" b="1" i="0">
                <a:solidFill>
                  <a:srgbClr val="FBBF24"/>
                </a:solidFill>
                <a:latin typeface="Calibri"/>
              </a:rPr>
              <a:t>A5</a:t>
            </a:r>
            <a:r>
              <a:rPr sz="1000" b="0" i="0">
                <a:solidFill>
                  <a:srgbClr val="A9B8CC"/>
                </a:solidFill>
                <a:latin typeface="Calibri"/>
              </a:rPr>
              <a:t>  [6]→[7]  </a:t>
            </a:r>
            <a:r>
              <a:rPr sz="1000" b="0" i="0">
                <a:solidFill>
                  <a:srgbClr val="E8EEF6"/>
                </a:solidFill>
                <a:latin typeface="Calibri"/>
              </a:rPr>
              <a:t>miss / older device / rejected opcode → existing query path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626"/>
        </a:solidFill>
        <a:effectLst/>
      </p:bgPr>
    </p:bg>
    <p:spTree>
      <p:nvGrpSpPr>
        <p:cNvPr id="1" name=""/>
        <p:cNvGrpSpPr/>
        <p:nvPr/>
      </p:nvGrpSpPr>
      <p:grpSpPr/>
      <p:sp>
        <p:nvSpPr>
          <p:cNvPr id="2" name="Title"/>
          <p:cNvSpPr txBox="1"/>
          <p:nvPr/>
        </p:nvSpPr>
        <p:spPr>
          <a:xfrm>
            <a:off x="457200" y="274320"/>
            <a:ext cx="11247120" cy="548640"/>
          </a:xfrm>
          <a:prstGeom prst="rect">
            <a:avLst/>
          </a:prstGeom>
          <a:noFill/>
        </p:spPr>
        <p:txBody>
          <a:bodyPr wrap="square" anchor="ctr" lIns="36576" rIns="36576" tIns="18288" bIns="18288">
            <a:spAutoFit/>
          </a:bodyPr>
          <a:lstStyle/>
          <a:p>
            <a:r>
              <a:rPr sz="2400" b="1" i="0">
                <a:solidFill>
                  <a:srgbClr val="E8EEF6"/>
                </a:solidFill>
                <a:latin typeface="Calibri"/>
              </a:rPr>
              <a:t>Patch Series Architecture: Patch 1/2 Enables Patch 2/2</a:t>
            </a:r>
          </a:p>
        </p:txBody>
      </p:sp>
      <p:sp>
        <p:nvSpPr>
          <p:cNvPr id="3" name="Source"/>
          <p:cNvSpPr txBox="1"/>
          <p:nvPr/>
        </p:nvSpPr>
        <p:spPr>
          <a:xfrm>
            <a:off x="457200" y="6473952"/>
            <a:ext cx="10424160" cy="256032"/>
          </a:xfrm>
          <a:prstGeom prst="rect">
            <a:avLst/>
          </a:prstGeom>
          <a:noFill/>
        </p:spPr>
        <p:txBody>
          <a:bodyPr wrap="square" anchor="t" lIns="36576" rIns="36576" tIns="18288" bIns="18288">
            <a:spAutoFit/>
          </a:bodyPr>
          <a:lstStyle/>
          <a:p>
            <a:r>
              <a:rPr sz="1000" b="0" i="0">
                <a:solidFill>
                  <a:srgbClr val="A9B8CC"/>
                </a:solidFill>
                <a:latin typeface="Calibri"/>
              </a:rPr>
              <a:t>Source: [PATCH v2 1/2] and [PATCH v2 2/2] diffs; P1 hunk context shows QUERY_AGGREGATED_MAX_SIZE already present</a:t>
            </a:r>
          </a:p>
        </p:txBody>
      </p:sp>
      <p:sp>
        <p:nvSpPr>
          <p:cNvPr id="4" name="Slide Number"/>
          <p:cNvSpPr txBox="1"/>
          <p:nvPr/>
        </p:nvSpPr>
        <p:spPr>
          <a:xfrm>
            <a:off x="11064240" y="6473952"/>
            <a:ext cx="685800" cy="256032"/>
          </a:xfrm>
          <a:prstGeom prst="rect">
            <a:avLst/>
          </a:prstGeom>
          <a:noFill/>
        </p:spPr>
        <p:txBody>
          <a:bodyPr wrap="none">
            <a:spAutoFit/>
          </a:bodyPr>
          <a:lstStyle/>
          <a:p>
            <a:pPr algn="r"/>
            <a:fld id="{B6F15528-21DE-4FAA-801E-634DDDAF4B2B}" type="slidenum">
              <a:rPr lang="en-US" sz="1100">
                <a:solidFill>
                  <a:srgbClr val="A9B8CC"/>
                </a:solidFill>
                <a:latin typeface="Calibri"/>
              </a:rPr>
              <a:t>5</a:t>
            </a:fld>
          </a:p>
        </p:txBody>
      </p:sp>
      <p:sp>
        <p:nvSpPr>
          <p:cNvPr id="5" name="Block 1"/>
          <p:cNvSpPr/>
          <p:nvPr/>
        </p:nvSpPr>
        <p:spPr>
          <a:xfrm>
            <a:off x="457200" y="1188720"/>
            <a:ext cx="5212080" cy="2057400"/>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300" b="1" i="0">
                <a:solidFill>
                  <a:srgbClr val="2DD4BF"/>
                </a:solidFill>
                <a:latin typeface="Calibri"/>
              </a:rPr>
              <a:t>[1] </a:t>
            </a:r>
            <a:r>
              <a:rPr sz="1300" b="1" i="0">
                <a:solidFill>
                  <a:srgbClr val="E8EEF6"/>
                </a:solidFill>
                <a:latin typeface="Calibri"/>
              </a:rPr>
              <a:t>Patch 1/2 · protocol and wire format</a:t>
            </a:r>
          </a:p>
          <a:p>
            <a:r>
              <a:rPr sz="1200" b="0" i="0">
                <a:solidFill>
                  <a:srgbClr val="A9B8CC"/>
                </a:solidFill>
                <a:latin typeface="Calibri"/>
              </a:rPr>
              <a:t>ufs.h: enum ufs_agg_type, enum ufs_agg_group_type, struct utp_agg_group_header, QUERY_AGG_GROUP_HDR_SIZE</a:t>
            </a:r>
          </a:p>
          <a:p>
            <a:r>
              <a:rPr sz="1200" b="0" i="0">
                <a:solidFill>
                  <a:srgbClr val="A9B8CC"/>
                </a:solidFill>
                <a:latin typeface="Calibri"/>
              </a:rPr>
              <a:t>ufshcd.h: ufs_query_res::data_segment_length</a:t>
            </a:r>
          </a:p>
          <a:p>
            <a:r>
              <a:rPr sz="1200" b="0" i="0">
                <a:solidFill>
                  <a:srgbClr val="A9B8CC"/>
                </a:solidFill>
                <a:latin typeface="Calibri"/>
              </a:rPr>
              <a:t>ufshcd.c: ufshcd_copy_query_response()</a:t>
            </a:r>
          </a:p>
        </p:txBody>
      </p:sp>
      <p:sp>
        <p:nvSpPr>
          <p:cNvPr id="6" name="Block 2"/>
          <p:cNvSpPr/>
          <p:nvPr/>
        </p:nvSpPr>
        <p:spPr>
          <a:xfrm>
            <a:off x="6492240" y="1188720"/>
            <a:ext cx="5212080" cy="2057400"/>
          </a:xfrm>
          <a:prstGeom prst="roundRect">
            <a:avLst>
              <a:gd name="adj" fmla="val 10000"/>
            </a:avLst>
          </a:prstGeom>
          <a:solidFill>
            <a:srgbClr val="1B304D"/>
          </a:solidFill>
          <a:ln w="15875">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300" b="1" i="0">
                <a:solidFill>
                  <a:srgbClr val="2DD4BF"/>
                </a:solidFill>
                <a:latin typeface="Calibri"/>
              </a:rPr>
              <a:t>[2] </a:t>
            </a:r>
            <a:r>
              <a:rPr sz="1300" b="1" i="0">
                <a:solidFill>
                  <a:srgbClr val="E8EEF6"/>
                </a:solidFill>
                <a:latin typeface="Calibri"/>
              </a:rPr>
              <a:t>Patch 2/2 · cached initialization reads</a:t>
            </a:r>
          </a:p>
          <a:p>
            <a:r>
              <a:rPr sz="1200" b="0" i="0">
                <a:solidFill>
                  <a:srgbClr val="A9B8CC"/>
                </a:solidFill>
                <a:latin typeface="Calibri"/>
              </a:rPr>
              <a:t>ufshcd.c: query, begin/end, parsers, wrappers, consumer edits</a:t>
            </a:r>
          </a:p>
          <a:p>
            <a:r>
              <a:rPr sz="1200" b="0" i="0">
                <a:solidFill>
                  <a:srgbClr val="A9B8CC"/>
                </a:solidFill>
                <a:latin typeface="Calibri"/>
              </a:rPr>
              <a:t>ufs.h: ufs_dev_info::agg_read_unsupported</a:t>
            </a:r>
          </a:p>
          <a:p>
            <a:r>
              <a:rPr sz="1200" b="0" i="0">
                <a:solidFill>
                  <a:srgbClr val="A9B8CC"/>
                </a:solidFill>
                <a:latin typeface="Calibri"/>
              </a:rPr>
              <a:t>ufshcd.h: agg_packet, agg_packet_len, agg_str_idx</a:t>
            </a:r>
          </a:p>
        </p:txBody>
      </p:sp>
      <p:sp>
        <p:nvSpPr>
          <p:cNvPr id="7" name="Block 3"/>
          <p:cNvSpPr/>
          <p:nvPr/>
        </p:nvSpPr>
        <p:spPr>
          <a:xfrm>
            <a:off x="457200" y="3840480"/>
            <a:ext cx="5212080" cy="914400"/>
          </a:xfrm>
          <a:prstGeom prst="roundRect">
            <a:avLst>
              <a:gd name="adj" fmla="val 10000"/>
            </a:avLst>
          </a:prstGeom>
          <a:solidFill>
            <a:srgbClr val="1B304D"/>
          </a:solidFill>
          <a:ln w="15875">
            <a:solidFill>
              <a:srgbClr val="A9B8C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2DD4BF"/>
                </a:solidFill>
                <a:latin typeface="Calibri"/>
              </a:rPr>
              <a:t>[3] </a:t>
            </a:r>
            <a:r>
              <a:rPr sz="1100" b="1" i="0">
                <a:solidFill>
                  <a:srgbClr val="E8EEF6"/>
                </a:solidFill>
                <a:latin typeface="Calibri"/>
              </a:rPr>
              <a:t>Base-tree symbols used but not defined by the diffs</a:t>
            </a:r>
          </a:p>
          <a:p>
            <a:r>
              <a:rPr sz="1000" b="0" i="0">
                <a:solidFill>
                  <a:srgbClr val="A9B8CC"/>
                </a:solidFill>
                <a:latin typeface="Calibri"/>
              </a:rPr>
              <a:t>UPIU_QUERY_OPCODE_AGGREGATED_READ, QUERY_REQ_RETRIES, ufshcd_query_*_retry()</a:t>
            </a:r>
          </a:p>
        </p:txBody>
      </p:sp>
      <p:cxnSp>
        <p:nvCxnSpPr>
          <p:cNvPr id="8" name="Arrow A1"/>
          <p:cNvCxnSpPr>
            <a:stCxn id="5" idx="3"/>
            <a:endCxn id="6" idx="1"/>
          </p:cNvCxnSpPr>
          <p:nvPr/>
        </p:nvCxnSpPr>
        <p:spPr>
          <a:xfrm>
            <a:off x="5669280" y="2217420"/>
            <a:ext cx="822960" cy="0"/>
          </a:xfrm>
          <a:prstGeom prst="line">
            <a:avLst/>
          </a:prstGeom>
          <a:ln w="22225">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Label A1"/>
          <p:cNvSpPr/>
          <p:nvPr/>
        </p:nvSpPr>
        <p:spPr>
          <a:xfrm>
            <a:off x="5907024" y="1778507"/>
            <a:ext cx="347472" cy="237744"/>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A1</a:t>
            </a:r>
          </a:p>
        </p:txBody>
      </p:sp>
      <p:cxnSp>
        <p:nvCxnSpPr>
          <p:cNvPr id="10" name="Arrow A2"/>
          <p:cNvCxnSpPr>
            <a:stCxn id="7" idx="0"/>
            <a:endCxn id="5" idx="2"/>
          </p:cNvCxnSpPr>
          <p:nvPr/>
        </p:nvCxnSpPr>
        <p:spPr>
          <a:xfrm flipV="1">
            <a:off x="3063240" y="3246120"/>
            <a:ext cx="0" cy="594360"/>
          </a:xfrm>
          <a:prstGeom prst="line">
            <a:avLst/>
          </a:prstGeom>
          <a:ln w="22225">
            <a:solidFill>
              <a:srgbClr val="A9B8C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1" name="Label A2"/>
          <p:cNvSpPr/>
          <p:nvPr/>
        </p:nvSpPr>
        <p:spPr>
          <a:xfrm>
            <a:off x="2889504" y="3424428"/>
            <a:ext cx="347472" cy="237744"/>
          </a:xfrm>
          <a:prstGeom prst="roundRect">
            <a:avLst>
              <a:gd name="adj" fmla="val 50000"/>
            </a:avLst>
          </a:prstGeom>
          <a:solidFill>
            <a:srgbClr val="A9B8CC"/>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A2</a:t>
            </a:r>
          </a:p>
        </p:txBody>
      </p:sp>
      <p:cxnSp>
        <p:nvCxnSpPr>
          <p:cNvPr id="12" name="Arrow A3"/>
          <p:cNvCxnSpPr>
            <a:stCxn id="7" idx="3"/>
            <a:endCxn id="6" idx="2"/>
          </p:cNvCxnSpPr>
          <p:nvPr/>
        </p:nvCxnSpPr>
        <p:spPr>
          <a:xfrm flipV="1">
            <a:off x="5669280" y="3246120"/>
            <a:ext cx="3429000" cy="1051560"/>
          </a:xfrm>
          <a:prstGeom prst="line">
            <a:avLst/>
          </a:prstGeom>
          <a:ln w="22225">
            <a:solidFill>
              <a:srgbClr val="A9B8C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3" name="Label A3"/>
          <p:cNvSpPr/>
          <p:nvPr/>
        </p:nvSpPr>
        <p:spPr>
          <a:xfrm>
            <a:off x="7210043" y="3653028"/>
            <a:ext cx="347472" cy="237744"/>
          </a:xfrm>
          <a:prstGeom prst="roundRect">
            <a:avLst>
              <a:gd name="adj" fmla="val 50000"/>
            </a:avLst>
          </a:prstGeom>
          <a:solidFill>
            <a:srgbClr val="A9B8CC"/>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A3</a:t>
            </a:r>
          </a:p>
        </p:txBody>
      </p:sp>
      <p:sp>
        <p:nvSpPr>
          <p:cNvPr id="14" name="Legend key"/>
          <p:cNvSpPr txBox="1"/>
          <p:nvPr/>
        </p:nvSpPr>
        <p:spPr>
          <a:xfrm>
            <a:off x="6949440" y="4434840"/>
            <a:ext cx="4754880" cy="201168"/>
          </a:xfrm>
          <a:prstGeom prst="rect">
            <a:avLst/>
          </a:prstGeom>
          <a:noFill/>
        </p:spPr>
        <p:txBody>
          <a:bodyPr wrap="square" anchor="t" lIns="36576" rIns="36576" tIns="18288" bIns="18288">
            <a:spAutoFit/>
          </a:bodyPr>
          <a:lstStyle/>
          <a:p>
            <a:r>
              <a:rPr sz="1000" b="0" i="1">
                <a:solidFill>
                  <a:srgbClr val="A9B8CC"/>
                </a:solidFill>
                <a:latin typeface="Calibri"/>
              </a:rPr>
              <a:t>Solid = verified · dashed = conceptual / unverified · amber = fallback</a:t>
            </a:r>
          </a:p>
        </p:txBody>
      </p:sp>
      <p:sp>
        <p:nvSpPr>
          <p:cNvPr id="15" name="Legend 1"/>
          <p:cNvSpPr txBox="1"/>
          <p:nvPr/>
        </p:nvSpPr>
        <p:spPr>
          <a:xfrm>
            <a:off x="6949440" y="4636007"/>
            <a:ext cx="4663440" cy="1371600"/>
          </a:xfrm>
          <a:prstGeom prst="rect">
            <a:avLst/>
          </a:prstGeom>
          <a:noFill/>
        </p:spPr>
        <p:txBody>
          <a:bodyPr wrap="square" anchor="t" lIns="36576" rIns="36576" tIns="18288" bIns="18288">
            <a:spAutoFit/>
          </a:bodyPr>
          <a:lstStyle/>
          <a:p>
            <a:r>
              <a:rPr sz="1000" b="1" i="0">
                <a:solidFill>
                  <a:srgbClr val="2DD4BF"/>
                </a:solidFill>
                <a:latin typeface="Calibri"/>
              </a:rPr>
              <a:t>A1</a:t>
            </a:r>
            <a:r>
              <a:rPr sz="1000" b="0" i="0">
                <a:solidFill>
                  <a:srgbClr val="A9B8CC"/>
                </a:solidFill>
                <a:latin typeface="Calibri"/>
              </a:rPr>
              <a:t>  [1]→[2]  </a:t>
            </a:r>
            <a:r>
              <a:rPr sz="1000" b="0" i="0">
                <a:solidFill>
                  <a:srgbClr val="E8EEF6"/>
                </a:solidFill>
                <a:latin typeface="Calibri"/>
              </a:rPr>
              <a:t>dependency: P2 uses P1 enums, header, data_segment_length, extended copy path</a:t>
            </a:r>
          </a:p>
          <a:p>
            <a:r>
              <a:rPr sz="1000" b="1" i="0">
                <a:solidFill>
                  <a:srgbClr val="A9B8CC"/>
                </a:solidFill>
                <a:latin typeface="Calibri"/>
              </a:rPr>
              <a:t>A2</a:t>
            </a:r>
            <a:r>
              <a:rPr sz="1000" b="0" i="0">
                <a:solidFill>
                  <a:srgbClr val="A9B8CC"/>
                </a:solidFill>
                <a:latin typeface="Calibri"/>
              </a:rPr>
              <a:t>  [3]→[1]  </a:t>
            </a:r>
            <a:r>
              <a:rPr sz="1000" b="0" i="0">
                <a:solidFill>
                  <a:srgbClr val="E8EEF6"/>
                </a:solidFill>
                <a:latin typeface="Calibri"/>
              </a:rPr>
              <a:t>assumed present in base tree (INFERENCE; confirm by build)</a:t>
            </a:r>
          </a:p>
          <a:p>
            <a:r>
              <a:rPr sz="1000" b="1" i="0">
                <a:solidFill>
                  <a:srgbClr val="A9B8CC"/>
                </a:solidFill>
                <a:latin typeface="Calibri"/>
              </a:rPr>
              <a:t>A3</a:t>
            </a:r>
            <a:r>
              <a:rPr sz="1000" b="0" i="0">
                <a:solidFill>
                  <a:srgbClr val="A9B8CC"/>
                </a:solidFill>
                <a:latin typeface="Calibri"/>
              </a:rPr>
              <a:t>  [3]→[2]  </a:t>
            </a:r>
            <a:r>
              <a:rPr sz="1000" b="0" i="0">
                <a:solidFill>
                  <a:srgbClr val="E8EEF6"/>
                </a:solidFill>
                <a:latin typeface="Calibri"/>
              </a:rPr>
              <a:t>same prerequisite for P2 (ufshcd_query_aggregated_read)</a:t>
            </a:r>
          </a:p>
        </p:txBody>
      </p:sp>
      <p:graphicFrame>
        <p:nvGraphicFramePr>
          <p:cNvPr id="16" name="Stat table"/>
          <p:cNvGraphicFramePr>
            <a:graphicFrameLocks noGrp="1"/>
          </p:cNvGraphicFramePr>
          <p:nvPr/>
        </p:nvGraphicFramePr>
        <p:xfrm>
          <a:off x="457200" y="5029200"/>
          <a:ext cx="5303520" cy="1115568"/>
        </p:xfrm>
        <a:graphic>
          <a:graphicData uri="http://schemas.openxmlformats.org/drawingml/2006/table">
            <a:tbl>
              <a:tblPr firstRow="1" bandRow="1">
                <a:tableStyleId>{5940675A-B579-460E-94D1-54222C63F5DA}</a:tableStyleId>
              </a:tblPr>
              <a:tblGrid>
                <a:gridCol w="2377440"/>
                <a:gridCol w="1463040"/>
                <a:gridCol w="1463040"/>
              </a:tblGrid>
              <a:tr h="292608">
                <a:tc>
                  <a:txBody>
                    <a:bodyPr/>
                    <a:lstStyle/>
                    <a:p>
                      <a:r>
                        <a:rPr sz="1100" b="1" i="0">
                          <a:solidFill>
                            <a:srgbClr val="E8EEF6"/>
                          </a:solidFill>
                          <a:latin typeface="Calibri"/>
                        </a:rPr>
                        <a:t>File (changed lines per stat)</a:t>
                      </a:r>
                    </a:p>
                  </a:txBody>
                  <a:tcPr marL="54864" marR="54864" marT="27432" marB="27432" anchor="ctr">
                    <a:solidFill>
                      <a:srgbClr val="22406A"/>
                    </a:solidFill>
                  </a:tcPr>
                </a:tc>
                <a:tc>
                  <a:txBody>
                    <a:bodyPr/>
                    <a:lstStyle/>
                    <a:p>
                      <a:r>
                        <a:rPr sz="1100" b="1" i="0">
                          <a:solidFill>
                            <a:srgbClr val="E8EEF6"/>
                          </a:solidFill>
                          <a:latin typeface="Calibri"/>
                        </a:rPr>
                        <a:t>Patch 1/2</a:t>
                      </a:r>
                    </a:p>
                  </a:txBody>
                  <a:tcPr marL="54864" marR="54864" marT="27432" marB="27432" anchor="ctr">
                    <a:solidFill>
                      <a:srgbClr val="22406A"/>
                    </a:solidFill>
                  </a:tcPr>
                </a:tc>
                <a:tc>
                  <a:txBody>
                    <a:bodyPr/>
                    <a:lstStyle/>
                    <a:p>
                      <a:r>
                        <a:rPr sz="1100" b="1" i="0">
                          <a:solidFill>
                            <a:srgbClr val="E8EEF6"/>
                          </a:solidFill>
                          <a:latin typeface="Calibri"/>
                        </a:rPr>
                        <a:t>Patch 2/2</a:t>
                      </a:r>
                    </a:p>
                  </a:txBody>
                  <a:tcPr marL="54864" marR="54864" marT="27432" marB="27432" anchor="ctr">
                    <a:solidFill>
                      <a:srgbClr val="22406A"/>
                    </a:solidFill>
                  </a:tcPr>
                </a:tc>
              </a:tr>
              <a:tr h="274320">
                <a:tc>
                  <a:txBody>
                    <a:bodyPr/>
                    <a:lstStyle/>
                    <a:p>
                      <a:r>
                        <a:rPr sz="1100" b="0" i="0">
                          <a:solidFill>
                            <a:srgbClr val="E8EEF6"/>
                          </a:solidFill>
                          <a:latin typeface="Calibri"/>
                        </a:rPr>
                        <a:t>drivers/ufs/core/ufshcd.c</a:t>
                      </a:r>
                    </a:p>
                  </a:txBody>
                  <a:tcPr marL="54864" marR="54864" marT="27432" marB="27432" anchor="ctr">
                    <a:solidFill>
                      <a:srgbClr val="14243B"/>
                    </a:solidFill>
                  </a:tcPr>
                </a:tc>
                <a:tc>
                  <a:txBody>
                    <a:bodyPr/>
                    <a:lstStyle/>
                    <a:p>
                      <a:r>
                        <a:rPr sz="1100" b="0" i="0">
                          <a:solidFill>
                            <a:srgbClr val="E8EEF6"/>
                          </a:solidFill>
                          <a:latin typeface="Calibri"/>
                        </a:rPr>
                        <a:t>7</a:t>
                      </a:r>
                    </a:p>
                  </a:txBody>
                  <a:tcPr marL="54864" marR="54864" marT="27432" marB="27432" anchor="ctr">
                    <a:solidFill>
                      <a:srgbClr val="14243B"/>
                    </a:solidFill>
                  </a:tcPr>
                </a:tc>
                <a:tc>
                  <a:txBody>
                    <a:bodyPr/>
                    <a:lstStyle/>
                    <a:p>
                      <a:r>
                        <a:rPr sz="1100" b="0" i="0">
                          <a:solidFill>
                            <a:srgbClr val="E8EEF6"/>
                          </a:solidFill>
                          <a:latin typeface="Calibri"/>
                        </a:rPr>
                        <a:t>357</a:t>
                      </a:r>
                    </a:p>
                  </a:txBody>
                  <a:tcPr marL="54864" marR="54864" marT="27432" marB="27432" anchor="ctr">
                    <a:solidFill>
                      <a:srgbClr val="14243B"/>
                    </a:solidFill>
                  </a:tcPr>
                </a:tc>
              </a:tr>
              <a:tr h="274320">
                <a:tc>
                  <a:txBody>
                    <a:bodyPr/>
                    <a:lstStyle/>
                    <a:p>
                      <a:r>
                        <a:rPr sz="1100" b="0" i="0">
                          <a:solidFill>
                            <a:srgbClr val="E8EEF6"/>
                          </a:solidFill>
                          <a:latin typeface="Calibri"/>
                        </a:rPr>
                        <a:t>include/ufs/ufs.h</a:t>
                      </a:r>
                    </a:p>
                  </a:txBody>
                  <a:tcPr marL="54864" marR="54864" marT="27432" marB="27432" anchor="ctr">
                    <a:solidFill>
                      <a:srgbClr val="101F34"/>
                    </a:solidFill>
                  </a:tcPr>
                </a:tc>
                <a:tc>
                  <a:txBody>
                    <a:bodyPr/>
                    <a:lstStyle/>
                    <a:p>
                      <a:r>
                        <a:rPr sz="1100" b="0" i="0">
                          <a:solidFill>
                            <a:srgbClr val="E8EEF6"/>
                          </a:solidFill>
                          <a:latin typeface="Calibri"/>
                        </a:rPr>
                        <a:t>44</a:t>
                      </a:r>
                    </a:p>
                  </a:txBody>
                  <a:tcPr marL="54864" marR="54864" marT="27432" marB="27432" anchor="ctr">
                    <a:solidFill>
                      <a:srgbClr val="101F34"/>
                    </a:solidFill>
                  </a:tcPr>
                </a:tc>
                <a:tc>
                  <a:txBody>
                    <a:bodyPr/>
                    <a:lstStyle/>
                    <a:p>
                      <a:r>
                        <a:rPr sz="1100" b="0" i="0">
                          <a:solidFill>
                            <a:srgbClr val="E8EEF6"/>
                          </a:solidFill>
                          <a:latin typeface="Calibri"/>
                        </a:rPr>
                        <a:t>3</a:t>
                      </a:r>
                    </a:p>
                  </a:txBody>
                  <a:tcPr marL="54864" marR="54864" marT="27432" marB="27432" anchor="ctr">
                    <a:solidFill>
                      <a:srgbClr val="101F34"/>
                    </a:solidFill>
                  </a:tcPr>
                </a:tc>
              </a:tr>
              <a:tr h="274320">
                <a:tc>
                  <a:txBody>
                    <a:bodyPr/>
                    <a:lstStyle/>
                    <a:p>
                      <a:r>
                        <a:rPr sz="1100" b="0" i="0">
                          <a:solidFill>
                            <a:srgbClr val="E8EEF6"/>
                          </a:solidFill>
                          <a:latin typeface="Calibri"/>
                        </a:rPr>
                        <a:t>include/ufs/ufshcd.h</a:t>
                      </a:r>
                    </a:p>
                  </a:txBody>
                  <a:tcPr marL="54864" marR="54864" marT="27432" marB="27432" anchor="ctr">
                    <a:solidFill>
                      <a:srgbClr val="14243B"/>
                    </a:solidFill>
                  </a:tcPr>
                </a:tc>
                <a:tc>
                  <a:txBody>
                    <a:bodyPr/>
                    <a:lstStyle/>
                    <a:p>
                      <a:r>
                        <a:rPr sz="1100" b="0" i="0">
                          <a:solidFill>
                            <a:srgbClr val="E8EEF6"/>
                          </a:solidFill>
                          <a:latin typeface="Calibri"/>
                        </a:rPr>
                        <a:t>2</a:t>
                      </a:r>
                    </a:p>
                  </a:txBody>
                  <a:tcPr marL="54864" marR="54864" marT="27432" marB="27432" anchor="ctr">
                    <a:solidFill>
                      <a:srgbClr val="14243B"/>
                    </a:solidFill>
                  </a:tcPr>
                </a:tc>
                <a:tc>
                  <a:txBody>
                    <a:bodyPr/>
                    <a:lstStyle/>
                    <a:p>
                      <a:r>
                        <a:rPr sz="1100" b="0" i="0">
                          <a:solidFill>
                            <a:srgbClr val="E8EEF6"/>
                          </a:solidFill>
                          <a:latin typeface="Calibri"/>
                        </a:rPr>
                        <a:t>9</a:t>
                      </a:r>
                    </a:p>
                  </a:txBody>
                  <a:tcPr marL="54864" marR="54864" marT="27432" marB="27432" anchor="ctr">
                    <a:solidFill>
                      <a:srgbClr val="14243B"/>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626"/>
        </a:solidFill>
        <a:effectLst/>
      </p:bgPr>
    </p:bg>
    <p:spTree>
      <p:nvGrpSpPr>
        <p:cNvPr id="1" name=""/>
        <p:cNvGrpSpPr/>
        <p:nvPr/>
      </p:nvGrpSpPr>
      <p:grpSpPr/>
      <p:sp>
        <p:nvSpPr>
          <p:cNvPr id="2" name="Title"/>
          <p:cNvSpPr txBox="1"/>
          <p:nvPr/>
        </p:nvSpPr>
        <p:spPr>
          <a:xfrm>
            <a:off x="457200" y="274320"/>
            <a:ext cx="11247120" cy="548640"/>
          </a:xfrm>
          <a:prstGeom prst="rect">
            <a:avLst/>
          </a:prstGeom>
          <a:noFill/>
        </p:spPr>
        <p:txBody>
          <a:bodyPr wrap="square" anchor="ctr" lIns="36576" rIns="36576" tIns="18288" bIns="18288">
            <a:spAutoFit/>
          </a:bodyPr>
          <a:lstStyle/>
          <a:p>
            <a:r>
              <a:rPr sz="2400" b="1" i="0">
                <a:solidFill>
                  <a:srgbClr val="E8EEF6"/>
                </a:solidFill>
                <a:latin typeface="Calibri"/>
              </a:rPr>
              <a:t>Patch 1/2: Opcode and Wire Format — Mask, Groups, Header, Response Copy</a:t>
            </a:r>
          </a:p>
        </p:txBody>
      </p:sp>
      <p:sp>
        <p:nvSpPr>
          <p:cNvPr id="3" name="Source"/>
          <p:cNvSpPr txBox="1"/>
          <p:nvPr/>
        </p:nvSpPr>
        <p:spPr>
          <a:xfrm>
            <a:off x="457200" y="6473952"/>
            <a:ext cx="10424160" cy="256032"/>
          </a:xfrm>
          <a:prstGeom prst="rect">
            <a:avLst/>
          </a:prstGeom>
          <a:noFill/>
        </p:spPr>
        <p:txBody>
          <a:bodyPr wrap="square" anchor="t" lIns="36576" rIns="36576" tIns="18288" bIns="18288">
            <a:spAutoFit/>
          </a:bodyPr>
          <a:lstStyle/>
          <a:p>
            <a:r>
              <a:rPr sz="1000" b="0" i="0">
                <a:solidFill>
                  <a:srgbClr val="A9B8CC"/>
                </a:solidFill>
                <a:latin typeface="Calibri"/>
              </a:rPr>
              <a:t>Source: include/ufs/ufs.h — enum ufs_agg_type, enum ufs_agg_group_type, struct utp_agg_group_header; drivers/ufs/core/ufshcd.c — ufshcd_copy_query_response()</a:t>
            </a:r>
          </a:p>
        </p:txBody>
      </p:sp>
      <p:sp>
        <p:nvSpPr>
          <p:cNvPr id="4" name="Slide Number"/>
          <p:cNvSpPr txBox="1"/>
          <p:nvPr/>
        </p:nvSpPr>
        <p:spPr>
          <a:xfrm>
            <a:off x="11064240" y="6473952"/>
            <a:ext cx="685800" cy="256032"/>
          </a:xfrm>
          <a:prstGeom prst="rect">
            <a:avLst/>
          </a:prstGeom>
          <a:noFill/>
        </p:spPr>
        <p:txBody>
          <a:bodyPr wrap="none">
            <a:spAutoFit/>
          </a:bodyPr>
          <a:lstStyle/>
          <a:p>
            <a:pPr algn="r"/>
            <a:fld id="{B6F15528-21DE-4FAA-801E-634DDDAF4B2B}" type="slidenum">
              <a:rPr lang="en-US" sz="1100">
                <a:solidFill>
                  <a:srgbClr val="A9B8CC"/>
                </a:solidFill>
                <a:latin typeface="Calibri"/>
              </a:rPr>
              <a:t>6</a:t>
            </a:fld>
          </a:p>
        </p:txBody>
      </p:sp>
      <p:graphicFrame>
        <p:nvGraphicFramePr>
          <p:cNvPr id="5" name="Table 4"/>
          <p:cNvGraphicFramePr>
            <a:graphicFrameLocks noGrp="1"/>
          </p:cNvGraphicFramePr>
          <p:nvPr/>
        </p:nvGraphicFramePr>
        <p:xfrm>
          <a:off x="457200" y="1097280"/>
          <a:ext cx="5394960" cy="2157984"/>
        </p:xfrm>
        <a:graphic>
          <a:graphicData uri="http://schemas.openxmlformats.org/drawingml/2006/table">
            <a:tbl>
              <a:tblPr firstRow="1" bandRow="1">
                <a:tableStyleId>{5940675A-B579-460E-94D1-54222C63F5DA}</a:tableStyleId>
              </a:tblPr>
              <a:tblGrid>
                <a:gridCol w="3840480"/>
                <a:gridCol w="1554480"/>
              </a:tblGrid>
              <a:tr h="256032">
                <a:tc>
                  <a:txBody>
                    <a:bodyPr/>
                    <a:lstStyle/>
                    <a:p>
                      <a:r>
                        <a:rPr sz="1000" b="1" i="0">
                          <a:solidFill>
                            <a:srgbClr val="E8EEF6"/>
                          </a:solidFill>
                          <a:latin typeface="Calibri"/>
                        </a:rPr>
                        <a:t>enum ufs_agg_type (AGGREGATION TYPE mask)</a:t>
                      </a:r>
                    </a:p>
                  </a:txBody>
                  <a:tcPr marL="54864" marR="54864" marT="27432" marB="27432" anchor="ctr">
                    <a:solidFill>
                      <a:srgbClr val="22406A"/>
                    </a:solidFill>
                  </a:tcPr>
                </a:tc>
                <a:tc>
                  <a:txBody>
                    <a:bodyPr/>
                    <a:lstStyle/>
                    <a:p>
                      <a:r>
                        <a:rPr sz="1000" b="1" i="0">
                          <a:solidFill>
                            <a:srgbClr val="E8EEF6"/>
                          </a:solidFill>
                          <a:latin typeface="Calibri"/>
                        </a:rPr>
                        <a:t>Value</a:t>
                      </a:r>
                    </a:p>
                  </a:txBody>
                  <a:tcPr marL="54864" marR="54864" marT="27432" marB="27432" anchor="ctr">
                    <a:solidFill>
                      <a:srgbClr val="22406A"/>
                    </a:solidFill>
                  </a:tcPr>
                </a:tc>
              </a:tr>
              <a:tr h="237744">
                <a:tc>
                  <a:txBody>
                    <a:bodyPr/>
                    <a:lstStyle/>
                    <a:p>
                      <a:r>
                        <a:rPr sz="1000" b="0" i="0">
                          <a:solidFill>
                            <a:srgbClr val="E8EEF6"/>
                          </a:solidFill>
                          <a:latin typeface="Calibri"/>
                        </a:rPr>
                        <a:t>UFS_AGG_TYPE_ALL_FLAGS</a:t>
                      </a:r>
                    </a:p>
                  </a:txBody>
                  <a:tcPr marL="54864" marR="54864" marT="27432" marB="27432" anchor="ctr">
                    <a:solidFill>
                      <a:srgbClr val="14243B"/>
                    </a:solidFill>
                  </a:tcPr>
                </a:tc>
                <a:tc>
                  <a:txBody>
                    <a:bodyPr/>
                    <a:lstStyle/>
                    <a:p>
                      <a:r>
                        <a:rPr sz="1000" b="0" i="0">
                          <a:solidFill>
                            <a:srgbClr val="E8EEF6"/>
                          </a:solidFill>
                          <a:latin typeface="Calibri"/>
                        </a:rPr>
                        <a:t>BIT(0) = 0x01</a:t>
                      </a:r>
                    </a:p>
                  </a:txBody>
                  <a:tcPr marL="54864" marR="54864" marT="27432" marB="27432" anchor="ctr">
                    <a:solidFill>
                      <a:srgbClr val="14243B"/>
                    </a:solidFill>
                  </a:tcPr>
                </a:tc>
              </a:tr>
              <a:tr h="237744">
                <a:tc>
                  <a:txBody>
                    <a:bodyPr/>
                    <a:lstStyle/>
                    <a:p>
                      <a:r>
                        <a:rPr sz="1000" b="0" i="0">
                          <a:solidFill>
                            <a:srgbClr val="E8EEF6"/>
                          </a:solidFill>
                          <a:latin typeface="Calibri"/>
                        </a:rPr>
                        <a:t>UFS_AGG_TYPE_ALL_ATTRS</a:t>
                      </a:r>
                    </a:p>
                  </a:txBody>
                  <a:tcPr marL="54864" marR="54864" marT="27432" marB="27432" anchor="ctr">
                    <a:solidFill>
                      <a:srgbClr val="101F34"/>
                    </a:solidFill>
                  </a:tcPr>
                </a:tc>
                <a:tc>
                  <a:txBody>
                    <a:bodyPr/>
                    <a:lstStyle/>
                    <a:p>
                      <a:r>
                        <a:rPr sz="1000" b="0" i="0">
                          <a:solidFill>
                            <a:srgbClr val="E8EEF6"/>
                          </a:solidFill>
                          <a:latin typeface="Calibri"/>
                        </a:rPr>
                        <a:t>BIT(1) = 0x02</a:t>
                      </a:r>
                    </a:p>
                  </a:txBody>
                  <a:tcPr marL="54864" marR="54864" marT="27432" marB="27432" anchor="ctr">
                    <a:solidFill>
                      <a:srgbClr val="101F34"/>
                    </a:solidFill>
                  </a:tcPr>
                </a:tc>
              </a:tr>
              <a:tr h="237744">
                <a:tc>
                  <a:txBody>
                    <a:bodyPr/>
                    <a:lstStyle/>
                    <a:p>
                      <a:r>
                        <a:rPr sz="1000" b="0" i="0">
                          <a:solidFill>
                            <a:srgbClr val="E8EEF6"/>
                          </a:solidFill>
                          <a:latin typeface="Calibri"/>
                        </a:rPr>
                        <a:t>UFS_AGG_TYPE_DEVICE_DESC</a:t>
                      </a:r>
                    </a:p>
                  </a:txBody>
                  <a:tcPr marL="54864" marR="54864" marT="27432" marB="27432" anchor="ctr">
                    <a:solidFill>
                      <a:srgbClr val="14243B"/>
                    </a:solidFill>
                  </a:tcPr>
                </a:tc>
                <a:tc>
                  <a:txBody>
                    <a:bodyPr/>
                    <a:lstStyle/>
                    <a:p>
                      <a:r>
                        <a:rPr sz="1000" b="0" i="0">
                          <a:solidFill>
                            <a:srgbClr val="E8EEF6"/>
                          </a:solidFill>
                          <a:latin typeface="Calibri"/>
                        </a:rPr>
                        <a:t>BIT(2) = 0x04</a:t>
                      </a:r>
                    </a:p>
                  </a:txBody>
                  <a:tcPr marL="54864" marR="54864" marT="27432" marB="27432" anchor="ctr">
                    <a:solidFill>
                      <a:srgbClr val="14243B"/>
                    </a:solidFill>
                  </a:tcPr>
                </a:tc>
              </a:tr>
              <a:tr h="237744">
                <a:tc>
                  <a:txBody>
                    <a:bodyPr/>
                    <a:lstStyle/>
                    <a:p>
                      <a:r>
                        <a:rPr sz="1000" b="0" i="0">
                          <a:solidFill>
                            <a:srgbClr val="E8EEF6"/>
                          </a:solidFill>
                          <a:latin typeface="Calibri"/>
                        </a:rPr>
                        <a:t>UFS_AGG_TYPE_UNIT_RPMB_DESC</a:t>
                      </a:r>
                    </a:p>
                  </a:txBody>
                  <a:tcPr marL="54864" marR="54864" marT="27432" marB="27432" anchor="ctr">
                    <a:solidFill>
                      <a:srgbClr val="101F34"/>
                    </a:solidFill>
                  </a:tcPr>
                </a:tc>
                <a:tc>
                  <a:txBody>
                    <a:bodyPr/>
                    <a:lstStyle/>
                    <a:p>
                      <a:r>
                        <a:rPr sz="1000" b="0" i="0">
                          <a:solidFill>
                            <a:srgbClr val="E8EEF6"/>
                          </a:solidFill>
                          <a:latin typeface="Calibri"/>
                        </a:rPr>
                        <a:t>BIT(3) = 0x08</a:t>
                      </a:r>
                    </a:p>
                  </a:txBody>
                  <a:tcPr marL="54864" marR="54864" marT="27432" marB="27432" anchor="ctr">
                    <a:solidFill>
                      <a:srgbClr val="101F34"/>
                    </a:solidFill>
                  </a:tcPr>
                </a:tc>
              </a:tr>
              <a:tr h="237744">
                <a:tc>
                  <a:txBody>
                    <a:bodyPr/>
                    <a:lstStyle/>
                    <a:p>
                      <a:r>
                        <a:rPr sz="1000" b="0" i="0">
                          <a:solidFill>
                            <a:srgbClr val="E8EEF6"/>
                          </a:solidFill>
                          <a:latin typeface="Calibri"/>
                        </a:rPr>
                        <a:t>UFS_AGG_TYPE_INTERCONNECT_DESC</a:t>
                      </a:r>
                    </a:p>
                  </a:txBody>
                  <a:tcPr marL="54864" marR="54864" marT="27432" marB="27432" anchor="ctr">
                    <a:solidFill>
                      <a:srgbClr val="14243B"/>
                    </a:solidFill>
                  </a:tcPr>
                </a:tc>
                <a:tc>
                  <a:txBody>
                    <a:bodyPr/>
                    <a:lstStyle/>
                    <a:p>
                      <a:r>
                        <a:rPr sz="1000" b="0" i="0">
                          <a:solidFill>
                            <a:srgbClr val="E8EEF6"/>
                          </a:solidFill>
                          <a:latin typeface="Calibri"/>
                        </a:rPr>
                        <a:t>BIT(4) = 0x10</a:t>
                      </a:r>
                    </a:p>
                  </a:txBody>
                  <a:tcPr marL="54864" marR="54864" marT="27432" marB="27432" anchor="ctr">
                    <a:solidFill>
                      <a:srgbClr val="14243B"/>
                    </a:solidFill>
                  </a:tcPr>
                </a:tc>
              </a:tr>
              <a:tr h="237744">
                <a:tc>
                  <a:txBody>
                    <a:bodyPr/>
                    <a:lstStyle/>
                    <a:p>
                      <a:r>
                        <a:rPr sz="1000" b="0" i="0">
                          <a:solidFill>
                            <a:srgbClr val="E8EEF6"/>
                          </a:solidFill>
                          <a:latin typeface="Calibri"/>
                        </a:rPr>
                        <a:t>UFS_AGG_TYPE_STRING_DESC</a:t>
                      </a:r>
                    </a:p>
                  </a:txBody>
                  <a:tcPr marL="54864" marR="54864" marT="27432" marB="27432" anchor="ctr">
                    <a:solidFill>
                      <a:srgbClr val="101F34"/>
                    </a:solidFill>
                  </a:tcPr>
                </a:tc>
                <a:tc>
                  <a:txBody>
                    <a:bodyPr/>
                    <a:lstStyle/>
                    <a:p>
                      <a:r>
                        <a:rPr sz="1000" b="0" i="0">
                          <a:solidFill>
                            <a:srgbClr val="E8EEF6"/>
                          </a:solidFill>
                          <a:latin typeface="Calibri"/>
                        </a:rPr>
                        <a:t>BIT(5) = 0x20</a:t>
                      </a:r>
                    </a:p>
                  </a:txBody>
                  <a:tcPr marL="54864" marR="54864" marT="27432" marB="27432" anchor="ctr">
                    <a:solidFill>
                      <a:srgbClr val="101F34"/>
                    </a:solidFill>
                  </a:tcPr>
                </a:tc>
              </a:tr>
              <a:tr h="237744">
                <a:tc>
                  <a:txBody>
                    <a:bodyPr/>
                    <a:lstStyle/>
                    <a:p>
                      <a:r>
                        <a:rPr sz="1000" b="0" i="0">
                          <a:solidFill>
                            <a:srgbClr val="E8EEF6"/>
                          </a:solidFill>
                          <a:latin typeface="Calibri"/>
                        </a:rPr>
                        <a:t>UFS_AGG_TYPE_GEOMETRY_POWER_DESC</a:t>
                      </a:r>
                    </a:p>
                  </a:txBody>
                  <a:tcPr marL="54864" marR="54864" marT="27432" marB="27432" anchor="ctr">
                    <a:solidFill>
                      <a:srgbClr val="14243B"/>
                    </a:solidFill>
                  </a:tcPr>
                </a:tc>
                <a:tc>
                  <a:txBody>
                    <a:bodyPr/>
                    <a:lstStyle/>
                    <a:p>
                      <a:r>
                        <a:rPr sz="1000" b="0" i="0">
                          <a:solidFill>
                            <a:srgbClr val="E8EEF6"/>
                          </a:solidFill>
                          <a:latin typeface="Calibri"/>
                        </a:rPr>
                        <a:t>BIT(6) = 0x40</a:t>
                      </a:r>
                    </a:p>
                  </a:txBody>
                  <a:tcPr marL="54864" marR="54864" marT="27432" marB="27432" anchor="ctr">
                    <a:solidFill>
                      <a:srgbClr val="14243B"/>
                    </a:solidFill>
                  </a:tcPr>
                </a:tc>
              </a:tr>
              <a:tr h="237744">
                <a:tc>
                  <a:txBody>
                    <a:bodyPr/>
                    <a:lstStyle/>
                    <a:p>
                      <a:r>
                        <a:rPr sz="1000" b="0" i="0">
                          <a:solidFill>
                            <a:srgbClr val="E8EEF6"/>
                          </a:solidFill>
                          <a:latin typeface="Calibri"/>
                        </a:rPr>
                        <a:t>UFS_AGG_TYPE_HEALTH_DESC</a:t>
                      </a:r>
                    </a:p>
                  </a:txBody>
                  <a:tcPr marL="54864" marR="54864" marT="27432" marB="27432" anchor="ctr">
                    <a:solidFill>
                      <a:srgbClr val="101F34"/>
                    </a:solidFill>
                  </a:tcPr>
                </a:tc>
                <a:tc>
                  <a:txBody>
                    <a:bodyPr/>
                    <a:lstStyle/>
                    <a:p>
                      <a:r>
                        <a:rPr sz="1000" b="0" i="0">
                          <a:solidFill>
                            <a:srgbClr val="E8EEF6"/>
                          </a:solidFill>
                          <a:latin typeface="Calibri"/>
                        </a:rPr>
                        <a:t>BIT(7) = 0x80</a:t>
                      </a:r>
                    </a:p>
                  </a:txBody>
                  <a:tcPr marL="54864" marR="54864" marT="27432" marB="27432" anchor="ctr">
                    <a:solidFill>
                      <a:srgbClr val="101F34"/>
                    </a:solidFill>
                  </a:tcPr>
                </a:tc>
              </a:tr>
            </a:tbl>
          </a:graphicData>
        </a:graphic>
      </p:graphicFrame>
      <p:graphicFrame>
        <p:nvGraphicFramePr>
          <p:cNvPr id="6" name="Table 5"/>
          <p:cNvGraphicFramePr>
            <a:graphicFrameLocks noGrp="1"/>
          </p:cNvGraphicFramePr>
          <p:nvPr/>
        </p:nvGraphicFramePr>
        <p:xfrm>
          <a:off x="457200" y="3429000"/>
          <a:ext cx="5394960" cy="2395728"/>
        </p:xfrm>
        <a:graphic>
          <a:graphicData uri="http://schemas.openxmlformats.org/drawingml/2006/table">
            <a:tbl>
              <a:tblPr firstRow="1" bandRow="1">
                <a:tableStyleId>{5940675A-B579-460E-94D1-54222C63F5DA}</a:tableStyleId>
              </a:tblPr>
              <a:tblGrid>
                <a:gridCol w="3840480"/>
                <a:gridCol w="1554480"/>
              </a:tblGrid>
              <a:tr h="256032">
                <a:tc>
                  <a:txBody>
                    <a:bodyPr/>
                    <a:lstStyle/>
                    <a:p>
                      <a:r>
                        <a:rPr sz="1000" b="1" i="0">
                          <a:solidFill>
                            <a:srgbClr val="E8EEF6"/>
                          </a:solidFill>
                          <a:latin typeface="Calibri"/>
                        </a:rPr>
                        <a:t>enum ufs_agg_group_type (header Group Type)</a:t>
                      </a:r>
                    </a:p>
                  </a:txBody>
                  <a:tcPr marL="54864" marR="54864" marT="27432" marB="27432" anchor="ctr">
                    <a:solidFill>
                      <a:srgbClr val="22406A"/>
                    </a:solidFill>
                  </a:tcPr>
                </a:tc>
                <a:tc>
                  <a:txBody>
                    <a:bodyPr/>
                    <a:lstStyle/>
                    <a:p>
                      <a:r>
                        <a:rPr sz="1000" b="1" i="0">
                          <a:solidFill>
                            <a:srgbClr val="E8EEF6"/>
                          </a:solidFill>
                          <a:latin typeface="Calibri"/>
                        </a:rPr>
                        <a:t>Value</a:t>
                      </a:r>
                    </a:p>
                  </a:txBody>
                  <a:tcPr marL="54864" marR="54864" marT="27432" marB="27432" anchor="ctr">
                    <a:solidFill>
                      <a:srgbClr val="22406A"/>
                    </a:solidFill>
                  </a:tcPr>
                </a:tc>
              </a:tr>
              <a:tr h="237744">
                <a:tc>
                  <a:txBody>
                    <a:bodyPr/>
                    <a:lstStyle/>
                    <a:p>
                      <a:r>
                        <a:rPr sz="1000" b="0" i="0">
                          <a:solidFill>
                            <a:srgbClr val="E8EEF6"/>
                          </a:solidFill>
                          <a:latin typeface="Calibri"/>
                        </a:rPr>
                        <a:t>UFS_AGG_GROUP_RESERVED</a:t>
                      </a:r>
                    </a:p>
                  </a:txBody>
                  <a:tcPr marL="54864" marR="54864" marT="27432" marB="27432" anchor="ctr">
                    <a:solidFill>
                      <a:srgbClr val="14243B"/>
                    </a:solidFill>
                  </a:tcPr>
                </a:tc>
                <a:tc>
                  <a:txBody>
                    <a:bodyPr/>
                    <a:lstStyle/>
                    <a:p>
                      <a:r>
                        <a:rPr sz="1000" b="0" i="0">
                          <a:solidFill>
                            <a:srgbClr val="E8EEF6"/>
                          </a:solidFill>
                          <a:latin typeface="Calibri"/>
                        </a:rPr>
                        <a:t>0x00</a:t>
                      </a:r>
                    </a:p>
                  </a:txBody>
                  <a:tcPr marL="54864" marR="54864" marT="27432" marB="27432" anchor="ctr">
                    <a:solidFill>
                      <a:srgbClr val="14243B"/>
                    </a:solidFill>
                  </a:tcPr>
                </a:tc>
              </a:tr>
              <a:tr h="237744">
                <a:tc>
                  <a:txBody>
                    <a:bodyPr/>
                    <a:lstStyle/>
                    <a:p>
                      <a:r>
                        <a:rPr sz="1000" b="0" i="0">
                          <a:solidFill>
                            <a:srgbClr val="E8EEF6"/>
                          </a:solidFill>
                          <a:latin typeface="Calibri"/>
                        </a:rPr>
                        <a:t>UFS_AGG_GROUP_FLAGS</a:t>
                      </a:r>
                    </a:p>
                  </a:txBody>
                  <a:tcPr marL="54864" marR="54864" marT="27432" marB="27432" anchor="ctr">
                    <a:solidFill>
                      <a:srgbClr val="101F34"/>
                    </a:solidFill>
                  </a:tcPr>
                </a:tc>
                <a:tc>
                  <a:txBody>
                    <a:bodyPr/>
                    <a:lstStyle/>
                    <a:p>
                      <a:r>
                        <a:rPr sz="1000" b="0" i="0">
                          <a:solidFill>
                            <a:srgbClr val="E8EEF6"/>
                          </a:solidFill>
                          <a:latin typeface="Calibri"/>
                        </a:rPr>
                        <a:t>0x01</a:t>
                      </a:r>
                    </a:p>
                  </a:txBody>
                  <a:tcPr marL="54864" marR="54864" marT="27432" marB="27432" anchor="ctr">
                    <a:solidFill>
                      <a:srgbClr val="101F34"/>
                    </a:solidFill>
                  </a:tcPr>
                </a:tc>
              </a:tr>
              <a:tr h="237744">
                <a:tc>
                  <a:txBody>
                    <a:bodyPr/>
                    <a:lstStyle/>
                    <a:p>
                      <a:r>
                        <a:rPr sz="1000" b="0" i="0">
                          <a:solidFill>
                            <a:srgbClr val="E8EEF6"/>
                          </a:solidFill>
                          <a:latin typeface="Calibri"/>
                        </a:rPr>
                        <a:t>UFS_AGG_GROUP_ATTRS</a:t>
                      </a:r>
                    </a:p>
                  </a:txBody>
                  <a:tcPr marL="54864" marR="54864" marT="27432" marB="27432" anchor="ctr">
                    <a:solidFill>
                      <a:srgbClr val="14243B"/>
                    </a:solidFill>
                  </a:tcPr>
                </a:tc>
                <a:tc>
                  <a:txBody>
                    <a:bodyPr/>
                    <a:lstStyle/>
                    <a:p>
                      <a:r>
                        <a:rPr sz="1000" b="0" i="0">
                          <a:solidFill>
                            <a:srgbClr val="E8EEF6"/>
                          </a:solidFill>
                          <a:latin typeface="Calibri"/>
                        </a:rPr>
                        <a:t>0x02</a:t>
                      </a:r>
                    </a:p>
                  </a:txBody>
                  <a:tcPr marL="54864" marR="54864" marT="27432" marB="27432" anchor="ctr">
                    <a:solidFill>
                      <a:srgbClr val="14243B"/>
                    </a:solidFill>
                  </a:tcPr>
                </a:tc>
              </a:tr>
              <a:tr h="237744">
                <a:tc>
                  <a:txBody>
                    <a:bodyPr/>
                    <a:lstStyle/>
                    <a:p>
                      <a:r>
                        <a:rPr sz="1000" b="0" i="0">
                          <a:solidFill>
                            <a:srgbClr val="E8EEF6"/>
                          </a:solidFill>
                          <a:latin typeface="Calibri"/>
                        </a:rPr>
                        <a:t>UFS_AGG_GROUP_DESCS (all but strings)</a:t>
                      </a:r>
                    </a:p>
                  </a:txBody>
                  <a:tcPr marL="54864" marR="54864" marT="27432" marB="27432" anchor="ctr">
                    <a:solidFill>
                      <a:srgbClr val="101F34"/>
                    </a:solidFill>
                  </a:tcPr>
                </a:tc>
                <a:tc>
                  <a:txBody>
                    <a:bodyPr/>
                    <a:lstStyle/>
                    <a:p>
                      <a:r>
                        <a:rPr sz="1000" b="0" i="0">
                          <a:solidFill>
                            <a:srgbClr val="E8EEF6"/>
                          </a:solidFill>
                          <a:latin typeface="Calibri"/>
                        </a:rPr>
                        <a:t>0x03</a:t>
                      </a:r>
                    </a:p>
                  </a:txBody>
                  <a:tcPr marL="54864" marR="54864" marT="27432" marB="27432" anchor="ctr">
                    <a:solidFill>
                      <a:srgbClr val="101F34"/>
                    </a:solidFill>
                  </a:tcPr>
                </a:tc>
              </a:tr>
              <a:tr h="237744">
                <a:tc>
                  <a:txBody>
                    <a:bodyPr/>
                    <a:lstStyle/>
                    <a:p>
                      <a:r>
                        <a:rPr sz="1000" b="0" i="0">
                          <a:solidFill>
                            <a:srgbClr val="E8EEF6"/>
                          </a:solidFill>
                          <a:latin typeface="Calibri"/>
                        </a:rPr>
                        <a:t>UFS_AGG_GROUP_MANUFACTURER_STR</a:t>
                      </a:r>
                    </a:p>
                  </a:txBody>
                  <a:tcPr marL="54864" marR="54864" marT="27432" marB="27432" anchor="ctr">
                    <a:solidFill>
                      <a:srgbClr val="14243B"/>
                    </a:solidFill>
                  </a:tcPr>
                </a:tc>
                <a:tc>
                  <a:txBody>
                    <a:bodyPr/>
                    <a:lstStyle/>
                    <a:p>
                      <a:r>
                        <a:rPr sz="1000" b="0" i="0">
                          <a:solidFill>
                            <a:srgbClr val="E8EEF6"/>
                          </a:solidFill>
                          <a:latin typeface="Calibri"/>
                        </a:rPr>
                        <a:t>0x04</a:t>
                      </a:r>
                    </a:p>
                  </a:txBody>
                  <a:tcPr marL="54864" marR="54864" marT="27432" marB="27432" anchor="ctr">
                    <a:solidFill>
                      <a:srgbClr val="14243B"/>
                    </a:solidFill>
                  </a:tcPr>
                </a:tc>
              </a:tr>
              <a:tr h="237744">
                <a:tc>
                  <a:txBody>
                    <a:bodyPr/>
                    <a:lstStyle/>
                    <a:p>
                      <a:r>
                        <a:rPr sz="1000" b="0" i="0">
                          <a:solidFill>
                            <a:srgbClr val="E8EEF6"/>
                          </a:solidFill>
                          <a:latin typeface="Calibri"/>
                        </a:rPr>
                        <a:t>UFS_AGG_GROUP_PRODUCT_NAME_STR</a:t>
                      </a:r>
                    </a:p>
                  </a:txBody>
                  <a:tcPr marL="54864" marR="54864" marT="27432" marB="27432" anchor="ctr">
                    <a:solidFill>
                      <a:srgbClr val="101F34"/>
                    </a:solidFill>
                  </a:tcPr>
                </a:tc>
                <a:tc>
                  <a:txBody>
                    <a:bodyPr/>
                    <a:lstStyle/>
                    <a:p>
                      <a:r>
                        <a:rPr sz="1000" b="0" i="0">
                          <a:solidFill>
                            <a:srgbClr val="E8EEF6"/>
                          </a:solidFill>
                          <a:latin typeface="Calibri"/>
                        </a:rPr>
                        <a:t>0x05</a:t>
                      </a:r>
                    </a:p>
                  </a:txBody>
                  <a:tcPr marL="54864" marR="54864" marT="27432" marB="27432" anchor="ctr">
                    <a:solidFill>
                      <a:srgbClr val="101F34"/>
                    </a:solidFill>
                  </a:tcPr>
                </a:tc>
              </a:tr>
              <a:tr h="237744">
                <a:tc>
                  <a:txBody>
                    <a:bodyPr/>
                    <a:lstStyle/>
                    <a:p>
                      <a:r>
                        <a:rPr sz="1000" b="0" i="0">
                          <a:solidFill>
                            <a:srgbClr val="E8EEF6"/>
                          </a:solidFill>
                          <a:latin typeface="Calibri"/>
                        </a:rPr>
                        <a:t>UFS_AGG_GROUP_OEM_ID_STR</a:t>
                      </a:r>
                    </a:p>
                  </a:txBody>
                  <a:tcPr marL="54864" marR="54864" marT="27432" marB="27432" anchor="ctr">
                    <a:solidFill>
                      <a:srgbClr val="14243B"/>
                    </a:solidFill>
                  </a:tcPr>
                </a:tc>
                <a:tc>
                  <a:txBody>
                    <a:bodyPr/>
                    <a:lstStyle/>
                    <a:p>
                      <a:r>
                        <a:rPr sz="1000" b="0" i="0">
                          <a:solidFill>
                            <a:srgbClr val="E8EEF6"/>
                          </a:solidFill>
                          <a:latin typeface="Calibri"/>
                        </a:rPr>
                        <a:t>0x06</a:t>
                      </a:r>
                    </a:p>
                  </a:txBody>
                  <a:tcPr marL="54864" marR="54864" marT="27432" marB="27432" anchor="ctr">
                    <a:solidFill>
                      <a:srgbClr val="14243B"/>
                    </a:solidFill>
                  </a:tcPr>
                </a:tc>
              </a:tr>
              <a:tr h="237744">
                <a:tc>
                  <a:txBody>
                    <a:bodyPr/>
                    <a:lstStyle/>
                    <a:p>
                      <a:r>
                        <a:rPr sz="1000" b="0" i="0">
                          <a:solidFill>
                            <a:srgbClr val="E8EEF6"/>
                          </a:solidFill>
                          <a:latin typeface="Calibri"/>
                        </a:rPr>
                        <a:t>UFS_AGG_GROUP_SERIAL_NUMBER_STR</a:t>
                      </a:r>
                    </a:p>
                  </a:txBody>
                  <a:tcPr marL="54864" marR="54864" marT="27432" marB="27432" anchor="ctr">
                    <a:solidFill>
                      <a:srgbClr val="101F34"/>
                    </a:solidFill>
                  </a:tcPr>
                </a:tc>
                <a:tc>
                  <a:txBody>
                    <a:bodyPr/>
                    <a:lstStyle/>
                    <a:p>
                      <a:r>
                        <a:rPr sz="1000" b="0" i="0">
                          <a:solidFill>
                            <a:srgbClr val="E8EEF6"/>
                          </a:solidFill>
                          <a:latin typeface="Calibri"/>
                        </a:rPr>
                        <a:t>0x07</a:t>
                      </a:r>
                    </a:p>
                  </a:txBody>
                  <a:tcPr marL="54864" marR="54864" marT="27432" marB="27432" anchor="ctr">
                    <a:solidFill>
                      <a:srgbClr val="101F34"/>
                    </a:solidFill>
                  </a:tcPr>
                </a:tc>
              </a:tr>
              <a:tr h="237744">
                <a:tc>
                  <a:txBody>
                    <a:bodyPr/>
                    <a:lstStyle/>
                    <a:p>
                      <a:r>
                        <a:rPr sz="1000" b="0" i="0">
                          <a:solidFill>
                            <a:srgbClr val="E8EEF6"/>
                          </a:solidFill>
                          <a:latin typeface="Calibri"/>
                        </a:rPr>
                        <a:t>UFS_AGG_GROUP_PRODUCT_REV_STR</a:t>
                      </a:r>
                    </a:p>
                  </a:txBody>
                  <a:tcPr marL="54864" marR="54864" marT="27432" marB="27432" anchor="ctr">
                    <a:solidFill>
                      <a:srgbClr val="14243B"/>
                    </a:solidFill>
                  </a:tcPr>
                </a:tc>
                <a:tc>
                  <a:txBody>
                    <a:bodyPr/>
                    <a:lstStyle/>
                    <a:p>
                      <a:r>
                        <a:rPr sz="1000" b="0" i="0">
                          <a:solidFill>
                            <a:srgbClr val="E8EEF6"/>
                          </a:solidFill>
                          <a:latin typeface="Calibri"/>
                        </a:rPr>
                        <a:t>0x08</a:t>
                      </a:r>
                    </a:p>
                  </a:txBody>
                  <a:tcPr marL="54864" marR="54864" marT="27432" marB="27432" anchor="ctr">
                    <a:solidFill>
                      <a:srgbClr val="14243B"/>
                    </a:solidFill>
                  </a:tcPr>
                </a:tc>
              </a:tr>
            </a:tbl>
          </a:graphicData>
        </a:graphic>
      </p:graphicFrame>
      <p:sp>
        <p:nvSpPr>
          <p:cNvPr id="7" name="TextBox 6"/>
          <p:cNvSpPr txBox="1"/>
          <p:nvPr/>
        </p:nvSpPr>
        <p:spPr>
          <a:xfrm>
            <a:off x="457200" y="5852160"/>
            <a:ext cx="5394960" cy="548640"/>
          </a:xfrm>
          <a:prstGeom prst="rect">
            <a:avLst/>
          </a:prstGeom>
          <a:noFill/>
        </p:spPr>
        <p:txBody>
          <a:bodyPr wrap="square" anchor="t" lIns="36576" rIns="36576" tIns="18288" bIns="18288">
            <a:spAutoFit/>
          </a:bodyPr>
          <a:lstStyle/>
          <a:p>
            <a:r>
              <a:rPr sz="1000" b="0" i="0">
                <a:solidFill>
                  <a:srgbClr val="A9B8CC"/>
                </a:solidFill>
                <a:latin typeface="Calibri"/>
              </a:rPr>
              <a:t>Header: struct utp_agg_group_header = u8 group_type, u8 reserved, __be16 next_group_offset; static_assert == QUERY_AGG_GROUP_HDR_SIZE (4).</a:t>
            </a:r>
          </a:p>
        </p:txBody>
      </p:sp>
      <p:sp>
        <p:nvSpPr>
          <p:cNvPr id="8" name="Block 1"/>
          <p:cNvSpPr/>
          <p:nvPr/>
        </p:nvSpPr>
        <p:spPr>
          <a:xfrm>
            <a:off x="6400800" y="1143000"/>
            <a:ext cx="5303520" cy="457200"/>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2DD4BF"/>
                </a:solidFill>
                <a:latin typeface="Calibri"/>
              </a:rPr>
              <a:t>[1] </a:t>
            </a:r>
            <a:r>
              <a:rPr sz="1100" b="1" i="0">
                <a:solidFill>
                  <a:srgbClr val="E8EEF6"/>
                </a:solidFill>
                <a:latin typeface="Calibri"/>
              </a:rPr>
              <a:t>ufshcd_query_aggregated_read()</a:t>
            </a:r>
          </a:p>
        </p:txBody>
      </p:sp>
      <p:sp>
        <p:nvSpPr>
          <p:cNvPr id="9" name="Block 2"/>
          <p:cNvSpPr/>
          <p:nvPr/>
        </p:nvSpPr>
        <p:spPr>
          <a:xfrm>
            <a:off x="6400800" y="1874519"/>
            <a:ext cx="5303520" cy="457200"/>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2DD4BF"/>
                </a:solidFill>
                <a:latin typeface="Calibri"/>
              </a:rPr>
              <a:t>[2] </a:t>
            </a:r>
            <a:r>
              <a:rPr sz="1100" b="1" i="0">
                <a:solidFill>
                  <a:srgbClr val="E8EEF6"/>
                </a:solidFill>
                <a:latin typeface="Calibri"/>
              </a:rPr>
              <a:t>ufshcd_exec_dev_cmd(DEV_CMD_TYPE_QUERY)</a:t>
            </a:r>
          </a:p>
        </p:txBody>
      </p:sp>
      <p:sp>
        <p:nvSpPr>
          <p:cNvPr id="10" name="Block 3"/>
          <p:cNvSpPr/>
          <p:nvPr/>
        </p:nvSpPr>
        <p:spPr>
          <a:xfrm>
            <a:off x="6400800" y="2606040"/>
            <a:ext cx="5303520" cy="457200"/>
          </a:xfrm>
          <a:prstGeom prst="roundRect">
            <a:avLst>
              <a:gd name="adj" fmla="val 10000"/>
            </a:avLst>
          </a:prstGeom>
          <a:solidFill>
            <a:srgbClr val="1B304D"/>
          </a:solidFill>
          <a:ln w="15875">
            <a:solidFill>
              <a:srgbClr val="A9B8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2DD4BF"/>
                </a:solidFill>
                <a:latin typeface="Calibri"/>
              </a:rPr>
              <a:t>[3] </a:t>
            </a:r>
            <a:r>
              <a:rPr sz="1100" b="1" i="0">
                <a:solidFill>
                  <a:srgbClr val="E8EEF6"/>
                </a:solidFill>
                <a:latin typeface="Calibri"/>
              </a:rPr>
              <a:t>UFS device: QUERY RESPONSE UPIU</a:t>
            </a:r>
          </a:p>
        </p:txBody>
      </p:sp>
      <p:sp>
        <p:nvSpPr>
          <p:cNvPr id="11" name="Block 4"/>
          <p:cNvSpPr/>
          <p:nvPr/>
        </p:nvSpPr>
        <p:spPr>
          <a:xfrm>
            <a:off x="6400800" y="3337560"/>
            <a:ext cx="5303520" cy="457200"/>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2DD4BF"/>
                </a:solidFill>
                <a:latin typeface="Calibri"/>
              </a:rPr>
              <a:t>[4] </a:t>
            </a:r>
            <a:r>
              <a:rPr sz="1100" b="1" i="0">
                <a:solidFill>
                  <a:srgbClr val="E8EEF6"/>
                </a:solidFill>
                <a:latin typeface="Calibri"/>
              </a:rPr>
              <a:t>ufshcd_copy_query_response() (modified)</a:t>
            </a:r>
          </a:p>
        </p:txBody>
      </p:sp>
      <p:sp>
        <p:nvSpPr>
          <p:cNvPr id="12" name="Block 5"/>
          <p:cNvSpPr/>
          <p:nvPr/>
        </p:nvSpPr>
        <p:spPr>
          <a:xfrm>
            <a:off x="6400800" y="4069080"/>
            <a:ext cx="5303520" cy="457200"/>
          </a:xfrm>
          <a:prstGeom prst="roundRect">
            <a:avLst>
              <a:gd name="adj" fmla="val 10000"/>
            </a:avLst>
          </a:prstGeom>
          <a:solidFill>
            <a:srgbClr val="1B304D"/>
          </a:solidFill>
          <a:ln w="15875">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2DD4BF"/>
                </a:solidFill>
                <a:latin typeface="Calibri"/>
              </a:rPr>
              <a:t>[5] </a:t>
            </a:r>
            <a:r>
              <a:rPr sz="1100" b="1" i="0">
                <a:solidFill>
                  <a:srgbClr val="E8EEF6"/>
                </a:solidFill>
                <a:latin typeface="Calibri"/>
              </a:rPr>
              <a:t>buf + *buf_len = data_segment_length</a:t>
            </a:r>
          </a:p>
        </p:txBody>
      </p:sp>
      <p:cxnSp>
        <p:nvCxnSpPr>
          <p:cNvPr id="13" name="Arrow A1"/>
          <p:cNvCxnSpPr>
            <a:stCxn id="8" idx="2"/>
            <a:endCxn id="9" idx="0"/>
          </p:cNvCxnSpPr>
          <p:nvPr/>
        </p:nvCxnSpPr>
        <p:spPr>
          <a:xfrm>
            <a:off x="9052560" y="1600200"/>
            <a:ext cx="0" cy="274319"/>
          </a:xfrm>
          <a:prstGeom prst="line">
            <a:avLst/>
          </a:prstGeom>
          <a:ln w="22225">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Label A1"/>
          <p:cNvSpPr/>
          <p:nvPr/>
        </p:nvSpPr>
        <p:spPr>
          <a:xfrm>
            <a:off x="8878824" y="1618488"/>
            <a:ext cx="347472" cy="237744"/>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A1</a:t>
            </a:r>
          </a:p>
        </p:txBody>
      </p:sp>
      <p:cxnSp>
        <p:nvCxnSpPr>
          <p:cNvPr id="15" name="Arrow A2"/>
          <p:cNvCxnSpPr>
            <a:stCxn id="9" idx="2"/>
            <a:endCxn id="10" idx="0"/>
          </p:cNvCxnSpPr>
          <p:nvPr/>
        </p:nvCxnSpPr>
        <p:spPr>
          <a:xfrm>
            <a:off x="9052560" y="2331719"/>
            <a:ext cx="0" cy="274321"/>
          </a:xfrm>
          <a:prstGeom prst="line">
            <a:avLst/>
          </a:prstGeom>
          <a:ln w="22225">
            <a:solidFill>
              <a:srgbClr val="A9B8C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6" name="Label A2"/>
          <p:cNvSpPr/>
          <p:nvPr/>
        </p:nvSpPr>
        <p:spPr>
          <a:xfrm>
            <a:off x="8878824" y="2350008"/>
            <a:ext cx="347472" cy="237744"/>
          </a:xfrm>
          <a:prstGeom prst="roundRect">
            <a:avLst>
              <a:gd name="adj" fmla="val 50000"/>
            </a:avLst>
          </a:prstGeom>
          <a:solidFill>
            <a:srgbClr val="A9B8CC"/>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A2</a:t>
            </a:r>
          </a:p>
        </p:txBody>
      </p:sp>
      <p:cxnSp>
        <p:nvCxnSpPr>
          <p:cNvPr id="17" name="Arrow A3"/>
          <p:cNvCxnSpPr>
            <a:stCxn id="10" idx="2"/>
            <a:endCxn id="11" idx="0"/>
          </p:cNvCxnSpPr>
          <p:nvPr/>
        </p:nvCxnSpPr>
        <p:spPr>
          <a:xfrm>
            <a:off x="9052560" y="3063240"/>
            <a:ext cx="0" cy="274320"/>
          </a:xfrm>
          <a:prstGeom prst="line">
            <a:avLst/>
          </a:prstGeom>
          <a:ln w="22225">
            <a:solidFill>
              <a:srgbClr val="A9B8C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8" name="Label A3"/>
          <p:cNvSpPr/>
          <p:nvPr/>
        </p:nvSpPr>
        <p:spPr>
          <a:xfrm>
            <a:off x="8878824" y="3081528"/>
            <a:ext cx="347472" cy="237744"/>
          </a:xfrm>
          <a:prstGeom prst="roundRect">
            <a:avLst>
              <a:gd name="adj" fmla="val 50000"/>
            </a:avLst>
          </a:prstGeom>
          <a:solidFill>
            <a:srgbClr val="A9B8CC"/>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A3</a:t>
            </a:r>
          </a:p>
        </p:txBody>
      </p:sp>
      <p:cxnSp>
        <p:nvCxnSpPr>
          <p:cNvPr id="19" name="Arrow A4"/>
          <p:cNvCxnSpPr>
            <a:stCxn id="11" idx="2"/>
            <a:endCxn id="12" idx="0"/>
          </p:cNvCxnSpPr>
          <p:nvPr/>
        </p:nvCxnSpPr>
        <p:spPr>
          <a:xfrm>
            <a:off x="9052560" y="3794760"/>
            <a:ext cx="0" cy="274320"/>
          </a:xfrm>
          <a:prstGeom prst="line">
            <a:avLst/>
          </a:prstGeom>
          <a:ln w="22225">
            <a:solidFill>
              <a:srgbClr val="A9B8C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0" name="Label A4"/>
          <p:cNvSpPr/>
          <p:nvPr/>
        </p:nvSpPr>
        <p:spPr>
          <a:xfrm>
            <a:off x="8878824" y="3813048"/>
            <a:ext cx="347472" cy="237744"/>
          </a:xfrm>
          <a:prstGeom prst="roundRect">
            <a:avLst>
              <a:gd name="adj" fmla="val 50000"/>
            </a:avLst>
          </a:prstGeom>
          <a:solidFill>
            <a:srgbClr val="A9B8CC"/>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A4</a:t>
            </a:r>
          </a:p>
        </p:txBody>
      </p:sp>
      <p:sp>
        <p:nvSpPr>
          <p:cNvPr id="21" name="Legend key"/>
          <p:cNvSpPr txBox="1"/>
          <p:nvPr/>
        </p:nvSpPr>
        <p:spPr>
          <a:xfrm>
            <a:off x="6400800" y="4553712"/>
            <a:ext cx="5349240" cy="201168"/>
          </a:xfrm>
          <a:prstGeom prst="rect">
            <a:avLst/>
          </a:prstGeom>
          <a:noFill/>
        </p:spPr>
        <p:txBody>
          <a:bodyPr wrap="square" anchor="t" lIns="36576" rIns="36576" tIns="18288" bIns="18288">
            <a:spAutoFit/>
          </a:bodyPr>
          <a:lstStyle/>
          <a:p>
            <a:r>
              <a:rPr sz="1000" b="0" i="1">
                <a:solidFill>
                  <a:srgbClr val="A9B8CC"/>
                </a:solidFill>
                <a:latin typeface="Calibri"/>
              </a:rPr>
              <a:t>Solid = verified · dashed = conceptual / unverified · amber = fallback</a:t>
            </a:r>
          </a:p>
        </p:txBody>
      </p:sp>
      <p:sp>
        <p:nvSpPr>
          <p:cNvPr id="22" name="Legend 1"/>
          <p:cNvSpPr txBox="1"/>
          <p:nvPr/>
        </p:nvSpPr>
        <p:spPr>
          <a:xfrm>
            <a:off x="6400800" y="4754880"/>
            <a:ext cx="5257800" cy="1097280"/>
          </a:xfrm>
          <a:prstGeom prst="rect">
            <a:avLst/>
          </a:prstGeom>
          <a:noFill/>
        </p:spPr>
        <p:txBody>
          <a:bodyPr wrap="square" anchor="t" lIns="36576" rIns="36576" tIns="18288" bIns="18288">
            <a:spAutoFit/>
          </a:bodyPr>
          <a:lstStyle/>
          <a:p>
            <a:r>
              <a:rPr sz="1000" b="1" i="0">
                <a:solidFill>
                  <a:srgbClr val="2DD4BF"/>
                </a:solidFill>
                <a:latin typeface="Calibri"/>
              </a:rPr>
              <a:t>A1</a:t>
            </a:r>
            <a:r>
              <a:rPr sz="1000" b="0" i="0">
                <a:solidFill>
                  <a:srgbClr val="A9B8CC"/>
                </a:solidFill>
                <a:latin typeface="Calibri"/>
              </a:rPr>
              <a:t>  [1]→[2]  </a:t>
            </a:r>
            <a:r>
              <a:rPr sz="1000" b="0" i="0">
                <a:solidFill>
                  <a:srgbClr val="E8EEF6"/>
                </a:solidFill>
                <a:latin typeface="Calibri"/>
              </a:rPr>
              <a:t>request: opcode AGGREGATED_READ, idn = agg_type, length = buf_len</a:t>
            </a:r>
          </a:p>
          <a:p>
            <a:r>
              <a:rPr sz="1000" b="1" i="0">
                <a:solidFill>
                  <a:srgbClr val="A9B8CC"/>
                </a:solidFill>
                <a:latin typeface="Calibri"/>
              </a:rPr>
              <a:t>A2</a:t>
            </a:r>
            <a:r>
              <a:rPr sz="1000" b="0" i="0">
                <a:solidFill>
                  <a:srgbClr val="A9B8CC"/>
                </a:solidFill>
                <a:latin typeface="Calibri"/>
              </a:rPr>
              <a:t>  [2]→[3]  </a:t>
            </a:r>
            <a:r>
              <a:rPr sz="1000" b="0" i="0">
                <a:solidFill>
                  <a:srgbClr val="E8EEF6"/>
                </a:solidFill>
                <a:latin typeface="Calibri"/>
              </a:rPr>
              <a:t>UPIU exchange on the wire (conceptual)</a:t>
            </a:r>
          </a:p>
          <a:p>
            <a:r>
              <a:rPr sz="1000" b="1" i="0">
                <a:solidFill>
                  <a:srgbClr val="A9B8CC"/>
                </a:solidFill>
                <a:latin typeface="Calibri"/>
              </a:rPr>
              <a:t>A3</a:t>
            </a:r>
            <a:r>
              <a:rPr sz="1000" b="0" i="0">
                <a:solidFill>
                  <a:srgbClr val="A9B8CC"/>
                </a:solidFill>
                <a:latin typeface="Calibri"/>
              </a:rPr>
              <a:t>  [3]→[4]  </a:t>
            </a:r>
            <a:r>
              <a:rPr sz="1000" b="0" i="0">
                <a:solidFill>
                  <a:srgbClr val="E8EEF6"/>
                </a:solidFill>
                <a:latin typeface="Calibri"/>
              </a:rPr>
              <a:t>response handling; call from exec path not in diff (INFERENCE)</a:t>
            </a:r>
          </a:p>
          <a:p>
            <a:r>
              <a:rPr sz="1000" b="1" i="0">
                <a:solidFill>
                  <a:srgbClr val="A9B8CC"/>
                </a:solidFill>
                <a:latin typeface="Calibri"/>
              </a:rPr>
              <a:t>A4</a:t>
            </a:r>
            <a:r>
              <a:rPr sz="1000" b="0" i="0">
                <a:solidFill>
                  <a:srgbClr val="A9B8CC"/>
                </a:solidFill>
                <a:latin typeface="Calibri"/>
              </a:rPr>
              <a:t>  [4]→[5]  </a:t>
            </a:r>
            <a:r>
              <a:rPr sz="1000" b="0" i="0">
                <a:solidFill>
                  <a:srgbClr val="E8EEF6"/>
                </a:solidFill>
                <a:latin typeface="Calibri"/>
              </a:rPr>
              <a:t>data segment copied to query.descriptor (per commit message)</a:t>
            </a:r>
          </a:p>
        </p:txBody>
      </p:sp>
      <p:sp>
        <p:nvSpPr>
          <p:cNvPr id="23" name="Rounded Rectangle 22"/>
          <p:cNvSpPr/>
          <p:nvPr/>
        </p:nvSpPr>
        <p:spPr>
          <a:xfrm>
            <a:off x="6400800" y="5687568"/>
            <a:ext cx="5303520" cy="713232"/>
          </a:xfrm>
          <a:prstGeom prst="roundRect">
            <a:avLst>
              <a:gd name="adj" fmla="val 4000"/>
            </a:avLst>
          </a:prstGeom>
          <a:solidFill>
            <a:srgbClr val="14243B"/>
          </a:solidFill>
          <a:ln w="9525">
            <a:solidFill>
              <a:srgbClr val="3A52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0" y="5696712"/>
            <a:ext cx="5120640" cy="694944"/>
          </a:xfrm>
          <a:prstGeom prst="rect">
            <a:avLst/>
          </a:prstGeom>
          <a:noFill/>
        </p:spPr>
        <p:txBody>
          <a:bodyPr wrap="square" anchor="ctr" lIns="36576" rIns="36576" tIns="18288" bIns="18288">
            <a:spAutoFit/>
          </a:bodyPr>
          <a:lstStyle/>
          <a:p>
            <a:r>
              <a:rPr sz="1000" b="1" i="0">
                <a:solidFill>
                  <a:srgbClr val="4ADE80"/>
                </a:solidFill>
                <a:latin typeface="Calibri"/>
              </a:rPr>
              <a:t>VERIFIED edits: </a:t>
            </a:r>
            <a:r>
              <a:rPr sz="1000" b="0" i="0">
                <a:solidFill>
                  <a:srgbClr val="E8EEF6"/>
                </a:solidFill>
                <a:latin typeface="Calibri"/>
              </a:rPr>
              <a:t>data_segment_length = be16_to_cpu(header.data_segment_length) on every query response; READ_DESC branch also matches AGGREGATED_READ.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626"/>
        </a:solidFill>
        <a:effectLst/>
      </p:bgPr>
    </p:bg>
    <p:spTree>
      <p:nvGrpSpPr>
        <p:cNvPr id="1" name=""/>
        <p:cNvGrpSpPr/>
        <p:nvPr/>
      </p:nvGrpSpPr>
      <p:grpSpPr/>
      <p:sp>
        <p:nvSpPr>
          <p:cNvPr id="2" name="Title"/>
          <p:cNvSpPr txBox="1"/>
          <p:nvPr/>
        </p:nvSpPr>
        <p:spPr>
          <a:xfrm>
            <a:off x="457200" y="274320"/>
            <a:ext cx="11247120" cy="548640"/>
          </a:xfrm>
          <a:prstGeom prst="rect">
            <a:avLst/>
          </a:prstGeom>
          <a:noFill/>
        </p:spPr>
        <p:txBody>
          <a:bodyPr wrap="square" anchor="ctr" lIns="36576" rIns="36576" tIns="18288" bIns="18288">
            <a:spAutoFit/>
          </a:bodyPr>
          <a:lstStyle/>
          <a:p>
            <a:r>
              <a:rPr sz="2400" b="1" i="0">
                <a:solidFill>
                  <a:srgbClr val="E8EEF6"/>
                </a:solidFill>
                <a:latin typeface="Calibri"/>
              </a:rPr>
              <a:t>Patch 2/2: Initialization Caching — Version Gate, Begin/End, Fallback</a:t>
            </a:r>
          </a:p>
        </p:txBody>
      </p:sp>
      <p:sp>
        <p:nvSpPr>
          <p:cNvPr id="3" name="Source"/>
          <p:cNvSpPr txBox="1"/>
          <p:nvPr/>
        </p:nvSpPr>
        <p:spPr>
          <a:xfrm>
            <a:off x="457200" y="6473952"/>
            <a:ext cx="10424160" cy="256032"/>
          </a:xfrm>
          <a:prstGeom prst="rect">
            <a:avLst/>
          </a:prstGeom>
          <a:noFill/>
        </p:spPr>
        <p:txBody>
          <a:bodyPr wrap="square" anchor="t" lIns="36576" rIns="36576" tIns="18288" bIns="18288">
            <a:spAutoFit/>
          </a:bodyPr>
          <a:lstStyle/>
          <a:p>
            <a:r>
              <a:rPr sz="1000" b="0" i="0">
                <a:solidFill>
                  <a:srgbClr val="A9B8CC"/>
                </a:solidFill>
                <a:latin typeface="Calibri"/>
              </a:rPr>
              <a:t>Source: drivers/ufs/core/ufshcd.c — ufs_get_device_desc(), ufshcd_agg_read_begin(), ufshcd_agg_read_end(), ufshcd_device_params_init()</a:t>
            </a:r>
          </a:p>
        </p:txBody>
      </p:sp>
      <p:sp>
        <p:nvSpPr>
          <p:cNvPr id="4" name="Slide Number"/>
          <p:cNvSpPr txBox="1"/>
          <p:nvPr/>
        </p:nvSpPr>
        <p:spPr>
          <a:xfrm>
            <a:off x="11064240" y="6473952"/>
            <a:ext cx="685800" cy="256032"/>
          </a:xfrm>
          <a:prstGeom prst="rect">
            <a:avLst/>
          </a:prstGeom>
          <a:noFill/>
        </p:spPr>
        <p:txBody>
          <a:bodyPr wrap="none">
            <a:spAutoFit/>
          </a:bodyPr>
          <a:lstStyle/>
          <a:p>
            <a:pPr algn="r"/>
            <a:fld id="{B6F15528-21DE-4FAA-801E-634DDDAF4B2B}" type="slidenum">
              <a:rPr lang="en-US" sz="1100">
                <a:solidFill>
                  <a:srgbClr val="A9B8CC"/>
                </a:solidFill>
                <a:latin typeface="Calibri"/>
              </a:rPr>
              <a:t>7</a:t>
            </a:fld>
          </a:p>
        </p:txBody>
      </p:sp>
      <p:sp>
        <p:nvSpPr>
          <p:cNvPr id="5" name="TextBox 4"/>
          <p:cNvSpPr txBox="1"/>
          <p:nvPr/>
        </p:nvSpPr>
        <p:spPr>
          <a:xfrm>
            <a:off x="457200" y="1005840"/>
            <a:ext cx="11247120" cy="274320"/>
          </a:xfrm>
          <a:prstGeom prst="rect">
            <a:avLst/>
          </a:prstGeom>
          <a:noFill/>
        </p:spPr>
        <p:txBody>
          <a:bodyPr wrap="square" anchor="t" lIns="36576" rIns="36576" tIns="18288" bIns="18288">
            <a:spAutoFit/>
          </a:bodyPr>
          <a:lstStyle/>
          <a:p>
            <a:r>
              <a:rPr sz="1200" b="1" i="0">
                <a:solidFill>
                  <a:srgbClr val="2DD4BF"/>
                </a:solidFill>
                <a:latin typeface="Calibri"/>
              </a:rPr>
              <a:t>D11 · Version-availability point in initialization</a:t>
            </a:r>
          </a:p>
        </p:txBody>
      </p:sp>
      <p:sp>
        <p:nvSpPr>
          <p:cNvPr id="6" name="Block 1"/>
          <p:cNvSpPr/>
          <p:nvPr/>
        </p:nvSpPr>
        <p:spPr>
          <a:xfrm>
            <a:off x="457200" y="1325880"/>
            <a:ext cx="1920240" cy="914400"/>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2DD4BF"/>
                </a:solidFill>
                <a:latin typeface="Calibri"/>
              </a:rPr>
              <a:t>[1] </a:t>
            </a:r>
            <a:r>
              <a:rPr sz="1100" b="1" i="0">
                <a:solidFill>
                  <a:srgbClr val="E8EEF6"/>
                </a:solidFill>
                <a:latin typeface="Calibri"/>
              </a:rPr>
              <a:t>ufs_get_device_desc()</a:t>
            </a:r>
          </a:p>
          <a:p>
            <a:r>
              <a:rPr sz="1000" b="0" i="0">
                <a:solidFill>
                  <a:srgbClr val="A9B8CC"/>
                </a:solidFill>
                <a:latin typeface="Calibri"/>
              </a:rPr>
              <a:t>wSpecVersion parsed</a:t>
            </a:r>
          </a:p>
        </p:txBody>
      </p:sp>
      <p:sp>
        <p:nvSpPr>
          <p:cNvPr id="7" name="Block 2"/>
          <p:cNvSpPr/>
          <p:nvPr/>
        </p:nvSpPr>
        <p:spPr>
          <a:xfrm>
            <a:off x="2788920" y="1325880"/>
            <a:ext cx="1920240" cy="914400"/>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2DD4BF"/>
                </a:solidFill>
                <a:latin typeface="Calibri"/>
              </a:rPr>
              <a:t>[2] </a:t>
            </a:r>
            <a:r>
              <a:rPr sz="1100" b="1" i="0">
                <a:solidFill>
                  <a:srgbClr val="E8EEF6"/>
                </a:solidFill>
                <a:latin typeface="Calibri"/>
              </a:rPr>
              <a:t>agg_str_idx[0..4]</a:t>
            </a:r>
          </a:p>
          <a:p>
            <a:r>
              <a:rPr sz="1000" b="0" i="0">
                <a:solidFill>
                  <a:srgbClr val="A9B8CC"/>
                </a:solidFill>
                <a:latin typeface="Calibri"/>
              </a:rPr>
              <a:t>string indexes saved</a:t>
            </a:r>
          </a:p>
        </p:txBody>
      </p:sp>
      <p:sp>
        <p:nvSpPr>
          <p:cNvPr id="8" name="Block 3"/>
          <p:cNvSpPr/>
          <p:nvPr/>
        </p:nvSpPr>
        <p:spPr>
          <a:xfrm>
            <a:off x="5120640" y="1325880"/>
            <a:ext cx="1920240" cy="914400"/>
          </a:xfrm>
          <a:prstGeom prst="roundRect">
            <a:avLst>
              <a:gd name="adj" fmla="val 10000"/>
            </a:avLst>
          </a:prstGeom>
          <a:solidFill>
            <a:srgbClr val="1B304D"/>
          </a:solidFill>
          <a:ln w="15875">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2DD4BF"/>
                </a:solidFill>
                <a:latin typeface="Calibri"/>
              </a:rPr>
              <a:t>[3] </a:t>
            </a:r>
            <a:r>
              <a:rPr sz="1100" b="1" i="0">
                <a:solidFill>
                  <a:srgbClr val="E8EEF6"/>
                </a:solidFill>
                <a:latin typeface="Calibri"/>
              </a:rPr>
              <a:t>ufshcd_agg_read_begin()</a:t>
            </a:r>
          </a:p>
          <a:p>
            <a:r>
              <a:rPr sz="1000" b="0" i="0">
                <a:solidFill>
                  <a:srgbClr val="A9B8CC"/>
                </a:solidFill>
                <a:latin typeface="Calibri"/>
              </a:rPr>
              <a:t>gate: wspecversion ≥ 0x500</a:t>
            </a:r>
          </a:p>
        </p:txBody>
      </p:sp>
      <p:sp>
        <p:nvSpPr>
          <p:cNvPr id="9" name="Block 4"/>
          <p:cNvSpPr/>
          <p:nvPr/>
        </p:nvSpPr>
        <p:spPr>
          <a:xfrm>
            <a:off x="7452360" y="1325880"/>
            <a:ext cx="1920240" cy="914400"/>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2DD4BF"/>
                </a:solidFill>
                <a:latin typeface="Calibri"/>
              </a:rPr>
              <a:t>[4] </a:t>
            </a:r>
            <a:r>
              <a:rPr sz="1100" b="1" i="0">
                <a:solidFill>
                  <a:srgbClr val="E8EEF6"/>
                </a:solidFill>
                <a:latin typeface="Calibri"/>
              </a:rPr>
              <a:t>ufshcd_device_params_init()</a:t>
            </a:r>
          </a:p>
          <a:p>
            <a:r>
              <a:rPr sz="1000" b="0" i="0">
                <a:solidFill>
                  <a:srgbClr val="A9B8CC"/>
                </a:solidFill>
                <a:latin typeface="Calibri"/>
              </a:rPr>
              <a:t>reads served from cache</a:t>
            </a:r>
          </a:p>
        </p:txBody>
      </p:sp>
      <p:sp>
        <p:nvSpPr>
          <p:cNvPr id="10" name="Block 5"/>
          <p:cNvSpPr/>
          <p:nvPr/>
        </p:nvSpPr>
        <p:spPr>
          <a:xfrm>
            <a:off x="9784080" y="1325880"/>
            <a:ext cx="1920240" cy="914400"/>
          </a:xfrm>
          <a:prstGeom prst="roundRect">
            <a:avLst>
              <a:gd name="adj" fmla="val 10000"/>
            </a:avLst>
          </a:prstGeom>
          <a:solidFill>
            <a:srgbClr val="1B304D"/>
          </a:solidFill>
          <a:ln w="15875">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2DD4BF"/>
                </a:solidFill>
                <a:latin typeface="Calibri"/>
              </a:rPr>
              <a:t>[5] </a:t>
            </a:r>
            <a:r>
              <a:rPr sz="1100" b="1" i="0">
                <a:solidFill>
                  <a:srgbClr val="E8EEF6"/>
                </a:solidFill>
                <a:latin typeface="Calibri"/>
              </a:rPr>
              <a:t>ufshcd_agg_read_end()</a:t>
            </a:r>
          </a:p>
          <a:p>
            <a:r>
              <a:rPr sz="1000" b="0" i="0">
                <a:solidFill>
                  <a:srgbClr val="A9B8CC"/>
                </a:solidFill>
                <a:latin typeface="Calibri"/>
              </a:rPr>
              <a:t>at out: label</a:t>
            </a:r>
          </a:p>
        </p:txBody>
      </p:sp>
      <p:cxnSp>
        <p:nvCxnSpPr>
          <p:cNvPr id="11" name="Arrow A1"/>
          <p:cNvCxnSpPr>
            <a:stCxn id="6" idx="3"/>
            <a:endCxn id="7" idx="1"/>
          </p:cNvCxnSpPr>
          <p:nvPr/>
        </p:nvCxnSpPr>
        <p:spPr>
          <a:xfrm>
            <a:off x="2377440" y="1783080"/>
            <a:ext cx="411480" cy="0"/>
          </a:xfrm>
          <a:prstGeom prst="line">
            <a:avLst/>
          </a:prstGeom>
          <a:ln w="22225">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Label A1"/>
          <p:cNvSpPr/>
          <p:nvPr/>
        </p:nvSpPr>
        <p:spPr>
          <a:xfrm>
            <a:off x="2409444" y="1664207"/>
            <a:ext cx="347472" cy="237744"/>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A1</a:t>
            </a:r>
          </a:p>
        </p:txBody>
      </p:sp>
      <p:cxnSp>
        <p:nvCxnSpPr>
          <p:cNvPr id="13" name="Arrow A2"/>
          <p:cNvCxnSpPr>
            <a:stCxn id="7" idx="3"/>
            <a:endCxn id="8" idx="1"/>
          </p:cNvCxnSpPr>
          <p:nvPr/>
        </p:nvCxnSpPr>
        <p:spPr>
          <a:xfrm>
            <a:off x="4709160" y="1783080"/>
            <a:ext cx="411480" cy="0"/>
          </a:xfrm>
          <a:prstGeom prst="line">
            <a:avLst/>
          </a:prstGeom>
          <a:ln w="22225">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Label A2"/>
          <p:cNvSpPr/>
          <p:nvPr/>
        </p:nvSpPr>
        <p:spPr>
          <a:xfrm>
            <a:off x="4741164" y="1664207"/>
            <a:ext cx="347472" cy="237744"/>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A2</a:t>
            </a:r>
          </a:p>
        </p:txBody>
      </p:sp>
      <p:cxnSp>
        <p:nvCxnSpPr>
          <p:cNvPr id="15" name="Arrow A3"/>
          <p:cNvCxnSpPr>
            <a:stCxn id="8" idx="3"/>
            <a:endCxn id="9" idx="1"/>
          </p:cNvCxnSpPr>
          <p:nvPr/>
        </p:nvCxnSpPr>
        <p:spPr>
          <a:xfrm>
            <a:off x="7040880" y="1783080"/>
            <a:ext cx="411480" cy="0"/>
          </a:xfrm>
          <a:prstGeom prst="line">
            <a:avLst/>
          </a:prstGeom>
          <a:ln w="22225">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Label A3"/>
          <p:cNvSpPr/>
          <p:nvPr/>
        </p:nvSpPr>
        <p:spPr>
          <a:xfrm>
            <a:off x="7072883" y="1664207"/>
            <a:ext cx="347472" cy="237744"/>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A3</a:t>
            </a:r>
          </a:p>
        </p:txBody>
      </p:sp>
      <p:cxnSp>
        <p:nvCxnSpPr>
          <p:cNvPr id="17" name="Arrow A4"/>
          <p:cNvCxnSpPr>
            <a:stCxn id="9" idx="3"/>
            <a:endCxn id="10" idx="1"/>
          </p:cNvCxnSpPr>
          <p:nvPr/>
        </p:nvCxnSpPr>
        <p:spPr>
          <a:xfrm>
            <a:off x="9372600" y="1783080"/>
            <a:ext cx="411480" cy="0"/>
          </a:xfrm>
          <a:prstGeom prst="line">
            <a:avLst/>
          </a:prstGeom>
          <a:ln w="22225">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Label A4"/>
          <p:cNvSpPr/>
          <p:nvPr/>
        </p:nvSpPr>
        <p:spPr>
          <a:xfrm>
            <a:off x="9404604" y="1664207"/>
            <a:ext cx="347472" cy="237744"/>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A4</a:t>
            </a:r>
          </a:p>
        </p:txBody>
      </p:sp>
      <p:sp>
        <p:nvSpPr>
          <p:cNvPr id="19" name="Legend key"/>
          <p:cNvSpPr txBox="1"/>
          <p:nvPr/>
        </p:nvSpPr>
        <p:spPr>
          <a:xfrm>
            <a:off x="457200" y="2331720"/>
            <a:ext cx="11247120" cy="201168"/>
          </a:xfrm>
          <a:prstGeom prst="rect">
            <a:avLst/>
          </a:prstGeom>
          <a:noFill/>
        </p:spPr>
        <p:txBody>
          <a:bodyPr wrap="square" anchor="t" lIns="36576" rIns="36576" tIns="18288" bIns="18288">
            <a:spAutoFit/>
          </a:bodyPr>
          <a:lstStyle/>
          <a:p>
            <a:r>
              <a:rPr sz="1000" b="0" i="1">
                <a:solidFill>
                  <a:srgbClr val="A9B8CC"/>
                </a:solidFill>
                <a:latin typeface="Calibri"/>
              </a:rPr>
              <a:t>Solid = verified · dashed = conceptual / unverified · amber = fallback</a:t>
            </a:r>
          </a:p>
        </p:txBody>
      </p:sp>
      <p:sp>
        <p:nvSpPr>
          <p:cNvPr id="20" name="Legend 1"/>
          <p:cNvSpPr txBox="1"/>
          <p:nvPr/>
        </p:nvSpPr>
        <p:spPr>
          <a:xfrm>
            <a:off x="457200" y="2532888"/>
            <a:ext cx="5532120" cy="731520"/>
          </a:xfrm>
          <a:prstGeom prst="rect">
            <a:avLst/>
          </a:prstGeom>
          <a:noFill/>
        </p:spPr>
        <p:txBody>
          <a:bodyPr wrap="square" anchor="t" lIns="36576" rIns="36576" tIns="18288" bIns="18288">
            <a:spAutoFit/>
          </a:bodyPr>
          <a:lstStyle/>
          <a:p>
            <a:r>
              <a:rPr sz="1000" b="1" i="0">
                <a:solidFill>
                  <a:srgbClr val="2DD4BF"/>
                </a:solidFill>
                <a:latin typeface="Calibri"/>
              </a:rPr>
              <a:t>A1</a:t>
            </a:r>
            <a:r>
              <a:rPr sz="1000" b="0" i="0">
                <a:solidFill>
                  <a:srgbClr val="A9B8CC"/>
                </a:solidFill>
                <a:latin typeface="Calibri"/>
              </a:rPr>
              <a:t>  [1]→[2]  </a:t>
            </a:r>
            <a:r>
              <a:rPr sz="1000" b="0" i="0">
                <a:solidFill>
                  <a:srgbClr val="E8EEF6"/>
                </a:solidFill>
                <a:latin typeface="Calibri"/>
              </a:rPr>
              <a:t>descriptor fields stored</a:t>
            </a:r>
          </a:p>
          <a:p>
            <a:r>
              <a:rPr sz="1000" b="1" i="0">
                <a:solidFill>
                  <a:srgbClr val="2DD4BF"/>
                </a:solidFill>
                <a:latin typeface="Calibri"/>
              </a:rPr>
              <a:t>A2</a:t>
            </a:r>
            <a:r>
              <a:rPr sz="1000" b="0" i="0">
                <a:solidFill>
                  <a:srgbClr val="A9B8CC"/>
                </a:solidFill>
                <a:latin typeface="Calibri"/>
              </a:rPr>
              <a:t>  [2]→[3]  </a:t>
            </a:r>
            <a:r>
              <a:rPr sz="1000" b="0" i="0">
                <a:solidFill>
                  <a:srgbClr val="E8EEF6"/>
                </a:solidFill>
                <a:latin typeface="Calibri"/>
              </a:rPr>
              <a:t>begin() called with ALL_ATTRS | ALL_FLAGS | STRING_DESC</a:t>
            </a:r>
          </a:p>
        </p:txBody>
      </p:sp>
      <p:sp>
        <p:nvSpPr>
          <p:cNvPr id="21" name="Legend 2"/>
          <p:cNvSpPr txBox="1"/>
          <p:nvPr/>
        </p:nvSpPr>
        <p:spPr>
          <a:xfrm>
            <a:off x="6080760" y="2532888"/>
            <a:ext cx="5532120" cy="731520"/>
          </a:xfrm>
          <a:prstGeom prst="rect">
            <a:avLst/>
          </a:prstGeom>
          <a:noFill/>
        </p:spPr>
        <p:txBody>
          <a:bodyPr wrap="square" anchor="t" lIns="36576" rIns="36576" tIns="18288" bIns="18288">
            <a:spAutoFit/>
          </a:bodyPr>
          <a:lstStyle/>
          <a:p>
            <a:r>
              <a:rPr sz="1000" b="1" i="0">
                <a:solidFill>
                  <a:srgbClr val="2DD4BF"/>
                </a:solidFill>
                <a:latin typeface="Calibri"/>
              </a:rPr>
              <a:t>A3</a:t>
            </a:r>
            <a:r>
              <a:rPr sz="1000" b="0" i="0">
                <a:solidFill>
                  <a:srgbClr val="A9B8CC"/>
                </a:solidFill>
                <a:latin typeface="Calibri"/>
              </a:rPr>
              <a:t>  [3]→[4]  </a:t>
            </a:r>
            <a:r>
              <a:rPr sz="1000" b="0" i="0">
                <a:solidFill>
                  <a:srgbClr val="E8EEF6"/>
                </a:solidFill>
                <a:latin typeface="Calibri"/>
              </a:rPr>
              <a:t>packet cached (if gate passes)</a:t>
            </a:r>
          </a:p>
          <a:p>
            <a:r>
              <a:rPr sz="1000" b="1" i="0">
                <a:solidFill>
                  <a:srgbClr val="2DD4BF"/>
                </a:solidFill>
                <a:latin typeface="Calibri"/>
              </a:rPr>
              <a:t>A4</a:t>
            </a:r>
            <a:r>
              <a:rPr sz="1000" b="0" i="0">
                <a:solidFill>
                  <a:srgbClr val="A9B8CC"/>
                </a:solidFill>
                <a:latin typeface="Calibri"/>
              </a:rPr>
              <a:t>  [4]→[5]  </a:t>
            </a:r>
            <a:r>
              <a:rPr sz="1000" b="0" i="0">
                <a:solidFill>
                  <a:srgbClr val="E8EEF6"/>
                </a:solidFill>
                <a:latin typeface="Calibri"/>
              </a:rPr>
              <a:t>end() runs at out: of device_params_init()</a:t>
            </a:r>
          </a:p>
        </p:txBody>
      </p:sp>
      <p:sp>
        <p:nvSpPr>
          <p:cNvPr id="22" name="TextBox 21"/>
          <p:cNvSpPr txBox="1"/>
          <p:nvPr/>
        </p:nvSpPr>
        <p:spPr>
          <a:xfrm>
            <a:off x="457200" y="3108960"/>
            <a:ext cx="11247120" cy="274320"/>
          </a:xfrm>
          <a:prstGeom prst="rect">
            <a:avLst/>
          </a:prstGeom>
          <a:noFill/>
        </p:spPr>
        <p:txBody>
          <a:bodyPr wrap="square" anchor="t" lIns="36576" rIns="36576" tIns="18288" bIns="18288">
            <a:spAutoFit/>
          </a:bodyPr>
          <a:lstStyle/>
          <a:p>
            <a:r>
              <a:rPr sz="1200" b="1" i="0">
                <a:solidFill>
                  <a:srgbClr val="2DD4BF"/>
                </a:solidFill>
                <a:latin typeface="Calibri"/>
              </a:rPr>
              <a:t>D9 · Cache lifecycle: allocation → query → use → cleanup</a:t>
            </a:r>
          </a:p>
        </p:txBody>
      </p:sp>
      <p:sp>
        <p:nvSpPr>
          <p:cNvPr id="23" name="Block 6"/>
          <p:cNvSpPr/>
          <p:nvPr/>
        </p:nvSpPr>
        <p:spPr>
          <a:xfrm>
            <a:off x="457200" y="3429000"/>
            <a:ext cx="2377440" cy="822960"/>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2DD4BF"/>
                </a:solidFill>
                <a:latin typeface="Calibri"/>
              </a:rPr>
              <a:t>[6] </a:t>
            </a:r>
            <a:r>
              <a:rPr sz="1100" b="1" i="0">
                <a:solidFill>
                  <a:srgbClr val="E8EEF6"/>
                </a:solidFill>
                <a:latin typeface="Calibri"/>
              </a:rPr>
              <a:t>kzalloc()</a:t>
            </a:r>
          </a:p>
          <a:p>
            <a:r>
              <a:rPr sz="1000" b="0" i="0">
                <a:solidFill>
                  <a:srgbClr val="A9B8CC"/>
                </a:solidFill>
                <a:latin typeface="Calibri"/>
              </a:rPr>
              <a:t>QUERY_AGGREGATED_MAX_SIZE</a:t>
            </a:r>
          </a:p>
        </p:txBody>
      </p:sp>
      <p:sp>
        <p:nvSpPr>
          <p:cNvPr id="24" name="Block 7"/>
          <p:cNvSpPr/>
          <p:nvPr/>
        </p:nvSpPr>
        <p:spPr>
          <a:xfrm>
            <a:off x="3474720" y="3429000"/>
            <a:ext cx="2651760" cy="822960"/>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2DD4BF"/>
                </a:solidFill>
                <a:latin typeface="Calibri"/>
              </a:rPr>
              <a:t>[7] </a:t>
            </a:r>
            <a:r>
              <a:rPr sz="1100" b="1" i="0">
                <a:solidFill>
                  <a:srgbClr val="E8EEF6"/>
                </a:solidFill>
                <a:latin typeface="Calibri"/>
              </a:rPr>
              <a:t>ufshcd_query_aggregated_read()</a:t>
            </a:r>
          </a:p>
          <a:p>
            <a:r>
              <a:rPr sz="1000" b="0" i="0">
                <a:solidFill>
                  <a:srgbClr val="A9B8CC"/>
                </a:solidFill>
                <a:latin typeface="Calibri"/>
              </a:rPr>
              <a:t>up to QUERY_REQ_RETRIES</a:t>
            </a:r>
          </a:p>
        </p:txBody>
      </p:sp>
      <p:sp>
        <p:nvSpPr>
          <p:cNvPr id="25" name="Block 8"/>
          <p:cNvSpPr/>
          <p:nvPr/>
        </p:nvSpPr>
        <p:spPr>
          <a:xfrm>
            <a:off x="6766560" y="3429000"/>
            <a:ext cx="2377440" cy="822960"/>
          </a:xfrm>
          <a:prstGeom prst="roundRect">
            <a:avLst>
              <a:gd name="adj" fmla="val 10000"/>
            </a:avLst>
          </a:prstGeom>
          <a:solidFill>
            <a:srgbClr val="1B304D"/>
          </a:solidFill>
          <a:ln w="15875">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2DD4BF"/>
                </a:solidFill>
                <a:latin typeface="Calibri"/>
              </a:rPr>
              <a:t>[8] </a:t>
            </a:r>
            <a:r>
              <a:rPr sz="1100" b="1" i="0">
                <a:solidFill>
                  <a:srgbClr val="E8EEF6"/>
                </a:solidFill>
                <a:latin typeface="Calibri"/>
              </a:rPr>
              <a:t>agg_packet cached</a:t>
            </a:r>
          </a:p>
          <a:p>
            <a:r>
              <a:rPr sz="1000" b="0" i="0">
                <a:solidFill>
                  <a:srgbClr val="A9B8CC"/>
                </a:solidFill>
                <a:latin typeface="Calibri"/>
              </a:rPr>
              <a:t>lookups hit or miss</a:t>
            </a:r>
          </a:p>
        </p:txBody>
      </p:sp>
      <p:sp>
        <p:nvSpPr>
          <p:cNvPr id="26" name="Block 9"/>
          <p:cNvSpPr/>
          <p:nvPr/>
        </p:nvSpPr>
        <p:spPr>
          <a:xfrm>
            <a:off x="9784080" y="3429000"/>
            <a:ext cx="1920240" cy="822960"/>
          </a:xfrm>
          <a:prstGeom prst="roundRect">
            <a:avLst>
              <a:gd name="adj" fmla="val 10000"/>
            </a:avLst>
          </a:prstGeom>
          <a:solidFill>
            <a:srgbClr val="1B304D"/>
          </a:solidFill>
          <a:ln w="15875">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2DD4BF"/>
                </a:solidFill>
                <a:latin typeface="Calibri"/>
              </a:rPr>
              <a:t>[9] </a:t>
            </a:r>
            <a:r>
              <a:rPr sz="1100" b="1" i="0">
                <a:solidFill>
                  <a:srgbClr val="E8EEF6"/>
                </a:solidFill>
                <a:latin typeface="Calibri"/>
              </a:rPr>
              <a:t>agg_read_end()</a:t>
            </a:r>
          </a:p>
          <a:p>
            <a:r>
              <a:rPr sz="1000" b="0" i="0">
                <a:solidFill>
                  <a:srgbClr val="A9B8CC"/>
                </a:solidFill>
                <a:latin typeface="Calibri"/>
              </a:rPr>
              <a:t>kfree, NULL, len 0</a:t>
            </a:r>
          </a:p>
        </p:txBody>
      </p:sp>
      <p:sp>
        <p:nvSpPr>
          <p:cNvPr id="27" name="Block 10"/>
          <p:cNvSpPr/>
          <p:nvPr/>
        </p:nvSpPr>
        <p:spPr>
          <a:xfrm>
            <a:off x="3474720" y="4709160"/>
            <a:ext cx="2651760" cy="640080"/>
          </a:xfrm>
          <a:prstGeom prst="roundRect">
            <a:avLst>
              <a:gd name="adj" fmla="val 10000"/>
            </a:avLst>
          </a:prstGeom>
          <a:solidFill>
            <a:srgbClr val="1B304D"/>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2DD4BF"/>
                </a:solidFill>
                <a:latin typeface="Calibri"/>
              </a:rPr>
              <a:t>[10] </a:t>
            </a:r>
            <a:r>
              <a:rPr sz="1100" b="1" i="0">
                <a:solidFill>
                  <a:srgbClr val="E8EEF6"/>
                </a:solidFill>
                <a:latin typeface="Calibri"/>
              </a:rPr>
              <a:t>Individual queries</a:t>
            </a:r>
          </a:p>
          <a:p>
            <a:r>
              <a:rPr sz="1000" b="0" i="0">
                <a:solidFill>
                  <a:srgbClr val="A9B8CC"/>
                </a:solidFill>
                <a:latin typeface="Calibri"/>
              </a:rPr>
              <a:t>existing path</a:t>
            </a:r>
          </a:p>
        </p:txBody>
      </p:sp>
      <p:cxnSp>
        <p:nvCxnSpPr>
          <p:cNvPr id="28" name="Arrow C1"/>
          <p:cNvCxnSpPr>
            <a:stCxn id="23" idx="3"/>
            <a:endCxn id="24" idx="1"/>
          </p:cNvCxnSpPr>
          <p:nvPr/>
        </p:nvCxnSpPr>
        <p:spPr>
          <a:xfrm>
            <a:off x="2834640" y="3840480"/>
            <a:ext cx="640080" cy="0"/>
          </a:xfrm>
          <a:prstGeom prst="line">
            <a:avLst/>
          </a:prstGeom>
          <a:ln w="22225">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Label C1"/>
          <p:cNvSpPr/>
          <p:nvPr/>
        </p:nvSpPr>
        <p:spPr>
          <a:xfrm>
            <a:off x="2980944" y="3721608"/>
            <a:ext cx="347472" cy="237744"/>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C1</a:t>
            </a:r>
          </a:p>
        </p:txBody>
      </p:sp>
      <p:cxnSp>
        <p:nvCxnSpPr>
          <p:cNvPr id="30" name="Arrow C2"/>
          <p:cNvCxnSpPr>
            <a:stCxn id="24" idx="3"/>
            <a:endCxn id="25" idx="1"/>
          </p:cNvCxnSpPr>
          <p:nvPr/>
        </p:nvCxnSpPr>
        <p:spPr>
          <a:xfrm>
            <a:off x="6126480" y="3840480"/>
            <a:ext cx="640080" cy="0"/>
          </a:xfrm>
          <a:prstGeom prst="line">
            <a:avLst/>
          </a:prstGeom>
          <a:ln w="22225">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Label C2"/>
          <p:cNvSpPr/>
          <p:nvPr/>
        </p:nvSpPr>
        <p:spPr>
          <a:xfrm>
            <a:off x="6272783" y="3721608"/>
            <a:ext cx="347472" cy="237744"/>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C2</a:t>
            </a:r>
          </a:p>
        </p:txBody>
      </p:sp>
      <p:cxnSp>
        <p:nvCxnSpPr>
          <p:cNvPr id="32" name="Arrow C3"/>
          <p:cNvCxnSpPr>
            <a:stCxn id="25" idx="3"/>
            <a:endCxn id="26" idx="1"/>
          </p:cNvCxnSpPr>
          <p:nvPr/>
        </p:nvCxnSpPr>
        <p:spPr>
          <a:xfrm>
            <a:off x="9144000" y="3840480"/>
            <a:ext cx="640080" cy="0"/>
          </a:xfrm>
          <a:prstGeom prst="line">
            <a:avLst/>
          </a:prstGeom>
          <a:ln w="22225">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Label C3"/>
          <p:cNvSpPr/>
          <p:nvPr/>
        </p:nvSpPr>
        <p:spPr>
          <a:xfrm>
            <a:off x="9290304" y="3721608"/>
            <a:ext cx="347472" cy="237744"/>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C3</a:t>
            </a:r>
          </a:p>
        </p:txBody>
      </p:sp>
      <p:cxnSp>
        <p:nvCxnSpPr>
          <p:cNvPr id="34" name="Arrow C4"/>
          <p:cNvCxnSpPr>
            <a:stCxn id="23" idx="2"/>
            <a:endCxn id="27" idx="1"/>
          </p:cNvCxnSpPr>
          <p:nvPr/>
        </p:nvCxnSpPr>
        <p:spPr>
          <a:xfrm>
            <a:off x="1645920" y="4251960"/>
            <a:ext cx="1828800" cy="777240"/>
          </a:xfrm>
          <a:prstGeom prst="line">
            <a:avLst/>
          </a:prstGeom>
          <a:ln w="22225">
            <a:solidFill>
              <a:srgbClr val="FBBF2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Label C4"/>
          <p:cNvSpPr/>
          <p:nvPr/>
        </p:nvSpPr>
        <p:spPr>
          <a:xfrm>
            <a:off x="1488186" y="4521708"/>
            <a:ext cx="1138428" cy="237744"/>
          </a:xfrm>
          <a:prstGeom prst="roundRect">
            <a:avLst>
              <a:gd name="adj" fmla="val 50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C4 alloc fail</a:t>
            </a:r>
          </a:p>
        </p:txBody>
      </p:sp>
      <p:cxnSp>
        <p:nvCxnSpPr>
          <p:cNvPr id="36" name="Arrow C5"/>
          <p:cNvCxnSpPr>
            <a:stCxn id="24" idx="2"/>
            <a:endCxn id="27" idx="0"/>
          </p:cNvCxnSpPr>
          <p:nvPr/>
        </p:nvCxnSpPr>
        <p:spPr>
          <a:xfrm>
            <a:off x="4800600" y="4251960"/>
            <a:ext cx="0" cy="457200"/>
          </a:xfrm>
          <a:prstGeom prst="line">
            <a:avLst/>
          </a:prstGeom>
          <a:ln w="22225">
            <a:solidFill>
              <a:srgbClr val="FBBF2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Label C5"/>
          <p:cNvSpPr/>
          <p:nvPr/>
        </p:nvSpPr>
        <p:spPr>
          <a:xfrm>
            <a:off x="4192524" y="4361688"/>
            <a:ext cx="1216152" cy="237744"/>
          </a:xfrm>
          <a:prstGeom prst="roundRect">
            <a:avLst>
              <a:gd name="adj" fmla="val 50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C5 retries out</a:t>
            </a:r>
          </a:p>
        </p:txBody>
      </p:sp>
      <p:cxnSp>
        <p:nvCxnSpPr>
          <p:cNvPr id="38" name="Arrow C6"/>
          <p:cNvCxnSpPr>
            <a:stCxn id="25" idx="2"/>
            <a:endCxn id="27" idx="3"/>
          </p:cNvCxnSpPr>
          <p:nvPr/>
        </p:nvCxnSpPr>
        <p:spPr>
          <a:xfrm flipH="1">
            <a:off x="6126480" y="4251960"/>
            <a:ext cx="1828800" cy="777240"/>
          </a:xfrm>
          <a:prstGeom prst="line">
            <a:avLst/>
          </a:prstGeom>
          <a:ln w="22225">
            <a:solidFill>
              <a:srgbClr val="FBBF2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Label C6"/>
          <p:cNvSpPr/>
          <p:nvPr/>
        </p:nvSpPr>
        <p:spPr>
          <a:xfrm>
            <a:off x="6704838" y="4521708"/>
            <a:ext cx="672084" cy="237744"/>
          </a:xfrm>
          <a:prstGeom prst="roundRect">
            <a:avLst>
              <a:gd name="adj" fmla="val 50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C6 miss</a:t>
            </a:r>
          </a:p>
        </p:txBody>
      </p:sp>
      <p:sp>
        <p:nvSpPr>
          <p:cNvPr id="40" name="Legend 1"/>
          <p:cNvSpPr txBox="1"/>
          <p:nvPr/>
        </p:nvSpPr>
        <p:spPr>
          <a:xfrm>
            <a:off x="457200" y="5440680"/>
            <a:ext cx="5532120" cy="960120"/>
          </a:xfrm>
          <a:prstGeom prst="rect">
            <a:avLst/>
          </a:prstGeom>
          <a:noFill/>
        </p:spPr>
        <p:txBody>
          <a:bodyPr wrap="square" anchor="t" lIns="36576" rIns="36576" tIns="18288" bIns="18288">
            <a:spAutoFit/>
          </a:bodyPr>
          <a:lstStyle/>
          <a:p>
            <a:r>
              <a:rPr sz="1000" b="1" i="0">
                <a:solidFill>
                  <a:srgbClr val="2DD4BF"/>
                </a:solidFill>
                <a:latin typeface="Calibri"/>
              </a:rPr>
              <a:t>C1</a:t>
            </a:r>
            <a:r>
              <a:rPr sz="1000" b="0" i="0">
                <a:solidFill>
                  <a:srgbClr val="A9B8CC"/>
                </a:solidFill>
                <a:latin typeface="Calibri"/>
              </a:rPr>
              <a:t>  [6]→[7]  </a:t>
            </a:r>
            <a:r>
              <a:rPr sz="1000" b="0" i="0">
                <a:solidFill>
                  <a:srgbClr val="E8EEF6"/>
                </a:solidFill>
                <a:latin typeface="Calibri"/>
              </a:rPr>
              <a:t>allocation ok</a:t>
            </a:r>
          </a:p>
          <a:p>
            <a:r>
              <a:rPr sz="1000" b="1" i="0">
                <a:solidFill>
                  <a:srgbClr val="2DD4BF"/>
                </a:solidFill>
                <a:latin typeface="Calibri"/>
              </a:rPr>
              <a:t>C2</a:t>
            </a:r>
            <a:r>
              <a:rPr sz="1000" b="0" i="0">
                <a:solidFill>
                  <a:srgbClr val="A9B8CC"/>
                </a:solidFill>
                <a:latin typeface="Calibri"/>
              </a:rPr>
              <a:t>  [7]→[8]  </a:t>
            </a:r>
            <a:r>
              <a:rPr sz="1000" b="0" i="0">
                <a:solidFill>
                  <a:srgbClr val="E8EEF6"/>
                </a:solidFill>
                <a:latin typeface="Calibri"/>
              </a:rPr>
              <a:t>query ok: packet and length stored</a:t>
            </a:r>
          </a:p>
          <a:p>
            <a:r>
              <a:rPr sz="1000" b="1" i="0">
                <a:solidFill>
                  <a:srgbClr val="2DD4BF"/>
                </a:solidFill>
                <a:latin typeface="Calibri"/>
              </a:rPr>
              <a:t>C3</a:t>
            </a:r>
            <a:r>
              <a:rPr sz="1000" b="0" i="0">
                <a:solidFill>
                  <a:srgbClr val="A9B8CC"/>
                </a:solidFill>
                <a:latin typeface="Calibri"/>
              </a:rPr>
              <a:t>  [8]→[9]  </a:t>
            </a:r>
            <a:r>
              <a:rPr sz="1000" b="0" i="0">
                <a:solidFill>
                  <a:srgbClr val="E8EEF6"/>
                </a:solidFill>
                <a:latin typeface="Calibri"/>
              </a:rPr>
              <a:t>cleanup at end of device_params_init()</a:t>
            </a:r>
          </a:p>
        </p:txBody>
      </p:sp>
      <p:sp>
        <p:nvSpPr>
          <p:cNvPr id="41" name="Legend 2"/>
          <p:cNvSpPr txBox="1"/>
          <p:nvPr/>
        </p:nvSpPr>
        <p:spPr>
          <a:xfrm>
            <a:off x="6080760" y="5440680"/>
            <a:ext cx="5532120" cy="960120"/>
          </a:xfrm>
          <a:prstGeom prst="rect">
            <a:avLst/>
          </a:prstGeom>
          <a:noFill/>
        </p:spPr>
        <p:txBody>
          <a:bodyPr wrap="square" anchor="t" lIns="36576" rIns="36576" tIns="18288" bIns="18288">
            <a:spAutoFit/>
          </a:bodyPr>
          <a:lstStyle/>
          <a:p>
            <a:r>
              <a:rPr sz="1000" b="1" i="0">
                <a:solidFill>
                  <a:srgbClr val="FBBF24"/>
                </a:solidFill>
                <a:latin typeface="Calibri"/>
              </a:rPr>
              <a:t>C4</a:t>
            </a:r>
            <a:r>
              <a:rPr sz="1000" b="0" i="0">
                <a:solidFill>
                  <a:srgbClr val="A9B8CC"/>
                </a:solidFill>
                <a:latin typeface="Calibri"/>
              </a:rPr>
              <a:t>  [6]→[10]  </a:t>
            </a:r>
            <a:r>
              <a:rPr sz="1000" b="0" i="0">
                <a:solidFill>
                  <a:srgbClr val="E8EEF6"/>
                </a:solidFill>
                <a:latin typeface="Calibri"/>
              </a:rPr>
              <a:t>silent return; flag not set</a:t>
            </a:r>
          </a:p>
          <a:p>
            <a:r>
              <a:rPr sz="1000" b="1" i="0">
                <a:solidFill>
                  <a:srgbClr val="FBBF24"/>
                </a:solidFill>
                <a:latin typeface="Calibri"/>
              </a:rPr>
              <a:t>C5</a:t>
            </a:r>
            <a:r>
              <a:rPr sz="1000" b="0" i="0">
                <a:solidFill>
                  <a:srgbClr val="A9B8CC"/>
                </a:solidFill>
                <a:latin typeface="Calibri"/>
              </a:rPr>
              <a:t>  [7]→[10]  </a:t>
            </a:r>
            <a:r>
              <a:rPr sz="1000" b="0" i="0">
                <a:solidFill>
                  <a:srgbClr val="E8EEF6"/>
                </a:solidFill>
                <a:latin typeface="Calibri"/>
              </a:rPr>
              <a:t>agg_read_unsupported = true; kfree(packet)</a:t>
            </a:r>
          </a:p>
          <a:p>
            <a:r>
              <a:rPr sz="1000" b="1" i="0">
                <a:solidFill>
                  <a:srgbClr val="FBBF24"/>
                </a:solidFill>
                <a:latin typeface="Calibri"/>
              </a:rPr>
              <a:t>C6</a:t>
            </a:r>
            <a:r>
              <a:rPr sz="1000" b="0" i="0">
                <a:solidFill>
                  <a:srgbClr val="A9B8CC"/>
                </a:solidFill>
                <a:latin typeface="Calibri"/>
              </a:rPr>
              <a:t>  [8]→[10]  </a:t>
            </a:r>
            <a:r>
              <a:rPr sz="1000" b="0" i="0">
                <a:solidFill>
                  <a:srgbClr val="E8EEF6"/>
                </a:solidFill>
                <a:latin typeface="Calibri"/>
              </a:rPr>
              <a:t>item not in packet → existing query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626"/>
        </a:solidFill>
        <a:effectLst/>
      </p:bgPr>
    </p:bg>
    <p:spTree>
      <p:nvGrpSpPr>
        <p:cNvPr id="1" name=""/>
        <p:cNvGrpSpPr/>
        <p:nvPr/>
      </p:nvGrpSpPr>
      <p:grpSpPr/>
      <p:sp>
        <p:nvSpPr>
          <p:cNvPr id="2" name="Title"/>
          <p:cNvSpPr txBox="1"/>
          <p:nvPr/>
        </p:nvSpPr>
        <p:spPr>
          <a:xfrm>
            <a:off x="457200" y="274320"/>
            <a:ext cx="11247120" cy="548640"/>
          </a:xfrm>
          <a:prstGeom prst="rect">
            <a:avLst/>
          </a:prstGeom>
          <a:noFill/>
        </p:spPr>
        <p:txBody>
          <a:bodyPr wrap="square" anchor="ctr" lIns="36576" rIns="36576" tIns="18288" bIns="18288">
            <a:spAutoFit/>
          </a:bodyPr>
          <a:lstStyle/>
          <a:p>
            <a:r>
              <a:rPr sz="2400" b="1" i="0">
                <a:solidFill>
                  <a:srgbClr val="E8EEF6"/>
                </a:solidFill>
                <a:latin typeface="Calibri"/>
              </a:rPr>
              <a:t>Packet Layout and Group Traversal: next_group_offset Chain</a:t>
            </a:r>
          </a:p>
        </p:txBody>
      </p:sp>
      <p:sp>
        <p:nvSpPr>
          <p:cNvPr id="3" name="Source"/>
          <p:cNvSpPr txBox="1"/>
          <p:nvPr/>
        </p:nvSpPr>
        <p:spPr>
          <a:xfrm>
            <a:off x="457200" y="6473952"/>
            <a:ext cx="10424160" cy="256032"/>
          </a:xfrm>
          <a:prstGeom prst="rect">
            <a:avLst/>
          </a:prstGeom>
          <a:noFill/>
        </p:spPr>
        <p:txBody>
          <a:bodyPr wrap="square" anchor="t" lIns="36576" rIns="36576" tIns="18288" bIns="18288">
            <a:spAutoFit/>
          </a:bodyPr>
          <a:lstStyle/>
          <a:p>
            <a:r>
              <a:rPr sz="1000" b="0" i="0">
                <a:solidFill>
                  <a:srgbClr val="A9B8CC"/>
                </a:solidFill>
                <a:latin typeface="Calibri"/>
              </a:rPr>
              <a:t>Source: include/ufs/ufs.h — struct utp_agg_group_header (P1); drivers/ufs/core/ufshcd.c — ufshcd_agg_group() (P2)</a:t>
            </a:r>
          </a:p>
        </p:txBody>
      </p:sp>
      <p:sp>
        <p:nvSpPr>
          <p:cNvPr id="4" name="Slide Number"/>
          <p:cNvSpPr txBox="1"/>
          <p:nvPr/>
        </p:nvSpPr>
        <p:spPr>
          <a:xfrm>
            <a:off x="11064240" y="6473952"/>
            <a:ext cx="685800" cy="256032"/>
          </a:xfrm>
          <a:prstGeom prst="rect">
            <a:avLst/>
          </a:prstGeom>
          <a:noFill/>
        </p:spPr>
        <p:txBody>
          <a:bodyPr wrap="none">
            <a:spAutoFit/>
          </a:bodyPr>
          <a:lstStyle/>
          <a:p>
            <a:pPr algn="r"/>
            <a:fld id="{B6F15528-21DE-4FAA-801E-634DDDAF4B2B}" type="slidenum">
              <a:rPr lang="en-US" sz="1100">
                <a:solidFill>
                  <a:srgbClr val="A9B8CC"/>
                </a:solidFill>
                <a:latin typeface="Calibri"/>
              </a:rPr>
              <a:t>8</a:t>
            </a:fld>
          </a:p>
        </p:txBody>
      </p:sp>
      <p:sp>
        <p:nvSpPr>
          <p:cNvPr id="5" name="TextBox 4"/>
          <p:cNvSpPr txBox="1"/>
          <p:nvPr/>
        </p:nvSpPr>
        <p:spPr>
          <a:xfrm>
            <a:off x="457200" y="987552"/>
            <a:ext cx="11247120" cy="256032"/>
          </a:xfrm>
          <a:prstGeom prst="rect">
            <a:avLst/>
          </a:prstGeom>
          <a:noFill/>
        </p:spPr>
        <p:txBody>
          <a:bodyPr wrap="square" anchor="t" lIns="36576" rIns="36576" tIns="18288" bIns="18288">
            <a:spAutoFit/>
          </a:bodyPr>
          <a:lstStyle/>
          <a:p>
            <a:r>
              <a:rPr sz="1200" b="1" i="0">
                <a:solidFill>
                  <a:srgbClr val="2DD4BF"/>
                </a:solidFill>
                <a:latin typeface="Calibri"/>
              </a:rPr>
              <a:t>D5 · Packet memory layout (illustrative group order)</a:t>
            </a:r>
          </a:p>
        </p:txBody>
      </p:sp>
      <p:sp>
        <p:nvSpPr>
          <p:cNvPr id="6" name="TextBox 5"/>
          <p:cNvSpPr txBox="1"/>
          <p:nvPr/>
        </p:nvSpPr>
        <p:spPr>
          <a:xfrm>
            <a:off x="457200" y="1243584"/>
            <a:ext cx="1005840" cy="228600"/>
          </a:xfrm>
          <a:prstGeom prst="rect">
            <a:avLst/>
          </a:prstGeom>
          <a:noFill/>
        </p:spPr>
        <p:txBody>
          <a:bodyPr wrap="square" anchor="t" lIns="36576" rIns="36576" tIns="18288" bIns="18288">
            <a:spAutoFit/>
          </a:bodyPr>
          <a:lstStyle/>
          <a:p>
            <a:r>
              <a:rPr sz="1000" b="0" i="0">
                <a:solidFill>
                  <a:srgbClr val="A9B8CC"/>
                </a:solidFill>
                <a:latin typeface="Calibri"/>
              </a:rPr>
              <a:t>off 0</a:t>
            </a:r>
          </a:p>
        </p:txBody>
      </p:sp>
      <p:sp>
        <p:nvSpPr>
          <p:cNvPr id="7" name="TextBox 6"/>
          <p:cNvSpPr txBox="1"/>
          <p:nvPr/>
        </p:nvSpPr>
        <p:spPr>
          <a:xfrm>
            <a:off x="1463040" y="1243584"/>
            <a:ext cx="1005840" cy="228600"/>
          </a:xfrm>
          <a:prstGeom prst="rect">
            <a:avLst/>
          </a:prstGeom>
          <a:noFill/>
        </p:spPr>
        <p:txBody>
          <a:bodyPr wrap="square" anchor="t" lIns="36576" rIns="36576" tIns="18288" bIns="18288">
            <a:spAutoFit/>
          </a:bodyPr>
          <a:lstStyle/>
          <a:p>
            <a:r>
              <a:rPr sz="1000" b="0" i="0">
                <a:solidFill>
                  <a:srgbClr val="A9B8CC"/>
                </a:solidFill>
                <a:latin typeface="Calibri"/>
              </a:rPr>
              <a:t>off 4</a:t>
            </a:r>
          </a:p>
        </p:txBody>
      </p:sp>
      <p:sp>
        <p:nvSpPr>
          <p:cNvPr id="8" name="TextBox 7"/>
          <p:cNvSpPr txBox="1"/>
          <p:nvPr/>
        </p:nvSpPr>
        <p:spPr>
          <a:xfrm>
            <a:off x="3657600" y="1243584"/>
            <a:ext cx="1005840" cy="228600"/>
          </a:xfrm>
          <a:prstGeom prst="rect">
            <a:avLst/>
          </a:prstGeom>
          <a:noFill/>
        </p:spPr>
        <p:txBody>
          <a:bodyPr wrap="square" anchor="t" lIns="36576" rIns="36576" tIns="18288" bIns="18288">
            <a:spAutoFit/>
          </a:bodyPr>
          <a:lstStyle/>
          <a:p>
            <a:r>
              <a:rPr sz="1000" b="0" i="0">
                <a:solidFill>
                  <a:srgbClr val="A9B8CC"/>
                </a:solidFill>
                <a:latin typeface="Calibri"/>
              </a:rPr>
              <a:t>N1</a:t>
            </a:r>
          </a:p>
        </p:txBody>
      </p:sp>
      <p:sp>
        <p:nvSpPr>
          <p:cNvPr id="9" name="TextBox 8"/>
          <p:cNvSpPr txBox="1"/>
          <p:nvPr/>
        </p:nvSpPr>
        <p:spPr>
          <a:xfrm>
            <a:off x="4663440" y="1243584"/>
            <a:ext cx="1005840" cy="228600"/>
          </a:xfrm>
          <a:prstGeom prst="rect">
            <a:avLst/>
          </a:prstGeom>
          <a:noFill/>
        </p:spPr>
        <p:txBody>
          <a:bodyPr wrap="square" anchor="t" lIns="36576" rIns="36576" tIns="18288" bIns="18288">
            <a:spAutoFit/>
          </a:bodyPr>
          <a:lstStyle/>
          <a:p>
            <a:r>
              <a:rPr sz="1000" b="0" i="0">
                <a:solidFill>
                  <a:srgbClr val="A9B8CC"/>
                </a:solidFill>
                <a:latin typeface="Calibri"/>
              </a:rPr>
              <a:t>N1 + 4</a:t>
            </a:r>
          </a:p>
        </p:txBody>
      </p:sp>
      <p:sp>
        <p:nvSpPr>
          <p:cNvPr id="10" name="TextBox 9"/>
          <p:cNvSpPr txBox="1"/>
          <p:nvPr/>
        </p:nvSpPr>
        <p:spPr>
          <a:xfrm>
            <a:off x="7040880" y="1243584"/>
            <a:ext cx="1005840" cy="228600"/>
          </a:xfrm>
          <a:prstGeom prst="rect">
            <a:avLst/>
          </a:prstGeom>
          <a:noFill/>
        </p:spPr>
        <p:txBody>
          <a:bodyPr wrap="square" anchor="t" lIns="36576" rIns="36576" tIns="18288" bIns="18288">
            <a:spAutoFit/>
          </a:bodyPr>
          <a:lstStyle/>
          <a:p>
            <a:r>
              <a:rPr sz="1000" b="0" i="0">
                <a:solidFill>
                  <a:srgbClr val="A9B8CC"/>
                </a:solidFill>
                <a:latin typeface="Calibri"/>
              </a:rPr>
              <a:t>N2</a:t>
            </a:r>
          </a:p>
        </p:txBody>
      </p:sp>
      <p:sp>
        <p:nvSpPr>
          <p:cNvPr id="11" name="TextBox 10"/>
          <p:cNvSpPr txBox="1"/>
          <p:nvPr/>
        </p:nvSpPr>
        <p:spPr>
          <a:xfrm>
            <a:off x="8046720" y="1243584"/>
            <a:ext cx="1005840" cy="228600"/>
          </a:xfrm>
          <a:prstGeom prst="rect">
            <a:avLst/>
          </a:prstGeom>
          <a:noFill/>
        </p:spPr>
        <p:txBody>
          <a:bodyPr wrap="square" anchor="t" lIns="36576" rIns="36576" tIns="18288" bIns="18288">
            <a:spAutoFit/>
          </a:bodyPr>
          <a:lstStyle/>
          <a:p>
            <a:r>
              <a:rPr sz="1000" b="0" i="0">
                <a:solidFill>
                  <a:srgbClr val="A9B8CC"/>
                </a:solidFill>
                <a:latin typeface="Calibri"/>
              </a:rPr>
              <a:t>N2 + 4</a:t>
            </a:r>
          </a:p>
        </p:txBody>
      </p:sp>
      <p:sp>
        <p:nvSpPr>
          <p:cNvPr id="12" name="Block 1"/>
          <p:cNvSpPr/>
          <p:nvPr/>
        </p:nvSpPr>
        <p:spPr>
          <a:xfrm>
            <a:off x="457200" y="1481328"/>
            <a:ext cx="1005840" cy="640080"/>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2DD4BF"/>
                </a:solidFill>
                <a:latin typeface="Calibri"/>
              </a:rPr>
              <a:t>[1] </a:t>
            </a:r>
            <a:r>
              <a:rPr sz="1000" b="1" i="0">
                <a:solidFill>
                  <a:srgbClr val="E8EEF6"/>
                </a:solidFill>
                <a:latin typeface="Calibri"/>
              </a:rPr>
              <a:t>hdr 1</a:t>
            </a:r>
          </a:p>
          <a:p>
            <a:r>
              <a:rPr sz="1000" b="0" i="0">
                <a:solidFill>
                  <a:srgbClr val="A9B8CC"/>
                </a:solidFill>
                <a:latin typeface="Calibri"/>
              </a:rPr>
              <a:t>4 B</a:t>
            </a:r>
          </a:p>
        </p:txBody>
      </p:sp>
      <p:sp>
        <p:nvSpPr>
          <p:cNvPr id="13" name="Block 2"/>
          <p:cNvSpPr/>
          <p:nvPr/>
        </p:nvSpPr>
        <p:spPr>
          <a:xfrm>
            <a:off x="1463040" y="1481328"/>
            <a:ext cx="2194560" cy="640080"/>
          </a:xfrm>
          <a:prstGeom prst="roundRect">
            <a:avLst>
              <a:gd name="adj" fmla="val 10000"/>
            </a:avLst>
          </a:prstGeom>
          <a:solidFill>
            <a:srgbClr val="1B304D"/>
          </a:solidFill>
          <a:ln w="15875">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2DD4BF"/>
                </a:solidFill>
                <a:latin typeface="Calibri"/>
              </a:rPr>
              <a:t>[2] </a:t>
            </a:r>
            <a:r>
              <a:rPr sz="1000" b="1" i="0">
                <a:solidFill>
                  <a:srgbClr val="E8EEF6"/>
                </a:solidFill>
                <a:latin typeface="Calibri"/>
              </a:rPr>
              <a:t>payload 1</a:t>
            </a:r>
          </a:p>
          <a:p>
            <a:r>
              <a:rPr sz="1000" b="0" i="0">
                <a:solidFill>
                  <a:srgbClr val="A9B8CC"/>
                </a:solidFill>
                <a:latin typeface="Calibri"/>
              </a:rPr>
              <a:t>e.g. FLAGS: 1 B/IDN</a:t>
            </a:r>
          </a:p>
        </p:txBody>
      </p:sp>
      <p:sp>
        <p:nvSpPr>
          <p:cNvPr id="14" name="Block 3"/>
          <p:cNvSpPr/>
          <p:nvPr/>
        </p:nvSpPr>
        <p:spPr>
          <a:xfrm>
            <a:off x="3657600" y="1481328"/>
            <a:ext cx="1005840" cy="640080"/>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2DD4BF"/>
                </a:solidFill>
                <a:latin typeface="Calibri"/>
              </a:rPr>
              <a:t>[3] </a:t>
            </a:r>
            <a:r>
              <a:rPr sz="1000" b="1" i="0">
                <a:solidFill>
                  <a:srgbClr val="E8EEF6"/>
                </a:solidFill>
                <a:latin typeface="Calibri"/>
              </a:rPr>
              <a:t>hdr 2</a:t>
            </a:r>
          </a:p>
          <a:p>
            <a:r>
              <a:rPr sz="1000" b="0" i="0">
                <a:solidFill>
                  <a:srgbClr val="A9B8CC"/>
                </a:solidFill>
                <a:latin typeface="Calibri"/>
              </a:rPr>
              <a:t>4 B</a:t>
            </a:r>
          </a:p>
        </p:txBody>
      </p:sp>
      <p:sp>
        <p:nvSpPr>
          <p:cNvPr id="15" name="Block 4"/>
          <p:cNvSpPr/>
          <p:nvPr/>
        </p:nvSpPr>
        <p:spPr>
          <a:xfrm>
            <a:off x="4663440" y="1481328"/>
            <a:ext cx="2377440" cy="640080"/>
          </a:xfrm>
          <a:prstGeom prst="roundRect">
            <a:avLst>
              <a:gd name="adj" fmla="val 10000"/>
            </a:avLst>
          </a:prstGeom>
          <a:solidFill>
            <a:srgbClr val="1B304D"/>
          </a:solidFill>
          <a:ln w="15875">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2DD4BF"/>
                </a:solidFill>
                <a:latin typeface="Calibri"/>
              </a:rPr>
              <a:t>[4] </a:t>
            </a:r>
            <a:r>
              <a:rPr sz="1000" b="1" i="0">
                <a:solidFill>
                  <a:srgbClr val="E8EEF6"/>
                </a:solidFill>
                <a:latin typeface="Calibri"/>
              </a:rPr>
              <a:t>payload 2</a:t>
            </a:r>
          </a:p>
          <a:p>
            <a:r>
              <a:rPr sz="1000" b="0" i="0">
                <a:solidFill>
                  <a:srgbClr val="A9B8CC"/>
                </a:solidFill>
                <a:latin typeface="Calibri"/>
              </a:rPr>
              <a:t>e.g. ATTRS: packed BE</a:t>
            </a:r>
          </a:p>
        </p:txBody>
      </p:sp>
      <p:sp>
        <p:nvSpPr>
          <p:cNvPr id="16" name="Block 5"/>
          <p:cNvSpPr/>
          <p:nvPr/>
        </p:nvSpPr>
        <p:spPr>
          <a:xfrm>
            <a:off x="7040880" y="1481328"/>
            <a:ext cx="1005840" cy="640080"/>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2DD4BF"/>
                </a:solidFill>
                <a:latin typeface="Calibri"/>
              </a:rPr>
              <a:t>[5] </a:t>
            </a:r>
            <a:r>
              <a:rPr sz="1000" b="1" i="0">
                <a:solidFill>
                  <a:srgbClr val="E8EEF6"/>
                </a:solidFill>
                <a:latin typeface="Calibri"/>
              </a:rPr>
              <a:t>hdr 3</a:t>
            </a:r>
          </a:p>
          <a:p>
            <a:r>
              <a:rPr sz="1000" b="0" i="0">
                <a:solidFill>
                  <a:srgbClr val="A9B8CC"/>
                </a:solidFill>
                <a:latin typeface="Calibri"/>
              </a:rPr>
              <a:t>4 B</a:t>
            </a:r>
          </a:p>
        </p:txBody>
      </p:sp>
      <p:sp>
        <p:nvSpPr>
          <p:cNvPr id="17" name="Block 6"/>
          <p:cNvSpPr/>
          <p:nvPr/>
        </p:nvSpPr>
        <p:spPr>
          <a:xfrm>
            <a:off x="8046720" y="1481328"/>
            <a:ext cx="2377440" cy="640080"/>
          </a:xfrm>
          <a:prstGeom prst="roundRect">
            <a:avLst>
              <a:gd name="adj" fmla="val 10000"/>
            </a:avLst>
          </a:prstGeom>
          <a:solidFill>
            <a:srgbClr val="1B304D"/>
          </a:solidFill>
          <a:ln w="15875">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2DD4BF"/>
                </a:solidFill>
                <a:latin typeface="Calibri"/>
              </a:rPr>
              <a:t>[6] </a:t>
            </a:r>
            <a:r>
              <a:rPr sz="1000" b="1" i="0">
                <a:solidFill>
                  <a:srgbClr val="E8EEF6"/>
                </a:solidFill>
                <a:latin typeface="Calibri"/>
              </a:rPr>
              <a:t>payload 3</a:t>
            </a:r>
          </a:p>
          <a:p>
            <a:r>
              <a:rPr sz="1000" b="0" i="0">
                <a:solidFill>
                  <a:srgbClr val="A9B8CC"/>
                </a:solidFill>
                <a:latin typeface="Calibri"/>
              </a:rPr>
              <a:t>e.g. STRING descriptor</a:t>
            </a:r>
          </a:p>
        </p:txBody>
      </p:sp>
      <p:sp>
        <p:nvSpPr>
          <p:cNvPr id="18" name="TextBox 17"/>
          <p:cNvSpPr txBox="1"/>
          <p:nvPr/>
        </p:nvSpPr>
        <p:spPr>
          <a:xfrm>
            <a:off x="10515600" y="1554480"/>
            <a:ext cx="1280160" cy="548640"/>
          </a:xfrm>
          <a:prstGeom prst="rect">
            <a:avLst/>
          </a:prstGeom>
          <a:noFill/>
        </p:spPr>
        <p:txBody>
          <a:bodyPr wrap="square" anchor="t" lIns="36576" rIns="36576" tIns="18288" bIns="18288">
            <a:spAutoFit/>
          </a:bodyPr>
          <a:lstStyle/>
          <a:p>
            <a:r>
              <a:rPr sz="1000" b="0" i="0">
                <a:solidFill>
                  <a:srgbClr val="A9B8CC"/>
                </a:solidFill>
                <a:latin typeface="Calibri"/>
              </a:rPr>
              <a:t>← ends at agg_packet_len</a:t>
            </a:r>
          </a:p>
        </p:txBody>
      </p:sp>
      <p:sp>
        <p:nvSpPr>
          <p:cNvPr id="19" name="Block 7"/>
          <p:cNvSpPr/>
          <p:nvPr/>
        </p:nvSpPr>
        <p:spPr>
          <a:xfrm>
            <a:off x="457200" y="2560320"/>
            <a:ext cx="1737360" cy="502920"/>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2DD4BF"/>
                </a:solidFill>
                <a:latin typeface="Calibri"/>
              </a:rPr>
              <a:t>[7] </a:t>
            </a:r>
            <a:r>
              <a:rPr sz="1000" b="1" i="0">
                <a:solidFill>
                  <a:srgbClr val="E8EEF6"/>
                </a:solidFill>
                <a:latin typeface="Calibri"/>
              </a:rPr>
              <a:t>group_type u8</a:t>
            </a:r>
          </a:p>
          <a:p>
            <a:r>
              <a:rPr sz="1000" b="0" i="0">
                <a:solidFill>
                  <a:srgbClr val="A9B8CC"/>
                </a:solidFill>
                <a:latin typeface="Calibri"/>
              </a:rPr>
              <a:t>offset 0</a:t>
            </a:r>
          </a:p>
        </p:txBody>
      </p:sp>
      <p:sp>
        <p:nvSpPr>
          <p:cNvPr id="20" name="Block 8"/>
          <p:cNvSpPr/>
          <p:nvPr/>
        </p:nvSpPr>
        <p:spPr>
          <a:xfrm>
            <a:off x="2331720" y="2560320"/>
            <a:ext cx="1737360" cy="502920"/>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2DD4BF"/>
                </a:solidFill>
                <a:latin typeface="Calibri"/>
              </a:rPr>
              <a:t>[8] </a:t>
            </a:r>
            <a:r>
              <a:rPr sz="1000" b="1" i="0">
                <a:solidFill>
                  <a:srgbClr val="E8EEF6"/>
                </a:solidFill>
                <a:latin typeface="Calibri"/>
              </a:rPr>
              <a:t>reserved u8</a:t>
            </a:r>
          </a:p>
          <a:p>
            <a:r>
              <a:rPr sz="1000" b="0" i="0">
                <a:solidFill>
                  <a:srgbClr val="A9B8CC"/>
                </a:solidFill>
                <a:latin typeface="Calibri"/>
              </a:rPr>
              <a:t>offset 1</a:t>
            </a:r>
          </a:p>
        </p:txBody>
      </p:sp>
      <p:sp>
        <p:nvSpPr>
          <p:cNvPr id="21" name="Block 9"/>
          <p:cNvSpPr/>
          <p:nvPr/>
        </p:nvSpPr>
        <p:spPr>
          <a:xfrm>
            <a:off x="4206240" y="2560320"/>
            <a:ext cx="2377440" cy="502920"/>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2DD4BF"/>
                </a:solidFill>
                <a:latin typeface="Calibri"/>
              </a:rPr>
              <a:t>[9] </a:t>
            </a:r>
            <a:r>
              <a:rPr sz="1000" b="1" i="0">
                <a:solidFill>
                  <a:srgbClr val="E8EEF6"/>
                </a:solidFill>
                <a:latin typeface="Calibri"/>
              </a:rPr>
              <a:t>next_group_offset __be16</a:t>
            </a:r>
          </a:p>
          <a:p>
            <a:r>
              <a:rPr sz="1000" b="0" i="0">
                <a:solidFill>
                  <a:srgbClr val="A9B8CC"/>
                </a:solidFill>
                <a:latin typeface="Calibri"/>
              </a:rPr>
              <a:t>offsets 2–3</a:t>
            </a:r>
          </a:p>
        </p:txBody>
      </p:sp>
      <p:cxnSp>
        <p:nvCxnSpPr>
          <p:cNvPr id="22" name="Arrow A1"/>
          <p:cNvCxnSpPr>
            <a:stCxn id="12" idx="2"/>
            <a:endCxn id="19" idx="0"/>
          </p:cNvCxnSpPr>
          <p:nvPr/>
        </p:nvCxnSpPr>
        <p:spPr>
          <a:xfrm>
            <a:off x="960120" y="2121408"/>
            <a:ext cx="365760" cy="438912"/>
          </a:xfrm>
          <a:prstGeom prst="line">
            <a:avLst/>
          </a:prstGeom>
          <a:ln w="22225">
            <a:solidFill>
              <a:srgbClr val="A9B8C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3" name="Label A1"/>
          <p:cNvSpPr/>
          <p:nvPr/>
        </p:nvSpPr>
        <p:spPr>
          <a:xfrm>
            <a:off x="969264" y="2221992"/>
            <a:ext cx="347472" cy="237744"/>
          </a:xfrm>
          <a:prstGeom prst="roundRect">
            <a:avLst>
              <a:gd name="adj" fmla="val 50000"/>
            </a:avLst>
          </a:prstGeom>
          <a:solidFill>
            <a:srgbClr val="A9B8CC"/>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A1</a:t>
            </a:r>
          </a:p>
        </p:txBody>
      </p:sp>
      <p:sp>
        <p:nvSpPr>
          <p:cNvPr id="24" name="TextBox 23"/>
          <p:cNvSpPr txBox="1"/>
          <p:nvPr/>
        </p:nvSpPr>
        <p:spPr>
          <a:xfrm>
            <a:off x="6858000" y="2514600"/>
            <a:ext cx="4846320" cy="640080"/>
          </a:xfrm>
          <a:prstGeom prst="rect">
            <a:avLst/>
          </a:prstGeom>
          <a:noFill/>
        </p:spPr>
        <p:txBody>
          <a:bodyPr wrap="square" anchor="t" lIns="36576" rIns="36576" tIns="18288" bIns="18288">
            <a:spAutoFit/>
          </a:bodyPr>
          <a:lstStyle/>
          <a:p>
            <a:r>
              <a:rPr sz="1000" b="0" i="0">
                <a:solidFill>
                  <a:srgbClr val="E8EEF6"/>
                </a:solidFill>
                <a:latin typeface="Calibri"/>
              </a:rPr>
              <a:t>A1 [1]→[7]  header expands to three fields (dashed, conceptual). DESCS payload (not requested by this series): back-to-back descriptors, each starting with a length byte.</a:t>
            </a:r>
          </a:p>
        </p:txBody>
      </p:sp>
      <p:sp>
        <p:nvSpPr>
          <p:cNvPr id="25" name="TextBox 24"/>
          <p:cNvSpPr txBox="1"/>
          <p:nvPr/>
        </p:nvSpPr>
        <p:spPr>
          <a:xfrm>
            <a:off x="457200" y="3246120"/>
            <a:ext cx="11247120" cy="256032"/>
          </a:xfrm>
          <a:prstGeom prst="rect">
            <a:avLst/>
          </a:prstGeom>
          <a:noFill/>
        </p:spPr>
        <p:txBody>
          <a:bodyPr wrap="square" anchor="t" lIns="36576" rIns="36576" tIns="18288" bIns="18288">
            <a:spAutoFit/>
          </a:bodyPr>
          <a:lstStyle/>
          <a:p>
            <a:r>
              <a:rPr sz="1200" b="1" i="0">
                <a:solidFill>
                  <a:srgbClr val="2DD4BF"/>
                </a:solidFill>
                <a:latin typeface="Calibri"/>
              </a:rPr>
              <a:t>D6 · next_group_offset traversal in ufshcd_agg_group()</a:t>
            </a:r>
          </a:p>
        </p:txBody>
      </p:sp>
      <p:sp>
        <p:nvSpPr>
          <p:cNvPr id="26" name="Block 10"/>
          <p:cNvSpPr/>
          <p:nvPr/>
        </p:nvSpPr>
        <p:spPr>
          <a:xfrm>
            <a:off x="457200" y="3566160"/>
            <a:ext cx="2651760" cy="594360"/>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2DD4BF"/>
                </a:solidFill>
                <a:latin typeface="Calibri"/>
              </a:rPr>
              <a:t>[10] </a:t>
            </a:r>
            <a:r>
              <a:rPr sz="1000" b="1" i="0">
                <a:solidFill>
                  <a:srgbClr val="E8EEF6"/>
                </a:solidFill>
                <a:latin typeface="Calibri"/>
              </a:rPr>
              <a:t>group_off = 0</a:t>
            </a:r>
          </a:p>
          <a:p>
            <a:r>
              <a:rPr sz="1000" b="0" i="0">
                <a:solidFill>
                  <a:srgbClr val="A9B8CC"/>
                </a:solidFill>
                <a:latin typeface="Calibri"/>
              </a:rPr>
              <a:t>read hdr, next = N1</a:t>
            </a:r>
          </a:p>
        </p:txBody>
      </p:sp>
      <p:sp>
        <p:nvSpPr>
          <p:cNvPr id="27" name="Block 11"/>
          <p:cNvSpPr/>
          <p:nvPr/>
        </p:nvSpPr>
        <p:spPr>
          <a:xfrm>
            <a:off x="3337560" y="3566160"/>
            <a:ext cx="2651760" cy="594360"/>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2DD4BF"/>
                </a:solidFill>
                <a:latin typeface="Calibri"/>
              </a:rPr>
              <a:t>[11] </a:t>
            </a:r>
            <a:r>
              <a:rPr sz="1000" b="1" i="0">
                <a:solidFill>
                  <a:srgbClr val="E8EEF6"/>
                </a:solidFill>
                <a:latin typeface="Calibri"/>
              </a:rPr>
              <a:t>group_off = N1</a:t>
            </a:r>
          </a:p>
          <a:p>
            <a:r>
              <a:rPr sz="1000" b="0" i="0">
                <a:solidFill>
                  <a:srgbClr val="A9B8CC"/>
                </a:solidFill>
                <a:latin typeface="Calibri"/>
              </a:rPr>
              <a:t>read hdr, next = N2</a:t>
            </a:r>
          </a:p>
        </p:txBody>
      </p:sp>
      <p:sp>
        <p:nvSpPr>
          <p:cNvPr id="28" name="Block 12"/>
          <p:cNvSpPr/>
          <p:nvPr/>
        </p:nvSpPr>
        <p:spPr>
          <a:xfrm>
            <a:off x="6217920" y="3566160"/>
            <a:ext cx="2651760" cy="594360"/>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2DD4BF"/>
                </a:solidFill>
                <a:latin typeface="Calibri"/>
              </a:rPr>
              <a:t>[12] </a:t>
            </a:r>
            <a:r>
              <a:rPr sz="1000" b="1" i="0">
                <a:solidFill>
                  <a:srgbClr val="E8EEF6"/>
                </a:solidFill>
                <a:latin typeface="Calibri"/>
              </a:rPr>
              <a:t>group_off = N2</a:t>
            </a:r>
          </a:p>
          <a:p>
            <a:r>
              <a:rPr sz="1000" b="0" i="0">
                <a:solidFill>
                  <a:srgbClr val="A9B8CC"/>
                </a:solidFill>
                <a:latin typeface="Calibri"/>
              </a:rPr>
              <a:t>read hdr, next = 0</a:t>
            </a:r>
          </a:p>
        </p:txBody>
      </p:sp>
      <p:sp>
        <p:nvSpPr>
          <p:cNvPr id="29" name="Block 13"/>
          <p:cNvSpPr/>
          <p:nvPr/>
        </p:nvSpPr>
        <p:spPr>
          <a:xfrm>
            <a:off x="9098280" y="3566160"/>
            <a:ext cx="2606040" cy="594360"/>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2DD4BF"/>
                </a:solidFill>
                <a:latin typeface="Calibri"/>
              </a:rPr>
              <a:t>[13] </a:t>
            </a:r>
            <a:r>
              <a:rPr sz="1000" b="1" i="0">
                <a:solidFill>
                  <a:srgbClr val="E8EEF6"/>
                </a:solidFill>
                <a:latin typeface="Calibri"/>
              </a:rPr>
              <a:t>end of chain</a:t>
            </a:r>
          </a:p>
          <a:p>
            <a:r>
              <a:rPr sz="1000" b="0" i="0">
                <a:solidFill>
                  <a:srgbClr val="A9B8CC"/>
                </a:solidFill>
                <a:latin typeface="Calibri"/>
              </a:rPr>
              <a:t>len = packet_len − payload_off</a:t>
            </a:r>
          </a:p>
        </p:txBody>
      </p:sp>
      <p:sp>
        <p:nvSpPr>
          <p:cNvPr id="30" name="Block 14"/>
          <p:cNvSpPr/>
          <p:nvPr/>
        </p:nvSpPr>
        <p:spPr>
          <a:xfrm>
            <a:off x="457200" y="4617720"/>
            <a:ext cx="2651760" cy="594360"/>
          </a:xfrm>
          <a:prstGeom prst="roundRect">
            <a:avLst>
              <a:gd name="adj" fmla="val 10000"/>
            </a:avLst>
          </a:prstGeom>
          <a:solidFill>
            <a:srgbClr val="1B304D"/>
          </a:solidFill>
          <a:ln w="15875">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2DD4BF"/>
                </a:solidFill>
                <a:latin typeface="Calibri"/>
              </a:rPr>
              <a:t>[14] </a:t>
            </a:r>
            <a:r>
              <a:rPr sz="1000" b="1" i="0">
                <a:solidFill>
                  <a:srgbClr val="E8EEF6"/>
                </a:solidFill>
                <a:latin typeface="Calibri"/>
              </a:rPr>
              <a:t>type match</a:t>
            </a:r>
          </a:p>
          <a:p>
            <a:r>
              <a:rPr sz="1000" b="0" i="0">
                <a:solidFill>
                  <a:srgbClr val="A9B8CC"/>
                </a:solidFill>
                <a:latin typeface="Calibri"/>
              </a:rPr>
              <a:t>return payload + group_len</a:t>
            </a:r>
          </a:p>
        </p:txBody>
      </p:sp>
      <p:sp>
        <p:nvSpPr>
          <p:cNvPr id="31" name="Block 15"/>
          <p:cNvSpPr/>
          <p:nvPr/>
        </p:nvSpPr>
        <p:spPr>
          <a:xfrm>
            <a:off x="3337560" y="4617720"/>
            <a:ext cx="4206240" cy="594360"/>
          </a:xfrm>
          <a:prstGeom prst="roundRect">
            <a:avLst>
              <a:gd name="adj" fmla="val 10000"/>
            </a:avLst>
          </a:prstGeom>
          <a:solidFill>
            <a:srgbClr val="1B304D"/>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2DD4BF"/>
                </a:solidFill>
                <a:latin typeface="Calibri"/>
              </a:rPr>
              <a:t>[15] </a:t>
            </a:r>
            <a:r>
              <a:rPr sz="1000" b="1" i="0">
                <a:solidFill>
                  <a:srgbClr val="E8EEF6"/>
                </a:solidFill>
                <a:latin typeface="Calibri"/>
              </a:rPr>
              <a:t>return NULL</a:t>
            </a:r>
          </a:p>
          <a:p>
            <a:r>
              <a:rPr sz="1000" b="0" i="0">
                <a:solidFill>
                  <a:srgbClr val="A9B8CC"/>
                </a:solidFill>
                <a:latin typeface="Calibri"/>
              </a:rPr>
              <a:t>next &lt; payload_off or next + 4 &gt; packet_len</a:t>
            </a:r>
          </a:p>
        </p:txBody>
      </p:sp>
      <p:cxnSp>
        <p:nvCxnSpPr>
          <p:cNvPr id="32" name="Arrow T1"/>
          <p:cNvCxnSpPr>
            <a:stCxn id="26" idx="3"/>
            <a:endCxn id="27" idx="1"/>
          </p:cNvCxnSpPr>
          <p:nvPr/>
        </p:nvCxnSpPr>
        <p:spPr>
          <a:xfrm flipV="1">
            <a:off x="3108960" y="3863340"/>
            <a:ext cx="228600" cy="0"/>
          </a:xfrm>
          <a:prstGeom prst="line">
            <a:avLst/>
          </a:prstGeom>
          <a:ln w="22225">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Label T1"/>
          <p:cNvSpPr/>
          <p:nvPr/>
        </p:nvSpPr>
        <p:spPr>
          <a:xfrm>
            <a:off x="3049524" y="3744468"/>
            <a:ext cx="347472" cy="237744"/>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T1</a:t>
            </a:r>
          </a:p>
        </p:txBody>
      </p:sp>
      <p:cxnSp>
        <p:nvCxnSpPr>
          <p:cNvPr id="34" name="Arrow T2"/>
          <p:cNvCxnSpPr>
            <a:stCxn id="27" idx="3"/>
            <a:endCxn id="28" idx="1"/>
          </p:cNvCxnSpPr>
          <p:nvPr/>
        </p:nvCxnSpPr>
        <p:spPr>
          <a:xfrm flipV="1">
            <a:off x="5989320" y="3863340"/>
            <a:ext cx="228600" cy="0"/>
          </a:xfrm>
          <a:prstGeom prst="line">
            <a:avLst/>
          </a:prstGeom>
          <a:ln w="22225">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Label T2"/>
          <p:cNvSpPr/>
          <p:nvPr/>
        </p:nvSpPr>
        <p:spPr>
          <a:xfrm>
            <a:off x="5929883" y="3744468"/>
            <a:ext cx="347472" cy="237744"/>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T2</a:t>
            </a:r>
          </a:p>
        </p:txBody>
      </p:sp>
      <p:cxnSp>
        <p:nvCxnSpPr>
          <p:cNvPr id="36" name="Arrow T3"/>
          <p:cNvCxnSpPr>
            <a:stCxn id="28" idx="3"/>
            <a:endCxn id="29" idx="1"/>
          </p:cNvCxnSpPr>
          <p:nvPr/>
        </p:nvCxnSpPr>
        <p:spPr>
          <a:xfrm flipV="1">
            <a:off x="8869680" y="3863340"/>
            <a:ext cx="228600" cy="0"/>
          </a:xfrm>
          <a:prstGeom prst="line">
            <a:avLst/>
          </a:prstGeom>
          <a:ln w="22225">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Label T3"/>
          <p:cNvSpPr/>
          <p:nvPr/>
        </p:nvSpPr>
        <p:spPr>
          <a:xfrm>
            <a:off x="8810244" y="3744468"/>
            <a:ext cx="347472" cy="237744"/>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T3</a:t>
            </a:r>
          </a:p>
        </p:txBody>
      </p:sp>
      <p:cxnSp>
        <p:nvCxnSpPr>
          <p:cNvPr id="38" name="Arrow T4"/>
          <p:cNvCxnSpPr>
            <a:stCxn id="26" idx="2"/>
            <a:endCxn id="30" idx="0"/>
          </p:cNvCxnSpPr>
          <p:nvPr/>
        </p:nvCxnSpPr>
        <p:spPr>
          <a:xfrm>
            <a:off x="1783080" y="4160520"/>
            <a:ext cx="0" cy="457200"/>
          </a:xfrm>
          <a:prstGeom prst="line">
            <a:avLst/>
          </a:prstGeom>
          <a:ln w="22225">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Label T4"/>
          <p:cNvSpPr/>
          <p:nvPr/>
        </p:nvSpPr>
        <p:spPr>
          <a:xfrm>
            <a:off x="1408176" y="4270248"/>
            <a:ext cx="749808" cy="237744"/>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T4 match</a:t>
            </a:r>
          </a:p>
        </p:txBody>
      </p:sp>
      <p:cxnSp>
        <p:nvCxnSpPr>
          <p:cNvPr id="40" name="Arrow T5"/>
          <p:cNvCxnSpPr>
            <a:stCxn id="27" idx="2"/>
            <a:endCxn id="31" idx="0"/>
          </p:cNvCxnSpPr>
          <p:nvPr/>
        </p:nvCxnSpPr>
        <p:spPr>
          <a:xfrm>
            <a:off x="4663440" y="4160520"/>
            <a:ext cx="777240" cy="457200"/>
          </a:xfrm>
          <a:prstGeom prst="line">
            <a:avLst/>
          </a:prstGeom>
          <a:ln w="22225">
            <a:solidFill>
              <a:srgbClr val="FBBF2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Label T5"/>
          <p:cNvSpPr/>
          <p:nvPr/>
        </p:nvSpPr>
        <p:spPr>
          <a:xfrm>
            <a:off x="4754879" y="4270248"/>
            <a:ext cx="594360" cy="237744"/>
          </a:xfrm>
          <a:prstGeom prst="roundRect">
            <a:avLst>
              <a:gd name="adj" fmla="val 50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T5 bad</a:t>
            </a:r>
          </a:p>
        </p:txBody>
      </p:sp>
      <p:sp>
        <p:nvSpPr>
          <p:cNvPr id="42" name="Legend key"/>
          <p:cNvSpPr txBox="1"/>
          <p:nvPr/>
        </p:nvSpPr>
        <p:spPr>
          <a:xfrm>
            <a:off x="457200" y="5349240"/>
            <a:ext cx="11247120" cy="201168"/>
          </a:xfrm>
          <a:prstGeom prst="rect">
            <a:avLst/>
          </a:prstGeom>
          <a:noFill/>
        </p:spPr>
        <p:txBody>
          <a:bodyPr wrap="square" anchor="t" lIns="36576" rIns="36576" tIns="18288" bIns="18288">
            <a:spAutoFit/>
          </a:bodyPr>
          <a:lstStyle/>
          <a:p>
            <a:r>
              <a:rPr sz="1000" b="0" i="1">
                <a:solidFill>
                  <a:srgbClr val="A9B8CC"/>
                </a:solidFill>
                <a:latin typeface="Calibri"/>
              </a:rPr>
              <a:t>Solid = verified · dashed = conceptual / unverified · amber = fallback</a:t>
            </a:r>
          </a:p>
        </p:txBody>
      </p:sp>
      <p:sp>
        <p:nvSpPr>
          <p:cNvPr id="43" name="Legend 1"/>
          <p:cNvSpPr txBox="1"/>
          <p:nvPr/>
        </p:nvSpPr>
        <p:spPr>
          <a:xfrm>
            <a:off x="457200" y="5550407"/>
            <a:ext cx="5532120" cy="1051560"/>
          </a:xfrm>
          <a:prstGeom prst="rect">
            <a:avLst/>
          </a:prstGeom>
          <a:noFill/>
        </p:spPr>
        <p:txBody>
          <a:bodyPr wrap="square" anchor="t" lIns="36576" rIns="36576" tIns="18288" bIns="18288">
            <a:spAutoFit/>
          </a:bodyPr>
          <a:lstStyle/>
          <a:p>
            <a:r>
              <a:rPr sz="1000" b="1" i="0">
                <a:solidFill>
                  <a:srgbClr val="2DD4BF"/>
                </a:solidFill>
                <a:latin typeface="Calibri"/>
              </a:rPr>
              <a:t>T1</a:t>
            </a:r>
            <a:r>
              <a:rPr sz="1000" b="0" i="0">
                <a:solidFill>
                  <a:srgbClr val="A9B8CC"/>
                </a:solidFill>
                <a:latin typeface="Calibri"/>
              </a:rPr>
              <a:t>  [10]→[11]  </a:t>
            </a:r>
            <a:r>
              <a:rPr sz="1000" b="0" i="0">
                <a:solidFill>
                  <a:srgbClr val="E8EEF6"/>
                </a:solidFill>
                <a:latin typeface="Calibri"/>
              </a:rPr>
              <a:t>next = N1 (offset from packet start)</a:t>
            </a:r>
          </a:p>
          <a:p>
            <a:r>
              <a:rPr sz="1000" b="1" i="0">
                <a:solidFill>
                  <a:srgbClr val="2DD4BF"/>
                </a:solidFill>
                <a:latin typeface="Calibri"/>
              </a:rPr>
              <a:t>T2</a:t>
            </a:r>
            <a:r>
              <a:rPr sz="1000" b="0" i="0">
                <a:solidFill>
                  <a:srgbClr val="A9B8CC"/>
                </a:solidFill>
                <a:latin typeface="Calibri"/>
              </a:rPr>
              <a:t>  [11]→[12]  </a:t>
            </a:r>
            <a:r>
              <a:rPr sz="1000" b="0" i="0">
                <a:solidFill>
                  <a:srgbClr val="E8EEF6"/>
                </a:solidFill>
                <a:latin typeface="Calibri"/>
              </a:rPr>
              <a:t>next = N2</a:t>
            </a:r>
          </a:p>
          <a:p>
            <a:r>
              <a:rPr sz="1000" b="1" i="0">
                <a:solidFill>
                  <a:srgbClr val="2DD4BF"/>
                </a:solidFill>
                <a:latin typeface="Calibri"/>
              </a:rPr>
              <a:t>T3</a:t>
            </a:r>
            <a:r>
              <a:rPr sz="1000" b="0" i="0">
                <a:solidFill>
                  <a:srgbClr val="A9B8CC"/>
                </a:solidFill>
                <a:latin typeface="Calibri"/>
              </a:rPr>
              <a:t>  [12]→[13]  </a:t>
            </a:r>
            <a:r>
              <a:rPr sz="1000" b="0" i="0">
                <a:solidFill>
                  <a:srgbClr val="E8EEF6"/>
                </a:solidFill>
                <a:latin typeface="Calibri"/>
              </a:rPr>
              <a:t>next = 0 ends the chain</a:t>
            </a:r>
          </a:p>
        </p:txBody>
      </p:sp>
      <p:sp>
        <p:nvSpPr>
          <p:cNvPr id="44" name="Legend 2"/>
          <p:cNvSpPr txBox="1"/>
          <p:nvPr/>
        </p:nvSpPr>
        <p:spPr>
          <a:xfrm>
            <a:off x="6080760" y="5550407"/>
            <a:ext cx="5532120" cy="1051560"/>
          </a:xfrm>
          <a:prstGeom prst="rect">
            <a:avLst/>
          </a:prstGeom>
          <a:noFill/>
        </p:spPr>
        <p:txBody>
          <a:bodyPr wrap="square" anchor="t" lIns="36576" rIns="36576" tIns="18288" bIns="18288">
            <a:spAutoFit/>
          </a:bodyPr>
          <a:lstStyle/>
          <a:p>
            <a:r>
              <a:rPr sz="1000" b="1" i="0">
                <a:solidFill>
                  <a:srgbClr val="2DD4BF"/>
                </a:solidFill>
                <a:latin typeface="Calibri"/>
              </a:rPr>
              <a:t>T4</a:t>
            </a:r>
            <a:r>
              <a:rPr sz="1000" b="0" i="0">
                <a:solidFill>
                  <a:srgbClr val="A9B8CC"/>
                </a:solidFill>
                <a:latin typeface="Calibri"/>
              </a:rPr>
              <a:t>  [10]→[14]  </a:t>
            </a:r>
            <a:r>
              <a:rPr sz="1000" b="0" i="0">
                <a:solidFill>
                  <a:srgbClr val="E8EEF6"/>
                </a:solidFill>
                <a:latin typeface="Calibri"/>
              </a:rPr>
              <a:t>group_type == requested type</a:t>
            </a:r>
          </a:p>
          <a:p>
            <a:r>
              <a:rPr sz="1000" b="1" i="0">
                <a:solidFill>
                  <a:srgbClr val="FBBF24"/>
                </a:solidFill>
                <a:latin typeface="Calibri"/>
              </a:rPr>
              <a:t>T5</a:t>
            </a:r>
            <a:r>
              <a:rPr sz="1000" b="0" i="0">
                <a:solidFill>
                  <a:srgbClr val="A9B8CC"/>
                </a:solidFill>
                <a:latin typeface="Calibri"/>
              </a:rPr>
              <a:t>  [11]→[15]  </a:t>
            </a:r>
            <a:r>
              <a:rPr sz="1000" b="0" i="0">
                <a:solidFill>
                  <a:srgbClr val="E8EEF6"/>
                </a:solidFill>
                <a:latin typeface="Calibri"/>
              </a:rPr>
              <a:t>invalid offset → NULL → callers fall back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626"/>
        </a:solidFill>
        <a:effectLst/>
      </p:bgPr>
    </p:bg>
    <p:spTree>
      <p:nvGrpSpPr>
        <p:cNvPr id="1" name=""/>
        <p:cNvGrpSpPr/>
        <p:nvPr/>
      </p:nvGrpSpPr>
      <p:grpSpPr/>
      <p:sp>
        <p:nvSpPr>
          <p:cNvPr id="2" name="Title"/>
          <p:cNvSpPr txBox="1"/>
          <p:nvPr/>
        </p:nvSpPr>
        <p:spPr>
          <a:xfrm>
            <a:off x="457200" y="274320"/>
            <a:ext cx="11247120" cy="548640"/>
          </a:xfrm>
          <a:prstGeom prst="rect">
            <a:avLst/>
          </a:prstGeom>
          <a:noFill/>
        </p:spPr>
        <p:txBody>
          <a:bodyPr wrap="square" anchor="ctr" lIns="36576" rIns="36576" tIns="18288" bIns="18288">
            <a:spAutoFit/>
          </a:bodyPr>
          <a:lstStyle/>
          <a:p>
            <a:r>
              <a:rPr sz="2400" b="1" i="0">
                <a:solidFill>
                  <a:srgbClr val="E8EEF6"/>
                </a:solidFill>
                <a:latin typeface="Calibri"/>
              </a:rPr>
              <a:t>API Call Flow: Cached Reads, Parsing and Fallback</a:t>
            </a:r>
          </a:p>
        </p:txBody>
      </p:sp>
      <p:sp>
        <p:nvSpPr>
          <p:cNvPr id="3" name="Source"/>
          <p:cNvSpPr txBox="1"/>
          <p:nvPr/>
        </p:nvSpPr>
        <p:spPr>
          <a:xfrm>
            <a:off x="457200" y="6473952"/>
            <a:ext cx="10424160" cy="256032"/>
          </a:xfrm>
          <a:prstGeom prst="rect">
            <a:avLst/>
          </a:prstGeom>
          <a:noFill/>
        </p:spPr>
        <p:txBody>
          <a:bodyPr wrap="square" anchor="t" lIns="36576" rIns="36576" tIns="18288" bIns="18288">
            <a:spAutoFit/>
          </a:bodyPr>
          <a:lstStyle/>
          <a:p>
            <a:r>
              <a:rPr sz="1000" b="0" i="0">
                <a:solidFill>
                  <a:srgbClr val="A9B8CC"/>
                </a:solidFill>
                <a:latin typeface="Calibri"/>
              </a:rPr>
              <a:t>Source: drivers/ufs/core/ufshcd.c (P2) — ufshcd_read_attr(), ufshcd_read_flag(), ufshcd_read_desc_param(), ufshcd_agg_*(); acquire path: see D4 (slide 6) and D11/D9 (slide 7)</a:t>
            </a:r>
          </a:p>
        </p:txBody>
      </p:sp>
      <p:sp>
        <p:nvSpPr>
          <p:cNvPr id="4" name="Slide Number"/>
          <p:cNvSpPr txBox="1"/>
          <p:nvPr/>
        </p:nvSpPr>
        <p:spPr>
          <a:xfrm>
            <a:off x="11064240" y="6473952"/>
            <a:ext cx="685800" cy="256032"/>
          </a:xfrm>
          <a:prstGeom prst="rect">
            <a:avLst/>
          </a:prstGeom>
          <a:noFill/>
        </p:spPr>
        <p:txBody>
          <a:bodyPr wrap="none">
            <a:spAutoFit/>
          </a:bodyPr>
          <a:lstStyle/>
          <a:p>
            <a:pPr algn="r"/>
            <a:fld id="{B6F15528-21DE-4FAA-801E-634DDDAF4B2B}" type="slidenum">
              <a:rPr lang="en-US" sz="1100">
                <a:solidFill>
                  <a:srgbClr val="A9B8CC"/>
                </a:solidFill>
                <a:latin typeface="Calibri"/>
              </a:rPr>
              <a:t>9</a:t>
            </a:fld>
          </a:p>
        </p:txBody>
      </p:sp>
      <p:sp>
        <p:nvSpPr>
          <p:cNvPr id="5" name="Block 1"/>
          <p:cNvSpPr/>
          <p:nvPr/>
        </p:nvSpPr>
        <p:spPr>
          <a:xfrm>
            <a:off x="457200" y="1188720"/>
            <a:ext cx="2926080" cy="731520"/>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2DD4BF"/>
                </a:solidFill>
                <a:latin typeface="Calibri"/>
              </a:rPr>
              <a:t>[1] </a:t>
            </a:r>
            <a:r>
              <a:rPr sz="1000" b="1" i="0">
                <a:solidFill>
                  <a:srgbClr val="E8EEF6"/>
                </a:solidFill>
                <a:latin typeface="Calibri"/>
              </a:rPr>
              <a:t>Attribute readers</a:t>
            </a:r>
          </a:p>
          <a:p>
            <a:r>
              <a:rPr sz="1000" b="0" i="0">
                <a:solidFill>
                  <a:srgbClr val="A9B8CC"/>
                </a:solidFill>
                <a:latin typeface="Calibri"/>
              </a:rPr>
              <a:t>ufshcd_get_ref_clk_gating_wait()</a:t>
            </a:r>
          </a:p>
          <a:p>
            <a:r>
              <a:rPr sz="1000" b="0" i="0">
                <a:solidFill>
                  <a:srgbClr val="A9B8CC"/>
                </a:solidFill>
                <a:latin typeface="Calibri"/>
              </a:rPr>
              <a:t>ufshcd_set_rtt()</a:t>
            </a:r>
          </a:p>
          <a:p>
            <a:r>
              <a:rPr sz="1000" b="0" i="0">
                <a:solidFill>
                  <a:srgbClr val="A9B8CC"/>
                </a:solidFill>
                <a:latin typeface="Calibri"/>
              </a:rPr>
              <a:t>ufshcd_is_wb_buf_lifetime_available()</a:t>
            </a:r>
          </a:p>
        </p:txBody>
      </p:sp>
      <p:sp>
        <p:nvSpPr>
          <p:cNvPr id="6" name="Block 2"/>
          <p:cNvSpPr/>
          <p:nvPr/>
        </p:nvSpPr>
        <p:spPr>
          <a:xfrm>
            <a:off x="3931920" y="1188720"/>
            <a:ext cx="2286000" cy="731520"/>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2DD4BF"/>
                </a:solidFill>
                <a:latin typeface="Calibri"/>
              </a:rPr>
              <a:t>[2] </a:t>
            </a:r>
            <a:r>
              <a:rPr sz="1000" b="1" i="0">
                <a:solidFill>
                  <a:srgbClr val="E8EEF6"/>
                </a:solidFill>
                <a:latin typeface="Calibri"/>
              </a:rPr>
              <a:t>ufshcd_read_attr()</a:t>
            </a:r>
          </a:p>
          <a:p>
            <a:r>
              <a:rPr sz="1000" b="0" i="0">
                <a:solidFill>
                  <a:srgbClr val="A9B8CC"/>
                </a:solidFill>
                <a:latin typeface="Calibri"/>
              </a:rPr>
              <a:t>cache only if index == 0</a:t>
            </a:r>
          </a:p>
        </p:txBody>
      </p:sp>
      <p:sp>
        <p:nvSpPr>
          <p:cNvPr id="7" name="Block 3"/>
          <p:cNvSpPr/>
          <p:nvPr/>
        </p:nvSpPr>
        <p:spPr>
          <a:xfrm>
            <a:off x="6766560" y="1188720"/>
            <a:ext cx="2103120" cy="731520"/>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2DD4BF"/>
                </a:solidFill>
                <a:latin typeface="Calibri"/>
              </a:rPr>
              <a:t>[3] </a:t>
            </a:r>
            <a:r>
              <a:rPr sz="1000" b="1" i="0">
                <a:solidFill>
                  <a:srgbClr val="E8EEF6"/>
                </a:solidFill>
                <a:latin typeface="Calibri"/>
              </a:rPr>
              <a:t>ufshcd_agg_attr()</a:t>
            </a:r>
          </a:p>
          <a:p>
            <a:r>
              <a:rPr sz="1000" b="0" i="0">
                <a:solidFill>
                  <a:srgbClr val="A9B8CC"/>
                </a:solidFill>
                <a:latin typeface="Calibri"/>
              </a:rPr>
              <a:t>ufs_agg_attr_width[]</a:t>
            </a:r>
          </a:p>
        </p:txBody>
      </p:sp>
      <p:sp>
        <p:nvSpPr>
          <p:cNvPr id="8" name="Block 4"/>
          <p:cNvSpPr/>
          <p:nvPr/>
        </p:nvSpPr>
        <p:spPr>
          <a:xfrm>
            <a:off x="9418320" y="1188720"/>
            <a:ext cx="2286000" cy="3657600"/>
          </a:xfrm>
          <a:prstGeom prst="roundRect">
            <a:avLst>
              <a:gd name="adj" fmla="val 10000"/>
            </a:avLst>
          </a:prstGeom>
          <a:solidFill>
            <a:srgbClr val="1B304D"/>
          </a:solidFill>
          <a:ln w="15875">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2DD4BF"/>
                </a:solidFill>
                <a:latin typeface="Calibri"/>
              </a:rPr>
              <a:t>[4] </a:t>
            </a:r>
            <a:r>
              <a:rPr sz="1100" b="1" i="0">
                <a:solidFill>
                  <a:srgbClr val="E8EEF6"/>
                </a:solidFill>
                <a:latin typeface="Calibri"/>
              </a:rPr>
              <a:t>ufshcd_agg_group()</a:t>
            </a:r>
          </a:p>
          <a:p>
            <a:r>
              <a:rPr sz="1000" b="0" i="0">
                <a:solidFill>
                  <a:srgbClr val="A9B8CC"/>
                </a:solidFill>
                <a:latin typeface="Calibri"/>
              </a:rPr>
              <a:t>walks hba-&gt;agg_packet</a:t>
            </a:r>
          </a:p>
          <a:p>
            <a:r>
              <a:rPr sz="1000" b="0" i="0">
                <a:solidFill>
                  <a:srgbClr val="A9B8CC"/>
                </a:solidFill>
                <a:latin typeface="Calibri"/>
              </a:rPr>
              <a:t>returns payload + group_len, or NULL</a:t>
            </a:r>
          </a:p>
        </p:txBody>
      </p:sp>
      <p:sp>
        <p:nvSpPr>
          <p:cNvPr id="9" name="Block 5"/>
          <p:cNvSpPr/>
          <p:nvPr/>
        </p:nvSpPr>
        <p:spPr>
          <a:xfrm>
            <a:off x="3931920" y="2148840"/>
            <a:ext cx="2286000" cy="384048"/>
          </a:xfrm>
          <a:prstGeom prst="roundRect">
            <a:avLst>
              <a:gd name="adj" fmla="val 10000"/>
            </a:avLst>
          </a:prstGeom>
          <a:solidFill>
            <a:srgbClr val="1B304D"/>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2DD4BF"/>
                </a:solidFill>
                <a:latin typeface="Calibri"/>
              </a:rPr>
              <a:t>[5] </a:t>
            </a:r>
            <a:r>
              <a:rPr sz="1000" b="1" i="0">
                <a:solidFill>
                  <a:srgbClr val="E8EEF6"/>
                </a:solidFill>
                <a:latin typeface="Calibri"/>
              </a:rPr>
              <a:t>ufshcd_query_attr_retry()</a:t>
            </a:r>
          </a:p>
        </p:txBody>
      </p:sp>
      <p:sp>
        <p:nvSpPr>
          <p:cNvPr id="10" name="Block 6"/>
          <p:cNvSpPr/>
          <p:nvPr/>
        </p:nvSpPr>
        <p:spPr>
          <a:xfrm>
            <a:off x="457200" y="2651760"/>
            <a:ext cx="2926080" cy="731520"/>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2DD4BF"/>
                </a:solidFill>
                <a:latin typeface="Calibri"/>
              </a:rPr>
              <a:t>[6] </a:t>
            </a:r>
            <a:r>
              <a:rPr sz="1000" b="1" i="0">
                <a:solidFill>
                  <a:srgbClr val="E8EEF6"/>
                </a:solidFill>
                <a:latin typeface="Calibri"/>
              </a:rPr>
              <a:t>Flag reader</a:t>
            </a:r>
          </a:p>
          <a:p>
            <a:r>
              <a:rPr sz="1000" b="0" i="0">
                <a:solidFill>
                  <a:srgbClr val="A9B8CC"/>
                </a:solidFill>
                <a:latin typeface="Calibri"/>
              </a:rPr>
              <a:t>ufshcd_device_params_init()</a:t>
            </a:r>
          </a:p>
        </p:txBody>
      </p:sp>
      <p:sp>
        <p:nvSpPr>
          <p:cNvPr id="11" name="Block 7"/>
          <p:cNvSpPr/>
          <p:nvPr/>
        </p:nvSpPr>
        <p:spPr>
          <a:xfrm>
            <a:off x="3931920" y="2651760"/>
            <a:ext cx="2286000" cy="731520"/>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2DD4BF"/>
                </a:solidFill>
                <a:latin typeface="Calibri"/>
              </a:rPr>
              <a:t>[7] </a:t>
            </a:r>
            <a:r>
              <a:rPr sz="1000" b="1" i="0">
                <a:solidFill>
                  <a:srgbClr val="E8EEF6"/>
                </a:solidFill>
                <a:latin typeface="Calibri"/>
              </a:rPr>
              <a:t>ufshcd_read_flag()</a:t>
            </a:r>
          </a:p>
        </p:txBody>
      </p:sp>
      <p:sp>
        <p:nvSpPr>
          <p:cNvPr id="12" name="Block 8"/>
          <p:cNvSpPr/>
          <p:nvPr/>
        </p:nvSpPr>
        <p:spPr>
          <a:xfrm>
            <a:off x="6766560" y="2651760"/>
            <a:ext cx="2103120" cy="731520"/>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2DD4BF"/>
                </a:solidFill>
                <a:latin typeface="Calibri"/>
              </a:rPr>
              <a:t>[8] </a:t>
            </a:r>
            <a:r>
              <a:rPr sz="1000" b="1" i="0">
                <a:solidFill>
                  <a:srgbClr val="E8EEF6"/>
                </a:solidFill>
                <a:latin typeface="Calibri"/>
              </a:rPr>
              <a:t>ufshcd_agg_flag()</a:t>
            </a:r>
          </a:p>
          <a:p>
            <a:r>
              <a:rPr sz="1000" b="0" i="0">
                <a:solidFill>
                  <a:srgbClr val="A9B8CC"/>
                </a:solidFill>
                <a:latin typeface="Calibri"/>
              </a:rPr>
              <a:t>group_buf[idn]</a:t>
            </a:r>
          </a:p>
        </p:txBody>
      </p:sp>
      <p:sp>
        <p:nvSpPr>
          <p:cNvPr id="13" name="Block 9"/>
          <p:cNvSpPr/>
          <p:nvPr/>
        </p:nvSpPr>
        <p:spPr>
          <a:xfrm>
            <a:off x="3931920" y="3611880"/>
            <a:ext cx="2286000" cy="384048"/>
          </a:xfrm>
          <a:prstGeom prst="roundRect">
            <a:avLst>
              <a:gd name="adj" fmla="val 10000"/>
            </a:avLst>
          </a:prstGeom>
          <a:solidFill>
            <a:srgbClr val="1B304D"/>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2DD4BF"/>
                </a:solidFill>
                <a:latin typeface="Calibri"/>
              </a:rPr>
              <a:t>[9] </a:t>
            </a:r>
            <a:r>
              <a:rPr sz="1000" b="1" i="0">
                <a:solidFill>
                  <a:srgbClr val="E8EEF6"/>
                </a:solidFill>
                <a:latin typeface="Calibri"/>
              </a:rPr>
              <a:t>ufshcd_query_flag_retry()</a:t>
            </a:r>
          </a:p>
        </p:txBody>
      </p:sp>
      <p:sp>
        <p:nvSpPr>
          <p:cNvPr id="14" name="Block 10"/>
          <p:cNvSpPr/>
          <p:nvPr/>
        </p:nvSpPr>
        <p:spPr>
          <a:xfrm>
            <a:off x="457200" y="4114800"/>
            <a:ext cx="2926080" cy="731520"/>
          </a:xfrm>
          <a:prstGeom prst="roundRect">
            <a:avLst>
              <a:gd name="adj" fmla="val 10000"/>
            </a:avLst>
          </a:prstGeom>
          <a:solidFill>
            <a:srgbClr val="1B304D"/>
          </a:solidFill>
          <a:ln w="15875">
            <a:solidFill>
              <a:srgbClr val="A9B8C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2DD4BF"/>
                </a:solidFill>
                <a:latin typeface="Calibri"/>
              </a:rPr>
              <a:t>[10] </a:t>
            </a:r>
            <a:r>
              <a:rPr sz="1000" b="1" i="0">
                <a:solidFill>
                  <a:srgbClr val="E8EEF6"/>
                </a:solidFill>
                <a:latin typeface="Calibri"/>
              </a:rPr>
              <a:t>String readers (not in diff)</a:t>
            </a:r>
          </a:p>
          <a:p>
            <a:r>
              <a:rPr sz="1000" b="0" i="0">
                <a:solidFill>
                  <a:srgbClr val="A9B8CC"/>
                </a:solidFill>
                <a:latin typeface="Calibri"/>
              </a:rPr>
              <a:t>named in commit message</a:t>
            </a:r>
          </a:p>
        </p:txBody>
      </p:sp>
      <p:sp>
        <p:nvSpPr>
          <p:cNvPr id="15" name="Block 11"/>
          <p:cNvSpPr/>
          <p:nvPr/>
        </p:nvSpPr>
        <p:spPr>
          <a:xfrm>
            <a:off x="3931920" y="4114800"/>
            <a:ext cx="2286000" cy="731520"/>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2DD4BF"/>
                </a:solidFill>
                <a:latin typeface="Calibri"/>
              </a:rPr>
              <a:t>[11] </a:t>
            </a:r>
            <a:r>
              <a:rPr sz="1000" b="1" i="0">
                <a:solidFill>
                  <a:srgbClr val="E8EEF6"/>
                </a:solidFill>
                <a:latin typeface="Calibri"/>
              </a:rPr>
              <a:t>ufshcd_read_desc_param()</a:t>
            </a:r>
          </a:p>
        </p:txBody>
      </p:sp>
      <p:sp>
        <p:nvSpPr>
          <p:cNvPr id="16" name="Block 12"/>
          <p:cNvSpPr/>
          <p:nvPr/>
        </p:nvSpPr>
        <p:spPr>
          <a:xfrm>
            <a:off x="6766560" y="4114800"/>
            <a:ext cx="2103120" cy="731520"/>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2DD4BF"/>
                </a:solidFill>
                <a:latin typeface="Calibri"/>
              </a:rPr>
              <a:t>[12] </a:t>
            </a:r>
            <a:r>
              <a:rPr sz="1000" b="1" i="0">
                <a:solidFill>
                  <a:srgbClr val="E8EEF6"/>
                </a:solidFill>
                <a:latin typeface="Calibri"/>
              </a:rPr>
              <a:t>ufshcd_agg_desc()</a:t>
            </a:r>
          </a:p>
          <a:p>
            <a:r>
              <a:rPr sz="1000" b="0" i="0">
                <a:solidFill>
                  <a:srgbClr val="A9B8CC"/>
                </a:solidFill>
                <a:latin typeface="Calibri"/>
              </a:rPr>
              <a:t>→ ufshcd_agg_string()</a:t>
            </a:r>
          </a:p>
        </p:txBody>
      </p:sp>
      <p:sp>
        <p:nvSpPr>
          <p:cNvPr id="17" name="Block 13"/>
          <p:cNvSpPr/>
          <p:nvPr/>
        </p:nvSpPr>
        <p:spPr>
          <a:xfrm>
            <a:off x="3931920" y="5074920"/>
            <a:ext cx="2286000" cy="384048"/>
          </a:xfrm>
          <a:prstGeom prst="roundRect">
            <a:avLst>
              <a:gd name="adj" fmla="val 10000"/>
            </a:avLst>
          </a:prstGeom>
          <a:solidFill>
            <a:srgbClr val="1B304D"/>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2DD4BF"/>
                </a:solidFill>
                <a:latin typeface="Calibri"/>
              </a:rPr>
              <a:t>[13] </a:t>
            </a:r>
            <a:r>
              <a:rPr sz="1000" b="1" i="0">
                <a:solidFill>
                  <a:srgbClr val="E8EEF6"/>
                </a:solidFill>
                <a:latin typeface="Calibri"/>
              </a:rPr>
              <a:t>ufshcd_query_descriptor_retry()</a:t>
            </a:r>
          </a:p>
        </p:txBody>
      </p:sp>
      <p:cxnSp>
        <p:nvCxnSpPr>
          <p:cNvPr id="18" name="Arrow A1"/>
          <p:cNvCxnSpPr>
            <a:stCxn id="5" idx="3"/>
            <a:endCxn id="6" idx="1"/>
          </p:cNvCxnSpPr>
          <p:nvPr/>
        </p:nvCxnSpPr>
        <p:spPr>
          <a:xfrm>
            <a:off x="3383280" y="1554480"/>
            <a:ext cx="548640" cy="0"/>
          </a:xfrm>
          <a:prstGeom prst="line">
            <a:avLst/>
          </a:prstGeom>
          <a:ln w="22225">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Label A1"/>
          <p:cNvSpPr/>
          <p:nvPr/>
        </p:nvSpPr>
        <p:spPr>
          <a:xfrm>
            <a:off x="3483864" y="1435608"/>
            <a:ext cx="347472" cy="237744"/>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A1</a:t>
            </a:r>
          </a:p>
        </p:txBody>
      </p:sp>
      <p:cxnSp>
        <p:nvCxnSpPr>
          <p:cNvPr id="20" name="Arrow A2"/>
          <p:cNvCxnSpPr>
            <a:stCxn id="6" idx="3"/>
            <a:endCxn id="7" idx="1"/>
          </p:cNvCxnSpPr>
          <p:nvPr/>
        </p:nvCxnSpPr>
        <p:spPr>
          <a:xfrm>
            <a:off x="6217920" y="1554480"/>
            <a:ext cx="548640" cy="0"/>
          </a:xfrm>
          <a:prstGeom prst="line">
            <a:avLst/>
          </a:prstGeom>
          <a:ln w="22225">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Label A2"/>
          <p:cNvSpPr/>
          <p:nvPr/>
        </p:nvSpPr>
        <p:spPr>
          <a:xfrm>
            <a:off x="6318503" y="1435608"/>
            <a:ext cx="347472" cy="237744"/>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A2</a:t>
            </a:r>
          </a:p>
        </p:txBody>
      </p:sp>
      <p:cxnSp>
        <p:nvCxnSpPr>
          <p:cNvPr id="22" name="Arrow A3"/>
          <p:cNvCxnSpPr>
            <a:stCxn id="7" idx="3"/>
          </p:cNvCxnSpPr>
          <p:nvPr/>
        </p:nvCxnSpPr>
        <p:spPr>
          <a:xfrm>
            <a:off x="8869680" y="1554480"/>
            <a:ext cx="548640" cy="0"/>
          </a:xfrm>
          <a:prstGeom prst="line">
            <a:avLst/>
          </a:prstGeom>
          <a:ln w="22225">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Label A3"/>
          <p:cNvSpPr/>
          <p:nvPr/>
        </p:nvSpPr>
        <p:spPr>
          <a:xfrm>
            <a:off x="8970264" y="1435608"/>
            <a:ext cx="347472" cy="237744"/>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A3</a:t>
            </a:r>
          </a:p>
        </p:txBody>
      </p:sp>
      <p:cxnSp>
        <p:nvCxnSpPr>
          <p:cNvPr id="24" name="Arrow A4"/>
          <p:cNvCxnSpPr>
            <a:stCxn id="6" idx="2"/>
            <a:endCxn id="9" idx="0"/>
          </p:cNvCxnSpPr>
          <p:nvPr/>
        </p:nvCxnSpPr>
        <p:spPr>
          <a:xfrm>
            <a:off x="5074920" y="1920240"/>
            <a:ext cx="0" cy="228600"/>
          </a:xfrm>
          <a:prstGeom prst="line">
            <a:avLst/>
          </a:prstGeom>
          <a:ln w="22225">
            <a:solidFill>
              <a:srgbClr val="FBBF2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Label A4"/>
          <p:cNvSpPr/>
          <p:nvPr/>
        </p:nvSpPr>
        <p:spPr>
          <a:xfrm>
            <a:off x="4738878" y="1915668"/>
            <a:ext cx="672084" cy="237744"/>
          </a:xfrm>
          <a:prstGeom prst="roundRect">
            <a:avLst>
              <a:gd name="adj" fmla="val 50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A4 miss</a:t>
            </a:r>
          </a:p>
        </p:txBody>
      </p:sp>
      <p:cxnSp>
        <p:nvCxnSpPr>
          <p:cNvPr id="26" name="Arrow A5"/>
          <p:cNvCxnSpPr>
            <a:stCxn id="10" idx="3"/>
            <a:endCxn id="11" idx="1"/>
          </p:cNvCxnSpPr>
          <p:nvPr/>
        </p:nvCxnSpPr>
        <p:spPr>
          <a:xfrm>
            <a:off x="3383280" y="3017520"/>
            <a:ext cx="548640" cy="0"/>
          </a:xfrm>
          <a:prstGeom prst="line">
            <a:avLst/>
          </a:prstGeom>
          <a:ln w="22225">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Label A5"/>
          <p:cNvSpPr/>
          <p:nvPr/>
        </p:nvSpPr>
        <p:spPr>
          <a:xfrm>
            <a:off x="3483864" y="2898648"/>
            <a:ext cx="347472" cy="237744"/>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A5</a:t>
            </a:r>
          </a:p>
        </p:txBody>
      </p:sp>
      <p:cxnSp>
        <p:nvCxnSpPr>
          <p:cNvPr id="28" name="Arrow A6"/>
          <p:cNvCxnSpPr>
            <a:stCxn id="11" idx="3"/>
            <a:endCxn id="12" idx="1"/>
          </p:cNvCxnSpPr>
          <p:nvPr/>
        </p:nvCxnSpPr>
        <p:spPr>
          <a:xfrm>
            <a:off x="6217920" y="3017520"/>
            <a:ext cx="548640" cy="0"/>
          </a:xfrm>
          <a:prstGeom prst="line">
            <a:avLst/>
          </a:prstGeom>
          <a:ln w="22225">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Label A6"/>
          <p:cNvSpPr/>
          <p:nvPr/>
        </p:nvSpPr>
        <p:spPr>
          <a:xfrm>
            <a:off x="6318503" y="2898648"/>
            <a:ext cx="347472" cy="237744"/>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A6</a:t>
            </a:r>
          </a:p>
        </p:txBody>
      </p:sp>
      <p:cxnSp>
        <p:nvCxnSpPr>
          <p:cNvPr id="30" name="Arrow A7"/>
          <p:cNvCxnSpPr>
            <a:stCxn id="12" idx="3"/>
          </p:cNvCxnSpPr>
          <p:nvPr/>
        </p:nvCxnSpPr>
        <p:spPr>
          <a:xfrm>
            <a:off x="8869680" y="3017520"/>
            <a:ext cx="548640" cy="0"/>
          </a:xfrm>
          <a:prstGeom prst="line">
            <a:avLst/>
          </a:prstGeom>
          <a:ln w="22225">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Label A7"/>
          <p:cNvSpPr/>
          <p:nvPr/>
        </p:nvSpPr>
        <p:spPr>
          <a:xfrm>
            <a:off x="8970264" y="2898648"/>
            <a:ext cx="347472" cy="237744"/>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A7</a:t>
            </a:r>
          </a:p>
        </p:txBody>
      </p:sp>
      <p:cxnSp>
        <p:nvCxnSpPr>
          <p:cNvPr id="32" name="Arrow A8"/>
          <p:cNvCxnSpPr>
            <a:stCxn id="11" idx="2"/>
            <a:endCxn id="13" idx="0"/>
          </p:cNvCxnSpPr>
          <p:nvPr/>
        </p:nvCxnSpPr>
        <p:spPr>
          <a:xfrm>
            <a:off x="5074920" y="3383280"/>
            <a:ext cx="0" cy="228600"/>
          </a:xfrm>
          <a:prstGeom prst="line">
            <a:avLst/>
          </a:prstGeom>
          <a:ln w="22225">
            <a:solidFill>
              <a:srgbClr val="FBBF2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Label A8"/>
          <p:cNvSpPr/>
          <p:nvPr/>
        </p:nvSpPr>
        <p:spPr>
          <a:xfrm>
            <a:off x="4738878" y="3378708"/>
            <a:ext cx="672084" cy="237744"/>
          </a:xfrm>
          <a:prstGeom prst="roundRect">
            <a:avLst>
              <a:gd name="adj" fmla="val 50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A8 miss</a:t>
            </a:r>
          </a:p>
        </p:txBody>
      </p:sp>
      <p:cxnSp>
        <p:nvCxnSpPr>
          <p:cNvPr id="34" name="Arrow A9"/>
          <p:cNvCxnSpPr>
            <a:stCxn id="14" idx="3"/>
            <a:endCxn id="15" idx="1"/>
          </p:cNvCxnSpPr>
          <p:nvPr/>
        </p:nvCxnSpPr>
        <p:spPr>
          <a:xfrm>
            <a:off x="3383280" y="4480560"/>
            <a:ext cx="548640" cy="0"/>
          </a:xfrm>
          <a:prstGeom prst="line">
            <a:avLst/>
          </a:prstGeom>
          <a:ln w="22225">
            <a:solidFill>
              <a:srgbClr val="A9B8C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5" name="Label A9"/>
          <p:cNvSpPr/>
          <p:nvPr/>
        </p:nvSpPr>
        <p:spPr>
          <a:xfrm>
            <a:off x="3483864" y="4361688"/>
            <a:ext cx="347472" cy="237744"/>
          </a:xfrm>
          <a:prstGeom prst="roundRect">
            <a:avLst>
              <a:gd name="adj" fmla="val 50000"/>
            </a:avLst>
          </a:prstGeom>
          <a:solidFill>
            <a:srgbClr val="A9B8CC"/>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A9</a:t>
            </a:r>
          </a:p>
        </p:txBody>
      </p:sp>
      <p:cxnSp>
        <p:nvCxnSpPr>
          <p:cNvPr id="36" name="Arrow A10"/>
          <p:cNvCxnSpPr>
            <a:stCxn id="15" idx="3"/>
            <a:endCxn id="16" idx="1"/>
          </p:cNvCxnSpPr>
          <p:nvPr/>
        </p:nvCxnSpPr>
        <p:spPr>
          <a:xfrm>
            <a:off x="6217920" y="4480560"/>
            <a:ext cx="548640" cy="0"/>
          </a:xfrm>
          <a:prstGeom prst="line">
            <a:avLst/>
          </a:prstGeom>
          <a:ln w="22225">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Label A10"/>
          <p:cNvSpPr/>
          <p:nvPr/>
        </p:nvSpPr>
        <p:spPr>
          <a:xfrm>
            <a:off x="6311646" y="4361688"/>
            <a:ext cx="361188" cy="237744"/>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A10</a:t>
            </a:r>
          </a:p>
        </p:txBody>
      </p:sp>
      <p:cxnSp>
        <p:nvCxnSpPr>
          <p:cNvPr id="38" name="Arrow A11"/>
          <p:cNvCxnSpPr>
            <a:stCxn id="16" idx="3"/>
          </p:cNvCxnSpPr>
          <p:nvPr/>
        </p:nvCxnSpPr>
        <p:spPr>
          <a:xfrm>
            <a:off x="8869680" y="4480560"/>
            <a:ext cx="548640" cy="0"/>
          </a:xfrm>
          <a:prstGeom prst="line">
            <a:avLst/>
          </a:prstGeom>
          <a:ln w="22225">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Label A11"/>
          <p:cNvSpPr/>
          <p:nvPr/>
        </p:nvSpPr>
        <p:spPr>
          <a:xfrm>
            <a:off x="8963406" y="4361688"/>
            <a:ext cx="361188" cy="237744"/>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A11</a:t>
            </a:r>
          </a:p>
        </p:txBody>
      </p:sp>
      <p:cxnSp>
        <p:nvCxnSpPr>
          <p:cNvPr id="40" name="Arrow A12"/>
          <p:cNvCxnSpPr>
            <a:stCxn id="15" idx="2"/>
            <a:endCxn id="17" idx="0"/>
          </p:cNvCxnSpPr>
          <p:nvPr/>
        </p:nvCxnSpPr>
        <p:spPr>
          <a:xfrm>
            <a:off x="5074920" y="4846320"/>
            <a:ext cx="0" cy="228600"/>
          </a:xfrm>
          <a:prstGeom prst="line">
            <a:avLst/>
          </a:prstGeom>
          <a:ln w="22225">
            <a:solidFill>
              <a:srgbClr val="FBBF2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Label A12"/>
          <p:cNvSpPr/>
          <p:nvPr/>
        </p:nvSpPr>
        <p:spPr>
          <a:xfrm>
            <a:off x="4700016" y="4841748"/>
            <a:ext cx="749808" cy="237744"/>
          </a:xfrm>
          <a:prstGeom prst="roundRect">
            <a:avLst>
              <a:gd name="adj" fmla="val 50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A12 miss</a:t>
            </a:r>
          </a:p>
        </p:txBody>
      </p:sp>
      <p:sp>
        <p:nvSpPr>
          <p:cNvPr id="42" name="Legend key"/>
          <p:cNvSpPr txBox="1"/>
          <p:nvPr/>
        </p:nvSpPr>
        <p:spPr>
          <a:xfrm>
            <a:off x="457200" y="5532120"/>
            <a:ext cx="11247120" cy="201168"/>
          </a:xfrm>
          <a:prstGeom prst="rect">
            <a:avLst/>
          </a:prstGeom>
          <a:noFill/>
        </p:spPr>
        <p:txBody>
          <a:bodyPr wrap="square" anchor="t" lIns="36576" rIns="36576" tIns="18288" bIns="18288">
            <a:spAutoFit/>
          </a:bodyPr>
          <a:lstStyle/>
          <a:p>
            <a:r>
              <a:rPr sz="1000" b="0" i="1">
                <a:solidFill>
                  <a:srgbClr val="A9B8CC"/>
                </a:solidFill>
                <a:latin typeface="Calibri"/>
              </a:rPr>
              <a:t>Solid = verified · dashed = conceptual / unverified · amber = fallback</a:t>
            </a:r>
          </a:p>
        </p:txBody>
      </p:sp>
      <p:sp>
        <p:nvSpPr>
          <p:cNvPr id="43" name="Legend 1"/>
          <p:cNvSpPr txBox="1"/>
          <p:nvPr/>
        </p:nvSpPr>
        <p:spPr>
          <a:xfrm>
            <a:off x="457200" y="5733288"/>
            <a:ext cx="3657600" cy="868680"/>
          </a:xfrm>
          <a:prstGeom prst="rect">
            <a:avLst/>
          </a:prstGeom>
          <a:noFill/>
        </p:spPr>
        <p:txBody>
          <a:bodyPr wrap="square" anchor="t" lIns="36576" rIns="36576" tIns="18288" bIns="18288">
            <a:spAutoFit/>
          </a:bodyPr>
          <a:lstStyle/>
          <a:p>
            <a:r>
              <a:rPr sz="1000" b="1" i="0">
                <a:solidFill>
                  <a:srgbClr val="2DD4BF"/>
                </a:solidFill>
                <a:latin typeface="Calibri"/>
              </a:rPr>
              <a:t>A1</a:t>
            </a:r>
            <a:r>
              <a:rPr sz="1000" b="0" i="0">
                <a:solidFill>
                  <a:srgbClr val="A9B8CC"/>
                </a:solidFill>
                <a:latin typeface="Calibri"/>
              </a:rPr>
              <a:t>  [1]→[2]  </a:t>
            </a:r>
            <a:r>
              <a:rPr sz="1000" b="0" i="0">
                <a:solidFill>
                  <a:srgbClr val="E8EEF6"/>
                </a:solidFill>
                <a:latin typeface="Calibri"/>
              </a:rPr>
              <a:t>call sites (3, verified)</a:t>
            </a:r>
          </a:p>
          <a:p>
            <a:r>
              <a:rPr sz="1000" b="1" i="0">
                <a:solidFill>
                  <a:srgbClr val="2DD4BF"/>
                </a:solidFill>
                <a:latin typeface="Calibri"/>
              </a:rPr>
              <a:t>A2</a:t>
            </a:r>
            <a:r>
              <a:rPr sz="1000" b="0" i="0">
                <a:solidFill>
                  <a:srgbClr val="A9B8CC"/>
                </a:solidFill>
                <a:latin typeface="Calibri"/>
              </a:rPr>
              <a:t>  [2]→[3]  </a:t>
            </a:r>
            <a:r>
              <a:rPr sz="1000" b="0" i="0">
                <a:solidFill>
                  <a:srgbClr val="E8EEF6"/>
                </a:solidFill>
                <a:latin typeface="Calibri"/>
              </a:rPr>
              <a:t>index 0 → try cache</a:t>
            </a:r>
          </a:p>
          <a:p>
            <a:r>
              <a:rPr sz="1000" b="1" i="0">
                <a:solidFill>
                  <a:srgbClr val="2DD4BF"/>
                </a:solidFill>
                <a:latin typeface="Calibri"/>
              </a:rPr>
              <a:t>A3</a:t>
            </a:r>
            <a:r>
              <a:rPr sz="1000" b="0" i="0">
                <a:solidFill>
                  <a:srgbClr val="A9B8CC"/>
                </a:solidFill>
                <a:latin typeface="Calibri"/>
              </a:rPr>
              <a:t>  [3]→[4]  </a:t>
            </a:r>
            <a:r>
              <a:rPr sz="1000" b="0" i="0">
                <a:solidFill>
                  <a:srgbClr val="E8EEF6"/>
                </a:solidFill>
                <a:latin typeface="Calibri"/>
              </a:rPr>
              <a:t>ATTRS group lookup</a:t>
            </a:r>
          </a:p>
          <a:p>
            <a:r>
              <a:rPr sz="1000" b="1" i="0">
                <a:solidFill>
                  <a:srgbClr val="FBBF24"/>
                </a:solidFill>
                <a:latin typeface="Calibri"/>
              </a:rPr>
              <a:t>A4</a:t>
            </a:r>
            <a:r>
              <a:rPr sz="1000" b="0" i="0">
                <a:solidFill>
                  <a:srgbClr val="A9B8CC"/>
                </a:solidFill>
                <a:latin typeface="Calibri"/>
              </a:rPr>
              <a:t>  [2]→[5]  </a:t>
            </a:r>
            <a:r>
              <a:rPr sz="1000" b="0" i="0">
                <a:solidFill>
                  <a:srgbClr val="E8EEF6"/>
                </a:solidFill>
                <a:latin typeface="Calibri"/>
              </a:rPr>
              <a:t>miss / index != 0 → individual query</a:t>
            </a:r>
          </a:p>
        </p:txBody>
      </p:sp>
      <p:sp>
        <p:nvSpPr>
          <p:cNvPr id="44" name="Legend 2"/>
          <p:cNvSpPr txBox="1"/>
          <p:nvPr/>
        </p:nvSpPr>
        <p:spPr>
          <a:xfrm>
            <a:off x="4206240" y="5733288"/>
            <a:ext cx="3657600" cy="868680"/>
          </a:xfrm>
          <a:prstGeom prst="rect">
            <a:avLst/>
          </a:prstGeom>
          <a:noFill/>
        </p:spPr>
        <p:txBody>
          <a:bodyPr wrap="square" anchor="t" lIns="36576" rIns="36576" tIns="18288" bIns="18288">
            <a:spAutoFit/>
          </a:bodyPr>
          <a:lstStyle/>
          <a:p>
            <a:r>
              <a:rPr sz="1000" b="1" i="0">
                <a:solidFill>
                  <a:srgbClr val="2DD4BF"/>
                </a:solidFill>
                <a:latin typeface="Calibri"/>
              </a:rPr>
              <a:t>A5</a:t>
            </a:r>
            <a:r>
              <a:rPr sz="1000" b="0" i="0">
                <a:solidFill>
                  <a:srgbClr val="A9B8CC"/>
                </a:solidFill>
                <a:latin typeface="Calibri"/>
              </a:rPr>
              <a:t>  [6]→[7]  </a:t>
            </a:r>
            <a:r>
              <a:rPr sz="1000" b="0" i="0">
                <a:solidFill>
                  <a:srgbClr val="E8EEF6"/>
                </a:solidFill>
                <a:latin typeface="Calibri"/>
              </a:rPr>
              <a:t>flag read</a:t>
            </a:r>
          </a:p>
          <a:p>
            <a:r>
              <a:rPr sz="1000" b="1" i="0">
                <a:solidFill>
                  <a:srgbClr val="2DD4BF"/>
                </a:solidFill>
                <a:latin typeface="Calibri"/>
              </a:rPr>
              <a:t>A6</a:t>
            </a:r>
            <a:r>
              <a:rPr sz="1000" b="0" i="0">
                <a:solidFill>
                  <a:srgbClr val="A9B8CC"/>
                </a:solidFill>
                <a:latin typeface="Calibri"/>
              </a:rPr>
              <a:t>  [7]→[8]  </a:t>
            </a:r>
            <a:r>
              <a:rPr sz="1000" b="0" i="0">
                <a:solidFill>
                  <a:srgbClr val="E8EEF6"/>
                </a:solidFill>
                <a:latin typeface="Calibri"/>
              </a:rPr>
              <a:t>try cache</a:t>
            </a:r>
          </a:p>
          <a:p>
            <a:r>
              <a:rPr sz="1000" b="1" i="0">
                <a:solidFill>
                  <a:srgbClr val="2DD4BF"/>
                </a:solidFill>
                <a:latin typeface="Calibri"/>
              </a:rPr>
              <a:t>A7</a:t>
            </a:r>
            <a:r>
              <a:rPr sz="1000" b="0" i="0">
                <a:solidFill>
                  <a:srgbClr val="A9B8CC"/>
                </a:solidFill>
                <a:latin typeface="Calibri"/>
              </a:rPr>
              <a:t>  [8]→[4]  </a:t>
            </a:r>
            <a:r>
              <a:rPr sz="1000" b="0" i="0">
                <a:solidFill>
                  <a:srgbClr val="E8EEF6"/>
                </a:solidFill>
                <a:latin typeface="Calibri"/>
              </a:rPr>
              <a:t>FLAGS group lookup</a:t>
            </a:r>
          </a:p>
          <a:p>
            <a:r>
              <a:rPr sz="1000" b="1" i="0">
                <a:solidFill>
                  <a:srgbClr val="FBBF24"/>
                </a:solidFill>
                <a:latin typeface="Calibri"/>
              </a:rPr>
              <a:t>A8</a:t>
            </a:r>
            <a:r>
              <a:rPr sz="1000" b="0" i="0">
                <a:solidFill>
                  <a:srgbClr val="A9B8CC"/>
                </a:solidFill>
                <a:latin typeface="Calibri"/>
              </a:rPr>
              <a:t>  [7]→[9]  </a:t>
            </a:r>
            <a:r>
              <a:rPr sz="1000" b="0" i="0">
                <a:solidFill>
                  <a:srgbClr val="E8EEF6"/>
                </a:solidFill>
                <a:latin typeface="Calibri"/>
              </a:rPr>
              <a:t>miss → individual query</a:t>
            </a:r>
          </a:p>
        </p:txBody>
      </p:sp>
      <p:sp>
        <p:nvSpPr>
          <p:cNvPr id="45" name="Legend 3"/>
          <p:cNvSpPr txBox="1"/>
          <p:nvPr/>
        </p:nvSpPr>
        <p:spPr>
          <a:xfrm>
            <a:off x="7955280" y="5733288"/>
            <a:ext cx="3657600" cy="868680"/>
          </a:xfrm>
          <a:prstGeom prst="rect">
            <a:avLst/>
          </a:prstGeom>
          <a:noFill/>
        </p:spPr>
        <p:txBody>
          <a:bodyPr wrap="square" anchor="t" lIns="36576" rIns="36576" tIns="18288" bIns="18288">
            <a:spAutoFit/>
          </a:bodyPr>
          <a:lstStyle/>
          <a:p>
            <a:r>
              <a:rPr sz="1000" b="1" i="0">
                <a:solidFill>
                  <a:srgbClr val="A9B8CC"/>
                </a:solidFill>
                <a:latin typeface="Calibri"/>
              </a:rPr>
              <a:t>A9</a:t>
            </a:r>
            <a:r>
              <a:rPr sz="1000" b="0" i="0">
                <a:solidFill>
                  <a:srgbClr val="A9B8CC"/>
                </a:solidFill>
                <a:latin typeface="Calibri"/>
              </a:rPr>
              <a:t>  [10]→[11]  </a:t>
            </a:r>
            <a:r>
              <a:rPr sz="1000" b="0" i="0">
                <a:solidFill>
                  <a:srgbClr val="E8EEF6"/>
                </a:solidFill>
                <a:latin typeface="Calibri"/>
              </a:rPr>
              <a:t>string read (call site not in diff)</a:t>
            </a:r>
          </a:p>
          <a:p>
            <a:r>
              <a:rPr sz="1000" b="1" i="0">
                <a:solidFill>
                  <a:srgbClr val="2DD4BF"/>
                </a:solidFill>
                <a:latin typeface="Calibri"/>
              </a:rPr>
              <a:t>A10</a:t>
            </a:r>
            <a:r>
              <a:rPr sz="1000" b="0" i="0">
                <a:solidFill>
                  <a:srgbClr val="A9B8CC"/>
                </a:solidFill>
                <a:latin typeface="Calibri"/>
              </a:rPr>
              <a:t>  [11]→[12]  </a:t>
            </a:r>
            <a:r>
              <a:rPr sz="1000" b="0" i="0">
                <a:solidFill>
                  <a:srgbClr val="E8EEF6"/>
                </a:solidFill>
                <a:latin typeface="Calibri"/>
              </a:rPr>
              <a:t>try cache first</a:t>
            </a:r>
          </a:p>
          <a:p>
            <a:r>
              <a:rPr sz="1000" b="1" i="0">
                <a:solidFill>
                  <a:srgbClr val="2DD4BF"/>
                </a:solidFill>
                <a:latin typeface="Calibri"/>
              </a:rPr>
              <a:t>A11</a:t>
            </a:r>
            <a:r>
              <a:rPr sz="1000" b="0" i="0">
                <a:solidFill>
                  <a:srgbClr val="A9B8CC"/>
                </a:solidFill>
                <a:latin typeface="Calibri"/>
              </a:rPr>
              <a:t>  [12]→[4]  </a:t>
            </a:r>
            <a:r>
              <a:rPr sz="1000" b="0" i="0">
                <a:solidFill>
                  <a:srgbClr val="E8EEF6"/>
                </a:solidFill>
                <a:latin typeface="Calibri"/>
              </a:rPr>
              <a:t>DESCS / string group lookup</a:t>
            </a:r>
          </a:p>
          <a:p>
            <a:r>
              <a:rPr sz="1000" b="1" i="0">
                <a:solidFill>
                  <a:srgbClr val="FBBF24"/>
                </a:solidFill>
                <a:latin typeface="Calibri"/>
              </a:rPr>
              <a:t>A12</a:t>
            </a:r>
            <a:r>
              <a:rPr sz="1000" b="0" i="0">
                <a:solidFill>
                  <a:srgbClr val="A9B8CC"/>
                </a:solidFill>
                <a:latin typeface="Calibri"/>
              </a:rPr>
              <a:t>  [11]→[13]  </a:t>
            </a:r>
            <a:r>
              <a:rPr sz="1000" b="0" i="0">
                <a:solidFill>
                  <a:srgbClr val="E8EEF6"/>
                </a:solidFill>
                <a:latin typeface="Calibri"/>
              </a:rPr>
              <a:t>miss → individual query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626"/>
        </a:solidFill>
        <a:effectLst/>
      </p:bgPr>
    </p:bg>
    <p:spTree>
      <p:nvGrpSpPr>
        <p:cNvPr id="1" name=""/>
        <p:cNvGrpSpPr/>
        <p:nvPr/>
      </p:nvGrpSpPr>
      <p:grpSpPr/>
      <p:sp>
        <p:nvSpPr>
          <p:cNvPr id="2" name="Title"/>
          <p:cNvSpPr txBox="1"/>
          <p:nvPr/>
        </p:nvSpPr>
        <p:spPr>
          <a:xfrm>
            <a:off x="457200" y="274320"/>
            <a:ext cx="11247120" cy="548640"/>
          </a:xfrm>
          <a:prstGeom prst="rect">
            <a:avLst/>
          </a:prstGeom>
          <a:noFill/>
        </p:spPr>
        <p:txBody>
          <a:bodyPr wrap="square" anchor="ctr" lIns="36576" rIns="36576" tIns="18288" bIns="18288">
            <a:spAutoFit/>
          </a:bodyPr>
          <a:lstStyle/>
          <a:p>
            <a:r>
              <a:rPr sz="2400" b="1" i="0">
                <a:solidFill>
                  <a:srgbClr val="E8EEF6"/>
                </a:solidFill>
                <a:latin typeface="Calibri"/>
              </a:rPr>
              <a:t>Structures and Constants: Fields, Packet Bounds, Ownership</a:t>
            </a:r>
          </a:p>
        </p:txBody>
      </p:sp>
      <p:sp>
        <p:nvSpPr>
          <p:cNvPr id="3" name="Source"/>
          <p:cNvSpPr txBox="1"/>
          <p:nvPr/>
        </p:nvSpPr>
        <p:spPr>
          <a:xfrm>
            <a:off x="457200" y="6473952"/>
            <a:ext cx="10424160" cy="256032"/>
          </a:xfrm>
          <a:prstGeom prst="rect">
            <a:avLst/>
          </a:prstGeom>
          <a:noFill/>
        </p:spPr>
        <p:txBody>
          <a:bodyPr wrap="square" anchor="t" lIns="36576" rIns="36576" tIns="18288" bIns="18288">
            <a:spAutoFit/>
          </a:bodyPr>
          <a:lstStyle/>
          <a:p>
            <a:r>
              <a:rPr sz="1000" b="0" i="0">
                <a:solidFill>
                  <a:srgbClr val="A9B8CC"/>
                </a:solidFill>
                <a:latin typeface="Calibri"/>
              </a:rPr>
              <a:t>Source: include/ufs/ufs.h, include/ufs/ufshcd.h, drivers/ufs/core/ufshcd.c — ufshcd_agg_read_begin(), ufshcd_agg_read_end()</a:t>
            </a:r>
          </a:p>
        </p:txBody>
      </p:sp>
      <p:sp>
        <p:nvSpPr>
          <p:cNvPr id="4" name="Slide Number"/>
          <p:cNvSpPr txBox="1"/>
          <p:nvPr/>
        </p:nvSpPr>
        <p:spPr>
          <a:xfrm>
            <a:off x="11064240" y="6473952"/>
            <a:ext cx="685800" cy="256032"/>
          </a:xfrm>
          <a:prstGeom prst="rect">
            <a:avLst/>
          </a:prstGeom>
          <a:noFill/>
        </p:spPr>
        <p:txBody>
          <a:bodyPr wrap="none">
            <a:spAutoFit/>
          </a:bodyPr>
          <a:lstStyle/>
          <a:p>
            <a:pPr algn="r"/>
            <a:fld id="{B6F15528-21DE-4FAA-801E-634DDDAF4B2B}" type="slidenum">
              <a:rPr lang="en-US" sz="1100">
                <a:solidFill>
                  <a:srgbClr val="A9B8CC"/>
                </a:solidFill>
                <a:latin typeface="Calibri"/>
              </a:rPr>
              <a:t>10</a:t>
            </a:fld>
          </a:p>
        </p:txBody>
      </p:sp>
      <p:graphicFrame>
        <p:nvGraphicFramePr>
          <p:cNvPr id="5" name="Table 4"/>
          <p:cNvGraphicFramePr>
            <a:graphicFrameLocks noGrp="1"/>
          </p:cNvGraphicFramePr>
          <p:nvPr/>
        </p:nvGraphicFramePr>
        <p:xfrm>
          <a:off x="457200" y="1097280"/>
          <a:ext cx="11247120" cy="4846320"/>
        </p:xfrm>
        <a:graphic>
          <a:graphicData uri="http://schemas.openxmlformats.org/drawingml/2006/table">
            <a:tbl>
              <a:tblPr firstRow="1" bandRow="1">
                <a:tableStyleId>{5940675A-B579-460E-94D1-54222C63F5DA}</a:tableStyleId>
              </a:tblPr>
              <a:tblGrid>
                <a:gridCol w="2651760"/>
                <a:gridCol w="3108960"/>
                <a:gridCol w="2468880"/>
                <a:gridCol w="3017520"/>
              </a:tblGrid>
              <a:tr h="274320">
                <a:tc>
                  <a:txBody>
                    <a:bodyPr/>
                    <a:lstStyle/>
                    <a:p>
                      <a:r>
                        <a:rPr sz="1000" b="1" i="0">
                          <a:solidFill>
                            <a:srgbClr val="E8EEF6"/>
                          </a:solidFill>
                          <a:latin typeface="Calibri"/>
                        </a:rPr>
                        <a:t>Structure / enum / constant</a:t>
                      </a:r>
                    </a:p>
                  </a:txBody>
                  <a:tcPr marL="54864" marR="54864" marT="27432" marB="27432" anchor="ctr">
                    <a:solidFill>
                      <a:srgbClr val="22406A"/>
                    </a:solidFill>
                  </a:tcPr>
                </a:tc>
                <a:tc>
                  <a:txBody>
                    <a:bodyPr/>
                    <a:lstStyle/>
                    <a:p>
                      <a:r>
                        <a:rPr sz="1000" b="1" i="0">
                          <a:solidFill>
                            <a:srgbClr val="E8EEF6"/>
                          </a:solidFill>
                          <a:latin typeface="Calibri"/>
                        </a:rPr>
                        <a:t>Important fields or values</a:t>
                      </a:r>
                    </a:p>
                  </a:txBody>
                  <a:tcPr marL="54864" marR="54864" marT="27432" marB="27432" anchor="ctr">
                    <a:solidFill>
                      <a:srgbClr val="22406A"/>
                    </a:solidFill>
                  </a:tcPr>
                </a:tc>
                <a:tc>
                  <a:txBody>
                    <a:bodyPr/>
                    <a:lstStyle/>
                    <a:p>
                      <a:r>
                        <a:rPr sz="1000" b="1" i="0">
                          <a:solidFill>
                            <a:srgbClr val="E8EEF6"/>
                          </a:solidFill>
                          <a:latin typeface="Calibri"/>
                        </a:rPr>
                        <a:t>Purpose</a:t>
                      </a:r>
                    </a:p>
                  </a:txBody>
                  <a:tcPr marL="54864" marR="54864" marT="27432" marB="27432" anchor="ctr">
                    <a:solidFill>
                      <a:srgbClr val="22406A"/>
                    </a:solidFill>
                  </a:tcPr>
                </a:tc>
                <a:tc>
                  <a:txBody>
                    <a:bodyPr/>
                    <a:lstStyle/>
                    <a:p>
                      <a:r>
                        <a:rPr sz="1000" b="1" i="0">
                          <a:solidFill>
                            <a:srgbClr val="E8EEF6"/>
                          </a:solidFill>
                          <a:latin typeface="Calibri"/>
                        </a:rPr>
                        <a:t>Relationship to other structures</a:t>
                      </a:r>
                    </a:p>
                  </a:txBody>
                  <a:tcPr marL="54864" marR="54864" marT="27432" marB="27432" anchor="ctr">
                    <a:solidFill>
                      <a:srgbClr val="22406A"/>
                    </a:solidFill>
                  </a:tcPr>
                </a:tc>
              </a:tr>
              <a:tr h="457200">
                <a:tc>
                  <a:txBody>
                    <a:bodyPr/>
                    <a:lstStyle/>
                    <a:p>
                      <a:r>
                        <a:rPr sz="1000" b="0" i="0">
                          <a:solidFill>
                            <a:srgbClr val="E8EEF6"/>
                          </a:solidFill>
                          <a:latin typeface="Calibri"/>
                        </a:rPr>
                        <a:t>enum ufs_agg_type</a:t>
                      </a:r>
                    </a:p>
                  </a:txBody>
                  <a:tcPr marL="54864" marR="54864" marT="27432" marB="27432" anchor="ctr">
                    <a:solidFill>
                      <a:srgbClr val="14243B"/>
                    </a:solidFill>
                  </a:tcPr>
                </a:tc>
                <a:tc>
                  <a:txBody>
                    <a:bodyPr/>
                    <a:lstStyle/>
                    <a:p>
                      <a:r>
                        <a:rPr sz="1000" b="0" i="0">
                          <a:solidFill>
                            <a:srgbClr val="E8EEF6"/>
                          </a:solidFill>
                          <a:latin typeface="Calibri"/>
                        </a:rPr>
                        <a:t>BIT(0) ALL_FLAGS … BIT(7) HEALTH_DESC</a:t>
                      </a:r>
                    </a:p>
                  </a:txBody>
                  <a:tcPr marL="54864" marR="54864" marT="27432" marB="27432" anchor="ctr">
                    <a:solidFill>
                      <a:srgbClr val="14243B"/>
                    </a:solidFill>
                  </a:tcPr>
                </a:tc>
                <a:tc>
                  <a:txBody>
                    <a:bodyPr/>
                    <a:lstStyle/>
                    <a:p>
                      <a:r>
                        <a:rPr sz="1000" b="0" i="0">
                          <a:solidFill>
                            <a:srgbClr val="E8EEF6"/>
                          </a:solidFill>
                          <a:latin typeface="Calibri"/>
                        </a:rPr>
                        <a:t>AGGREGATION TYPE request mask</a:t>
                      </a:r>
                    </a:p>
                  </a:txBody>
                  <a:tcPr marL="54864" marR="54864" marT="27432" marB="27432" anchor="ctr">
                    <a:solidFill>
                      <a:srgbClr val="14243B"/>
                    </a:solidFill>
                  </a:tcPr>
                </a:tc>
                <a:tc>
                  <a:txBody>
                    <a:bodyPr/>
                    <a:lstStyle/>
                    <a:p>
                      <a:r>
                        <a:rPr sz="1000" b="0" i="0">
                          <a:solidFill>
                            <a:srgbClr val="E8EEF6"/>
                          </a:solidFill>
                          <a:latin typeface="Calibri"/>
                        </a:rPr>
                        <a:t>Passed as idn to ufshcd_init_query(); begin() uses ALL_ATTRS | ALL_FLAGS | STRING_DESC</a:t>
                      </a:r>
                    </a:p>
                  </a:txBody>
                  <a:tcPr marL="54864" marR="54864" marT="27432" marB="27432" anchor="ctr">
                    <a:solidFill>
                      <a:srgbClr val="14243B"/>
                    </a:solidFill>
                  </a:tcPr>
                </a:tc>
              </a:tr>
              <a:tr h="457200">
                <a:tc>
                  <a:txBody>
                    <a:bodyPr/>
                    <a:lstStyle/>
                    <a:p>
                      <a:r>
                        <a:rPr sz="1000" b="0" i="0">
                          <a:solidFill>
                            <a:srgbClr val="E8EEF6"/>
                          </a:solidFill>
                          <a:latin typeface="Calibri"/>
                        </a:rPr>
                        <a:t>enum ufs_agg_group_type</a:t>
                      </a:r>
                    </a:p>
                  </a:txBody>
                  <a:tcPr marL="54864" marR="54864" marT="27432" marB="27432" anchor="ctr">
                    <a:solidFill>
                      <a:srgbClr val="101F34"/>
                    </a:solidFill>
                  </a:tcPr>
                </a:tc>
                <a:tc>
                  <a:txBody>
                    <a:bodyPr/>
                    <a:lstStyle/>
                    <a:p>
                      <a:r>
                        <a:rPr sz="1000" b="0" i="0">
                          <a:solidFill>
                            <a:srgbClr val="E8EEF6"/>
                          </a:solidFill>
                          <a:latin typeface="Calibri"/>
                        </a:rPr>
                        <a:t>0x00 RESERVED … 0x08 PRODUCT_REV_STR</a:t>
                      </a:r>
                    </a:p>
                  </a:txBody>
                  <a:tcPr marL="54864" marR="54864" marT="27432" marB="27432" anchor="ctr">
                    <a:solidFill>
                      <a:srgbClr val="101F34"/>
                    </a:solidFill>
                  </a:tcPr>
                </a:tc>
                <a:tc>
                  <a:txBody>
                    <a:bodyPr/>
                    <a:lstStyle/>
                    <a:p>
                      <a:r>
                        <a:rPr sz="1000" b="0" i="0">
                          <a:solidFill>
                            <a:srgbClr val="E8EEF6"/>
                          </a:solidFill>
                          <a:latin typeface="Calibri"/>
                        </a:rPr>
                        <a:t>Group Type of each group header</a:t>
                      </a:r>
                    </a:p>
                  </a:txBody>
                  <a:tcPr marL="54864" marR="54864" marT="27432" marB="27432" anchor="ctr">
                    <a:solidFill>
                      <a:srgbClr val="101F34"/>
                    </a:solidFill>
                  </a:tcPr>
                </a:tc>
                <a:tc>
                  <a:txBody>
                    <a:bodyPr/>
                    <a:lstStyle/>
                    <a:p>
                      <a:r>
                        <a:rPr sz="1000" b="0" i="0">
                          <a:solidFill>
                            <a:srgbClr val="E8EEF6"/>
                          </a:solidFill>
                          <a:latin typeface="Calibri"/>
                        </a:rPr>
                        <a:t>Compared with hdr-&gt;group_type; MANUFACTURER_STR + i selects string group</a:t>
                      </a:r>
                    </a:p>
                  </a:txBody>
                  <a:tcPr marL="54864" marR="54864" marT="27432" marB="27432" anchor="ctr">
                    <a:solidFill>
                      <a:srgbClr val="101F34"/>
                    </a:solidFill>
                  </a:tcPr>
                </a:tc>
              </a:tr>
              <a:tr h="457200">
                <a:tc>
                  <a:txBody>
                    <a:bodyPr/>
                    <a:lstStyle/>
                    <a:p>
                      <a:r>
                        <a:rPr sz="1000" b="0" i="0">
                          <a:solidFill>
                            <a:srgbClr val="E8EEF6"/>
                          </a:solidFill>
                          <a:latin typeface="Calibri"/>
                        </a:rPr>
                        <a:t>struct utp_agg_group_header</a:t>
                      </a:r>
                    </a:p>
                  </a:txBody>
                  <a:tcPr marL="54864" marR="54864" marT="27432" marB="27432" anchor="ctr">
                    <a:solidFill>
                      <a:srgbClr val="14243B"/>
                    </a:solidFill>
                  </a:tcPr>
                </a:tc>
                <a:tc>
                  <a:txBody>
                    <a:bodyPr/>
                    <a:lstStyle/>
                    <a:p>
                      <a:r>
                        <a:rPr sz="1000" b="0" i="0">
                          <a:solidFill>
                            <a:srgbClr val="E8EEF6"/>
                          </a:solidFill>
                          <a:latin typeface="Calibri"/>
                        </a:rPr>
                        <a:t>u8 group_type; u8 reserved; __be16 next_group_offset</a:t>
                      </a:r>
                    </a:p>
                  </a:txBody>
                  <a:tcPr marL="54864" marR="54864" marT="27432" marB="27432" anchor="ctr">
                    <a:solidFill>
                      <a:srgbClr val="14243B"/>
                    </a:solidFill>
                  </a:tcPr>
                </a:tc>
                <a:tc>
                  <a:txBody>
                    <a:bodyPr/>
                    <a:lstStyle/>
                    <a:p>
                      <a:r>
                        <a:rPr sz="1000" b="0" i="0">
                          <a:solidFill>
                            <a:srgbClr val="E8EEF6"/>
                          </a:solidFill>
                          <a:latin typeface="Calibri"/>
                        </a:rPr>
                        <a:t>4-byte header per group</a:t>
                      </a:r>
                    </a:p>
                  </a:txBody>
                  <a:tcPr marL="54864" marR="54864" marT="27432" marB="27432" anchor="ctr">
                    <a:solidFill>
                      <a:srgbClr val="14243B"/>
                    </a:solidFill>
                  </a:tcPr>
                </a:tc>
                <a:tc>
                  <a:txBody>
                    <a:bodyPr/>
                    <a:lstStyle/>
                    <a:p>
                      <a:r>
                        <a:rPr sz="1000" b="0" i="0">
                          <a:solidFill>
                            <a:srgbClr val="E8EEF6"/>
                          </a:solidFill>
                          <a:latin typeface="Calibri"/>
                        </a:rPr>
                        <a:t>static_assert == QUERY_AGG_GROUP_HDR_SIZE; read in ufshcd_agg_group()</a:t>
                      </a:r>
                    </a:p>
                  </a:txBody>
                  <a:tcPr marL="54864" marR="54864" marT="27432" marB="27432" anchor="ctr">
                    <a:solidFill>
                      <a:srgbClr val="14243B"/>
                    </a:solidFill>
                  </a:tcPr>
                </a:tc>
              </a:tr>
              <a:tr h="457200">
                <a:tc>
                  <a:txBody>
                    <a:bodyPr/>
                    <a:lstStyle/>
                    <a:p>
                      <a:r>
                        <a:rPr sz="1000" b="0" i="0">
                          <a:solidFill>
                            <a:srgbClr val="E8EEF6"/>
                          </a:solidFill>
                          <a:latin typeface="Calibri"/>
                        </a:rPr>
                        <a:t>QUERY_AGG_GROUP_HDR_SIZE</a:t>
                      </a:r>
                    </a:p>
                  </a:txBody>
                  <a:tcPr marL="54864" marR="54864" marT="27432" marB="27432" anchor="ctr">
                    <a:solidFill>
                      <a:srgbClr val="101F34"/>
                    </a:solidFill>
                  </a:tcPr>
                </a:tc>
                <a:tc>
                  <a:txBody>
                    <a:bodyPr/>
                    <a:lstStyle/>
                    <a:p>
                      <a:r>
                        <a:rPr sz="1000" b="0" i="0">
                          <a:solidFill>
                            <a:srgbClr val="E8EEF6"/>
                          </a:solidFill>
                          <a:latin typeface="Calibri"/>
                        </a:rPr>
                        <a:t>4</a:t>
                      </a:r>
                    </a:p>
                  </a:txBody>
                  <a:tcPr marL="54864" marR="54864" marT="27432" marB="27432" anchor="ctr">
                    <a:solidFill>
                      <a:srgbClr val="101F34"/>
                    </a:solidFill>
                  </a:tcPr>
                </a:tc>
                <a:tc>
                  <a:txBody>
                    <a:bodyPr/>
                    <a:lstStyle/>
                    <a:p>
                      <a:r>
                        <a:rPr sz="1000" b="0" i="0">
                          <a:solidFill>
                            <a:srgbClr val="E8EEF6"/>
                          </a:solidFill>
                          <a:latin typeface="Calibri"/>
                        </a:rPr>
                        <a:t>Header size</a:t>
                      </a:r>
                    </a:p>
                  </a:txBody>
                  <a:tcPr marL="54864" marR="54864" marT="27432" marB="27432" anchor="ctr">
                    <a:solidFill>
                      <a:srgbClr val="101F34"/>
                    </a:solidFill>
                  </a:tcPr>
                </a:tc>
                <a:tc>
                  <a:txBody>
                    <a:bodyPr/>
                    <a:lstStyle/>
                    <a:p>
                      <a:r>
                        <a:rPr sz="1000" b="0" i="0">
                          <a:solidFill>
                            <a:srgbClr val="E8EEF6"/>
                          </a:solidFill>
                          <a:latin typeface="Calibri"/>
                        </a:rPr>
                        <a:t>Loop bound and payload_off in ufshcd_agg_group()</a:t>
                      </a:r>
                    </a:p>
                  </a:txBody>
                  <a:tcPr marL="54864" marR="54864" marT="27432" marB="27432" anchor="ctr">
                    <a:solidFill>
                      <a:srgbClr val="101F34"/>
                    </a:solidFill>
                  </a:tcPr>
                </a:tc>
              </a:tr>
              <a:tr h="457200">
                <a:tc>
                  <a:txBody>
                    <a:bodyPr/>
                    <a:lstStyle/>
                    <a:p>
                      <a:r>
                        <a:rPr sz="1000" b="0" i="0">
                          <a:solidFill>
                            <a:srgbClr val="E8EEF6"/>
                          </a:solidFill>
                          <a:latin typeface="Calibri"/>
                        </a:rPr>
                        <a:t>QUERY_AGGREGATED_MAX_SIZE</a:t>
                      </a:r>
                    </a:p>
                  </a:txBody>
                  <a:tcPr marL="54864" marR="54864" marT="27432" marB="27432" anchor="ctr">
                    <a:solidFill>
                      <a:srgbClr val="14243B"/>
                    </a:solidFill>
                  </a:tcPr>
                </a:tc>
                <a:tc>
                  <a:txBody>
                    <a:bodyPr/>
                    <a:lstStyle/>
                    <a:p>
                      <a:r>
                        <a:rPr sz="1000" b="0" i="0">
                          <a:solidFill>
                            <a:srgbClr val="E8EEF6"/>
                          </a:solidFill>
                          <a:latin typeface="Calibri"/>
                        </a:rPr>
                        <a:t>4096 − GENERAL_UPIU_REQUEST_SIZE (pre-existing)</a:t>
                      </a:r>
                    </a:p>
                  </a:txBody>
                  <a:tcPr marL="54864" marR="54864" marT="27432" marB="27432" anchor="ctr">
                    <a:solidFill>
                      <a:srgbClr val="14243B"/>
                    </a:solidFill>
                  </a:tcPr>
                </a:tc>
                <a:tc>
                  <a:txBody>
                    <a:bodyPr/>
                    <a:lstStyle/>
                    <a:p>
                      <a:r>
                        <a:rPr sz="1000" b="0" i="0">
                          <a:solidFill>
                            <a:srgbClr val="E8EEF6"/>
                          </a:solidFill>
                          <a:latin typeface="Calibri"/>
                        </a:rPr>
                        <a:t>Max aggregated data size</a:t>
                      </a:r>
                    </a:p>
                  </a:txBody>
                  <a:tcPr marL="54864" marR="54864" marT="27432" marB="27432" anchor="ctr">
                    <a:solidFill>
                      <a:srgbClr val="14243B"/>
                    </a:solidFill>
                  </a:tcPr>
                </a:tc>
                <a:tc>
                  <a:txBody>
                    <a:bodyPr/>
                    <a:lstStyle/>
                    <a:p>
                      <a:r>
                        <a:rPr sz="1000" b="0" i="0">
                          <a:solidFill>
                            <a:srgbClr val="E8EEF6"/>
                          </a:solidFill>
                          <a:latin typeface="Calibri"/>
                        </a:rPr>
                        <a:t>kzalloc size; *buf_len bound in ufshcd_query_aggregated_read()</a:t>
                      </a:r>
                    </a:p>
                  </a:txBody>
                  <a:tcPr marL="54864" marR="54864" marT="27432" marB="27432" anchor="ctr">
                    <a:solidFill>
                      <a:srgbClr val="14243B"/>
                    </a:solidFill>
                  </a:tcPr>
                </a:tc>
              </a:tr>
              <a:tr h="457200">
                <a:tc>
                  <a:txBody>
                    <a:bodyPr/>
                    <a:lstStyle/>
                    <a:p>
                      <a:r>
                        <a:rPr sz="1000" b="0" i="0">
                          <a:solidFill>
                            <a:srgbClr val="E8EEF6"/>
                          </a:solidFill>
                          <a:latin typeface="Calibri"/>
                        </a:rPr>
                        <a:t>ufs_agg_attr_width[]</a:t>
                      </a:r>
                    </a:p>
                  </a:txBody>
                  <a:tcPr marL="54864" marR="54864" marT="27432" marB="27432" anchor="ctr">
                    <a:solidFill>
                      <a:srgbClr val="101F34"/>
                    </a:solidFill>
                  </a:tcPr>
                </a:tc>
                <a:tc>
                  <a:txBody>
                    <a:bodyPr/>
                    <a:lstStyle/>
                    <a:p>
                      <a:r>
                        <a:rPr sz="1000" b="0" i="0">
                          <a:solidFill>
                            <a:srgbClr val="E8EEF6"/>
                          </a:solidFill>
                          <a:latin typeface="Calibri"/>
                        </a:rPr>
                        <a:t>static const u8, width in bytes by attribute IDN</a:t>
                      </a:r>
                    </a:p>
                  </a:txBody>
                  <a:tcPr marL="54864" marR="54864" marT="27432" marB="27432" anchor="ctr">
                    <a:solidFill>
                      <a:srgbClr val="101F34"/>
                    </a:solidFill>
                  </a:tcPr>
                </a:tc>
                <a:tc>
                  <a:txBody>
                    <a:bodyPr/>
                    <a:lstStyle/>
                    <a:p>
                      <a:r>
                        <a:rPr sz="1000" b="0" i="0">
                          <a:solidFill>
                            <a:srgbClr val="E8EEF6"/>
                          </a:solidFill>
                          <a:latin typeface="Calibri"/>
                        </a:rPr>
                        <a:t>Offset/width of ATTRS values</a:t>
                      </a:r>
                    </a:p>
                  </a:txBody>
                  <a:tcPr marL="54864" marR="54864" marT="27432" marB="27432" anchor="ctr">
                    <a:solidFill>
                      <a:srgbClr val="101F34"/>
                    </a:solidFill>
                  </a:tcPr>
                </a:tc>
                <a:tc>
                  <a:txBody>
                    <a:bodyPr/>
                    <a:lstStyle/>
                    <a:p>
                      <a:r>
                        <a:rPr sz="1000" b="0" i="0">
                          <a:solidFill>
                            <a:srgbClr val="E8EEF6"/>
                          </a:solidFill>
                          <a:latin typeface="Calibri"/>
                        </a:rPr>
                        <a:t>Summed in ufshcd_agg_attr(); 0 = absent</a:t>
                      </a:r>
                    </a:p>
                  </a:txBody>
                  <a:tcPr marL="54864" marR="54864" marT="27432" marB="27432" anchor="ctr">
                    <a:solidFill>
                      <a:srgbClr val="101F34"/>
                    </a:solidFill>
                  </a:tcPr>
                </a:tc>
              </a:tr>
              <a:tr h="457200">
                <a:tc>
                  <a:txBody>
                    <a:bodyPr/>
                    <a:lstStyle/>
                    <a:p>
                      <a:r>
                        <a:rPr sz="1000" b="0" i="0">
                          <a:solidFill>
                            <a:srgbClr val="E8EEF6"/>
                          </a:solidFill>
                          <a:latin typeface="Calibri"/>
                        </a:rPr>
                        <a:t>ufs_query_res::data_segment_length</a:t>
                      </a:r>
                    </a:p>
                  </a:txBody>
                  <a:tcPr marL="54864" marR="54864" marT="27432" marB="27432" anchor="ctr">
                    <a:solidFill>
                      <a:srgbClr val="14243B"/>
                    </a:solidFill>
                  </a:tcPr>
                </a:tc>
                <a:tc>
                  <a:txBody>
                    <a:bodyPr/>
                    <a:lstStyle/>
                    <a:p>
                      <a:r>
                        <a:rPr sz="1000" b="0" i="0">
                          <a:solidFill>
                            <a:srgbClr val="E8EEF6"/>
                          </a:solidFill>
                          <a:latin typeface="Calibri"/>
                        </a:rPr>
                        <a:t>u16, big-endian converted</a:t>
                      </a:r>
                    </a:p>
                  </a:txBody>
                  <a:tcPr marL="54864" marR="54864" marT="27432" marB="27432" anchor="ctr">
                    <a:solidFill>
                      <a:srgbClr val="14243B"/>
                    </a:solidFill>
                  </a:tcPr>
                </a:tc>
                <a:tc>
                  <a:txBody>
                    <a:bodyPr/>
                    <a:lstStyle/>
                    <a:p>
                      <a:r>
                        <a:rPr sz="1000" b="0" i="0">
                          <a:solidFill>
                            <a:srgbClr val="E8EEF6"/>
                          </a:solidFill>
                          <a:latin typeface="Calibri"/>
                        </a:rPr>
                        <a:t>Response data segment length</a:t>
                      </a:r>
                    </a:p>
                  </a:txBody>
                  <a:tcPr marL="54864" marR="54864" marT="27432" marB="27432" anchor="ctr">
                    <a:solidFill>
                      <a:srgbClr val="14243B"/>
                    </a:solidFill>
                  </a:tcPr>
                </a:tc>
                <a:tc>
                  <a:txBody>
                    <a:bodyPr/>
                    <a:lstStyle/>
                    <a:p>
                      <a:r>
                        <a:rPr sz="1000" b="0" i="0">
                          <a:solidFill>
                            <a:srgbClr val="E8EEF6"/>
                          </a:solidFill>
                          <a:latin typeface="Calibri"/>
                        </a:rPr>
                        <a:t>Set in ufshcd_copy_query_response(); read as *buf_len</a:t>
                      </a:r>
                    </a:p>
                  </a:txBody>
                  <a:tcPr marL="54864" marR="54864" marT="27432" marB="27432" anchor="ctr">
                    <a:solidFill>
                      <a:srgbClr val="14243B"/>
                    </a:solidFill>
                  </a:tcPr>
                </a:tc>
              </a:tr>
              <a:tr h="457200">
                <a:tc>
                  <a:txBody>
                    <a:bodyPr/>
                    <a:lstStyle/>
                    <a:p>
                      <a:r>
                        <a:rPr sz="1000" b="0" i="0">
                          <a:solidFill>
                            <a:srgbClr val="E8EEF6"/>
                          </a:solidFill>
                          <a:latin typeface="Calibri"/>
                        </a:rPr>
                        <a:t>ufs_dev_info::agg_read_unsupported</a:t>
                      </a:r>
                    </a:p>
                  </a:txBody>
                  <a:tcPr marL="54864" marR="54864" marT="27432" marB="27432" anchor="ctr">
                    <a:solidFill>
                      <a:srgbClr val="101F34"/>
                    </a:solidFill>
                  </a:tcPr>
                </a:tc>
                <a:tc>
                  <a:txBody>
                    <a:bodyPr/>
                    <a:lstStyle/>
                    <a:p>
                      <a:r>
                        <a:rPr sz="1000" b="0" i="0">
                          <a:solidFill>
                            <a:srgbClr val="E8EEF6"/>
                          </a:solidFill>
                          <a:latin typeface="Calibri"/>
                        </a:rPr>
                        <a:t>bool</a:t>
                      </a:r>
                    </a:p>
                  </a:txBody>
                  <a:tcPr marL="54864" marR="54864" marT="27432" marB="27432" anchor="ctr">
                    <a:solidFill>
                      <a:srgbClr val="101F34"/>
                    </a:solidFill>
                  </a:tcPr>
                </a:tc>
                <a:tc>
                  <a:txBody>
                    <a:bodyPr/>
                    <a:lstStyle/>
                    <a:p>
                      <a:r>
                        <a:rPr sz="1000" b="0" i="0">
                          <a:solidFill>
                            <a:srgbClr val="E8EEF6"/>
                          </a:solidFill>
                          <a:latin typeface="Calibri"/>
                        </a:rPr>
                        <a:t>Sticky: set after retries exhausted</a:t>
                      </a:r>
                    </a:p>
                  </a:txBody>
                  <a:tcPr marL="54864" marR="54864" marT="27432" marB="27432" anchor="ctr">
                    <a:solidFill>
                      <a:srgbClr val="101F34"/>
                    </a:solidFill>
                  </a:tcPr>
                </a:tc>
                <a:tc>
                  <a:txBody>
                    <a:bodyPr/>
                    <a:lstStyle/>
                    <a:p>
                      <a:r>
                        <a:rPr sz="1000" b="0" i="0">
                          <a:solidFill>
                            <a:srgbClr val="E8EEF6"/>
                          </a:solidFill>
                          <a:latin typeface="Calibri"/>
                        </a:rPr>
                        <a:t>Checked in begin(); never cleared in the diff</a:t>
                      </a:r>
                    </a:p>
                  </a:txBody>
                  <a:tcPr marL="54864" marR="54864" marT="27432" marB="27432" anchor="ctr">
                    <a:solidFill>
                      <a:srgbClr val="101F34"/>
                    </a:solidFill>
                  </a:tcPr>
                </a:tc>
              </a:tr>
              <a:tr h="457200">
                <a:tc>
                  <a:txBody>
                    <a:bodyPr/>
                    <a:lstStyle/>
                    <a:p>
                      <a:r>
                        <a:rPr sz="1000" b="0" i="0">
                          <a:solidFill>
                            <a:srgbClr val="E8EEF6"/>
                          </a:solidFill>
                          <a:latin typeface="Calibri"/>
                        </a:rPr>
                        <a:t>ufs_hba::agg_packet / agg_packet_len</a:t>
                      </a:r>
                    </a:p>
                  </a:txBody>
                  <a:tcPr marL="54864" marR="54864" marT="27432" marB="27432" anchor="ctr">
                    <a:solidFill>
                      <a:srgbClr val="14243B"/>
                    </a:solidFill>
                  </a:tcPr>
                </a:tc>
                <a:tc>
                  <a:txBody>
                    <a:bodyPr/>
                    <a:lstStyle/>
                    <a:p>
                      <a:r>
                        <a:rPr sz="1000" b="0" i="0">
                          <a:solidFill>
                            <a:srgbClr val="E8EEF6"/>
                          </a:solidFill>
                          <a:latin typeface="Calibri"/>
                        </a:rPr>
                        <a:t>u8 *; u16</a:t>
                      </a:r>
                    </a:p>
                  </a:txBody>
                  <a:tcPr marL="54864" marR="54864" marT="27432" marB="27432" anchor="ctr">
                    <a:solidFill>
                      <a:srgbClr val="14243B"/>
                    </a:solidFill>
                  </a:tcPr>
                </a:tc>
                <a:tc>
                  <a:txBody>
                    <a:bodyPr/>
                    <a:lstStyle/>
                    <a:p>
                      <a:r>
                        <a:rPr sz="1000" b="0" i="0">
                          <a:solidFill>
                            <a:srgbClr val="E8EEF6"/>
                          </a:solidFill>
                          <a:latin typeface="Calibri"/>
                        </a:rPr>
                        <a:t>Cached packet and its length</a:t>
                      </a:r>
                    </a:p>
                  </a:txBody>
                  <a:tcPr marL="54864" marR="54864" marT="27432" marB="27432" anchor="ctr">
                    <a:solidFill>
                      <a:srgbClr val="14243B"/>
                    </a:solidFill>
                  </a:tcPr>
                </a:tc>
                <a:tc>
                  <a:txBody>
                    <a:bodyPr/>
                    <a:lstStyle/>
                    <a:p>
                      <a:r>
                        <a:rPr sz="1000" b="0" i="0">
                          <a:solidFill>
                            <a:srgbClr val="E8EEF6"/>
                          </a:solidFill>
                          <a:latin typeface="Calibri"/>
                        </a:rPr>
                        <a:t>Allocated in begin(); freed in end(); bound of the group walk</a:t>
                      </a:r>
                    </a:p>
                  </a:txBody>
                  <a:tcPr marL="54864" marR="54864" marT="27432" marB="27432" anchor="ctr">
                    <a:solidFill>
                      <a:srgbClr val="14243B"/>
                    </a:solidFill>
                  </a:tcPr>
                </a:tc>
              </a:tr>
              <a:tr h="457200">
                <a:tc>
                  <a:txBody>
                    <a:bodyPr/>
                    <a:lstStyle/>
                    <a:p>
                      <a:r>
                        <a:rPr sz="1000" b="0" i="0">
                          <a:solidFill>
                            <a:srgbClr val="E8EEF6"/>
                          </a:solidFill>
                          <a:latin typeface="Calibri"/>
                        </a:rPr>
                        <a:t>ufs_hba::agg_str_idx[5]</a:t>
                      </a:r>
                    </a:p>
                  </a:txBody>
                  <a:tcPr marL="54864" marR="54864" marT="27432" marB="27432" anchor="ctr">
                    <a:solidFill>
                      <a:srgbClr val="101F34"/>
                    </a:solidFill>
                  </a:tcPr>
                </a:tc>
                <a:tc>
                  <a:txBody>
                    <a:bodyPr/>
                    <a:lstStyle/>
                    <a:p>
                      <a:r>
                        <a:rPr sz="1000" b="0" i="0">
                          <a:solidFill>
                            <a:srgbClr val="E8EEF6"/>
                          </a:solidFill>
                          <a:latin typeface="Calibri"/>
                        </a:rPr>
                        <a:t>u8[PRODUCT_REV_STR − MANUFACTURER_STR + 1]</a:t>
                      </a:r>
                    </a:p>
                  </a:txBody>
                  <a:tcPr marL="54864" marR="54864" marT="27432" marB="27432" anchor="ctr">
                    <a:solidFill>
                      <a:srgbClr val="101F34"/>
                    </a:solidFill>
                  </a:tcPr>
                </a:tc>
                <a:tc>
                  <a:txBody>
                    <a:bodyPr/>
                    <a:lstStyle/>
                    <a:p>
                      <a:r>
                        <a:rPr sz="1000" b="0" i="0">
                          <a:solidFill>
                            <a:srgbClr val="E8EEF6"/>
                          </a:solidFill>
                          <a:latin typeface="Calibri"/>
                        </a:rPr>
                        <a:t>String index per string group</a:t>
                      </a:r>
                    </a:p>
                  </a:txBody>
                  <a:tcPr marL="54864" marR="54864" marT="27432" marB="27432" anchor="ctr">
                    <a:solidFill>
                      <a:srgbClr val="101F34"/>
                    </a:solidFill>
                  </a:tcPr>
                </a:tc>
                <a:tc>
                  <a:txBody>
                    <a:bodyPr/>
                    <a:lstStyle/>
                    <a:p>
                      <a:r>
                        <a:rPr sz="1000" b="0" i="0">
                          <a:solidFill>
                            <a:srgbClr val="E8EEF6"/>
                          </a:solidFill>
                          <a:latin typeface="Calibri"/>
                        </a:rPr>
                        <a:t>Filled in ufs_get_device_desc(); used by ufshcd_agg_string()</a:t>
                      </a:r>
                    </a:p>
                  </a:txBody>
                  <a:tcPr marL="54864" marR="54864" marT="27432" marB="27432" anchor="ctr">
                    <a:solidFill>
                      <a:srgbClr val="101F34"/>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626"/>
        </a:solidFill>
        <a:effectLst/>
      </p:bgPr>
    </p:bg>
    <p:spTree>
      <p:nvGrpSpPr>
        <p:cNvPr id="1" name=""/>
        <p:cNvGrpSpPr/>
        <p:nvPr/>
      </p:nvGrpSpPr>
      <p:grpSpPr/>
      <p:sp>
        <p:nvSpPr>
          <p:cNvPr id="2" name="Title"/>
          <p:cNvSpPr txBox="1"/>
          <p:nvPr/>
        </p:nvSpPr>
        <p:spPr>
          <a:xfrm>
            <a:off x="457200" y="274320"/>
            <a:ext cx="11247120" cy="548640"/>
          </a:xfrm>
          <a:prstGeom prst="rect">
            <a:avLst/>
          </a:prstGeom>
          <a:noFill/>
        </p:spPr>
        <p:txBody>
          <a:bodyPr wrap="square" anchor="ctr" lIns="36576" rIns="36576" tIns="18288" bIns="18288">
            <a:spAutoFit/>
          </a:bodyPr>
          <a:lstStyle/>
          <a:p>
            <a:r>
              <a:rPr sz="2400" b="1" i="0">
                <a:solidFill>
                  <a:srgbClr val="E8EEF6"/>
                </a:solidFill>
                <a:latin typeface="Calibri"/>
              </a:rPr>
              <a:t>Before Versus After: Which Init Reads Can Use the Cached Packet</a:t>
            </a:r>
          </a:p>
        </p:txBody>
      </p:sp>
      <p:sp>
        <p:nvSpPr>
          <p:cNvPr id="3" name="Source"/>
          <p:cNvSpPr txBox="1"/>
          <p:nvPr/>
        </p:nvSpPr>
        <p:spPr>
          <a:xfrm>
            <a:off x="457200" y="6473952"/>
            <a:ext cx="10424160" cy="256032"/>
          </a:xfrm>
          <a:prstGeom prst="rect">
            <a:avLst/>
          </a:prstGeom>
          <a:noFill/>
        </p:spPr>
        <p:txBody>
          <a:bodyPr wrap="square" anchor="t" lIns="36576" rIns="36576" tIns="18288" bIns="18288">
            <a:spAutoFit/>
          </a:bodyPr>
          <a:lstStyle/>
          <a:p>
            <a:r>
              <a:rPr sz="1000" b="0" i="0">
                <a:solidFill>
                  <a:srgbClr val="A9B8CC"/>
                </a:solidFill>
                <a:latin typeface="Calibri"/>
              </a:rPr>
              <a:t>Source: [PATCH v2 2/2] commit message and diff — ufshcd_read_attr(), ufshcd_read_flag(), ufshcd_read_desc_param(), ufshcd_agg_string(), ufs_get_device_desc()</a:t>
            </a:r>
          </a:p>
        </p:txBody>
      </p:sp>
      <p:sp>
        <p:nvSpPr>
          <p:cNvPr id="4" name="Slide Number"/>
          <p:cNvSpPr txBox="1"/>
          <p:nvPr/>
        </p:nvSpPr>
        <p:spPr>
          <a:xfrm>
            <a:off x="11064240" y="6473952"/>
            <a:ext cx="685800" cy="256032"/>
          </a:xfrm>
          <a:prstGeom prst="rect">
            <a:avLst/>
          </a:prstGeom>
          <a:noFill/>
        </p:spPr>
        <p:txBody>
          <a:bodyPr wrap="none">
            <a:spAutoFit/>
          </a:bodyPr>
          <a:lstStyle/>
          <a:p>
            <a:pPr algn="r"/>
            <a:fld id="{B6F15528-21DE-4FAA-801E-634DDDAF4B2B}" type="slidenum">
              <a:rPr lang="en-US" sz="1100">
                <a:solidFill>
                  <a:srgbClr val="A9B8CC"/>
                </a:solidFill>
                <a:latin typeface="Calibri"/>
              </a:rPr>
              <a:t>11</a:t>
            </a:fld>
          </a:p>
        </p:txBody>
      </p:sp>
      <p:graphicFrame>
        <p:nvGraphicFramePr>
          <p:cNvPr id="5" name="Table 4"/>
          <p:cNvGraphicFramePr>
            <a:graphicFrameLocks noGrp="1"/>
          </p:cNvGraphicFramePr>
          <p:nvPr/>
        </p:nvGraphicFramePr>
        <p:xfrm>
          <a:off x="457200" y="1097280"/>
          <a:ext cx="11247120" cy="4224528"/>
        </p:xfrm>
        <a:graphic>
          <a:graphicData uri="http://schemas.openxmlformats.org/drawingml/2006/table">
            <a:tbl>
              <a:tblPr firstRow="1" bandRow="1">
                <a:tableStyleId>{5940675A-B579-460E-94D1-54222C63F5DA}</a:tableStyleId>
              </a:tblPr>
              <a:tblGrid>
                <a:gridCol w="2103120"/>
                <a:gridCol w="1325880"/>
                <a:gridCol w="2423160"/>
                <a:gridCol w="2926080"/>
                <a:gridCol w="2468880"/>
              </a:tblGrid>
              <a:tr h="274320">
                <a:tc>
                  <a:txBody>
                    <a:bodyPr/>
                    <a:lstStyle/>
                    <a:p>
                      <a:r>
                        <a:rPr sz="1000" b="1" i="0">
                          <a:solidFill>
                            <a:srgbClr val="E8EEF6"/>
                          </a:solidFill>
                          <a:latin typeface="Calibri"/>
                        </a:rPr>
                        <a:t>Read item</a:t>
                      </a:r>
                    </a:p>
                  </a:txBody>
                  <a:tcPr marL="54864" marR="54864" marT="27432" marB="27432" anchor="ctr">
                    <a:solidFill>
                      <a:srgbClr val="22406A"/>
                    </a:solidFill>
                  </a:tcPr>
                </a:tc>
                <a:tc>
                  <a:txBody>
                    <a:bodyPr/>
                    <a:lstStyle/>
                    <a:p>
                      <a:r>
                        <a:rPr sz="1000" b="1" i="0">
                          <a:solidFill>
                            <a:srgbClr val="E8EEF6"/>
                          </a:solidFill>
                          <a:latin typeface="Calibri"/>
                        </a:rPr>
                        <a:t>IDN / identifier</a:t>
                      </a:r>
                    </a:p>
                  </a:txBody>
                  <a:tcPr marL="54864" marR="54864" marT="27432" marB="27432" anchor="ctr">
                    <a:solidFill>
                      <a:srgbClr val="22406A"/>
                    </a:solidFill>
                  </a:tcPr>
                </a:tc>
                <a:tc>
                  <a:txBody>
                    <a:bodyPr/>
                    <a:lstStyle/>
                    <a:p>
                      <a:r>
                        <a:rPr sz="1000" b="1" i="0">
                          <a:solidFill>
                            <a:srgbClr val="E8EEF6"/>
                          </a:solidFill>
                          <a:latin typeface="Calibri"/>
                        </a:rPr>
                        <a:t>Existing consumer</a:t>
                      </a:r>
                    </a:p>
                  </a:txBody>
                  <a:tcPr marL="54864" marR="54864" marT="27432" marB="27432" anchor="ctr">
                    <a:solidFill>
                      <a:srgbClr val="22406A"/>
                    </a:solidFill>
                  </a:tcPr>
                </a:tc>
                <a:tc>
                  <a:txBody>
                    <a:bodyPr/>
                    <a:lstStyle/>
                    <a:p>
                      <a:r>
                        <a:rPr sz="1000" b="1" i="0">
                          <a:solidFill>
                            <a:srgbClr val="E8EEF6"/>
                          </a:solidFill>
                          <a:latin typeface="Calibri"/>
                        </a:rPr>
                        <a:t>Source after patch</a:t>
                      </a:r>
                    </a:p>
                  </a:txBody>
                  <a:tcPr marL="54864" marR="54864" marT="27432" marB="27432" anchor="ctr">
                    <a:solidFill>
                      <a:srgbClr val="22406A"/>
                    </a:solidFill>
                  </a:tcPr>
                </a:tc>
                <a:tc>
                  <a:txBody>
                    <a:bodyPr/>
                    <a:lstStyle/>
                    <a:p>
                      <a:r>
                        <a:rPr sz="1000" b="1" i="0">
                          <a:solidFill>
                            <a:srgbClr val="E8EEF6"/>
                          </a:solidFill>
                          <a:latin typeface="Calibri"/>
                        </a:rPr>
                        <a:t>Qualification</a:t>
                      </a:r>
                    </a:p>
                  </a:txBody>
                  <a:tcPr marL="54864" marR="54864" marT="27432" marB="27432" anchor="ctr">
                    <a:solidFill>
                      <a:srgbClr val="22406A"/>
                    </a:solidFill>
                  </a:tcPr>
                </a:tc>
              </a:tr>
              <a:tr h="658368">
                <a:tc>
                  <a:txBody>
                    <a:bodyPr/>
                    <a:lstStyle/>
                    <a:p>
                      <a:r>
                        <a:rPr sz="1000" b="0" i="0">
                          <a:solidFill>
                            <a:srgbClr val="E8EEF6"/>
                          </a:solidFill>
                          <a:latin typeface="Calibri"/>
                        </a:rPr>
                        <a:t>Attribute bMaxNumOfRTT</a:t>
                      </a:r>
                    </a:p>
                  </a:txBody>
                  <a:tcPr marL="54864" marR="54864" marT="27432" marB="27432" anchor="ctr">
                    <a:solidFill>
                      <a:srgbClr val="14243B"/>
                    </a:solidFill>
                  </a:tcPr>
                </a:tc>
                <a:tc>
                  <a:txBody>
                    <a:bodyPr/>
                    <a:lstStyle/>
                    <a:p>
                      <a:r>
                        <a:rPr sz="1000" b="0" i="0">
                          <a:solidFill>
                            <a:srgbClr val="E8EEF6"/>
                          </a:solidFill>
                          <a:latin typeface="Calibri"/>
                        </a:rPr>
                        <a:t>0x0c</a:t>
                      </a:r>
                    </a:p>
                  </a:txBody>
                  <a:tcPr marL="54864" marR="54864" marT="27432" marB="27432" anchor="ctr">
                    <a:solidFill>
                      <a:srgbClr val="14243B"/>
                    </a:solidFill>
                  </a:tcPr>
                </a:tc>
                <a:tc>
                  <a:txBody>
                    <a:bodyPr/>
                    <a:lstStyle/>
                    <a:p>
                      <a:r>
                        <a:rPr sz="1000" b="0" i="0">
                          <a:solidFill>
                            <a:srgbClr val="E8EEF6"/>
                          </a:solidFill>
                          <a:latin typeface="Calibri"/>
                        </a:rPr>
                        <a:t>ufshcd_set_rtt()</a:t>
                      </a:r>
                    </a:p>
                  </a:txBody>
                  <a:tcPr marL="54864" marR="54864" marT="27432" marB="27432" anchor="ctr">
                    <a:solidFill>
                      <a:srgbClr val="14243B"/>
                    </a:solidFill>
                  </a:tcPr>
                </a:tc>
                <a:tc>
                  <a:txBody>
                    <a:bodyPr/>
                    <a:lstStyle/>
                    <a:p>
                      <a:r>
                        <a:rPr sz="1000" b="0" i="0">
                          <a:solidFill>
                            <a:srgbClr val="E8EEF6"/>
                          </a:solidFill>
                          <a:latin typeface="Calibri"/>
                        </a:rPr>
                        <a:t>Cache via ufshcd_read_attr(); else ufshcd_query_attr_retry()</a:t>
                      </a:r>
                    </a:p>
                  </a:txBody>
                  <a:tcPr marL="54864" marR="54864" marT="27432" marB="27432" anchor="ctr">
                    <a:solidFill>
                      <a:srgbClr val="14243B"/>
                    </a:solidFill>
                  </a:tcPr>
                </a:tc>
                <a:tc>
                  <a:txBody>
                    <a:bodyPr/>
                    <a:lstStyle/>
                    <a:p>
                      <a:r>
                        <a:rPr sz="1000" b="1" i="0">
                          <a:solidFill>
                            <a:srgbClr val="4ADE80"/>
                          </a:solidFill>
                          <a:latin typeface="Calibri"/>
                        </a:rPr>
                        <a:t>VERIFIED path. Existing wspecversion &lt; 0x400 return kept; window position INFERENCE</a:t>
                      </a:r>
                    </a:p>
                  </a:txBody>
                  <a:tcPr marL="54864" marR="54864" marT="27432" marB="27432" anchor="ctr">
                    <a:solidFill>
                      <a:srgbClr val="14243B"/>
                    </a:solidFill>
                  </a:tcPr>
                </a:tc>
              </a:tr>
              <a:tr h="658368">
                <a:tc>
                  <a:txBody>
                    <a:bodyPr/>
                    <a:lstStyle/>
                    <a:p>
                      <a:r>
                        <a:rPr sz="1000" b="0" i="0">
                          <a:solidFill>
                            <a:srgbClr val="E8EEF6"/>
                          </a:solidFill>
                          <a:latin typeface="Calibri"/>
                        </a:rPr>
                        <a:t>Attribute bRefClkGatingWaitTime</a:t>
                      </a:r>
                    </a:p>
                  </a:txBody>
                  <a:tcPr marL="54864" marR="54864" marT="27432" marB="27432" anchor="ctr">
                    <a:solidFill>
                      <a:srgbClr val="101F34"/>
                    </a:solidFill>
                  </a:tcPr>
                </a:tc>
                <a:tc>
                  <a:txBody>
                    <a:bodyPr/>
                    <a:lstStyle/>
                    <a:p>
                      <a:r>
                        <a:rPr sz="1000" b="0" i="0">
                          <a:solidFill>
                            <a:srgbClr val="E8EEF6"/>
                          </a:solidFill>
                          <a:latin typeface="Calibri"/>
                        </a:rPr>
                        <a:t>0x17</a:t>
                      </a:r>
                    </a:p>
                  </a:txBody>
                  <a:tcPr marL="54864" marR="54864" marT="27432" marB="27432" anchor="ctr">
                    <a:solidFill>
                      <a:srgbClr val="101F34"/>
                    </a:solidFill>
                  </a:tcPr>
                </a:tc>
                <a:tc>
                  <a:txBody>
                    <a:bodyPr/>
                    <a:lstStyle/>
                    <a:p>
                      <a:r>
                        <a:rPr sz="1000" b="0" i="0">
                          <a:solidFill>
                            <a:srgbClr val="E8EEF6"/>
                          </a:solidFill>
                          <a:latin typeface="Calibri"/>
                        </a:rPr>
                        <a:t>ufshcd_get_ref_clk_gating_wait()</a:t>
                      </a:r>
                    </a:p>
                  </a:txBody>
                  <a:tcPr marL="54864" marR="54864" marT="27432" marB="27432" anchor="ctr">
                    <a:solidFill>
                      <a:srgbClr val="101F34"/>
                    </a:solidFill>
                  </a:tcPr>
                </a:tc>
                <a:tc>
                  <a:txBody>
                    <a:bodyPr/>
                    <a:lstStyle/>
                    <a:p>
                      <a:r>
                        <a:rPr sz="1000" b="0" i="0">
                          <a:solidFill>
                            <a:srgbClr val="E8EEF6"/>
                          </a:solidFill>
                          <a:latin typeface="Calibri"/>
                        </a:rPr>
                        <a:t>Cache via ufshcd_read_attr(); else ufshcd_query_attr_retry()</a:t>
                      </a:r>
                    </a:p>
                  </a:txBody>
                  <a:tcPr marL="54864" marR="54864" marT="27432" marB="27432" anchor="ctr">
                    <a:solidFill>
                      <a:srgbClr val="101F34"/>
                    </a:solidFill>
                  </a:tcPr>
                </a:tc>
                <a:tc>
                  <a:txBody>
                    <a:bodyPr/>
                    <a:lstStyle/>
                    <a:p>
                      <a:r>
                        <a:rPr sz="1000" b="1" i="0">
                          <a:solidFill>
                            <a:srgbClr val="4ADE80"/>
                          </a:solidFill>
                          <a:latin typeface="Calibri"/>
                        </a:rPr>
                        <a:t>VERIFIED path. Existing ≥ 0x300 check kept; runs inside device_params_init</a:t>
                      </a:r>
                    </a:p>
                  </a:txBody>
                  <a:tcPr marL="54864" marR="54864" marT="27432" marB="27432" anchor="ctr">
                    <a:solidFill>
                      <a:srgbClr val="101F34"/>
                    </a:solidFill>
                  </a:tcPr>
                </a:tc>
              </a:tr>
              <a:tr h="658368">
                <a:tc>
                  <a:txBody>
                    <a:bodyPr/>
                    <a:lstStyle/>
                    <a:p>
                      <a:r>
                        <a:rPr sz="1000" b="0" i="0">
                          <a:solidFill>
                            <a:srgbClr val="E8EEF6"/>
                          </a:solidFill>
                          <a:latin typeface="Calibri"/>
                        </a:rPr>
                        <a:t>Attribute bWriteBoosterBufferLifeTimeEst</a:t>
                      </a:r>
                    </a:p>
                  </a:txBody>
                  <a:tcPr marL="54864" marR="54864" marT="27432" marB="27432" anchor="ctr">
                    <a:solidFill>
                      <a:srgbClr val="14243B"/>
                    </a:solidFill>
                  </a:tcPr>
                </a:tc>
                <a:tc>
                  <a:txBody>
                    <a:bodyPr/>
                    <a:lstStyle/>
                    <a:p>
                      <a:r>
                        <a:rPr sz="1000" b="0" i="0">
                          <a:solidFill>
                            <a:srgbClr val="E8EEF6"/>
                          </a:solidFill>
                          <a:latin typeface="Calibri"/>
                        </a:rPr>
                        <a:t>0x1e</a:t>
                      </a:r>
                    </a:p>
                  </a:txBody>
                  <a:tcPr marL="54864" marR="54864" marT="27432" marB="27432" anchor="ctr">
                    <a:solidFill>
                      <a:srgbClr val="14243B"/>
                    </a:solidFill>
                  </a:tcPr>
                </a:tc>
                <a:tc>
                  <a:txBody>
                    <a:bodyPr/>
                    <a:lstStyle/>
                    <a:p>
                      <a:r>
                        <a:rPr sz="1000" b="0" i="0">
                          <a:solidFill>
                            <a:srgbClr val="E8EEF6"/>
                          </a:solidFill>
                          <a:latin typeface="Calibri"/>
                        </a:rPr>
                        <a:t>ufshcd_is_wb_buf_lifetime_available() (commit text: ufshcd_wb_probe())</a:t>
                      </a:r>
                    </a:p>
                  </a:txBody>
                  <a:tcPr marL="54864" marR="54864" marT="27432" marB="27432" anchor="ctr">
                    <a:solidFill>
                      <a:srgbClr val="14243B"/>
                    </a:solidFill>
                  </a:tcPr>
                </a:tc>
                <a:tc>
                  <a:txBody>
                    <a:bodyPr/>
                    <a:lstStyle/>
                    <a:p>
                      <a:r>
                        <a:rPr sz="1000" b="0" i="0">
                          <a:solidFill>
                            <a:srgbClr val="E8EEF6"/>
                          </a:solidFill>
                          <a:latin typeface="Calibri"/>
                        </a:rPr>
                        <a:t>Cache only if query index == 0; else individual query</a:t>
                      </a:r>
                    </a:p>
                  </a:txBody>
                  <a:tcPr marL="54864" marR="54864" marT="27432" marB="27432" anchor="ctr">
                    <a:solidFill>
                      <a:srgbClr val="14243B"/>
                    </a:solidFill>
                  </a:tcPr>
                </a:tc>
                <a:tc>
                  <a:txBody>
                    <a:bodyPr/>
                    <a:lstStyle/>
                    <a:p>
                      <a:r>
                        <a:rPr sz="1000" b="1" i="0">
                          <a:solidFill>
                            <a:srgbClr val="FBBF24"/>
                          </a:solidFill>
                          <a:latin typeface="Calibri"/>
                        </a:rPr>
                        <a:t>INFERENCE: index 0 = shared-buffer mode (commit message); wb_probe link not in diff</a:t>
                      </a:r>
                    </a:p>
                  </a:txBody>
                  <a:tcPr marL="54864" marR="54864" marT="27432" marB="27432" anchor="ctr">
                    <a:solidFill>
                      <a:srgbClr val="14243B"/>
                    </a:solidFill>
                  </a:tcPr>
                </a:tc>
              </a:tr>
              <a:tr h="658368">
                <a:tc>
                  <a:txBody>
                    <a:bodyPr/>
                    <a:lstStyle/>
                    <a:p>
                      <a:r>
                        <a:rPr sz="1000" b="0" i="0">
                          <a:solidFill>
                            <a:srgbClr val="E8EEF6"/>
                          </a:solidFill>
                          <a:latin typeface="Calibri"/>
                        </a:rPr>
                        <a:t>Flag fPowerOnWPEn</a:t>
                      </a:r>
                    </a:p>
                  </a:txBody>
                  <a:tcPr marL="54864" marR="54864" marT="27432" marB="27432" anchor="ctr">
                    <a:solidFill>
                      <a:srgbClr val="101F34"/>
                    </a:solidFill>
                  </a:tcPr>
                </a:tc>
                <a:tc>
                  <a:txBody>
                    <a:bodyPr/>
                    <a:lstStyle/>
                    <a:p>
                      <a:r>
                        <a:rPr sz="1000" b="0" i="0">
                          <a:solidFill>
                            <a:srgbClr val="E8EEF6"/>
                          </a:solidFill>
                          <a:latin typeface="Calibri"/>
                        </a:rPr>
                        <a:t>0x03</a:t>
                      </a:r>
                    </a:p>
                  </a:txBody>
                  <a:tcPr marL="54864" marR="54864" marT="27432" marB="27432" anchor="ctr">
                    <a:solidFill>
                      <a:srgbClr val="101F34"/>
                    </a:solidFill>
                  </a:tcPr>
                </a:tc>
                <a:tc>
                  <a:txBody>
                    <a:bodyPr/>
                    <a:lstStyle/>
                    <a:p>
                      <a:r>
                        <a:rPr sz="1000" b="0" i="0">
                          <a:solidFill>
                            <a:srgbClr val="E8EEF6"/>
                          </a:solidFill>
                          <a:latin typeface="Calibri"/>
                        </a:rPr>
                        <a:t>ufshcd_device_params_init()</a:t>
                      </a:r>
                    </a:p>
                  </a:txBody>
                  <a:tcPr marL="54864" marR="54864" marT="27432" marB="27432" anchor="ctr">
                    <a:solidFill>
                      <a:srgbClr val="101F34"/>
                    </a:solidFill>
                  </a:tcPr>
                </a:tc>
                <a:tc>
                  <a:txBody>
                    <a:bodyPr/>
                    <a:lstStyle/>
                    <a:p>
                      <a:r>
                        <a:rPr sz="1000" b="0" i="0">
                          <a:solidFill>
                            <a:srgbClr val="E8EEF6"/>
                          </a:solidFill>
                          <a:latin typeface="Calibri"/>
                        </a:rPr>
                        <a:t>Cache via ufshcd_read_flag(); else ufshcd_query_flag_retry()</a:t>
                      </a:r>
                    </a:p>
                  </a:txBody>
                  <a:tcPr marL="54864" marR="54864" marT="27432" marB="27432" anchor="ctr">
                    <a:solidFill>
                      <a:srgbClr val="101F34"/>
                    </a:solidFill>
                  </a:tcPr>
                </a:tc>
                <a:tc>
                  <a:txBody>
                    <a:bodyPr/>
                    <a:lstStyle/>
                    <a:p>
                      <a:r>
                        <a:rPr sz="1000" b="1" i="0">
                          <a:solidFill>
                            <a:srgbClr val="4ADE80"/>
                          </a:solidFill>
                          <a:latin typeface="Calibri"/>
                        </a:rPr>
                        <a:t>VERIFIED path; flag layout (1 B per IDN) NEEDS TESTING vs JESD220H</a:t>
                      </a:r>
                    </a:p>
                  </a:txBody>
                  <a:tcPr marL="54864" marR="54864" marT="27432" marB="27432" anchor="ctr">
                    <a:solidFill>
                      <a:srgbClr val="101F34"/>
                    </a:solidFill>
                  </a:tcPr>
                </a:tc>
              </a:tr>
              <a:tr h="658368">
                <a:tc>
                  <a:txBody>
                    <a:bodyPr/>
                    <a:lstStyle/>
                    <a:p>
                      <a:r>
                        <a:rPr sz="1000" b="0" i="0">
                          <a:solidFill>
                            <a:srgbClr val="E8EEF6"/>
                          </a:solidFill>
                          <a:latin typeface="Calibri"/>
                        </a:rPr>
                        <a:t>Product Name</a:t>
                      </a:r>
                    </a:p>
                  </a:txBody>
                  <a:tcPr marL="54864" marR="54864" marT="27432" marB="27432" anchor="ctr">
                    <a:solidFill>
                      <a:srgbClr val="14243B"/>
                    </a:solidFill>
                  </a:tcPr>
                </a:tc>
                <a:tc>
                  <a:txBody>
                    <a:bodyPr/>
                    <a:lstStyle/>
                    <a:p>
                      <a:r>
                        <a:rPr sz="1000" b="0" i="0">
                          <a:solidFill>
                            <a:srgbClr val="E8EEF6"/>
                          </a:solidFill>
                          <a:latin typeface="Calibri"/>
                        </a:rPr>
                        <a:t>String desc, group 0x05</a:t>
                      </a:r>
                    </a:p>
                  </a:txBody>
                  <a:tcPr marL="54864" marR="54864" marT="27432" marB="27432" anchor="ctr">
                    <a:solidFill>
                      <a:srgbClr val="14243B"/>
                    </a:solidFill>
                  </a:tcPr>
                </a:tc>
                <a:tc>
                  <a:txBody>
                    <a:bodyPr/>
                    <a:lstStyle/>
                    <a:p>
                      <a:r>
                        <a:rPr sz="1000" b="0" i="0">
                          <a:solidFill>
                            <a:srgbClr val="E8EEF6"/>
                          </a:solidFill>
                          <a:latin typeface="Calibri"/>
                        </a:rPr>
                        <a:t>ufs_get_device_desc()</a:t>
                      </a:r>
                    </a:p>
                  </a:txBody>
                  <a:tcPr marL="54864" marR="54864" marT="27432" marB="27432" anchor="ctr">
                    <a:solidFill>
                      <a:srgbClr val="14243B"/>
                    </a:solidFill>
                  </a:tcPr>
                </a:tc>
                <a:tc>
                  <a:txBody>
                    <a:bodyPr/>
                    <a:lstStyle/>
                    <a:p>
                      <a:r>
                        <a:rPr sz="1000" b="0" i="0">
                          <a:solidFill>
                            <a:srgbClr val="E8EEF6"/>
                          </a:solidFill>
                          <a:latin typeface="Calibri"/>
                        </a:rPr>
                        <a:t>Cache via ufshcd_read_desc_param() → ufshcd_agg_string(); else descriptor query</a:t>
                      </a:r>
                    </a:p>
                  </a:txBody>
                  <a:tcPr marL="54864" marR="54864" marT="27432" marB="27432" anchor="ctr">
                    <a:solidFill>
                      <a:srgbClr val="14243B"/>
                    </a:solidFill>
                  </a:tcPr>
                </a:tc>
                <a:tc>
                  <a:txBody>
                    <a:bodyPr/>
                    <a:lstStyle/>
                    <a:p>
                      <a:r>
                        <a:rPr sz="1000" b="0" i="0">
                          <a:solidFill>
                            <a:srgbClr val="E8EEF6"/>
                          </a:solidFill>
                          <a:latin typeface="Calibri"/>
                        </a:rPr>
                        <a:t>Index from agg_str_idx[1]; caller's use of read_desc_param is INFERENCE</a:t>
                      </a:r>
                    </a:p>
                  </a:txBody>
                  <a:tcPr marL="54864" marR="54864" marT="27432" marB="27432" anchor="ctr">
                    <a:solidFill>
                      <a:srgbClr val="14243B"/>
                    </a:solidFill>
                  </a:tcPr>
                </a:tc>
              </a:tr>
              <a:tr h="658368">
                <a:tc>
                  <a:txBody>
                    <a:bodyPr/>
                    <a:lstStyle/>
                    <a:p>
                      <a:r>
                        <a:rPr sz="1000" b="0" i="0">
                          <a:solidFill>
                            <a:srgbClr val="E8EEF6"/>
                          </a:solidFill>
                          <a:latin typeface="Calibri"/>
                        </a:rPr>
                        <a:t>Serial Number</a:t>
                      </a:r>
                    </a:p>
                  </a:txBody>
                  <a:tcPr marL="54864" marR="54864" marT="27432" marB="27432" anchor="ctr">
                    <a:solidFill>
                      <a:srgbClr val="101F34"/>
                    </a:solidFill>
                  </a:tcPr>
                </a:tc>
                <a:tc>
                  <a:txBody>
                    <a:bodyPr/>
                    <a:lstStyle/>
                    <a:p>
                      <a:r>
                        <a:rPr sz="1000" b="0" i="0">
                          <a:solidFill>
                            <a:srgbClr val="E8EEF6"/>
                          </a:solidFill>
                          <a:latin typeface="Calibri"/>
                        </a:rPr>
                        <a:t>String desc, group 0x07</a:t>
                      </a:r>
                    </a:p>
                  </a:txBody>
                  <a:tcPr marL="54864" marR="54864" marT="27432" marB="27432" anchor="ctr">
                    <a:solidFill>
                      <a:srgbClr val="101F34"/>
                    </a:solidFill>
                  </a:tcPr>
                </a:tc>
                <a:tc>
                  <a:txBody>
                    <a:bodyPr/>
                    <a:lstStyle/>
                    <a:p>
                      <a:r>
                        <a:rPr sz="1000" b="0" i="0">
                          <a:solidFill>
                            <a:srgbClr val="E8EEF6"/>
                          </a:solidFill>
                          <a:latin typeface="Calibri"/>
                        </a:rPr>
                        <a:t>ufshcd_create_device_id() (not in diff)</a:t>
                      </a:r>
                    </a:p>
                  </a:txBody>
                  <a:tcPr marL="54864" marR="54864" marT="27432" marB="27432" anchor="ctr">
                    <a:solidFill>
                      <a:srgbClr val="101F34"/>
                    </a:solidFill>
                  </a:tcPr>
                </a:tc>
                <a:tc>
                  <a:txBody>
                    <a:bodyPr/>
                    <a:lstStyle/>
                    <a:p>
                      <a:r>
                        <a:rPr sz="1000" b="0" i="0">
                          <a:solidFill>
                            <a:srgbClr val="E8EEF6"/>
                          </a:solidFill>
                          <a:latin typeface="Calibri"/>
                        </a:rPr>
                        <a:t>Same string path, agg_str_idx[3]; else descriptor query</a:t>
                      </a:r>
                    </a:p>
                  </a:txBody>
                  <a:tcPr marL="54864" marR="54864" marT="27432" marB="27432" anchor="ctr">
                    <a:solidFill>
                      <a:srgbClr val="101F34"/>
                    </a:solidFill>
                  </a:tcPr>
                </a:tc>
                <a:tc>
                  <a:txBody>
                    <a:bodyPr/>
                    <a:lstStyle/>
                    <a:p>
                      <a:r>
                        <a:rPr sz="1000" b="1" i="0">
                          <a:solidFill>
                            <a:srgbClr val="FBBF24"/>
                          </a:solidFill>
                          <a:latin typeface="Calibri"/>
                        </a:rPr>
                        <a:t>INFERENCE: consumer not shown; parsing and index checks VERIFIED</a:t>
                      </a:r>
                    </a:p>
                  </a:txBody>
                  <a:tcPr marL="54864" marR="54864" marT="27432" marB="27432" anchor="ctr">
                    <a:solidFill>
                      <a:srgbClr val="101F34"/>
                    </a:solidFill>
                  </a:tcPr>
                </a:tc>
              </a:tr>
            </a:tbl>
          </a:graphicData>
        </a:graphic>
      </p:graphicFrame>
      <p:sp>
        <p:nvSpPr>
          <p:cNvPr id="6" name="TextBox 5"/>
          <p:cNvSpPr txBox="1"/>
          <p:nvPr/>
        </p:nvSpPr>
        <p:spPr>
          <a:xfrm>
            <a:off x="457200" y="5440680"/>
            <a:ext cx="11247120" cy="914400"/>
          </a:xfrm>
          <a:prstGeom prst="rect">
            <a:avLst/>
          </a:prstGeom>
          <a:noFill/>
        </p:spPr>
        <p:txBody>
          <a:bodyPr wrap="square" anchor="t" lIns="36576" rIns="36576" tIns="18288" bIns="18288">
            <a:spAutoFit/>
          </a:bodyPr>
          <a:lstStyle/>
          <a:p>
            <a:pPr>
              <a:spcAft>
                <a:spcPts val="300"/>
              </a:spcAft>
            </a:pPr>
            <a:r>
              <a:rPr sz="1100" b="1" i="0">
                <a:solidFill>
                  <a:srgbClr val="2DD4BF"/>
                </a:solidFill>
                <a:latin typeface="Calibri"/>
              </a:rPr>
              <a:t>Requested aggregation: </a:t>
            </a:r>
            <a:r>
              <a:rPr sz="1100" b="0" i="0">
                <a:solidFill>
                  <a:srgbClr val="E8EEF6"/>
                </a:solidFill>
                <a:latin typeface="Calibri"/>
              </a:rPr>
              <a:t>ALL_ATTRS | ALL_FLAGS | STRING_DESC. This is a superset of the six items above; not every read is always cached.</a:t>
            </a:r>
          </a:p>
          <a:p>
            <a:pPr>
              <a:spcAft>
                <a:spcPts val="300"/>
              </a:spcAft>
            </a:pPr>
            <a:r>
              <a:rPr sz="1100" b="1" i="0">
                <a:solidFill>
                  <a:srgbClr val="2DD4BF"/>
                </a:solidFill>
                <a:latin typeface="Calibri"/>
              </a:rPr>
              <a:t>Cache is only valid for: </a:t>
            </a:r>
            <a:r>
              <a:rPr sz="1100" b="0" i="0">
                <a:solidFill>
                  <a:srgbClr val="E8EEF6"/>
                </a:solidFill>
                <a:latin typeface="Calibri"/>
              </a:rPr>
              <a:t>UFS ≥ 5.0, after a successful aggregated read, between ufs_get_device_desc() and the end of ufshcd_device_params_init().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626"/>
        </a:solidFill>
        <a:effectLst/>
      </p:bgPr>
    </p:bg>
    <p:spTree>
      <p:nvGrpSpPr>
        <p:cNvPr id="1" name=""/>
        <p:cNvGrpSpPr/>
        <p:nvPr/>
      </p:nvGrpSpPr>
      <p:grpSpPr/>
      <p:sp>
        <p:nvSpPr>
          <p:cNvPr id="2" name="Title"/>
          <p:cNvSpPr txBox="1"/>
          <p:nvPr/>
        </p:nvSpPr>
        <p:spPr>
          <a:xfrm>
            <a:off x="457200" y="274320"/>
            <a:ext cx="11247120" cy="548640"/>
          </a:xfrm>
          <a:prstGeom prst="rect">
            <a:avLst/>
          </a:prstGeom>
          <a:noFill/>
        </p:spPr>
        <p:txBody>
          <a:bodyPr wrap="square" anchor="ctr" lIns="36576" rIns="36576" tIns="18288" bIns="18288">
            <a:spAutoFit/>
          </a:bodyPr>
          <a:lstStyle/>
          <a:p>
            <a:r>
              <a:rPr sz="2400" b="1" i="0">
                <a:solidFill>
                  <a:srgbClr val="E8EEF6"/>
                </a:solidFill>
                <a:latin typeface="Calibri"/>
              </a:rPr>
              <a:t>Failure Handling and Compatibility: Decision Tree and Fallbacks</a:t>
            </a:r>
          </a:p>
        </p:txBody>
      </p:sp>
      <p:sp>
        <p:nvSpPr>
          <p:cNvPr id="3" name="Source"/>
          <p:cNvSpPr txBox="1"/>
          <p:nvPr/>
        </p:nvSpPr>
        <p:spPr>
          <a:xfrm>
            <a:off x="457200" y="6473952"/>
            <a:ext cx="10424160" cy="256032"/>
          </a:xfrm>
          <a:prstGeom prst="rect">
            <a:avLst/>
          </a:prstGeom>
          <a:noFill/>
        </p:spPr>
        <p:txBody>
          <a:bodyPr wrap="square" anchor="t" lIns="36576" rIns="36576" tIns="18288" bIns="18288">
            <a:spAutoFit/>
          </a:bodyPr>
          <a:lstStyle/>
          <a:p>
            <a:r>
              <a:rPr sz="1000" b="0" i="0">
                <a:solidFill>
                  <a:srgbClr val="A9B8CC"/>
                </a:solidFill>
                <a:latin typeface="Calibri"/>
              </a:rPr>
              <a:t>Source: drivers/ufs/core/ufshcd.c — ufshcd_agg_read_begin(), ufshcd_agg_group(), ufshcd_read_attr(), ufshcd_read_flag(), ufshcd_read_desc_param()</a:t>
            </a:r>
          </a:p>
        </p:txBody>
      </p:sp>
      <p:sp>
        <p:nvSpPr>
          <p:cNvPr id="4" name="Slide Number"/>
          <p:cNvSpPr txBox="1"/>
          <p:nvPr/>
        </p:nvSpPr>
        <p:spPr>
          <a:xfrm>
            <a:off x="11064240" y="6473952"/>
            <a:ext cx="685800" cy="256032"/>
          </a:xfrm>
          <a:prstGeom prst="rect">
            <a:avLst/>
          </a:prstGeom>
          <a:noFill/>
        </p:spPr>
        <p:txBody>
          <a:bodyPr wrap="none">
            <a:spAutoFit/>
          </a:bodyPr>
          <a:lstStyle/>
          <a:p>
            <a:pPr algn="r"/>
            <a:fld id="{B6F15528-21DE-4FAA-801E-634DDDAF4B2B}" type="slidenum">
              <a:rPr lang="en-US" sz="1100">
                <a:solidFill>
                  <a:srgbClr val="A9B8CC"/>
                </a:solidFill>
                <a:latin typeface="Calibri"/>
              </a:rPr>
              <a:t>12</a:t>
            </a:fld>
          </a:p>
        </p:txBody>
      </p:sp>
      <p:sp>
        <p:nvSpPr>
          <p:cNvPr id="5" name="Block 1"/>
          <p:cNvSpPr/>
          <p:nvPr/>
        </p:nvSpPr>
        <p:spPr>
          <a:xfrm>
            <a:off x="457200" y="1188720"/>
            <a:ext cx="2651760" cy="594360"/>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2DD4BF"/>
                </a:solidFill>
                <a:latin typeface="Calibri"/>
              </a:rPr>
              <a:t>[1] </a:t>
            </a:r>
            <a:r>
              <a:rPr sz="1000" b="1" i="0">
                <a:solidFill>
                  <a:srgbClr val="E8EEF6"/>
                </a:solidFill>
                <a:latin typeface="Calibri"/>
              </a:rPr>
              <a:t>begin(): version &lt; 0x500 or unsupported flag?</a:t>
            </a:r>
          </a:p>
        </p:txBody>
      </p:sp>
      <p:sp>
        <p:nvSpPr>
          <p:cNvPr id="6" name="Block 2"/>
          <p:cNvSpPr/>
          <p:nvPr/>
        </p:nvSpPr>
        <p:spPr>
          <a:xfrm>
            <a:off x="457200" y="2057400"/>
            <a:ext cx="2651760" cy="594360"/>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2DD4BF"/>
                </a:solidFill>
                <a:latin typeface="Calibri"/>
              </a:rPr>
              <a:t>[2] </a:t>
            </a:r>
            <a:r>
              <a:rPr sz="1000" b="1" i="0">
                <a:solidFill>
                  <a:srgbClr val="E8EEF6"/>
                </a:solidFill>
                <a:latin typeface="Calibri"/>
              </a:rPr>
              <a:t>kzalloc() succeeds?</a:t>
            </a:r>
          </a:p>
        </p:txBody>
      </p:sp>
      <p:sp>
        <p:nvSpPr>
          <p:cNvPr id="7" name="Block 3"/>
          <p:cNvSpPr/>
          <p:nvPr/>
        </p:nvSpPr>
        <p:spPr>
          <a:xfrm>
            <a:off x="457200" y="2926080"/>
            <a:ext cx="2651760" cy="594360"/>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2DD4BF"/>
                </a:solidFill>
                <a:latin typeface="Calibri"/>
              </a:rPr>
              <a:t>[3] </a:t>
            </a:r>
            <a:r>
              <a:rPr sz="1000" b="1" i="0">
                <a:solidFill>
                  <a:srgbClr val="E8EEF6"/>
                </a:solidFill>
                <a:latin typeface="Calibri"/>
              </a:rPr>
              <a:t>AGGREGATED READ ok within retries?</a:t>
            </a:r>
          </a:p>
        </p:txBody>
      </p:sp>
      <p:sp>
        <p:nvSpPr>
          <p:cNvPr id="8" name="Block 4"/>
          <p:cNvSpPr/>
          <p:nvPr/>
        </p:nvSpPr>
        <p:spPr>
          <a:xfrm>
            <a:off x="457200" y="3794760"/>
            <a:ext cx="2651760" cy="594360"/>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2DD4BF"/>
                </a:solidFill>
                <a:latin typeface="Calibri"/>
              </a:rPr>
              <a:t>[4] </a:t>
            </a:r>
            <a:r>
              <a:rPr sz="1000" b="1" i="0">
                <a:solidFill>
                  <a:srgbClr val="E8EEF6"/>
                </a:solidFill>
                <a:latin typeface="Calibri"/>
              </a:rPr>
              <a:t>consumer lookup: group/item found?</a:t>
            </a:r>
          </a:p>
        </p:txBody>
      </p:sp>
      <p:sp>
        <p:nvSpPr>
          <p:cNvPr id="9" name="Block 5"/>
          <p:cNvSpPr/>
          <p:nvPr/>
        </p:nvSpPr>
        <p:spPr>
          <a:xfrm>
            <a:off x="457200" y="4663440"/>
            <a:ext cx="2651760" cy="594360"/>
          </a:xfrm>
          <a:prstGeom prst="roundRect">
            <a:avLst>
              <a:gd name="adj" fmla="val 10000"/>
            </a:avLst>
          </a:prstGeom>
          <a:solidFill>
            <a:srgbClr val="1B304D"/>
          </a:solidFill>
          <a:ln w="15875">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2DD4BF"/>
                </a:solidFill>
                <a:latin typeface="Calibri"/>
              </a:rPr>
              <a:t>[5] </a:t>
            </a:r>
            <a:r>
              <a:rPr sz="1000" b="1" i="0">
                <a:solidFill>
                  <a:srgbClr val="E8EEF6"/>
                </a:solidFill>
                <a:latin typeface="Calibri"/>
              </a:rPr>
              <a:t>cached value used, no query</a:t>
            </a:r>
          </a:p>
        </p:txBody>
      </p:sp>
      <p:sp>
        <p:nvSpPr>
          <p:cNvPr id="10" name="Block 6"/>
          <p:cNvSpPr/>
          <p:nvPr/>
        </p:nvSpPr>
        <p:spPr>
          <a:xfrm>
            <a:off x="4206240" y="1188720"/>
            <a:ext cx="3200400" cy="594360"/>
          </a:xfrm>
          <a:prstGeom prst="roundRect">
            <a:avLst>
              <a:gd name="adj" fmla="val 10000"/>
            </a:avLst>
          </a:prstGeom>
          <a:solidFill>
            <a:srgbClr val="1B304D"/>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2DD4BF"/>
                </a:solidFill>
                <a:latin typeface="Calibri"/>
              </a:rPr>
              <a:t>[6] </a:t>
            </a:r>
            <a:r>
              <a:rPr sz="1000" b="1" i="0">
                <a:solidFill>
                  <a:srgbClr val="E8EEF6"/>
                </a:solidFill>
                <a:latin typeface="Calibri"/>
              </a:rPr>
              <a:t>return; no cache; individual queries</a:t>
            </a:r>
          </a:p>
        </p:txBody>
      </p:sp>
      <p:sp>
        <p:nvSpPr>
          <p:cNvPr id="11" name="Block 7"/>
          <p:cNvSpPr/>
          <p:nvPr/>
        </p:nvSpPr>
        <p:spPr>
          <a:xfrm>
            <a:off x="4206240" y="2057400"/>
            <a:ext cx="3200400" cy="594360"/>
          </a:xfrm>
          <a:prstGeom prst="roundRect">
            <a:avLst>
              <a:gd name="adj" fmla="val 10000"/>
            </a:avLst>
          </a:prstGeom>
          <a:solidFill>
            <a:srgbClr val="1B304D"/>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2DD4BF"/>
                </a:solidFill>
                <a:latin typeface="Calibri"/>
              </a:rPr>
              <a:t>[7] </a:t>
            </a:r>
            <a:r>
              <a:rPr sz="1000" b="1" i="0">
                <a:solidFill>
                  <a:srgbClr val="E8EEF6"/>
                </a:solidFill>
                <a:latin typeface="Calibri"/>
              </a:rPr>
              <a:t>silent return; flag NOT set; individual</a:t>
            </a:r>
          </a:p>
        </p:txBody>
      </p:sp>
      <p:sp>
        <p:nvSpPr>
          <p:cNvPr id="12" name="Block 8"/>
          <p:cNvSpPr/>
          <p:nvPr/>
        </p:nvSpPr>
        <p:spPr>
          <a:xfrm>
            <a:off x="4206240" y="2926080"/>
            <a:ext cx="3200400" cy="594360"/>
          </a:xfrm>
          <a:prstGeom prst="roundRect">
            <a:avLst>
              <a:gd name="adj" fmla="val 10000"/>
            </a:avLst>
          </a:prstGeom>
          <a:solidFill>
            <a:srgbClr val="1B304D"/>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2DD4BF"/>
                </a:solidFill>
                <a:latin typeface="Calibri"/>
              </a:rPr>
              <a:t>[8] </a:t>
            </a:r>
            <a:r>
              <a:rPr sz="1000" b="1" i="0">
                <a:solidFill>
                  <a:srgbClr val="E8EEF6"/>
                </a:solidFill>
                <a:latin typeface="Calibri"/>
              </a:rPr>
              <a:t>unsupported = true; kfree; individual</a:t>
            </a:r>
          </a:p>
        </p:txBody>
      </p:sp>
      <p:sp>
        <p:nvSpPr>
          <p:cNvPr id="13" name="Block 9"/>
          <p:cNvSpPr/>
          <p:nvPr/>
        </p:nvSpPr>
        <p:spPr>
          <a:xfrm>
            <a:off x="4206240" y="3794760"/>
            <a:ext cx="3200400" cy="594360"/>
          </a:xfrm>
          <a:prstGeom prst="roundRect">
            <a:avLst>
              <a:gd name="adj" fmla="val 10000"/>
            </a:avLst>
          </a:prstGeom>
          <a:solidFill>
            <a:srgbClr val="1B304D"/>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2DD4BF"/>
                </a:solidFill>
                <a:latin typeface="Calibri"/>
              </a:rPr>
              <a:t>[9] </a:t>
            </a:r>
            <a:r>
              <a:rPr sz="1000" b="1" i="0">
                <a:solidFill>
                  <a:srgbClr val="E8EEF6"/>
                </a:solidFill>
                <a:latin typeface="Calibri"/>
              </a:rPr>
              <a:t>NULL / -ENOENT → *_retry() query</a:t>
            </a:r>
          </a:p>
        </p:txBody>
      </p:sp>
      <p:cxnSp>
        <p:nvCxnSpPr>
          <p:cNvPr id="14" name="Arrow A1"/>
          <p:cNvCxnSpPr>
            <a:stCxn id="5" idx="3"/>
            <a:endCxn id="10" idx="1"/>
          </p:cNvCxnSpPr>
          <p:nvPr/>
        </p:nvCxnSpPr>
        <p:spPr>
          <a:xfrm>
            <a:off x="3108960" y="1485900"/>
            <a:ext cx="1097280" cy="0"/>
          </a:xfrm>
          <a:prstGeom prst="line">
            <a:avLst/>
          </a:prstGeom>
          <a:ln w="22225">
            <a:solidFill>
              <a:srgbClr val="FBBF2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Label A1"/>
          <p:cNvSpPr/>
          <p:nvPr/>
        </p:nvSpPr>
        <p:spPr>
          <a:xfrm>
            <a:off x="3360420" y="1184148"/>
            <a:ext cx="594360" cy="237744"/>
          </a:xfrm>
          <a:prstGeom prst="roundRect">
            <a:avLst>
              <a:gd name="adj" fmla="val 50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A1 yes</a:t>
            </a:r>
          </a:p>
        </p:txBody>
      </p:sp>
      <p:cxnSp>
        <p:nvCxnSpPr>
          <p:cNvPr id="16" name="Arrow A2"/>
          <p:cNvCxnSpPr>
            <a:stCxn id="5" idx="2"/>
            <a:endCxn id="6" idx="0"/>
          </p:cNvCxnSpPr>
          <p:nvPr/>
        </p:nvCxnSpPr>
        <p:spPr>
          <a:xfrm>
            <a:off x="1783080" y="1783080"/>
            <a:ext cx="0" cy="274320"/>
          </a:xfrm>
          <a:prstGeom prst="line">
            <a:avLst/>
          </a:prstGeom>
          <a:ln w="22225">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Label A2"/>
          <p:cNvSpPr/>
          <p:nvPr/>
        </p:nvSpPr>
        <p:spPr>
          <a:xfrm>
            <a:off x="1524762" y="1801368"/>
            <a:ext cx="516636" cy="237744"/>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A2 no</a:t>
            </a:r>
          </a:p>
        </p:txBody>
      </p:sp>
      <p:cxnSp>
        <p:nvCxnSpPr>
          <p:cNvPr id="18" name="Arrow A3"/>
          <p:cNvCxnSpPr>
            <a:stCxn id="6" idx="3"/>
            <a:endCxn id="11" idx="1"/>
          </p:cNvCxnSpPr>
          <p:nvPr/>
        </p:nvCxnSpPr>
        <p:spPr>
          <a:xfrm>
            <a:off x="3108960" y="2354580"/>
            <a:ext cx="1097280" cy="0"/>
          </a:xfrm>
          <a:prstGeom prst="line">
            <a:avLst/>
          </a:prstGeom>
          <a:ln w="22225">
            <a:solidFill>
              <a:srgbClr val="FBBF2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Label A3"/>
          <p:cNvSpPr/>
          <p:nvPr/>
        </p:nvSpPr>
        <p:spPr>
          <a:xfrm>
            <a:off x="3399282" y="2052828"/>
            <a:ext cx="516636" cy="237744"/>
          </a:xfrm>
          <a:prstGeom prst="roundRect">
            <a:avLst>
              <a:gd name="adj" fmla="val 50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A3 no</a:t>
            </a:r>
          </a:p>
        </p:txBody>
      </p:sp>
      <p:cxnSp>
        <p:nvCxnSpPr>
          <p:cNvPr id="20" name="Arrow A4"/>
          <p:cNvCxnSpPr>
            <a:stCxn id="6" idx="2"/>
            <a:endCxn id="7" idx="0"/>
          </p:cNvCxnSpPr>
          <p:nvPr/>
        </p:nvCxnSpPr>
        <p:spPr>
          <a:xfrm>
            <a:off x="1783080" y="2651760"/>
            <a:ext cx="0" cy="274320"/>
          </a:xfrm>
          <a:prstGeom prst="line">
            <a:avLst/>
          </a:prstGeom>
          <a:ln w="22225">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Label A4"/>
          <p:cNvSpPr/>
          <p:nvPr/>
        </p:nvSpPr>
        <p:spPr>
          <a:xfrm>
            <a:off x="1485900" y="2670048"/>
            <a:ext cx="594360" cy="237744"/>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A4 yes</a:t>
            </a:r>
          </a:p>
        </p:txBody>
      </p:sp>
      <p:cxnSp>
        <p:nvCxnSpPr>
          <p:cNvPr id="22" name="Arrow A5"/>
          <p:cNvCxnSpPr>
            <a:stCxn id="7" idx="3"/>
            <a:endCxn id="12" idx="1"/>
          </p:cNvCxnSpPr>
          <p:nvPr/>
        </p:nvCxnSpPr>
        <p:spPr>
          <a:xfrm>
            <a:off x="3108960" y="3223260"/>
            <a:ext cx="1097280" cy="0"/>
          </a:xfrm>
          <a:prstGeom prst="line">
            <a:avLst/>
          </a:prstGeom>
          <a:ln w="22225">
            <a:solidFill>
              <a:srgbClr val="FBBF2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Label A5"/>
          <p:cNvSpPr/>
          <p:nvPr/>
        </p:nvSpPr>
        <p:spPr>
          <a:xfrm>
            <a:off x="3399282" y="2921508"/>
            <a:ext cx="516636" cy="237744"/>
          </a:xfrm>
          <a:prstGeom prst="roundRect">
            <a:avLst>
              <a:gd name="adj" fmla="val 50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A5 no</a:t>
            </a:r>
          </a:p>
        </p:txBody>
      </p:sp>
      <p:cxnSp>
        <p:nvCxnSpPr>
          <p:cNvPr id="24" name="Arrow A6"/>
          <p:cNvCxnSpPr>
            <a:stCxn id="7" idx="2"/>
            <a:endCxn id="8" idx="0"/>
          </p:cNvCxnSpPr>
          <p:nvPr/>
        </p:nvCxnSpPr>
        <p:spPr>
          <a:xfrm>
            <a:off x="1783080" y="3520440"/>
            <a:ext cx="0" cy="274320"/>
          </a:xfrm>
          <a:prstGeom prst="line">
            <a:avLst/>
          </a:prstGeom>
          <a:ln w="22225">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Label A6"/>
          <p:cNvSpPr/>
          <p:nvPr/>
        </p:nvSpPr>
        <p:spPr>
          <a:xfrm>
            <a:off x="1485900" y="3538728"/>
            <a:ext cx="594360" cy="237744"/>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A6 yes</a:t>
            </a:r>
          </a:p>
        </p:txBody>
      </p:sp>
      <p:cxnSp>
        <p:nvCxnSpPr>
          <p:cNvPr id="26" name="Arrow A7"/>
          <p:cNvCxnSpPr>
            <a:stCxn id="8" idx="3"/>
            <a:endCxn id="13" idx="1"/>
          </p:cNvCxnSpPr>
          <p:nvPr/>
        </p:nvCxnSpPr>
        <p:spPr>
          <a:xfrm>
            <a:off x="3108960" y="4091940"/>
            <a:ext cx="1097280" cy="0"/>
          </a:xfrm>
          <a:prstGeom prst="line">
            <a:avLst/>
          </a:prstGeom>
          <a:ln w="22225">
            <a:solidFill>
              <a:srgbClr val="FBBF2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Label A7"/>
          <p:cNvSpPr/>
          <p:nvPr/>
        </p:nvSpPr>
        <p:spPr>
          <a:xfrm>
            <a:off x="3399282" y="3790188"/>
            <a:ext cx="516636" cy="237744"/>
          </a:xfrm>
          <a:prstGeom prst="roundRect">
            <a:avLst>
              <a:gd name="adj" fmla="val 50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A7 no</a:t>
            </a:r>
          </a:p>
        </p:txBody>
      </p:sp>
      <p:cxnSp>
        <p:nvCxnSpPr>
          <p:cNvPr id="28" name="Arrow A8"/>
          <p:cNvCxnSpPr>
            <a:stCxn id="8" idx="2"/>
            <a:endCxn id="9" idx="0"/>
          </p:cNvCxnSpPr>
          <p:nvPr/>
        </p:nvCxnSpPr>
        <p:spPr>
          <a:xfrm>
            <a:off x="1783080" y="4389120"/>
            <a:ext cx="0" cy="274320"/>
          </a:xfrm>
          <a:prstGeom prst="line">
            <a:avLst/>
          </a:prstGeom>
          <a:ln w="22225">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Label A8"/>
          <p:cNvSpPr/>
          <p:nvPr/>
        </p:nvSpPr>
        <p:spPr>
          <a:xfrm>
            <a:off x="1485900" y="4407408"/>
            <a:ext cx="594360" cy="237744"/>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A8 yes</a:t>
            </a:r>
          </a:p>
        </p:txBody>
      </p:sp>
      <p:sp>
        <p:nvSpPr>
          <p:cNvPr id="30" name="Legend key"/>
          <p:cNvSpPr txBox="1"/>
          <p:nvPr/>
        </p:nvSpPr>
        <p:spPr>
          <a:xfrm>
            <a:off x="457200" y="5394960"/>
            <a:ext cx="7040880" cy="201168"/>
          </a:xfrm>
          <a:prstGeom prst="rect">
            <a:avLst/>
          </a:prstGeom>
          <a:noFill/>
        </p:spPr>
        <p:txBody>
          <a:bodyPr wrap="square" anchor="t" lIns="36576" rIns="36576" tIns="18288" bIns="18288">
            <a:spAutoFit/>
          </a:bodyPr>
          <a:lstStyle/>
          <a:p>
            <a:r>
              <a:rPr sz="1000" b="0" i="1">
                <a:solidFill>
                  <a:srgbClr val="A9B8CC"/>
                </a:solidFill>
                <a:latin typeface="Calibri"/>
              </a:rPr>
              <a:t>Solid = verified · dashed = conceptual / unverified · amber = fallback</a:t>
            </a:r>
          </a:p>
        </p:txBody>
      </p:sp>
      <p:sp>
        <p:nvSpPr>
          <p:cNvPr id="31" name="Legend 1"/>
          <p:cNvSpPr txBox="1"/>
          <p:nvPr/>
        </p:nvSpPr>
        <p:spPr>
          <a:xfrm>
            <a:off x="457200" y="5596128"/>
            <a:ext cx="3429000" cy="1005840"/>
          </a:xfrm>
          <a:prstGeom prst="rect">
            <a:avLst/>
          </a:prstGeom>
          <a:noFill/>
        </p:spPr>
        <p:txBody>
          <a:bodyPr wrap="square" anchor="t" lIns="36576" rIns="36576" tIns="18288" bIns="18288">
            <a:spAutoFit/>
          </a:bodyPr>
          <a:lstStyle/>
          <a:p>
            <a:r>
              <a:rPr sz="1000" b="1" i="0">
                <a:solidFill>
                  <a:srgbClr val="FBBF24"/>
                </a:solidFill>
                <a:latin typeface="Calibri"/>
              </a:rPr>
              <a:t>A1</a:t>
            </a:r>
            <a:r>
              <a:rPr sz="1000" b="0" i="0">
                <a:solidFill>
                  <a:srgbClr val="A9B8CC"/>
                </a:solidFill>
                <a:latin typeface="Calibri"/>
              </a:rPr>
              <a:t>  [1]→[6]  </a:t>
            </a:r>
            <a:r>
              <a:rPr sz="1000" b="0" i="0">
                <a:solidFill>
                  <a:srgbClr val="E8EEF6"/>
                </a:solidFill>
                <a:latin typeface="Calibri"/>
              </a:rPr>
              <a:t>older device or flag already set</a:t>
            </a:r>
          </a:p>
          <a:p>
            <a:r>
              <a:rPr sz="1000" b="1" i="0">
                <a:solidFill>
                  <a:srgbClr val="2DD4BF"/>
                </a:solidFill>
                <a:latin typeface="Calibri"/>
              </a:rPr>
              <a:t>A2</a:t>
            </a:r>
            <a:r>
              <a:rPr sz="1000" b="0" i="0">
                <a:solidFill>
                  <a:srgbClr val="A9B8CC"/>
                </a:solidFill>
                <a:latin typeface="Calibri"/>
              </a:rPr>
              <a:t>  [1]→[2]  </a:t>
            </a:r>
            <a:r>
              <a:rPr sz="1000" b="0" i="0">
                <a:solidFill>
                  <a:srgbClr val="E8EEF6"/>
                </a:solidFill>
                <a:latin typeface="Calibri"/>
              </a:rPr>
              <a:t>gate passed</a:t>
            </a:r>
          </a:p>
          <a:p>
            <a:r>
              <a:rPr sz="1000" b="1" i="0">
                <a:solidFill>
                  <a:srgbClr val="FBBF24"/>
                </a:solidFill>
                <a:latin typeface="Calibri"/>
              </a:rPr>
              <a:t>A3</a:t>
            </a:r>
            <a:r>
              <a:rPr sz="1000" b="0" i="0">
                <a:solidFill>
                  <a:srgbClr val="A9B8CC"/>
                </a:solidFill>
                <a:latin typeface="Calibri"/>
              </a:rPr>
              <a:t>  [2]→[7]  </a:t>
            </a:r>
            <a:r>
              <a:rPr sz="1000" b="0" i="0">
                <a:solidFill>
                  <a:srgbClr val="E8EEF6"/>
                </a:solidFill>
                <a:latin typeface="Calibri"/>
              </a:rPr>
              <a:t>allocation failure</a:t>
            </a:r>
          </a:p>
          <a:p>
            <a:r>
              <a:rPr sz="1000" b="1" i="0">
                <a:solidFill>
                  <a:srgbClr val="2DD4BF"/>
                </a:solidFill>
                <a:latin typeface="Calibri"/>
              </a:rPr>
              <a:t>A4</a:t>
            </a:r>
            <a:r>
              <a:rPr sz="1000" b="0" i="0">
                <a:solidFill>
                  <a:srgbClr val="A9B8CC"/>
                </a:solidFill>
                <a:latin typeface="Calibri"/>
              </a:rPr>
              <a:t>  [2]→[3]  </a:t>
            </a:r>
            <a:r>
              <a:rPr sz="1000" b="0" i="0">
                <a:solidFill>
                  <a:srgbClr val="E8EEF6"/>
                </a:solidFill>
                <a:latin typeface="Calibri"/>
              </a:rPr>
              <a:t>allocated</a:t>
            </a:r>
          </a:p>
        </p:txBody>
      </p:sp>
      <p:sp>
        <p:nvSpPr>
          <p:cNvPr id="32" name="Legend 2"/>
          <p:cNvSpPr txBox="1"/>
          <p:nvPr/>
        </p:nvSpPr>
        <p:spPr>
          <a:xfrm>
            <a:off x="3977639" y="5596128"/>
            <a:ext cx="3429000" cy="1005840"/>
          </a:xfrm>
          <a:prstGeom prst="rect">
            <a:avLst/>
          </a:prstGeom>
          <a:noFill/>
        </p:spPr>
        <p:txBody>
          <a:bodyPr wrap="square" anchor="t" lIns="36576" rIns="36576" tIns="18288" bIns="18288">
            <a:spAutoFit/>
          </a:bodyPr>
          <a:lstStyle/>
          <a:p>
            <a:r>
              <a:rPr sz="1000" b="1" i="0">
                <a:solidFill>
                  <a:srgbClr val="FBBF24"/>
                </a:solidFill>
                <a:latin typeface="Calibri"/>
              </a:rPr>
              <a:t>A5</a:t>
            </a:r>
            <a:r>
              <a:rPr sz="1000" b="0" i="0">
                <a:solidFill>
                  <a:srgbClr val="A9B8CC"/>
                </a:solidFill>
                <a:latin typeface="Calibri"/>
              </a:rPr>
              <a:t>  [3]→[8]  </a:t>
            </a:r>
            <a:r>
              <a:rPr sz="1000" b="0" i="0">
                <a:solidFill>
                  <a:srgbClr val="E8EEF6"/>
                </a:solidFill>
                <a:latin typeface="Calibri"/>
              </a:rPr>
              <a:t>retries exhausted</a:t>
            </a:r>
          </a:p>
          <a:p>
            <a:r>
              <a:rPr sz="1000" b="1" i="0">
                <a:solidFill>
                  <a:srgbClr val="2DD4BF"/>
                </a:solidFill>
                <a:latin typeface="Calibri"/>
              </a:rPr>
              <a:t>A6</a:t>
            </a:r>
            <a:r>
              <a:rPr sz="1000" b="0" i="0">
                <a:solidFill>
                  <a:srgbClr val="A9B8CC"/>
                </a:solidFill>
                <a:latin typeface="Calibri"/>
              </a:rPr>
              <a:t>  [3]→[4]  </a:t>
            </a:r>
            <a:r>
              <a:rPr sz="1000" b="0" i="0">
                <a:solidFill>
                  <a:srgbClr val="E8EEF6"/>
                </a:solidFill>
                <a:latin typeface="Calibri"/>
              </a:rPr>
              <a:t>packet and length cached</a:t>
            </a:r>
          </a:p>
          <a:p>
            <a:r>
              <a:rPr sz="1000" b="1" i="0">
                <a:solidFill>
                  <a:srgbClr val="FBBF24"/>
                </a:solidFill>
                <a:latin typeface="Calibri"/>
              </a:rPr>
              <a:t>A7</a:t>
            </a:r>
            <a:r>
              <a:rPr sz="1000" b="0" i="0">
                <a:solidFill>
                  <a:srgbClr val="A9B8CC"/>
                </a:solidFill>
                <a:latin typeface="Calibri"/>
              </a:rPr>
              <a:t>  [4]→[9]  </a:t>
            </a:r>
            <a:r>
              <a:rPr sz="1000" b="0" i="0">
                <a:solidFill>
                  <a:srgbClr val="E8EEF6"/>
                </a:solidFill>
                <a:latin typeface="Calibri"/>
              </a:rPr>
              <a:t>miss or invalid offset</a:t>
            </a:r>
          </a:p>
          <a:p>
            <a:r>
              <a:rPr sz="1000" b="1" i="0">
                <a:solidFill>
                  <a:srgbClr val="2DD4BF"/>
                </a:solidFill>
                <a:latin typeface="Calibri"/>
              </a:rPr>
              <a:t>A8</a:t>
            </a:r>
            <a:r>
              <a:rPr sz="1000" b="0" i="0">
                <a:solidFill>
                  <a:srgbClr val="A9B8CC"/>
                </a:solidFill>
                <a:latin typeface="Calibri"/>
              </a:rPr>
              <a:t>  [4]→[5]  </a:t>
            </a:r>
            <a:r>
              <a:rPr sz="1000" b="0" i="0">
                <a:solidFill>
                  <a:srgbClr val="E8EEF6"/>
                </a:solidFill>
                <a:latin typeface="Calibri"/>
              </a:rPr>
              <a:t>hit</a:t>
            </a:r>
          </a:p>
        </p:txBody>
      </p:sp>
      <p:graphicFrame>
        <p:nvGraphicFramePr>
          <p:cNvPr id="33" name="Table 32"/>
          <p:cNvGraphicFramePr>
            <a:graphicFrameLocks noGrp="1"/>
          </p:cNvGraphicFramePr>
          <p:nvPr/>
        </p:nvGraphicFramePr>
        <p:xfrm>
          <a:off x="7680960" y="1188720"/>
          <a:ext cx="4069080" cy="4078224"/>
        </p:xfrm>
        <a:graphic>
          <a:graphicData uri="http://schemas.openxmlformats.org/drawingml/2006/table">
            <a:tbl>
              <a:tblPr firstRow="1" bandRow="1">
                <a:tableStyleId>{5940675A-B579-460E-94D1-54222C63F5DA}</a:tableStyleId>
              </a:tblPr>
              <a:tblGrid>
                <a:gridCol w="1417320"/>
                <a:gridCol w="1783080"/>
                <a:gridCol w="868680"/>
              </a:tblGrid>
              <a:tr h="274320">
                <a:tc>
                  <a:txBody>
                    <a:bodyPr/>
                    <a:lstStyle/>
                    <a:p>
                      <a:r>
                        <a:rPr sz="1000" b="1" i="0">
                          <a:solidFill>
                            <a:srgbClr val="E8EEF6"/>
                          </a:solidFill>
                          <a:latin typeface="Calibri"/>
                        </a:rPr>
                        <a:t>Case</a:t>
                      </a:r>
                    </a:p>
                  </a:txBody>
                  <a:tcPr marL="54864" marR="54864" marT="27432" marB="27432" anchor="ctr">
                    <a:solidFill>
                      <a:srgbClr val="22406A"/>
                    </a:solidFill>
                  </a:tcPr>
                </a:tc>
                <a:tc>
                  <a:txBody>
                    <a:bodyPr/>
                    <a:lstStyle/>
                    <a:p>
                      <a:r>
                        <a:rPr sz="1000" b="1" i="0">
                          <a:solidFill>
                            <a:srgbClr val="E8EEF6"/>
                          </a:solidFill>
                          <a:latin typeface="Calibri"/>
                        </a:rPr>
                        <a:t>Behaviour</a:t>
                      </a:r>
                    </a:p>
                  </a:txBody>
                  <a:tcPr marL="54864" marR="54864" marT="27432" marB="27432" anchor="ctr">
                    <a:solidFill>
                      <a:srgbClr val="22406A"/>
                    </a:solidFill>
                  </a:tcPr>
                </a:tc>
                <a:tc>
                  <a:txBody>
                    <a:bodyPr/>
                    <a:lstStyle/>
                    <a:p>
                      <a:r>
                        <a:rPr sz="1000" b="1" i="0">
                          <a:solidFill>
                            <a:srgbClr val="E8EEF6"/>
                          </a:solidFill>
                          <a:latin typeface="Calibri"/>
                        </a:rPr>
                        <a:t>Class</a:t>
                      </a:r>
                    </a:p>
                  </a:txBody>
                  <a:tcPr marL="54864" marR="54864" marT="27432" marB="27432" anchor="ctr">
                    <a:solidFill>
                      <a:srgbClr val="22406A"/>
                    </a:solidFill>
                  </a:tcPr>
                </a:tc>
              </a:tr>
              <a:tr h="475488">
                <a:tc>
                  <a:txBody>
                    <a:bodyPr/>
                    <a:lstStyle/>
                    <a:p>
                      <a:r>
                        <a:rPr sz="1000" b="0" i="0">
                          <a:solidFill>
                            <a:srgbClr val="E8EEF6"/>
                          </a:solidFill>
                          <a:latin typeface="Calibri"/>
                        </a:rPr>
                        <a:t>Version &lt; 0x500</a:t>
                      </a:r>
                    </a:p>
                  </a:txBody>
                  <a:tcPr marL="54864" marR="54864" marT="27432" marB="27432" anchor="ctr">
                    <a:solidFill>
                      <a:srgbClr val="14243B"/>
                    </a:solidFill>
                  </a:tcPr>
                </a:tc>
                <a:tc>
                  <a:txBody>
                    <a:bodyPr/>
                    <a:lstStyle/>
                    <a:p>
                      <a:r>
                        <a:rPr sz="1000" b="0" i="0">
                          <a:solidFill>
                            <a:srgbClr val="E8EEF6"/>
                          </a:solidFill>
                          <a:latin typeface="Calibri"/>
                        </a:rPr>
                        <a:t>No cache; individual queries</a:t>
                      </a:r>
                    </a:p>
                  </a:txBody>
                  <a:tcPr marL="54864" marR="54864" marT="27432" marB="27432" anchor="ctr">
                    <a:solidFill>
                      <a:srgbClr val="14243B"/>
                    </a:solidFill>
                  </a:tcPr>
                </a:tc>
                <a:tc>
                  <a:txBody>
                    <a:bodyPr/>
                    <a:lstStyle/>
                    <a:p>
                      <a:r>
                        <a:rPr sz="1000" b="1" i="0">
                          <a:solidFill>
                            <a:srgbClr val="4ADE80"/>
                          </a:solidFill>
                          <a:latin typeface="Calibri"/>
                        </a:rPr>
                        <a:t>VERIFIED</a:t>
                      </a:r>
                    </a:p>
                  </a:txBody>
                  <a:tcPr marL="54864" marR="54864" marT="27432" marB="27432" anchor="ctr">
                    <a:solidFill>
                      <a:srgbClr val="14243B"/>
                    </a:solidFill>
                  </a:tcPr>
                </a:tc>
              </a:tr>
              <a:tr h="475488">
                <a:tc>
                  <a:txBody>
                    <a:bodyPr/>
                    <a:lstStyle/>
                    <a:p>
                      <a:r>
                        <a:rPr sz="1000" b="0" i="0">
                          <a:solidFill>
                            <a:srgbClr val="E8EEF6"/>
                          </a:solidFill>
                          <a:latin typeface="Calibri"/>
                        </a:rPr>
                        <a:t>Rejected opcode / failed retries</a:t>
                      </a:r>
                    </a:p>
                  </a:txBody>
                  <a:tcPr marL="54864" marR="54864" marT="27432" marB="27432" anchor="ctr">
                    <a:solidFill>
                      <a:srgbClr val="101F34"/>
                    </a:solidFill>
                  </a:tcPr>
                </a:tc>
                <a:tc>
                  <a:txBody>
                    <a:bodyPr/>
                    <a:lstStyle/>
                    <a:p>
                      <a:r>
                        <a:rPr sz="1000" b="0" i="0">
                          <a:solidFill>
                            <a:srgbClr val="E8EEF6"/>
                          </a:solidFill>
                          <a:latin typeface="Calibri"/>
                        </a:rPr>
                        <a:t>Sticky flag; individual queries</a:t>
                      </a:r>
                    </a:p>
                  </a:txBody>
                  <a:tcPr marL="54864" marR="54864" marT="27432" marB="27432" anchor="ctr">
                    <a:solidFill>
                      <a:srgbClr val="101F34"/>
                    </a:solidFill>
                  </a:tcPr>
                </a:tc>
                <a:tc>
                  <a:txBody>
                    <a:bodyPr/>
                    <a:lstStyle/>
                    <a:p>
                      <a:r>
                        <a:rPr sz="1000" b="1" i="0">
                          <a:solidFill>
                            <a:srgbClr val="4ADE80"/>
                          </a:solidFill>
                          <a:latin typeface="Calibri"/>
                        </a:rPr>
                        <a:t>VERIFIED</a:t>
                      </a:r>
                    </a:p>
                  </a:txBody>
                  <a:tcPr marL="54864" marR="54864" marT="27432" marB="27432" anchor="ctr">
                    <a:solidFill>
                      <a:srgbClr val="101F34"/>
                    </a:solidFill>
                  </a:tcPr>
                </a:tc>
              </a:tr>
              <a:tr h="475488">
                <a:tc>
                  <a:txBody>
                    <a:bodyPr/>
                    <a:lstStyle/>
                    <a:p>
                      <a:r>
                        <a:rPr sz="1000" b="0" i="0">
                          <a:solidFill>
                            <a:srgbClr val="E8EEF6"/>
                          </a:solidFill>
                          <a:latin typeface="Calibri"/>
                        </a:rPr>
                        <a:t>Allocation failure</a:t>
                      </a:r>
                    </a:p>
                  </a:txBody>
                  <a:tcPr marL="54864" marR="54864" marT="27432" marB="27432" anchor="ctr">
                    <a:solidFill>
                      <a:srgbClr val="14243B"/>
                    </a:solidFill>
                  </a:tcPr>
                </a:tc>
                <a:tc>
                  <a:txBody>
                    <a:bodyPr/>
                    <a:lstStyle/>
                    <a:p>
                      <a:r>
                        <a:rPr sz="1000" b="0" i="0">
                          <a:solidFill>
                            <a:srgbClr val="E8EEF6"/>
                          </a:solidFill>
                          <a:latin typeface="Calibri"/>
                        </a:rPr>
                        <a:t>Silent return; individual queries</a:t>
                      </a:r>
                    </a:p>
                  </a:txBody>
                  <a:tcPr marL="54864" marR="54864" marT="27432" marB="27432" anchor="ctr">
                    <a:solidFill>
                      <a:srgbClr val="14243B"/>
                    </a:solidFill>
                  </a:tcPr>
                </a:tc>
                <a:tc>
                  <a:txBody>
                    <a:bodyPr/>
                    <a:lstStyle/>
                    <a:p>
                      <a:r>
                        <a:rPr sz="1000" b="1" i="0">
                          <a:solidFill>
                            <a:srgbClr val="4ADE80"/>
                          </a:solidFill>
                          <a:latin typeface="Calibri"/>
                        </a:rPr>
                        <a:t>VERIFIED</a:t>
                      </a:r>
                    </a:p>
                  </a:txBody>
                  <a:tcPr marL="54864" marR="54864" marT="27432" marB="27432" anchor="ctr">
                    <a:solidFill>
                      <a:srgbClr val="14243B"/>
                    </a:solidFill>
                  </a:tcPr>
                </a:tc>
              </a:tr>
              <a:tr h="475488">
                <a:tc>
                  <a:txBody>
                    <a:bodyPr/>
                    <a:lstStyle/>
                    <a:p>
                      <a:r>
                        <a:rPr sz="1000" b="0" i="0">
                          <a:solidFill>
                            <a:srgbClr val="E8EEF6"/>
                          </a:solidFill>
                          <a:latin typeface="Calibri"/>
                        </a:rPr>
                        <a:t>Missing group or item</a:t>
                      </a:r>
                    </a:p>
                  </a:txBody>
                  <a:tcPr marL="54864" marR="54864" marT="27432" marB="27432" anchor="ctr">
                    <a:solidFill>
                      <a:srgbClr val="101F34"/>
                    </a:solidFill>
                  </a:tcPr>
                </a:tc>
                <a:tc>
                  <a:txBody>
                    <a:bodyPr/>
                    <a:lstStyle/>
                    <a:p>
                      <a:r>
                        <a:rPr sz="1000" b="0" i="0">
                          <a:solidFill>
                            <a:srgbClr val="E8EEF6"/>
                          </a:solidFill>
                          <a:latin typeface="Calibri"/>
                        </a:rPr>
                        <a:t>NULL / -ENOENT → individual</a:t>
                      </a:r>
                    </a:p>
                  </a:txBody>
                  <a:tcPr marL="54864" marR="54864" marT="27432" marB="27432" anchor="ctr">
                    <a:solidFill>
                      <a:srgbClr val="101F34"/>
                    </a:solidFill>
                  </a:tcPr>
                </a:tc>
                <a:tc>
                  <a:txBody>
                    <a:bodyPr/>
                    <a:lstStyle/>
                    <a:p>
                      <a:r>
                        <a:rPr sz="1000" b="1" i="0">
                          <a:solidFill>
                            <a:srgbClr val="4ADE80"/>
                          </a:solidFill>
                          <a:latin typeface="Calibri"/>
                        </a:rPr>
                        <a:t>VERIFIED</a:t>
                      </a:r>
                    </a:p>
                  </a:txBody>
                  <a:tcPr marL="54864" marR="54864" marT="27432" marB="27432" anchor="ctr">
                    <a:solidFill>
                      <a:srgbClr val="101F34"/>
                    </a:solidFill>
                  </a:tcPr>
                </a:tc>
              </a:tr>
              <a:tr h="475488">
                <a:tc>
                  <a:txBody>
                    <a:bodyPr/>
                    <a:lstStyle/>
                    <a:p>
                      <a:r>
                        <a:rPr sz="1000" b="0" i="0">
                          <a:solidFill>
                            <a:srgbClr val="E8EEF6"/>
                          </a:solidFill>
                          <a:latin typeface="Calibri"/>
                        </a:rPr>
                        <a:t>Malformed group offsets</a:t>
                      </a:r>
                    </a:p>
                  </a:txBody>
                  <a:tcPr marL="54864" marR="54864" marT="27432" marB="27432" anchor="ctr">
                    <a:solidFill>
                      <a:srgbClr val="14243B"/>
                    </a:solidFill>
                  </a:tcPr>
                </a:tc>
                <a:tc>
                  <a:txBody>
                    <a:bodyPr/>
                    <a:lstStyle/>
                    <a:p>
                      <a:r>
                        <a:rPr sz="1000" b="0" i="0">
                          <a:solidFill>
                            <a:srgbClr val="E8EEF6"/>
                          </a:solidFill>
                          <a:latin typeface="Calibri"/>
                        </a:rPr>
                        <a:t>Walk returns NULL (code); runtime unproven</a:t>
                      </a:r>
                    </a:p>
                  </a:txBody>
                  <a:tcPr marL="54864" marR="54864" marT="27432" marB="27432" anchor="ctr">
                    <a:solidFill>
                      <a:srgbClr val="14243B"/>
                    </a:solidFill>
                  </a:tcPr>
                </a:tc>
                <a:tc>
                  <a:txBody>
                    <a:bodyPr/>
                    <a:lstStyle/>
                    <a:p>
                      <a:r>
                        <a:rPr sz="1000" b="1" i="0">
                          <a:solidFill>
                            <a:srgbClr val="F87171"/>
                          </a:solidFill>
                          <a:latin typeface="Calibri"/>
                        </a:rPr>
                        <a:t>NEEDS TESTING</a:t>
                      </a:r>
                    </a:p>
                  </a:txBody>
                  <a:tcPr marL="54864" marR="54864" marT="27432" marB="27432" anchor="ctr">
                    <a:solidFill>
                      <a:srgbClr val="14243B"/>
                    </a:solidFill>
                  </a:tcPr>
                </a:tc>
              </a:tr>
              <a:tr h="475488">
                <a:tc>
                  <a:txBody>
                    <a:bodyPr/>
                    <a:lstStyle/>
                    <a:p>
                      <a:r>
                        <a:rPr sz="1000" b="0" i="0">
                          <a:solidFill>
                            <a:srgbClr val="E8EEF6"/>
                          </a:solidFill>
                          <a:latin typeface="Calibri"/>
                        </a:rPr>
                        <a:t>Truncated / over-long reply</a:t>
                      </a:r>
                    </a:p>
                  </a:txBody>
                  <a:tcPr marL="54864" marR="54864" marT="27432" marB="27432" anchor="ctr">
                    <a:solidFill>
                      <a:srgbClr val="101F34"/>
                    </a:solidFill>
                  </a:tcPr>
                </a:tc>
                <a:tc>
                  <a:txBody>
                    <a:bodyPr/>
                    <a:lstStyle/>
                    <a:p>
                      <a:r>
                        <a:rPr sz="1000" b="0" i="0">
                          <a:solidFill>
                            <a:srgbClr val="E8EEF6"/>
                          </a:solidFill>
                          <a:latin typeface="Calibri"/>
                        </a:rPr>
                        <a:t>Length not re-checked in diff</a:t>
                      </a:r>
                    </a:p>
                  </a:txBody>
                  <a:tcPr marL="54864" marR="54864" marT="27432" marB="27432" anchor="ctr">
                    <a:solidFill>
                      <a:srgbClr val="101F34"/>
                    </a:solidFill>
                  </a:tcPr>
                </a:tc>
                <a:tc>
                  <a:txBody>
                    <a:bodyPr/>
                    <a:lstStyle/>
                    <a:p>
                      <a:r>
                        <a:rPr sz="1000" b="1" i="0">
                          <a:solidFill>
                            <a:srgbClr val="F87171"/>
                          </a:solidFill>
                          <a:latin typeface="Calibri"/>
                        </a:rPr>
                        <a:t>NEEDS TESTING</a:t>
                      </a:r>
                    </a:p>
                  </a:txBody>
                  <a:tcPr marL="54864" marR="54864" marT="27432" marB="27432" anchor="ctr">
                    <a:solidFill>
                      <a:srgbClr val="101F34"/>
                    </a:solidFill>
                  </a:tcPr>
                </a:tc>
              </a:tr>
              <a:tr h="475488">
                <a:tc>
                  <a:txBody>
                    <a:bodyPr/>
                    <a:lstStyle/>
                    <a:p>
                      <a:r>
                        <a:rPr sz="1000" b="0" i="0">
                          <a:solidFill>
                            <a:srgbClr val="E8EEF6"/>
                          </a:solidFill>
                          <a:latin typeface="Calibri"/>
                        </a:rPr>
                        <a:t>Repeat init / early exit</a:t>
                      </a:r>
                    </a:p>
                  </a:txBody>
                  <a:tcPr marL="54864" marR="54864" marT="27432" marB="27432" anchor="ctr">
                    <a:solidFill>
                      <a:srgbClr val="14243B"/>
                    </a:solidFill>
                  </a:tcPr>
                </a:tc>
                <a:tc>
                  <a:txBody>
                    <a:bodyPr/>
                    <a:lstStyle/>
                    <a:p>
                      <a:r>
                        <a:rPr sz="1000" b="0" i="0">
                          <a:solidFill>
                            <a:srgbClr val="E8EEF6"/>
                          </a:solidFill>
                          <a:latin typeface="Calibri"/>
                        </a:rPr>
                        <a:t>begin() does not free old pointer</a:t>
                      </a:r>
                    </a:p>
                  </a:txBody>
                  <a:tcPr marL="54864" marR="54864" marT="27432" marB="27432" anchor="ctr">
                    <a:solidFill>
                      <a:srgbClr val="14243B"/>
                    </a:solidFill>
                  </a:tcPr>
                </a:tc>
                <a:tc>
                  <a:txBody>
                    <a:bodyPr/>
                    <a:lstStyle/>
                    <a:p>
                      <a:r>
                        <a:rPr sz="1000" b="1" i="0">
                          <a:solidFill>
                            <a:srgbClr val="FBBF24"/>
                          </a:solidFill>
                          <a:latin typeface="Calibri"/>
                        </a:rPr>
                        <a:t>INFERENCE</a:t>
                      </a:r>
                    </a:p>
                  </a:txBody>
                  <a:tcPr marL="54864" marR="54864" marT="27432" marB="27432" anchor="ctr">
                    <a:solidFill>
                      <a:srgbClr val="14243B"/>
                    </a:solidFill>
                  </a:tcPr>
                </a:tc>
              </a:tr>
              <a:tr h="475488">
                <a:tc>
                  <a:txBody>
                    <a:bodyPr/>
                    <a:lstStyle/>
                    <a:p>
                      <a:r>
                        <a:rPr sz="1000" b="0" i="0">
                          <a:solidFill>
                            <a:srgbClr val="E8EEF6"/>
                          </a:solidFill>
                          <a:latin typeface="Calibri"/>
                        </a:rPr>
                        <a:t>Transient failure</a:t>
                      </a:r>
                    </a:p>
                  </a:txBody>
                  <a:tcPr marL="54864" marR="54864" marT="27432" marB="27432" anchor="ctr">
                    <a:solidFill>
                      <a:srgbClr val="101F34"/>
                    </a:solidFill>
                  </a:tcPr>
                </a:tc>
                <a:tc>
                  <a:txBody>
                    <a:bodyPr/>
                    <a:lstStyle/>
                    <a:p>
                      <a:r>
                        <a:rPr sz="1000" b="0" i="0">
                          <a:solidFill>
                            <a:srgbClr val="E8EEF6"/>
                          </a:solidFill>
                          <a:latin typeface="Calibri"/>
                        </a:rPr>
                        <a:t>May disable aggregation later</a:t>
                      </a:r>
                    </a:p>
                  </a:txBody>
                  <a:tcPr marL="54864" marR="54864" marT="27432" marB="27432" anchor="ctr">
                    <a:solidFill>
                      <a:srgbClr val="101F34"/>
                    </a:solidFill>
                  </a:tcPr>
                </a:tc>
                <a:tc>
                  <a:txBody>
                    <a:bodyPr/>
                    <a:lstStyle/>
                    <a:p>
                      <a:r>
                        <a:rPr sz="1000" b="1" i="0">
                          <a:solidFill>
                            <a:srgbClr val="F87171"/>
                          </a:solidFill>
                          <a:latin typeface="Calibri"/>
                        </a:rPr>
                        <a:t>NEEDS TESTING</a:t>
                      </a:r>
                    </a:p>
                  </a:txBody>
                  <a:tcPr marL="54864" marR="54864" marT="27432" marB="27432" anchor="ctr">
                    <a:solidFill>
                      <a:srgbClr val="101F34"/>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626"/>
        </a:solidFill>
        <a:effectLst/>
      </p:bgPr>
    </p:bg>
    <p:spTree>
      <p:nvGrpSpPr>
        <p:cNvPr id="1" name=""/>
        <p:cNvGrpSpPr/>
        <p:nvPr/>
      </p:nvGrpSpPr>
      <p:grpSpPr/>
      <p:sp>
        <p:nvSpPr>
          <p:cNvPr id="2" name="Title"/>
          <p:cNvSpPr txBox="1"/>
          <p:nvPr/>
        </p:nvSpPr>
        <p:spPr>
          <a:xfrm>
            <a:off x="457200" y="274320"/>
            <a:ext cx="11247120" cy="548640"/>
          </a:xfrm>
          <a:prstGeom prst="rect">
            <a:avLst/>
          </a:prstGeom>
          <a:noFill/>
        </p:spPr>
        <p:txBody>
          <a:bodyPr wrap="square" anchor="ctr" lIns="36576" rIns="36576" tIns="18288" bIns="18288">
            <a:spAutoFit/>
          </a:bodyPr>
          <a:lstStyle/>
          <a:p>
            <a:r>
              <a:rPr sz="2400" b="1" i="0">
                <a:solidFill>
                  <a:srgbClr val="E8EEF6"/>
                </a:solidFill>
                <a:latin typeface="Calibri"/>
              </a:rPr>
              <a:t>Code Review Findings: Verified, Inferred and Open Items</a:t>
            </a:r>
          </a:p>
        </p:txBody>
      </p:sp>
      <p:sp>
        <p:nvSpPr>
          <p:cNvPr id="3" name="Source"/>
          <p:cNvSpPr txBox="1"/>
          <p:nvPr/>
        </p:nvSpPr>
        <p:spPr>
          <a:xfrm>
            <a:off x="457200" y="6473952"/>
            <a:ext cx="10424160" cy="256032"/>
          </a:xfrm>
          <a:prstGeom prst="rect">
            <a:avLst/>
          </a:prstGeom>
          <a:noFill/>
        </p:spPr>
        <p:txBody>
          <a:bodyPr wrap="square" anchor="t" lIns="36576" rIns="36576" tIns="18288" bIns="18288">
            <a:spAutoFit/>
          </a:bodyPr>
          <a:lstStyle/>
          <a:p>
            <a:r>
              <a:rPr sz="1000" b="0" i="0">
                <a:solidFill>
                  <a:srgbClr val="A9B8CC"/>
                </a:solidFill>
                <a:latin typeface="Calibri"/>
              </a:rPr>
              <a:t>Source: drivers/ufs/core/ufshcd.c — ufshcd_agg_group(), ufshcd_agg_attr(), ufshcd_agg_flag(), ufshcd_agg_read_begin(), ufshcd_read_desc_param()</a:t>
            </a:r>
          </a:p>
        </p:txBody>
      </p:sp>
      <p:sp>
        <p:nvSpPr>
          <p:cNvPr id="4" name="Slide Number"/>
          <p:cNvSpPr txBox="1"/>
          <p:nvPr/>
        </p:nvSpPr>
        <p:spPr>
          <a:xfrm>
            <a:off x="11064240" y="6473952"/>
            <a:ext cx="685800" cy="256032"/>
          </a:xfrm>
          <a:prstGeom prst="rect">
            <a:avLst/>
          </a:prstGeom>
          <a:noFill/>
        </p:spPr>
        <p:txBody>
          <a:bodyPr wrap="none">
            <a:spAutoFit/>
          </a:bodyPr>
          <a:lstStyle/>
          <a:p>
            <a:pPr algn="r"/>
            <a:fld id="{B6F15528-21DE-4FAA-801E-634DDDAF4B2B}" type="slidenum">
              <a:rPr lang="en-US" sz="1100">
                <a:solidFill>
                  <a:srgbClr val="A9B8CC"/>
                </a:solidFill>
                <a:latin typeface="Calibri"/>
              </a:rPr>
              <a:t>13</a:t>
            </a:fld>
          </a:p>
        </p:txBody>
      </p:sp>
      <p:graphicFrame>
        <p:nvGraphicFramePr>
          <p:cNvPr id="5" name="Table 4"/>
          <p:cNvGraphicFramePr>
            <a:graphicFrameLocks noGrp="1"/>
          </p:cNvGraphicFramePr>
          <p:nvPr/>
        </p:nvGraphicFramePr>
        <p:xfrm>
          <a:off x="457200" y="1051560"/>
          <a:ext cx="11247120" cy="5212080"/>
        </p:xfrm>
        <a:graphic>
          <a:graphicData uri="http://schemas.openxmlformats.org/drawingml/2006/table">
            <a:tbl>
              <a:tblPr firstRow="1" bandRow="1">
                <a:tableStyleId>{5940675A-B579-460E-94D1-54222C63F5DA}</a:tableStyleId>
              </a:tblPr>
              <a:tblGrid>
                <a:gridCol w="502920"/>
                <a:gridCol w="9372600"/>
                <a:gridCol w="1371600"/>
              </a:tblGrid>
              <a:tr h="274320">
                <a:tc>
                  <a:txBody>
                    <a:bodyPr/>
                    <a:lstStyle/>
                    <a:p>
                      <a:r>
                        <a:rPr sz="1000" b="1" i="0">
                          <a:solidFill>
                            <a:srgbClr val="E8EEF6"/>
                          </a:solidFill>
                          <a:latin typeface="Calibri"/>
                        </a:rPr>
                        <a:t>#</a:t>
                      </a:r>
                    </a:p>
                  </a:txBody>
                  <a:tcPr marL="54864" marR="54864" marT="27432" marB="27432" anchor="ctr">
                    <a:solidFill>
                      <a:srgbClr val="22406A"/>
                    </a:solidFill>
                  </a:tcPr>
                </a:tc>
                <a:tc>
                  <a:txBody>
                    <a:bodyPr/>
                    <a:lstStyle/>
                    <a:p>
                      <a:r>
                        <a:rPr sz="1000" b="1" i="0">
                          <a:solidFill>
                            <a:srgbClr val="E8EEF6"/>
                          </a:solidFill>
                          <a:latin typeface="Calibri"/>
                        </a:rPr>
                        <a:t>Finding</a:t>
                      </a:r>
                    </a:p>
                  </a:txBody>
                  <a:tcPr marL="54864" marR="54864" marT="27432" marB="27432" anchor="ctr">
                    <a:solidFill>
                      <a:srgbClr val="22406A"/>
                    </a:solidFill>
                  </a:tcPr>
                </a:tc>
                <a:tc>
                  <a:txBody>
                    <a:bodyPr/>
                    <a:lstStyle/>
                    <a:p>
                      <a:r>
                        <a:rPr sz="1000" b="1" i="0">
                          <a:solidFill>
                            <a:srgbClr val="E8EEF6"/>
                          </a:solidFill>
                          <a:latin typeface="Calibri"/>
                        </a:rPr>
                        <a:t>Class</a:t>
                      </a:r>
                    </a:p>
                  </a:txBody>
                  <a:tcPr marL="54864" marR="54864" marT="27432" marB="27432" anchor="ctr">
                    <a:solidFill>
                      <a:srgbClr val="22406A"/>
                    </a:solidFill>
                  </a:tcPr>
                </a:tc>
              </a:tr>
              <a:tr h="411480">
                <a:tc>
                  <a:txBody>
                    <a:bodyPr/>
                    <a:lstStyle/>
                    <a:p>
                      <a:r>
                        <a:rPr sz="1000" b="0" i="0">
                          <a:solidFill>
                            <a:srgbClr val="E8EEF6"/>
                          </a:solidFill>
                          <a:latin typeface="Calibri"/>
                        </a:rPr>
                        <a:t>F1</a:t>
                      </a:r>
                    </a:p>
                  </a:txBody>
                  <a:tcPr marL="54864" marR="54864" marT="27432" marB="27432" anchor="ctr">
                    <a:solidFill>
                      <a:srgbClr val="14243B"/>
                    </a:solidFill>
                  </a:tcPr>
                </a:tc>
                <a:tc>
                  <a:txBody>
                    <a:bodyPr/>
                    <a:lstStyle/>
                    <a:p>
                      <a:r>
                        <a:rPr sz="1000" b="0" i="0">
                          <a:solidFill>
                            <a:srgbClr val="E8EEF6"/>
                          </a:solidFill>
                          <a:latin typeface="Calibri"/>
                        </a:rPr>
                        <a:t>Group walk is bounded: next ≥ payload_off and next + 4 ≤ packet_len, else NULL; offsets strictly increase; 0 ends the chain</a:t>
                      </a:r>
                    </a:p>
                  </a:txBody>
                  <a:tcPr marL="54864" marR="54864" marT="27432" marB="27432" anchor="ctr">
                    <a:solidFill>
                      <a:srgbClr val="14243B"/>
                    </a:solidFill>
                  </a:tcPr>
                </a:tc>
                <a:tc>
                  <a:txBody>
                    <a:bodyPr/>
                    <a:lstStyle/>
                    <a:p>
                      <a:r>
                        <a:rPr sz="1000" b="1" i="0">
                          <a:solidFill>
                            <a:srgbClr val="4ADE80"/>
                          </a:solidFill>
                          <a:latin typeface="Calibri"/>
                        </a:rPr>
                        <a:t>VERIFIED</a:t>
                      </a:r>
                    </a:p>
                  </a:txBody>
                  <a:tcPr marL="54864" marR="54864" marT="27432" marB="27432" anchor="ctr">
                    <a:solidFill>
                      <a:srgbClr val="14243B"/>
                    </a:solidFill>
                  </a:tcPr>
                </a:tc>
              </a:tr>
              <a:tr h="411480">
                <a:tc>
                  <a:txBody>
                    <a:bodyPr/>
                    <a:lstStyle/>
                    <a:p>
                      <a:r>
                        <a:rPr sz="1000" b="0" i="0">
                          <a:solidFill>
                            <a:srgbClr val="E8EEF6"/>
                          </a:solidFill>
                          <a:latin typeface="Calibri"/>
                        </a:rPr>
                        <a:t>F2</a:t>
                      </a:r>
                    </a:p>
                  </a:txBody>
                  <a:tcPr marL="54864" marR="54864" marT="27432" marB="27432" anchor="ctr">
                    <a:solidFill>
                      <a:srgbClr val="101F34"/>
                    </a:solidFill>
                  </a:tcPr>
                </a:tc>
                <a:tc>
                  <a:txBody>
                    <a:bodyPr/>
                    <a:lstStyle/>
                    <a:p>
                      <a:r>
                        <a:rPr sz="1000" b="0" i="0">
                          <a:solidFill>
                            <a:srgbClr val="E8EEF6"/>
                          </a:solidFill>
                          <a:latin typeface="Calibri"/>
                        </a:rPr>
                        <a:t>agg_packet_len = data_segment_length is not compared with the QUERY_AGGREGATED_MAX_SIZE buffer in the diff; copy-path clamp unseen</a:t>
                      </a:r>
                    </a:p>
                  </a:txBody>
                  <a:tcPr marL="54864" marR="54864" marT="27432" marB="27432" anchor="ctr">
                    <a:solidFill>
                      <a:srgbClr val="101F34"/>
                    </a:solidFill>
                  </a:tcPr>
                </a:tc>
                <a:tc>
                  <a:txBody>
                    <a:bodyPr/>
                    <a:lstStyle/>
                    <a:p>
                      <a:r>
                        <a:rPr sz="1000" b="1" i="0">
                          <a:solidFill>
                            <a:srgbClr val="F87171"/>
                          </a:solidFill>
                          <a:latin typeface="Calibri"/>
                        </a:rPr>
                        <a:t>NEEDS TESTING</a:t>
                      </a:r>
                    </a:p>
                  </a:txBody>
                  <a:tcPr marL="54864" marR="54864" marT="27432" marB="27432" anchor="ctr">
                    <a:solidFill>
                      <a:srgbClr val="101F34"/>
                    </a:solidFill>
                  </a:tcPr>
                </a:tc>
              </a:tr>
              <a:tr h="411480">
                <a:tc>
                  <a:txBody>
                    <a:bodyPr/>
                    <a:lstStyle/>
                    <a:p>
                      <a:r>
                        <a:rPr sz="1000" b="0" i="0">
                          <a:solidFill>
                            <a:srgbClr val="E8EEF6"/>
                          </a:solidFill>
                          <a:latin typeface="Calibri"/>
                        </a:rPr>
                        <a:t>F3</a:t>
                      </a:r>
                    </a:p>
                  </a:txBody>
                  <a:tcPr marL="54864" marR="54864" marT="27432" marB="27432" anchor="ctr">
                    <a:solidFill>
                      <a:srgbClr val="14243B"/>
                    </a:solidFill>
                  </a:tcPr>
                </a:tc>
                <a:tc>
                  <a:txBody>
                    <a:bodyPr/>
                    <a:lstStyle/>
                    <a:p>
                      <a:r>
                        <a:rPr sz="1000" b="0" i="0">
                          <a:solidFill>
                            <a:srgbClr val="E8EEF6"/>
                          </a:solidFill>
                          <a:latin typeface="Calibri"/>
                        </a:rPr>
                        <a:t>Any failure after QUERY_REQ_RETRIES sets sticky agg_read_unsupported (not only a genuine reject); never cleared in diff</a:t>
                      </a:r>
                    </a:p>
                  </a:txBody>
                  <a:tcPr marL="54864" marR="54864" marT="27432" marB="27432" anchor="ctr">
                    <a:solidFill>
                      <a:srgbClr val="14243B"/>
                    </a:solidFill>
                  </a:tcPr>
                </a:tc>
                <a:tc>
                  <a:txBody>
                    <a:bodyPr/>
                    <a:lstStyle/>
                    <a:p>
                      <a:r>
                        <a:rPr sz="1000" b="1" i="0">
                          <a:solidFill>
                            <a:srgbClr val="4ADE80"/>
                          </a:solidFill>
                          <a:latin typeface="Calibri"/>
                        </a:rPr>
                        <a:t>VERIFIED</a:t>
                      </a:r>
                    </a:p>
                  </a:txBody>
                  <a:tcPr marL="54864" marR="54864" marT="27432" marB="27432" anchor="ctr">
                    <a:solidFill>
                      <a:srgbClr val="14243B"/>
                    </a:solidFill>
                  </a:tcPr>
                </a:tc>
              </a:tr>
              <a:tr h="411480">
                <a:tc>
                  <a:txBody>
                    <a:bodyPr/>
                    <a:lstStyle/>
                    <a:p>
                      <a:r>
                        <a:rPr sz="1000" b="0" i="0">
                          <a:solidFill>
                            <a:srgbClr val="E8EEF6"/>
                          </a:solidFill>
                          <a:latin typeface="Calibri"/>
                        </a:rPr>
                        <a:t>F4</a:t>
                      </a:r>
                    </a:p>
                  </a:txBody>
                  <a:tcPr marL="54864" marR="54864" marT="27432" marB="27432" anchor="ctr">
                    <a:solidFill>
                      <a:srgbClr val="101F34"/>
                    </a:solidFill>
                  </a:tcPr>
                </a:tc>
                <a:tc>
                  <a:txBody>
                    <a:bodyPr/>
                    <a:lstStyle/>
                    <a:p>
                      <a:r>
                        <a:rPr sz="1000" b="0" i="0">
                          <a:solidFill>
                            <a:srgbClr val="E8EEF6"/>
                          </a:solidFill>
                          <a:latin typeface="Calibri"/>
                        </a:rPr>
                        <a:t>begin() (ufs_get_device_desc) and end() (only at out: of device_params_init) are in different functions; begin() does not free an old pointer</a:t>
                      </a:r>
                    </a:p>
                  </a:txBody>
                  <a:tcPr marL="54864" marR="54864" marT="27432" marB="27432" anchor="ctr">
                    <a:solidFill>
                      <a:srgbClr val="101F34"/>
                    </a:solidFill>
                  </a:tcPr>
                </a:tc>
                <a:tc>
                  <a:txBody>
                    <a:bodyPr/>
                    <a:lstStyle/>
                    <a:p>
                      <a:r>
                        <a:rPr sz="1000" b="1" i="0">
                          <a:solidFill>
                            <a:srgbClr val="FBBF24"/>
                          </a:solidFill>
                          <a:latin typeface="Calibri"/>
                        </a:rPr>
                        <a:t>INFERENCE</a:t>
                      </a:r>
                    </a:p>
                  </a:txBody>
                  <a:tcPr marL="54864" marR="54864" marT="27432" marB="27432" anchor="ctr">
                    <a:solidFill>
                      <a:srgbClr val="101F34"/>
                    </a:solidFill>
                  </a:tcPr>
                </a:tc>
              </a:tr>
              <a:tr h="411480">
                <a:tc>
                  <a:txBody>
                    <a:bodyPr/>
                    <a:lstStyle/>
                    <a:p>
                      <a:r>
                        <a:rPr sz="1000" b="0" i="0">
                          <a:solidFill>
                            <a:srgbClr val="E8EEF6"/>
                          </a:solidFill>
                          <a:latin typeface="Calibri"/>
                        </a:rPr>
                        <a:t>F5</a:t>
                      </a:r>
                    </a:p>
                  </a:txBody>
                  <a:tcPr marL="54864" marR="54864" marT="27432" marB="27432" anchor="ctr">
                    <a:solidFill>
                      <a:srgbClr val="14243B"/>
                    </a:solidFill>
                  </a:tcPr>
                </a:tc>
                <a:tc>
                  <a:txBody>
                    <a:bodyPr/>
                    <a:lstStyle/>
                    <a:p>
                      <a:r>
                        <a:rPr sz="1000" b="0" i="0">
                          <a:solidFill>
                            <a:srgbClr val="E8EEF6"/>
                          </a:solidFill>
                          <a:latin typeface="Calibri"/>
                        </a:rPr>
                        <a:t>Callers of ufshcd_set_rtt() and the WB lifetime function are not shown; they may run outside the begin/end window</a:t>
                      </a:r>
                    </a:p>
                  </a:txBody>
                  <a:tcPr marL="54864" marR="54864" marT="27432" marB="27432" anchor="ctr">
                    <a:solidFill>
                      <a:srgbClr val="14243B"/>
                    </a:solidFill>
                  </a:tcPr>
                </a:tc>
                <a:tc>
                  <a:txBody>
                    <a:bodyPr/>
                    <a:lstStyle/>
                    <a:p>
                      <a:r>
                        <a:rPr sz="1000" b="1" i="0">
                          <a:solidFill>
                            <a:srgbClr val="FBBF24"/>
                          </a:solidFill>
                          <a:latin typeface="Calibri"/>
                        </a:rPr>
                        <a:t>INFERENCE</a:t>
                      </a:r>
                    </a:p>
                  </a:txBody>
                  <a:tcPr marL="54864" marR="54864" marT="27432" marB="27432" anchor="ctr">
                    <a:solidFill>
                      <a:srgbClr val="14243B"/>
                    </a:solidFill>
                  </a:tcPr>
                </a:tc>
              </a:tr>
              <a:tr h="411480">
                <a:tc>
                  <a:txBody>
                    <a:bodyPr/>
                    <a:lstStyle/>
                    <a:p>
                      <a:r>
                        <a:rPr sz="1000" b="0" i="0">
                          <a:solidFill>
                            <a:srgbClr val="E8EEF6"/>
                          </a:solidFill>
                          <a:latin typeface="Calibri"/>
                        </a:rPr>
                        <a:t>F6</a:t>
                      </a:r>
                    </a:p>
                  </a:txBody>
                  <a:tcPr marL="54864" marR="54864" marT="27432" marB="27432" anchor="ctr">
                    <a:solidFill>
                      <a:srgbClr val="101F34"/>
                    </a:solidFill>
                  </a:tcPr>
                </a:tc>
                <a:tc>
                  <a:txBody>
                    <a:bodyPr/>
                    <a:lstStyle/>
                    <a:p>
                      <a:r>
                        <a:rPr sz="1000" b="0" i="0">
                          <a:solidFill>
                            <a:srgbClr val="E8EEF6"/>
                          </a:solidFill>
                          <a:latin typeface="Calibri"/>
                        </a:rPr>
                        <a:t>ufshcd_read_desc_param() cache hit memcpy()s desc_len bytes; destination size check and buff_len update not visible</a:t>
                      </a:r>
                    </a:p>
                  </a:txBody>
                  <a:tcPr marL="54864" marR="54864" marT="27432" marB="27432" anchor="ctr">
                    <a:solidFill>
                      <a:srgbClr val="101F34"/>
                    </a:solidFill>
                  </a:tcPr>
                </a:tc>
                <a:tc>
                  <a:txBody>
                    <a:bodyPr/>
                    <a:lstStyle/>
                    <a:p>
                      <a:r>
                        <a:rPr sz="1000" b="1" i="0">
                          <a:solidFill>
                            <a:srgbClr val="F87171"/>
                          </a:solidFill>
                          <a:latin typeface="Calibri"/>
                        </a:rPr>
                        <a:t>NEEDS TESTING</a:t>
                      </a:r>
                    </a:p>
                  </a:txBody>
                  <a:tcPr marL="54864" marR="54864" marT="27432" marB="27432" anchor="ctr">
                    <a:solidFill>
                      <a:srgbClr val="101F34"/>
                    </a:solidFill>
                  </a:tcPr>
                </a:tc>
              </a:tr>
              <a:tr h="411480">
                <a:tc>
                  <a:txBody>
                    <a:bodyPr/>
                    <a:lstStyle/>
                    <a:p>
                      <a:r>
                        <a:rPr sz="1000" b="0" i="0">
                          <a:solidFill>
                            <a:srgbClr val="E8EEF6"/>
                          </a:solidFill>
                          <a:latin typeface="Calibri"/>
                        </a:rPr>
                        <a:t>F7</a:t>
                      </a:r>
                    </a:p>
                  </a:txBody>
                  <a:tcPr marL="54864" marR="54864" marT="27432" marB="27432" anchor="ctr">
                    <a:solidFill>
                      <a:srgbClr val="14243B"/>
                    </a:solidFill>
                  </a:tcPr>
                </a:tc>
                <a:tc>
                  <a:txBody>
                    <a:bodyPr/>
                    <a:lstStyle/>
                    <a:p>
                      <a:r>
                        <a:rPr sz="1000" b="0" i="0">
                          <a:solidFill>
                            <a:srgbClr val="E8EEF6"/>
                          </a:solidFill>
                          <a:latin typeface="Calibri"/>
                        </a:rPr>
                        <a:t>ATTRS offset = sum of ufs_agg_attr_width[] below IDN, big-endian assembly; layout vs JESD220H Table 14.28 unchecked; magic [0x1b]</a:t>
                      </a:r>
                    </a:p>
                  </a:txBody>
                  <a:tcPr marL="54864" marR="54864" marT="27432" marB="27432" anchor="ctr">
                    <a:solidFill>
                      <a:srgbClr val="14243B"/>
                    </a:solidFill>
                  </a:tcPr>
                </a:tc>
                <a:tc>
                  <a:txBody>
                    <a:bodyPr/>
                    <a:lstStyle/>
                    <a:p>
                      <a:r>
                        <a:rPr sz="1000" b="1" i="0">
                          <a:solidFill>
                            <a:srgbClr val="F87171"/>
                          </a:solidFill>
                          <a:latin typeface="Calibri"/>
                        </a:rPr>
                        <a:t>NEEDS TESTING</a:t>
                      </a:r>
                    </a:p>
                  </a:txBody>
                  <a:tcPr marL="54864" marR="54864" marT="27432" marB="27432" anchor="ctr">
                    <a:solidFill>
                      <a:srgbClr val="14243B"/>
                    </a:solidFill>
                  </a:tcPr>
                </a:tc>
              </a:tr>
              <a:tr h="411480">
                <a:tc>
                  <a:txBody>
                    <a:bodyPr/>
                    <a:lstStyle/>
                    <a:p>
                      <a:r>
                        <a:rPr sz="1000" b="0" i="0">
                          <a:solidFill>
                            <a:srgbClr val="E8EEF6"/>
                          </a:solidFill>
                          <a:latin typeface="Calibri"/>
                        </a:rPr>
                        <a:t>F8</a:t>
                      </a:r>
                    </a:p>
                  </a:txBody>
                  <a:tcPr marL="54864" marR="54864" marT="27432" marB="27432" anchor="ctr">
                    <a:solidFill>
                      <a:srgbClr val="101F34"/>
                    </a:solidFill>
                  </a:tcPr>
                </a:tc>
                <a:tc>
                  <a:txBody>
                    <a:bodyPr/>
                    <a:lstStyle/>
                    <a:p>
                      <a:r>
                        <a:rPr sz="1000" b="0" i="0">
                          <a:solidFill>
                            <a:srgbClr val="E8EEF6"/>
                          </a:solidFill>
                          <a:latin typeface="Calibri"/>
                        </a:rPr>
                        <a:t>FLAGS payload read as group_buf[idn] (1 byte per flag IDN); spec conformance unchecked</a:t>
                      </a:r>
                    </a:p>
                  </a:txBody>
                  <a:tcPr marL="54864" marR="54864" marT="27432" marB="27432" anchor="ctr">
                    <a:solidFill>
                      <a:srgbClr val="101F34"/>
                    </a:solidFill>
                  </a:tcPr>
                </a:tc>
                <a:tc>
                  <a:txBody>
                    <a:bodyPr/>
                    <a:lstStyle/>
                    <a:p>
                      <a:r>
                        <a:rPr sz="1000" b="1" i="0">
                          <a:solidFill>
                            <a:srgbClr val="F87171"/>
                          </a:solidFill>
                          <a:latin typeface="Calibri"/>
                        </a:rPr>
                        <a:t>NEEDS TESTING</a:t>
                      </a:r>
                    </a:p>
                  </a:txBody>
                  <a:tcPr marL="54864" marR="54864" marT="27432" marB="27432" anchor="ctr">
                    <a:solidFill>
                      <a:srgbClr val="101F34"/>
                    </a:solidFill>
                  </a:tcPr>
                </a:tc>
              </a:tr>
              <a:tr h="411480">
                <a:tc>
                  <a:txBody>
                    <a:bodyPr/>
                    <a:lstStyle/>
                    <a:p>
                      <a:r>
                        <a:rPr sz="1000" b="0" i="0">
                          <a:solidFill>
                            <a:srgbClr val="E8EEF6"/>
                          </a:solidFill>
                          <a:latin typeface="Calibri"/>
                        </a:rPr>
                        <a:t>F9</a:t>
                      </a:r>
                    </a:p>
                  </a:txBody>
                  <a:tcPr marL="54864" marR="54864" marT="27432" marB="27432" anchor="ctr">
                    <a:solidFill>
                      <a:srgbClr val="14243B"/>
                    </a:solidFill>
                  </a:tcPr>
                </a:tc>
                <a:tc>
                  <a:txBody>
                    <a:bodyPr/>
                    <a:lstStyle/>
                    <a:p>
                      <a:r>
                        <a:rPr sz="1000" b="0" i="0">
                          <a:solidFill>
                            <a:srgbClr val="E8EEF6"/>
                          </a:solidFill>
                          <a:latin typeface="Calibri"/>
                        </a:rPr>
                        <a:t>UPIU_QUERY_OPCODE_AGGREGATED_READ is used but not defined in either diff; base-tree dependency</a:t>
                      </a:r>
                    </a:p>
                  </a:txBody>
                  <a:tcPr marL="54864" marR="54864" marT="27432" marB="27432" anchor="ctr">
                    <a:solidFill>
                      <a:srgbClr val="14243B"/>
                    </a:solidFill>
                  </a:tcPr>
                </a:tc>
                <a:tc>
                  <a:txBody>
                    <a:bodyPr/>
                    <a:lstStyle/>
                    <a:p>
                      <a:r>
                        <a:rPr sz="1000" b="1" i="0">
                          <a:solidFill>
                            <a:srgbClr val="FBBF24"/>
                          </a:solidFill>
                          <a:latin typeface="Calibri"/>
                        </a:rPr>
                        <a:t>INFERENCE</a:t>
                      </a:r>
                    </a:p>
                  </a:txBody>
                  <a:tcPr marL="54864" marR="54864" marT="27432" marB="27432" anchor="ctr">
                    <a:solidFill>
                      <a:srgbClr val="14243B"/>
                    </a:solidFill>
                  </a:tcPr>
                </a:tc>
              </a:tr>
              <a:tr h="411480">
                <a:tc>
                  <a:txBody>
                    <a:bodyPr/>
                    <a:lstStyle/>
                    <a:p>
                      <a:r>
                        <a:rPr sz="1000" b="0" i="0">
                          <a:solidFill>
                            <a:srgbClr val="E8EEF6"/>
                          </a:solidFill>
                          <a:latin typeface="Calibri"/>
                        </a:rPr>
                        <a:t>F10</a:t>
                      </a:r>
                    </a:p>
                  </a:txBody>
                  <a:tcPr marL="54864" marR="54864" marT="27432" marB="27432" anchor="ctr">
                    <a:solidFill>
                      <a:srgbClr val="101F34"/>
                    </a:solidFill>
                  </a:tcPr>
                </a:tc>
                <a:tc>
                  <a:txBody>
                    <a:bodyPr/>
                    <a:lstStyle/>
                    <a:p>
                      <a:r>
                        <a:rPr sz="1000" b="0" i="0">
                          <a:solidFill>
                            <a:srgbClr val="E8EEF6"/>
                          </a:solidFill>
                          <a:latin typeface="Calibri"/>
                        </a:rPr>
                        <a:t>Duplicate string indexes in agg_str_idx map to the first matching group; index 0 never matches</a:t>
                      </a:r>
                    </a:p>
                  </a:txBody>
                  <a:tcPr marL="54864" marR="54864" marT="27432" marB="27432" anchor="ctr">
                    <a:solidFill>
                      <a:srgbClr val="101F34"/>
                    </a:solidFill>
                  </a:tcPr>
                </a:tc>
                <a:tc>
                  <a:txBody>
                    <a:bodyPr/>
                    <a:lstStyle/>
                    <a:p>
                      <a:r>
                        <a:rPr sz="1000" b="1" i="0">
                          <a:solidFill>
                            <a:srgbClr val="FBBF24"/>
                          </a:solidFill>
                          <a:latin typeface="Calibri"/>
                        </a:rPr>
                        <a:t>INFERENCE</a:t>
                      </a:r>
                    </a:p>
                  </a:txBody>
                  <a:tcPr marL="54864" marR="54864" marT="27432" marB="27432" anchor="ctr">
                    <a:solidFill>
                      <a:srgbClr val="101F34"/>
                    </a:solidFill>
                  </a:tcPr>
                </a:tc>
              </a:tr>
              <a:tr h="411480">
                <a:tc>
                  <a:txBody>
                    <a:bodyPr/>
                    <a:lstStyle/>
                    <a:p>
                      <a:r>
                        <a:rPr sz="1000" b="0" i="0">
                          <a:solidFill>
                            <a:srgbClr val="E8EEF6"/>
                          </a:solidFill>
                          <a:latin typeface="Calibri"/>
                        </a:rPr>
                        <a:t>F11</a:t>
                      </a:r>
                    </a:p>
                  </a:txBody>
                  <a:tcPr marL="54864" marR="54864" marT="27432" marB="27432" anchor="ctr">
                    <a:solidFill>
                      <a:srgbClr val="14243B"/>
                    </a:solidFill>
                  </a:tcPr>
                </a:tc>
                <a:tc>
                  <a:txBody>
                    <a:bodyPr/>
                    <a:lstStyle/>
                    <a:p>
                      <a:r>
                        <a:rPr sz="1000" b="0" i="0">
                          <a:solidFill>
                            <a:srgbClr val="E8EEF6"/>
                          </a:solidFill>
                          <a:latin typeface="Calibri"/>
                        </a:rPr>
                        <a:t>WB lifetime cached only when ufshcd_wb_get_query_index() is 0; shared-buffer mapping from commit text only</a:t>
                      </a:r>
                    </a:p>
                  </a:txBody>
                  <a:tcPr marL="54864" marR="54864" marT="27432" marB="27432" anchor="ctr">
                    <a:solidFill>
                      <a:srgbClr val="14243B"/>
                    </a:solidFill>
                  </a:tcPr>
                </a:tc>
                <a:tc>
                  <a:txBody>
                    <a:bodyPr/>
                    <a:lstStyle/>
                    <a:p>
                      <a:r>
                        <a:rPr sz="1000" b="1" i="0">
                          <a:solidFill>
                            <a:srgbClr val="FBBF24"/>
                          </a:solidFill>
                          <a:latin typeface="Calibri"/>
                        </a:rPr>
                        <a:t>INFERENCE</a:t>
                      </a:r>
                    </a:p>
                  </a:txBody>
                  <a:tcPr marL="54864" marR="54864" marT="27432" marB="27432" anchor="ctr">
                    <a:solidFill>
                      <a:srgbClr val="14243B"/>
                    </a:solidFill>
                  </a:tcPr>
                </a:tc>
              </a:tr>
              <a:tr h="411480">
                <a:tc>
                  <a:txBody>
                    <a:bodyPr/>
                    <a:lstStyle/>
                    <a:p>
                      <a:r>
                        <a:rPr sz="1000" b="0" i="0">
                          <a:solidFill>
                            <a:srgbClr val="E8EEF6"/>
                          </a:solidFill>
                          <a:latin typeface="Calibri"/>
                        </a:rPr>
                        <a:t>F12</a:t>
                      </a:r>
                    </a:p>
                  </a:txBody>
                  <a:tcPr marL="54864" marR="54864" marT="27432" marB="27432" anchor="ctr">
                    <a:solidFill>
                      <a:srgbClr val="101F34"/>
                    </a:solidFill>
                  </a:tcPr>
                </a:tc>
                <a:tc>
                  <a:txBody>
                    <a:bodyPr/>
                    <a:lstStyle/>
                    <a:p>
                      <a:r>
                        <a:rPr sz="1000" b="0" i="0">
                          <a:solidFill>
                            <a:srgbClr val="E8EEF6"/>
                          </a:solidFill>
                          <a:latin typeface="Calibri"/>
                        </a:rPr>
                        <a:t>agg_packet accessed without locking; relies on single-threaded init</a:t>
                      </a:r>
                    </a:p>
                  </a:txBody>
                  <a:tcPr marL="54864" marR="54864" marT="27432" marB="27432" anchor="ctr">
                    <a:solidFill>
                      <a:srgbClr val="101F34"/>
                    </a:solidFill>
                  </a:tcPr>
                </a:tc>
                <a:tc>
                  <a:txBody>
                    <a:bodyPr/>
                    <a:lstStyle/>
                    <a:p>
                      <a:r>
                        <a:rPr sz="1000" b="1" i="0">
                          <a:solidFill>
                            <a:srgbClr val="FBBF24"/>
                          </a:solidFill>
                          <a:latin typeface="Calibri"/>
                        </a:rPr>
                        <a:t>INFERENCE</a:t>
                      </a:r>
                    </a:p>
                  </a:txBody>
                  <a:tcPr marL="54864" marR="54864" marT="27432" marB="27432" anchor="ctr">
                    <a:solidFill>
                      <a:srgbClr val="101F34"/>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626"/>
        </a:solidFill>
        <a:effectLst/>
      </p:bgPr>
    </p:bg>
    <p:spTree>
      <p:nvGrpSpPr>
        <p:cNvPr id="1" name=""/>
        <p:cNvGrpSpPr/>
        <p:nvPr/>
      </p:nvGrpSpPr>
      <p:grpSpPr/>
      <p:sp>
        <p:nvSpPr>
          <p:cNvPr id="2" name="Title"/>
          <p:cNvSpPr txBox="1"/>
          <p:nvPr/>
        </p:nvSpPr>
        <p:spPr>
          <a:xfrm>
            <a:off x="457200" y="274320"/>
            <a:ext cx="11247120" cy="548640"/>
          </a:xfrm>
          <a:prstGeom prst="rect">
            <a:avLst/>
          </a:prstGeom>
          <a:noFill/>
        </p:spPr>
        <p:txBody>
          <a:bodyPr wrap="square" anchor="ctr" lIns="36576" rIns="36576" tIns="18288" bIns="18288">
            <a:spAutoFit/>
          </a:bodyPr>
          <a:lstStyle/>
          <a:p>
            <a:r>
              <a:rPr sz="2400" b="1" i="0">
                <a:solidFill>
                  <a:srgbClr val="E8EEF6"/>
                </a:solidFill>
                <a:latin typeface="Calibri"/>
              </a:rPr>
              <a:t>Experimental Methodology: Proposed Validation Workflow (Not Run)</a:t>
            </a:r>
          </a:p>
        </p:txBody>
      </p:sp>
      <p:sp>
        <p:nvSpPr>
          <p:cNvPr id="3" name="Source"/>
          <p:cNvSpPr txBox="1"/>
          <p:nvPr/>
        </p:nvSpPr>
        <p:spPr>
          <a:xfrm>
            <a:off x="457200" y="6473952"/>
            <a:ext cx="10424160" cy="256032"/>
          </a:xfrm>
          <a:prstGeom prst="rect">
            <a:avLst/>
          </a:prstGeom>
          <a:noFill/>
        </p:spPr>
        <p:txBody>
          <a:bodyPr wrap="square" anchor="t" lIns="36576" rIns="36576" tIns="18288" bIns="18288">
            <a:spAutoFit/>
          </a:bodyPr>
          <a:lstStyle/>
          <a:p>
            <a:r>
              <a:rPr sz="1000" b="0" i="0">
                <a:solidFill>
                  <a:srgbClr val="A9B8CC"/>
                </a:solidFill>
                <a:latin typeface="Calibri"/>
              </a:rPr>
              <a:t>Proposed plan only — no instrumentation or tracepoint availability has been verified in any target kernel</a:t>
            </a:r>
          </a:p>
        </p:txBody>
      </p:sp>
      <p:sp>
        <p:nvSpPr>
          <p:cNvPr id="4" name="Slide Number"/>
          <p:cNvSpPr txBox="1"/>
          <p:nvPr/>
        </p:nvSpPr>
        <p:spPr>
          <a:xfrm>
            <a:off x="11064240" y="6473952"/>
            <a:ext cx="685800" cy="256032"/>
          </a:xfrm>
          <a:prstGeom prst="rect">
            <a:avLst/>
          </a:prstGeom>
          <a:noFill/>
        </p:spPr>
        <p:txBody>
          <a:bodyPr wrap="none">
            <a:spAutoFit/>
          </a:bodyPr>
          <a:lstStyle/>
          <a:p>
            <a:pPr algn="r"/>
            <a:fld id="{B6F15528-21DE-4FAA-801E-634DDDAF4B2B}" type="slidenum">
              <a:rPr lang="en-US" sz="1100">
                <a:solidFill>
                  <a:srgbClr val="A9B8CC"/>
                </a:solidFill>
                <a:latin typeface="Calibri"/>
              </a:rPr>
              <a:t>14</a:t>
            </a:fld>
          </a:p>
        </p:txBody>
      </p:sp>
      <p:sp>
        <p:nvSpPr>
          <p:cNvPr id="5" name="Block 1"/>
          <p:cNvSpPr/>
          <p:nvPr/>
        </p:nvSpPr>
        <p:spPr>
          <a:xfrm>
            <a:off x="457200" y="1143000"/>
            <a:ext cx="1554480" cy="868680"/>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2DD4BF"/>
                </a:solidFill>
                <a:latin typeface="Calibri"/>
              </a:rPr>
              <a:t>[1] </a:t>
            </a:r>
            <a:r>
              <a:rPr sz="1100" b="1" i="0">
                <a:solidFill>
                  <a:srgbClr val="E8EEF6"/>
                </a:solidFill>
                <a:latin typeface="Calibri"/>
              </a:rPr>
              <a:t>Fix setup</a:t>
            </a:r>
          </a:p>
          <a:p>
            <a:r>
              <a:rPr sz="1000" b="0" i="0">
                <a:solidFill>
                  <a:srgbClr val="A9B8CC"/>
                </a:solidFill>
                <a:latin typeface="Calibri"/>
              </a:rPr>
              <a:t>same HW, FW, config, DT</a:t>
            </a:r>
          </a:p>
        </p:txBody>
      </p:sp>
      <p:sp>
        <p:nvSpPr>
          <p:cNvPr id="6" name="Block 2"/>
          <p:cNvSpPr/>
          <p:nvPr/>
        </p:nvSpPr>
        <p:spPr>
          <a:xfrm>
            <a:off x="2395728" y="1143000"/>
            <a:ext cx="1554480" cy="868680"/>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2DD4BF"/>
                </a:solidFill>
                <a:latin typeface="Calibri"/>
              </a:rPr>
              <a:t>[2] </a:t>
            </a:r>
            <a:r>
              <a:rPr sz="1100" b="1" i="0">
                <a:solidFill>
                  <a:srgbClr val="E8EEF6"/>
                </a:solidFill>
                <a:latin typeface="Calibri"/>
              </a:rPr>
              <a:t>Instrument</a:t>
            </a:r>
          </a:p>
          <a:p>
            <a:r>
              <a:rPr sz="1000" b="0" i="0">
                <a:solidFill>
                  <a:srgbClr val="A9B8CC"/>
                </a:solidFill>
                <a:latin typeface="Calibri"/>
              </a:rPr>
              <a:t>counters / dyn-debug</a:t>
            </a:r>
          </a:p>
        </p:txBody>
      </p:sp>
      <p:sp>
        <p:nvSpPr>
          <p:cNvPr id="7" name="Block 3"/>
          <p:cNvSpPr/>
          <p:nvPr/>
        </p:nvSpPr>
        <p:spPr>
          <a:xfrm>
            <a:off x="4334256" y="1143000"/>
            <a:ext cx="1554480" cy="868680"/>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2DD4BF"/>
                </a:solidFill>
                <a:latin typeface="Calibri"/>
              </a:rPr>
              <a:t>[3] </a:t>
            </a:r>
            <a:r>
              <a:rPr sz="1100" b="1" i="0">
                <a:solidFill>
                  <a:srgbClr val="E8EEF6"/>
                </a:solidFill>
                <a:latin typeface="Calibri"/>
              </a:rPr>
              <a:t>Baseline runs</a:t>
            </a:r>
          </a:p>
          <a:p>
            <a:r>
              <a:rPr sz="1000" b="0" i="0">
                <a:solidFill>
                  <a:srgbClr val="A9B8CC"/>
                </a:solidFill>
                <a:latin typeface="Calibri"/>
              </a:rPr>
              <a:t>unpatched, N repeats</a:t>
            </a:r>
          </a:p>
        </p:txBody>
      </p:sp>
      <p:sp>
        <p:nvSpPr>
          <p:cNvPr id="8" name="Block 4"/>
          <p:cNvSpPr/>
          <p:nvPr/>
        </p:nvSpPr>
        <p:spPr>
          <a:xfrm>
            <a:off x="6272784" y="1143000"/>
            <a:ext cx="1554480" cy="868680"/>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2DD4BF"/>
                </a:solidFill>
                <a:latin typeface="Calibri"/>
              </a:rPr>
              <a:t>[4] </a:t>
            </a:r>
            <a:r>
              <a:rPr sz="1100" b="1" i="0">
                <a:solidFill>
                  <a:srgbClr val="E8EEF6"/>
                </a:solidFill>
                <a:latin typeface="Calibri"/>
              </a:rPr>
              <a:t>Patched runs</a:t>
            </a:r>
          </a:p>
          <a:p>
            <a:r>
              <a:rPr sz="1000" b="0" i="0">
                <a:solidFill>
                  <a:srgbClr val="A9B8CC"/>
                </a:solidFill>
                <a:latin typeface="Calibri"/>
              </a:rPr>
              <a:t>series applied, N repeats</a:t>
            </a:r>
          </a:p>
        </p:txBody>
      </p:sp>
      <p:sp>
        <p:nvSpPr>
          <p:cNvPr id="9" name="Block 5"/>
          <p:cNvSpPr/>
          <p:nvPr/>
        </p:nvSpPr>
        <p:spPr>
          <a:xfrm>
            <a:off x="8211312" y="1143000"/>
            <a:ext cx="1554480" cy="868680"/>
          </a:xfrm>
          <a:prstGeom prst="roundRect">
            <a:avLst>
              <a:gd name="adj" fmla="val 10000"/>
            </a:avLst>
          </a:prstGeom>
          <a:solidFill>
            <a:srgbClr val="1B304D"/>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2DD4BF"/>
                </a:solidFill>
                <a:latin typeface="Calibri"/>
              </a:rPr>
              <a:t>[5] </a:t>
            </a:r>
            <a:r>
              <a:rPr sz="1100" b="1" i="0">
                <a:solidFill>
                  <a:srgbClr val="E8EEF6"/>
                </a:solidFill>
                <a:latin typeface="Calibri"/>
              </a:rPr>
              <a:t>Fault injection</a:t>
            </a:r>
          </a:p>
          <a:p>
            <a:r>
              <a:rPr sz="1000" b="0" i="0">
                <a:solidFill>
                  <a:srgbClr val="A9B8CC"/>
                </a:solidFill>
                <a:latin typeface="Calibri"/>
              </a:rPr>
              <a:t>reject, alloc fail, bad pkt</a:t>
            </a:r>
          </a:p>
        </p:txBody>
      </p:sp>
      <p:sp>
        <p:nvSpPr>
          <p:cNvPr id="10" name="Block 6"/>
          <p:cNvSpPr/>
          <p:nvPr/>
        </p:nvSpPr>
        <p:spPr>
          <a:xfrm>
            <a:off x="10149840" y="1143000"/>
            <a:ext cx="1554480" cy="868680"/>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2DD4BF"/>
                </a:solidFill>
                <a:latin typeface="Calibri"/>
              </a:rPr>
              <a:t>[6] </a:t>
            </a:r>
            <a:r>
              <a:rPr sz="1100" b="1" i="0">
                <a:solidFill>
                  <a:srgbClr val="E8EEF6"/>
                </a:solidFill>
                <a:latin typeface="Calibri"/>
              </a:rPr>
              <a:t>Compare</a:t>
            </a:r>
          </a:p>
          <a:p>
            <a:r>
              <a:rPr sz="1000" b="0" i="0">
                <a:solidFill>
                  <a:srgbClr val="A9B8CC"/>
                </a:solidFill>
                <a:latin typeface="Calibri"/>
              </a:rPr>
              <a:t>counts, time, values</a:t>
            </a:r>
          </a:p>
        </p:txBody>
      </p:sp>
      <p:cxnSp>
        <p:nvCxnSpPr>
          <p:cNvPr id="11" name="Arrow B1"/>
          <p:cNvCxnSpPr>
            <a:stCxn id="5" idx="3"/>
            <a:endCxn id="6" idx="1"/>
          </p:cNvCxnSpPr>
          <p:nvPr/>
        </p:nvCxnSpPr>
        <p:spPr>
          <a:xfrm>
            <a:off x="2011680" y="1577340"/>
            <a:ext cx="384048" cy="0"/>
          </a:xfrm>
          <a:prstGeom prst="line">
            <a:avLst/>
          </a:prstGeom>
          <a:ln w="22225">
            <a:solidFill>
              <a:srgbClr val="A9B8C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2" name="Label B1"/>
          <p:cNvSpPr/>
          <p:nvPr/>
        </p:nvSpPr>
        <p:spPr>
          <a:xfrm>
            <a:off x="2029968" y="1458468"/>
            <a:ext cx="347472" cy="237744"/>
          </a:xfrm>
          <a:prstGeom prst="roundRect">
            <a:avLst>
              <a:gd name="adj" fmla="val 50000"/>
            </a:avLst>
          </a:prstGeom>
          <a:solidFill>
            <a:srgbClr val="A9B8CC"/>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B1</a:t>
            </a:r>
          </a:p>
        </p:txBody>
      </p:sp>
      <p:cxnSp>
        <p:nvCxnSpPr>
          <p:cNvPr id="13" name="Arrow B2"/>
          <p:cNvCxnSpPr>
            <a:stCxn id="6" idx="3"/>
            <a:endCxn id="7" idx="1"/>
          </p:cNvCxnSpPr>
          <p:nvPr/>
        </p:nvCxnSpPr>
        <p:spPr>
          <a:xfrm>
            <a:off x="3950208" y="1577340"/>
            <a:ext cx="384048" cy="0"/>
          </a:xfrm>
          <a:prstGeom prst="line">
            <a:avLst/>
          </a:prstGeom>
          <a:ln w="22225">
            <a:solidFill>
              <a:srgbClr val="A9B8C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4" name="Label B2"/>
          <p:cNvSpPr/>
          <p:nvPr/>
        </p:nvSpPr>
        <p:spPr>
          <a:xfrm>
            <a:off x="3968496" y="1458468"/>
            <a:ext cx="347472" cy="237744"/>
          </a:xfrm>
          <a:prstGeom prst="roundRect">
            <a:avLst>
              <a:gd name="adj" fmla="val 50000"/>
            </a:avLst>
          </a:prstGeom>
          <a:solidFill>
            <a:srgbClr val="A9B8CC"/>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B2</a:t>
            </a:r>
          </a:p>
        </p:txBody>
      </p:sp>
      <p:cxnSp>
        <p:nvCxnSpPr>
          <p:cNvPr id="15" name="Arrow B3"/>
          <p:cNvCxnSpPr>
            <a:stCxn id="7" idx="3"/>
            <a:endCxn id="8" idx="1"/>
          </p:cNvCxnSpPr>
          <p:nvPr/>
        </p:nvCxnSpPr>
        <p:spPr>
          <a:xfrm>
            <a:off x="5888736" y="1577340"/>
            <a:ext cx="384048" cy="0"/>
          </a:xfrm>
          <a:prstGeom prst="line">
            <a:avLst/>
          </a:prstGeom>
          <a:ln w="22225">
            <a:solidFill>
              <a:srgbClr val="A9B8C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6" name="Label B3"/>
          <p:cNvSpPr/>
          <p:nvPr/>
        </p:nvSpPr>
        <p:spPr>
          <a:xfrm>
            <a:off x="5907024" y="1458468"/>
            <a:ext cx="347472" cy="237744"/>
          </a:xfrm>
          <a:prstGeom prst="roundRect">
            <a:avLst>
              <a:gd name="adj" fmla="val 50000"/>
            </a:avLst>
          </a:prstGeom>
          <a:solidFill>
            <a:srgbClr val="A9B8CC"/>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B3</a:t>
            </a:r>
          </a:p>
        </p:txBody>
      </p:sp>
      <p:cxnSp>
        <p:nvCxnSpPr>
          <p:cNvPr id="17" name="Arrow B4"/>
          <p:cNvCxnSpPr>
            <a:stCxn id="8" idx="3"/>
            <a:endCxn id="9" idx="1"/>
          </p:cNvCxnSpPr>
          <p:nvPr/>
        </p:nvCxnSpPr>
        <p:spPr>
          <a:xfrm>
            <a:off x="7827264" y="1577340"/>
            <a:ext cx="384048" cy="0"/>
          </a:xfrm>
          <a:prstGeom prst="line">
            <a:avLst/>
          </a:prstGeom>
          <a:ln w="22225">
            <a:solidFill>
              <a:srgbClr val="A9B8C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8" name="Label B4"/>
          <p:cNvSpPr/>
          <p:nvPr/>
        </p:nvSpPr>
        <p:spPr>
          <a:xfrm>
            <a:off x="7845552" y="1458468"/>
            <a:ext cx="347472" cy="237744"/>
          </a:xfrm>
          <a:prstGeom prst="roundRect">
            <a:avLst>
              <a:gd name="adj" fmla="val 50000"/>
            </a:avLst>
          </a:prstGeom>
          <a:solidFill>
            <a:srgbClr val="A9B8CC"/>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B4</a:t>
            </a:r>
          </a:p>
        </p:txBody>
      </p:sp>
      <p:cxnSp>
        <p:nvCxnSpPr>
          <p:cNvPr id="19" name="Arrow B5"/>
          <p:cNvCxnSpPr>
            <a:stCxn id="9" idx="3"/>
            <a:endCxn id="10" idx="1"/>
          </p:cNvCxnSpPr>
          <p:nvPr/>
        </p:nvCxnSpPr>
        <p:spPr>
          <a:xfrm>
            <a:off x="9765792" y="1577340"/>
            <a:ext cx="384048" cy="0"/>
          </a:xfrm>
          <a:prstGeom prst="line">
            <a:avLst/>
          </a:prstGeom>
          <a:ln w="22225">
            <a:solidFill>
              <a:srgbClr val="A9B8C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0" name="Label B5"/>
          <p:cNvSpPr/>
          <p:nvPr/>
        </p:nvSpPr>
        <p:spPr>
          <a:xfrm>
            <a:off x="9784080" y="1458468"/>
            <a:ext cx="347472" cy="237744"/>
          </a:xfrm>
          <a:prstGeom prst="roundRect">
            <a:avLst>
              <a:gd name="adj" fmla="val 50000"/>
            </a:avLst>
          </a:prstGeom>
          <a:solidFill>
            <a:srgbClr val="A9B8CC"/>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B5</a:t>
            </a:r>
          </a:p>
        </p:txBody>
      </p:sp>
      <p:sp>
        <p:nvSpPr>
          <p:cNvPr id="21" name="Legend key"/>
          <p:cNvSpPr txBox="1"/>
          <p:nvPr/>
        </p:nvSpPr>
        <p:spPr>
          <a:xfrm>
            <a:off x="457200" y="2103120"/>
            <a:ext cx="11247120" cy="201168"/>
          </a:xfrm>
          <a:prstGeom prst="rect">
            <a:avLst/>
          </a:prstGeom>
          <a:noFill/>
        </p:spPr>
        <p:txBody>
          <a:bodyPr wrap="square" anchor="t" lIns="36576" rIns="36576" tIns="18288" bIns="18288">
            <a:spAutoFit/>
          </a:bodyPr>
          <a:lstStyle/>
          <a:p>
            <a:r>
              <a:rPr sz="1000" b="0" i="1">
                <a:solidFill>
                  <a:srgbClr val="A9B8CC"/>
                </a:solidFill>
                <a:latin typeface="Calibri"/>
              </a:rPr>
              <a:t>Solid = verified · dashed = conceptual / unverified · amber = fallback</a:t>
            </a:r>
          </a:p>
        </p:txBody>
      </p:sp>
      <p:sp>
        <p:nvSpPr>
          <p:cNvPr id="22" name="Legend 1"/>
          <p:cNvSpPr txBox="1"/>
          <p:nvPr/>
        </p:nvSpPr>
        <p:spPr>
          <a:xfrm>
            <a:off x="457200" y="2304288"/>
            <a:ext cx="5532120" cy="731520"/>
          </a:xfrm>
          <a:prstGeom prst="rect">
            <a:avLst/>
          </a:prstGeom>
          <a:noFill/>
        </p:spPr>
        <p:txBody>
          <a:bodyPr wrap="square" anchor="t" lIns="36576" rIns="36576" tIns="18288" bIns="18288">
            <a:spAutoFit/>
          </a:bodyPr>
          <a:lstStyle/>
          <a:p>
            <a:r>
              <a:rPr sz="1000" b="1" i="0">
                <a:solidFill>
                  <a:srgbClr val="A9B8CC"/>
                </a:solidFill>
                <a:latin typeface="Calibri"/>
              </a:rPr>
              <a:t>B1</a:t>
            </a:r>
            <a:r>
              <a:rPr sz="1000" b="0" i="0">
                <a:solidFill>
                  <a:srgbClr val="A9B8CC"/>
                </a:solidFill>
                <a:latin typeface="Calibri"/>
              </a:rPr>
              <a:t>  [1]→[2]  </a:t>
            </a:r>
            <a:r>
              <a:rPr sz="1000" b="0" i="0">
                <a:solidFill>
                  <a:srgbClr val="E8EEF6"/>
                </a:solidFill>
                <a:latin typeface="Calibri"/>
              </a:rPr>
              <a:t>environment frozen</a:t>
            </a:r>
          </a:p>
          <a:p>
            <a:r>
              <a:rPr sz="1000" b="1" i="0">
                <a:solidFill>
                  <a:srgbClr val="A9B8CC"/>
                </a:solidFill>
                <a:latin typeface="Calibri"/>
              </a:rPr>
              <a:t>B2</a:t>
            </a:r>
            <a:r>
              <a:rPr sz="1000" b="0" i="0">
                <a:solidFill>
                  <a:srgbClr val="A9B8CC"/>
                </a:solidFill>
                <a:latin typeface="Calibri"/>
              </a:rPr>
              <a:t>  [2]→[3]  </a:t>
            </a:r>
            <a:r>
              <a:rPr sz="1000" b="0" i="0">
                <a:solidFill>
                  <a:srgbClr val="E8EEF6"/>
                </a:solidFill>
                <a:latin typeface="Calibri"/>
              </a:rPr>
              <a:t>measurement hooks added</a:t>
            </a:r>
          </a:p>
          <a:p>
            <a:r>
              <a:rPr sz="1000" b="1" i="0">
                <a:solidFill>
                  <a:srgbClr val="A9B8CC"/>
                </a:solidFill>
                <a:latin typeface="Calibri"/>
              </a:rPr>
              <a:t>B3</a:t>
            </a:r>
            <a:r>
              <a:rPr sz="1000" b="0" i="0">
                <a:solidFill>
                  <a:srgbClr val="A9B8CC"/>
                </a:solidFill>
                <a:latin typeface="Calibri"/>
              </a:rPr>
              <a:t>  [3]→[4]  </a:t>
            </a:r>
            <a:r>
              <a:rPr sz="1000" b="0" i="0">
                <a:solidFill>
                  <a:srgbClr val="E8EEF6"/>
                </a:solidFill>
                <a:latin typeface="Calibri"/>
              </a:rPr>
              <a:t>reference data collected</a:t>
            </a:r>
          </a:p>
        </p:txBody>
      </p:sp>
      <p:sp>
        <p:nvSpPr>
          <p:cNvPr id="23" name="Legend 2"/>
          <p:cNvSpPr txBox="1"/>
          <p:nvPr/>
        </p:nvSpPr>
        <p:spPr>
          <a:xfrm>
            <a:off x="6080760" y="2304288"/>
            <a:ext cx="5532120" cy="731520"/>
          </a:xfrm>
          <a:prstGeom prst="rect">
            <a:avLst/>
          </a:prstGeom>
          <a:noFill/>
        </p:spPr>
        <p:txBody>
          <a:bodyPr wrap="square" anchor="t" lIns="36576" rIns="36576" tIns="18288" bIns="18288">
            <a:spAutoFit/>
          </a:bodyPr>
          <a:lstStyle/>
          <a:p>
            <a:r>
              <a:rPr sz="1000" b="1" i="0">
                <a:solidFill>
                  <a:srgbClr val="A9B8CC"/>
                </a:solidFill>
                <a:latin typeface="Calibri"/>
              </a:rPr>
              <a:t>B4</a:t>
            </a:r>
            <a:r>
              <a:rPr sz="1000" b="0" i="0">
                <a:solidFill>
                  <a:srgbClr val="A9B8CC"/>
                </a:solidFill>
                <a:latin typeface="Calibri"/>
              </a:rPr>
              <a:t>  [4]→[5]  </a:t>
            </a:r>
            <a:r>
              <a:rPr sz="1000" b="0" i="0">
                <a:solidFill>
                  <a:srgbClr val="E8EEF6"/>
                </a:solidFill>
                <a:latin typeface="Calibri"/>
              </a:rPr>
              <a:t>patched data collected</a:t>
            </a:r>
          </a:p>
          <a:p>
            <a:r>
              <a:rPr sz="1000" b="1" i="0">
                <a:solidFill>
                  <a:srgbClr val="A9B8CC"/>
                </a:solidFill>
                <a:latin typeface="Calibri"/>
              </a:rPr>
              <a:t>B5</a:t>
            </a:r>
            <a:r>
              <a:rPr sz="1000" b="0" i="0">
                <a:solidFill>
                  <a:srgbClr val="A9B8CC"/>
                </a:solidFill>
                <a:latin typeface="Calibri"/>
              </a:rPr>
              <a:t>  [5]→[6]  </a:t>
            </a:r>
            <a:r>
              <a:rPr sz="1000" b="0" i="0">
                <a:solidFill>
                  <a:srgbClr val="E8EEF6"/>
                </a:solidFill>
                <a:latin typeface="Calibri"/>
              </a:rPr>
              <a:t>failure paths exercised</a:t>
            </a:r>
          </a:p>
        </p:txBody>
      </p:sp>
      <p:graphicFrame>
        <p:nvGraphicFramePr>
          <p:cNvPr id="24" name="Table 23"/>
          <p:cNvGraphicFramePr>
            <a:graphicFrameLocks noGrp="1"/>
          </p:cNvGraphicFramePr>
          <p:nvPr/>
        </p:nvGraphicFramePr>
        <p:xfrm>
          <a:off x="457200" y="3017520"/>
          <a:ext cx="11247120" cy="3054096"/>
        </p:xfrm>
        <a:graphic>
          <a:graphicData uri="http://schemas.openxmlformats.org/drawingml/2006/table">
            <a:tbl>
              <a:tblPr firstRow="1" bandRow="1">
                <a:tableStyleId>{5940675A-B579-460E-94D1-54222C63F5DA}</a:tableStyleId>
              </a:tblPr>
              <a:tblGrid>
                <a:gridCol w="3657600"/>
                <a:gridCol w="5943600"/>
                <a:gridCol w="1645920"/>
              </a:tblGrid>
              <a:tr h="274320">
                <a:tc>
                  <a:txBody>
                    <a:bodyPr/>
                    <a:lstStyle/>
                    <a:p>
                      <a:r>
                        <a:rPr sz="1000" b="1" i="0">
                          <a:solidFill>
                            <a:srgbClr val="E8EEF6"/>
                          </a:solidFill>
                          <a:latin typeface="Calibri"/>
                        </a:rPr>
                        <a:t>Metric</a:t>
                      </a:r>
                    </a:p>
                  </a:txBody>
                  <a:tcPr marL="54864" marR="54864" marT="27432" marB="27432" anchor="ctr">
                    <a:solidFill>
                      <a:srgbClr val="22406A"/>
                    </a:solidFill>
                  </a:tcPr>
                </a:tc>
                <a:tc>
                  <a:txBody>
                    <a:bodyPr/>
                    <a:lstStyle/>
                    <a:p>
                      <a:r>
                        <a:rPr sz="1000" b="1" i="0">
                          <a:solidFill>
                            <a:srgbClr val="E8EEF6"/>
                          </a:solidFill>
                          <a:latin typeface="Calibri"/>
                        </a:rPr>
                        <a:t>Instrumentation (all to be added)</a:t>
                      </a:r>
                    </a:p>
                  </a:txBody>
                  <a:tcPr marL="54864" marR="54864" marT="27432" marB="27432" anchor="ctr">
                    <a:solidFill>
                      <a:srgbClr val="22406A"/>
                    </a:solidFill>
                  </a:tcPr>
                </a:tc>
                <a:tc>
                  <a:txBody>
                    <a:bodyPr/>
                    <a:lstStyle/>
                    <a:p>
                      <a:r>
                        <a:rPr sz="1000" b="1" i="0">
                          <a:solidFill>
                            <a:srgbClr val="E8EEF6"/>
                          </a:solidFill>
                          <a:latin typeface="Calibri"/>
                        </a:rPr>
                        <a:t>Existing hook status</a:t>
                      </a:r>
                    </a:p>
                  </a:txBody>
                  <a:tcPr marL="54864" marR="54864" marT="27432" marB="27432" anchor="ctr">
                    <a:solidFill>
                      <a:srgbClr val="22406A"/>
                    </a:solidFill>
                  </a:tcPr>
                </a:tc>
              </a:tr>
              <a:tr h="347472">
                <a:tc>
                  <a:txBody>
                    <a:bodyPr/>
                    <a:lstStyle/>
                    <a:p>
                      <a:r>
                        <a:rPr sz="1000" b="0" i="0">
                          <a:solidFill>
                            <a:srgbClr val="E8EEF6"/>
                          </a:solidFill>
                          <a:latin typeface="Calibri"/>
                        </a:rPr>
                        <a:t>Individual query transactions during init</a:t>
                      </a:r>
                    </a:p>
                  </a:txBody>
                  <a:tcPr marL="54864" marR="54864" marT="27432" marB="27432" anchor="ctr">
                    <a:solidFill>
                      <a:srgbClr val="14243B"/>
                    </a:solidFill>
                  </a:tcPr>
                </a:tc>
                <a:tc>
                  <a:txBody>
                    <a:bodyPr/>
                    <a:lstStyle/>
                    <a:p>
                      <a:r>
                        <a:rPr sz="1000" b="0" i="0">
                          <a:solidFill>
                            <a:srgbClr val="E8EEF6"/>
                          </a:solidFill>
                          <a:latin typeface="Calibri"/>
                        </a:rPr>
                        <a:t>To be added: counter in the three *_retry helpers</a:t>
                      </a:r>
                    </a:p>
                  </a:txBody>
                  <a:tcPr marL="54864" marR="54864" marT="27432" marB="27432" anchor="ctr">
                    <a:solidFill>
                      <a:srgbClr val="14243B"/>
                    </a:solidFill>
                  </a:tcPr>
                </a:tc>
                <a:tc>
                  <a:txBody>
                    <a:bodyPr/>
                    <a:lstStyle/>
                    <a:p>
                      <a:r>
                        <a:rPr sz="1000" b="0" i="0">
                          <a:solidFill>
                            <a:srgbClr val="E8EEF6"/>
                          </a:solidFill>
                          <a:latin typeface="Calibri"/>
                        </a:rPr>
                        <a:t>Not verified</a:t>
                      </a:r>
                    </a:p>
                  </a:txBody>
                  <a:tcPr marL="54864" marR="54864" marT="27432" marB="27432" anchor="ctr">
                    <a:solidFill>
                      <a:srgbClr val="14243B"/>
                    </a:solidFill>
                  </a:tcPr>
                </a:tc>
              </a:tr>
              <a:tr h="347472">
                <a:tc>
                  <a:txBody>
                    <a:bodyPr/>
                    <a:lstStyle/>
                    <a:p>
                      <a:r>
                        <a:rPr sz="1000" b="0" i="0">
                          <a:solidFill>
                            <a:srgbClr val="E8EEF6"/>
                          </a:solidFill>
                          <a:latin typeface="Calibri"/>
                        </a:rPr>
                        <a:t>Aggregated Read transactions</a:t>
                      </a:r>
                    </a:p>
                  </a:txBody>
                  <a:tcPr marL="54864" marR="54864" marT="27432" marB="27432" anchor="ctr">
                    <a:solidFill>
                      <a:srgbClr val="101F34"/>
                    </a:solidFill>
                  </a:tcPr>
                </a:tc>
                <a:tc>
                  <a:txBody>
                    <a:bodyPr/>
                    <a:lstStyle/>
                    <a:p>
                      <a:r>
                        <a:rPr sz="1000" b="0" i="0">
                          <a:solidFill>
                            <a:srgbClr val="E8EEF6"/>
                          </a:solidFill>
                          <a:latin typeface="Calibri"/>
                        </a:rPr>
                        <a:t>To be added: counter in ufshcd_query_aggregated_read()</a:t>
                      </a:r>
                    </a:p>
                  </a:txBody>
                  <a:tcPr marL="54864" marR="54864" marT="27432" marB="27432" anchor="ctr">
                    <a:solidFill>
                      <a:srgbClr val="101F34"/>
                    </a:solidFill>
                  </a:tcPr>
                </a:tc>
                <a:tc>
                  <a:txBody>
                    <a:bodyPr/>
                    <a:lstStyle/>
                    <a:p>
                      <a:r>
                        <a:rPr sz="1000" b="0" i="0">
                          <a:solidFill>
                            <a:srgbClr val="E8EEF6"/>
                          </a:solidFill>
                          <a:latin typeface="Calibri"/>
                        </a:rPr>
                        <a:t>Not verified</a:t>
                      </a:r>
                    </a:p>
                  </a:txBody>
                  <a:tcPr marL="54864" marR="54864" marT="27432" marB="27432" anchor="ctr">
                    <a:solidFill>
                      <a:srgbClr val="101F34"/>
                    </a:solidFill>
                  </a:tcPr>
                </a:tc>
              </a:tr>
              <a:tr h="347472">
                <a:tc>
                  <a:txBody>
                    <a:bodyPr/>
                    <a:lstStyle/>
                    <a:p>
                      <a:r>
                        <a:rPr sz="1000" b="0" i="0">
                          <a:solidFill>
                            <a:srgbClr val="E8EEF6"/>
                          </a:solidFill>
                          <a:latin typeface="Calibri"/>
                        </a:rPr>
                        <a:t>Total query transactions</a:t>
                      </a:r>
                    </a:p>
                  </a:txBody>
                  <a:tcPr marL="54864" marR="54864" marT="27432" marB="27432" anchor="ctr">
                    <a:solidFill>
                      <a:srgbClr val="14243B"/>
                    </a:solidFill>
                  </a:tcPr>
                </a:tc>
                <a:tc>
                  <a:txBody>
                    <a:bodyPr/>
                    <a:lstStyle/>
                    <a:p>
                      <a:r>
                        <a:rPr sz="1000" b="0" i="0">
                          <a:solidFill>
                            <a:srgbClr val="E8EEF6"/>
                          </a:solidFill>
                          <a:latin typeface="Calibri"/>
                        </a:rPr>
                        <a:t>Derived: individual + aggregated</a:t>
                      </a:r>
                    </a:p>
                  </a:txBody>
                  <a:tcPr marL="54864" marR="54864" marT="27432" marB="27432" anchor="ctr">
                    <a:solidFill>
                      <a:srgbClr val="14243B"/>
                    </a:solidFill>
                  </a:tcPr>
                </a:tc>
                <a:tc>
                  <a:txBody>
                    <a:bodyPr/>
                    <a:lstStyle/>
                    <a:p>
                      <a:r>
                        <a:rPr sz="1000" b="0" i="0">
                          <a:solidFill>
                            <a:srgbClr val="E8EEF6"/>
                          </a:solidFill>
                          <a:latin typeface="Calibri"/>
                        </a:rPr>
                        <a:t>Not verified</a:t>
                      </a:r>
                    </a:p>
                  </a:txBody>
                  <a:tcPr marL="54864" marR="54864" marT="27432" marB="27432" anchor="ctr">
                    <a:solidFill>
                      <a:srgbClr val="14243B"/>
                    </a:solidFill>
                  </a:tcPr>
                </a:tc>
              </a:tr>
              <a:tr h="347472">
                <a:tc>
                  <a:txBody>
                    <a:bodyPr/>
                    <a:lstStyle/>
                    <a:p>
                      <a:r>
                        <a:rPr sz="1000" b="0" i="0">
                          <a:solidFill>
                            <a:srgbClr val="E8EEF6"/>
                          </a:solidFill>
                          <a:latin typeface="Calibri"/>
                        </a:rPr>
                        <a:t>Initialization duration</a:t>
                      </a:r>
                    </a:p>
                  </a:txBody>
                  <a:tcPr marL="54864" marR="54864" marT="27432" marB="27432" anchor="ctr">
                    <a:solidFill>
                      <a:srgbClr val="101F34"/>
                    </a:solidFill>
                  </a:tcPr>
                </a:tc>
                <a:tc>
                  <a:txBody>
                    <a:bodyPr/>
                    <a:lstStyle/>
                    <a:p>
                      <a:r>
                        <a:rPr sz="1000" b="0" i="0">
                          <a:solidFill>
                            <a:srgbClr val="E8EEF6"/>
                          </a:solidFill>
                          <a:latin typeface="Calibri"/>
                        </a:rPr>
                        <a:t>To be added: timestamps around device init (e.g. ftrace/ktime)</a:t>
                      </a:r>
                    </a:p>
                  </a:txBody>
                  <a:tcPr marL="54864" marR="54864" marT="27432" marB="27432" anchor="ctr">
                    <a:solidFill>
                      <a:srgbClr val="101F34"/>
                    </a:solidFill>
                  </a:tcPr>
                </a:tc>
                <a:tc>
                  <a:txBody>
                    <a:bodyPr/>
                    <a:lstStyle/>
                    <a:p>
                      <a:r>
                        <a:rPr sz="1000" b="0" i="0">
                          <a:solidFill>
                            <a:srgbClr val="E8EEF6"/>
                          </a:solidFill>
                          <a:latin typeface="Calibri"/>
                        </a:rPr>
                        <a:t>Not verified</a:t>
                      </a:r>
                    </a:p>
                  </a:txBody>
                  <a:tcPr marL="54864" marR="54864" marT="27432" marB="27432" anchor="ctr">
                    <a:solidFill>
                      <a:srgbClr val="101F34"/>
                    </a:solidFill>
                  </a:tcPr>
                </a:tc>
              </a:tr>
              <a:tr h="347472">
                <a:tc>
                  <a:txBody>
                    <a:bodyPr/>
                    <a:lstStyle/>
                    <a:p>
                      <a:r>
                        <a:rPr sz="1000" b="0" i="0">
                          <a:solidFill>
                            <a:srgbClr val="E8EEF6"/>
                          </a:solidFill>
                          <a:latin typeface="Calibri"/>
                        </a:rPr>
                        <a:t>Query-command execution time</a:t>
                      </a:r>
                    </a:p>
                  </a:txBody>
                  <a:tcPr marL="54864" marR="54864" marT="27432" marB="27432" anchor="ctr">
                    <a:solidFill>
                      <a:srgbClr val="14243B"/>
                    </a:solidFill>
                  </a:tcPr>
                </a:tc>
                <a:tc>
                  <a:txBody>
                    <a:bodyPr/>
                    <a:lstStyle/>
                    <a:p>
                      <a:r>
                        <a:rPr sz="1000" b="0" i="0">
                          <a:solidFill>
                            <a:srgbClr val="E8EEF6"/>
                          </a:solidFill>
                          <a:latin typeface="Calibri"/>
                        </a:rPr>
                        <a:t>To be added around ufshcd_exec_dev_cmd()</a:t>
                      </a:r>
                    </a:p>
                  </a:txBody>
                  <a:tcPr marL="54864" marR="54864" marT="27432" marB="27432" anchor="ctr">
                    <a:solidFill>
                      <a:srgbClr val="14243B"/>
                    </a:solidFill>
                  </a:tcPr>
                </a:tc>
                <a:tc>
                  <a:txBody>
                    <a:bodyPr/>
                    <a:lstStyle/>
                    <a:p>
                      <a:r>
                        <a:rPr sz="1000" b="0" i="0">
                          <a:solidFill>
                            <a:srgbClr val="E8EEF6"/>
                          </a:solidFill>
                          <a:latin typeface="Calibri"/>
                        </a:rPr>
                        <a:t>Not verified</a:t>
                      </a:r>
                    </a:p>
                  </a:txBody>
                  <a:tcPr marL="54864" marR="54864" marT="27432" marB="27432" anchor="ctr">
                    <a:solidFill>
                      <a:srgbClr val="14243B"/>
                    </a:solidFill>
                  </a:tcPr>
                </a:tc>
              </a:tr>
              <a:tr h="347472">
                <a:tc>
                  <a:txBody>
                    <a:bodyPr/>
                    <a:lstStyle/>
                    <a:p>
                      <a:r>
                        <a:rPr sz="1000" b="0" i="0">
                          <a:solidFill>
                            <a:srgbClr val="E8EEF6"/>
                          </a:solidFill>
                          <a:latin typeface="Calibri"/>
                        </a:rPr>
                        <a:t>Retry and failure counts</a:t>
                      </a:r>
                    </a:p>
                  </a:txBody>
                  <a:tcPr marL="54864" marR="54864" marT="27432" marB="27432" anchor="ctr">
                    <a:solidFill>
                      <a:srgbClr val="101F34"/>
                    </a:solidFill>
                  </a:tcPr>
                </a:tc>
                <a:tc>
                  <a:txBody>
                    <a:bodyPr/>
                    <a:lstStyle/>
                    <a:p>
                      <a:r>
                        <a:rPr sz="1000" b="0" i="0">
                          <a:solidFill>
                            <a:srgbClr val="E8EEF6"/>
                          </a:solidFill>
                          <a:latin typeface="Calibri"/>
                        </a:rPr>
                        <a:t>To be added; dev_dbg message exists in patch</a:t>
                      </a:r>
                    </a:p>
                  </a:txBody>
                  <a:tcPr marL="54864" marR="54864" marT="27432" marB="27432" anchor="ctr">
                    <a:solidFill>
                      <a:srgbClr val="101F34"/>
                    </a:solidFill>
                  </a:tcPr>
                </a:tc>
                <a:tc>
                  <a:txBody>
                    <a:bodyPr/>
                    <a:lstStyle/>
                    <a:p>
                      <a:r>
                        <a:rPr sz="1000" b="0" i="0">
                          <a:solidFill>
                            <a:srgbClr val="E8EEF6"/>
                          </a:solidFill>
                          <a:latin typeface="Calibri"/>
                        </a:rPr>
                        <a:t>Not verified</a:t>
                      </a:r>
                    </a:p>
                  </a:txBody>
                  <a:tcPr marL="54864" marR="54864" marT="27432" marB="27432" anchor="ctr">
                    <a:solidFill>
                      <a:srgbClr val="101F34"/>
                    </a:solidFill>
                  </a:tcPr>
                </a:tc>
              </a:tr>
              <a:tr h="347472">
                <a:tc>
                  <a:txBody>
                    <a:bodyPr/>
                    <a:lstStyle/>
                    <a:p>
                      <a:r>
                        <a:rPr sz="1000" b="0" i="0">
                          <a:solidFill>
                            <a:srgbClr val="E8EEF6"/>
                          </a:solidFill>
                          <a:latin typeface="Calibri"/>
                        </a:rPr>
                        <a:t>Cache hits and fallback reads</a:t>
                      </a:r>
                    </a:p>
                  </a:txBody>
                  <a:tcPr marL="54864" marR="54864" marT="27432" marB="27432" anchor="ctr">
                    <a:solidFill>
                      <a:srgbClr val="14243B"/>
                    </a:solidFill>
                  </a:tcPr>
                </a:tc>
                <a:tc>
                  <a:txBody>
                    <a:bodyPr/>
                    <a:lstStyle/>
                    <a:p>
                      <a:r>
                        <a:rPr sz="1000" b="0" i="0">
                          <a:solidFill>
                            <a:srgbClr val="E8EEF6"/>
                          </a:solidFill>
                          <a:latin typeface="Calibri"/>
                        </a:rPr>
                        <a:t>To be added: counters in ufshcd_read_attr/flag/desc_param</a:t>
                      </a:r>
                    </a:p>
                  </a:txBody>
                  <a:tcPr marL="54864" marR="54864" marT="27432" marB="27432" anchor="ctr">
                    <a:solidFill>
                      <a:srgbClr val="14243B"/>
                    </a:solidFill>
                  </a:tcPr>
                </a:tc>
                <a:tc>
                  <a:txBody>
                    <a:bodyPr/>
                    <a:lstStyle/>
                    <a:p>
                      <a:r>
                        <a:rPr sz="1000" b="0" i="0">
                          <a:solidFill>
                            <a:srgbClr val="E8EEF6"/>
                          </a:solidFill>
                          <a:latin typeface="Calibri"/>
                        </a:rPr>
                        <a:t>Not verified</a:t>
                      </a:r>
                    </a:p>
                  </a:txBody>
                  <a:tcPr marL="54864" marR="54864" marT="27432" marB="27432" anchor="ctr">
                    <a:solidFill>
                      <a:srgbClr val="14243B"/>
                    </a:solidFill>
                  </a:tcPr>
                </a:tc>
              </a:tr>
              <a:tr h="347472">
                <a:tc>
                  <a:txBody>
                    <a:bodyPr/>
                    <a:lstStyle/>
                    <a:p>
                      <a:r>
                        <a:rPr sz="1000" b="0" i="0">
                          <a:solidFill>
                            <a:srgbClr val="E8EEF6"/>
                          </a:solidFill>
                          <a:latin typeface="Calibri"/>
                        </a:rPr>
                        <a:t>CPU cost of parse and copy</a:t>
                      </a:r>
                    </a:p>
                  </a:txBody>
                  <a:tcPr marL="54864" marR="54864" marT="27432" marB="27432" anchor="ctr">
                    <a:solidFill>
                      <a:srgbClr val="101F34"/>
                    </a:solidFill>
                  </a:tcPr>
                </a:tc>
                <a:tc>
                  <a:txBody>
                    <a:bodyPr/>
                    <a:lstStyle/>
                    <a:p>
                      <a:r>
                        <a:rPr sz="1000" b="0" i="0">
                          <a:solidFill>
                            <a:srgbClr val="E8EEF6"/>
                          </a:solidFill>
                          <a:latin typeface="Calibri"/>
                        </a:rPr>
                        <a:t>To be added: timing around ufshcd_agg_* lookups</a:t>
                      </a:r>
                    </a:p>
                  </a:txBody>
                  <a:tcPr marL="54864" marR="54864" marT="27432" marB="27432" anchor="ctr">
                    <a:solidFill>
                      <a:srgbClr val="101F34"/>
                    </a:solidFill>
                  </a:tcPr>
                </a:tc>
                <a:tc>
                  <a:txBody>
                    <a:bodyPr/>
                    <a:lstStyle/>
                    <a:p>
                      <a:r>
                        <a:rPr sz="1000" b="0" i="0">
                          <a:solidFill>
                            <a:srgbClr val="E8EEF6"/>
                          </a:solidFill>
                          <a:latin typeface="Calibri"/>
                        </a:rPr>
                        <a:t>Not verified</a:t>
                      </a:r>
                    </a:p>
                  </a:txBody>
                  <a:tcPr marL="54864" marR="54864" marT="27432" marB="27432" anchor="ctr">
                    <a:solidFill>
                      <a:srgbClr val="101F34"/>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626"/>
        </a:solidFill>
        <a:effectLst/>
      </p:bgPr>
    </p:bg>
    <p:spTree>
      <p:nvGrpSpPr>
        <p:cNvPr id="1" name=""/>
        <p:cNvGrpSpPr/>
        <p:nvPr/>
      </p:nvGrpSpPr>
      <p:grpSpPr/>
      <p:sp>
        <p:nvSpPr>
          <p:cNvPr id="2" name="Title"/>
          <p:cNvSpPr txBox="1"/>
          <p:nvPr/>
        </p:nvSpPr>
        <p:spPr>
          <a:xfrm>
            <a:off x="457200" y="274320"/>
            <a:ext cx="11247120" cy="548640"/>
          </a:xfrm>
          <a:prstGeom prst="rect">
            <a:avLst/>
          </a:prstGeom>
          <a:noFill/>
        </p:spPr>
        <p:txBody>
          <a:bodyPr wrap="square" anchor="ctr" lIns="36576" rIns="36576" tIns="18288" bIns="18288">
            <a:spAutoFit/>
          </a:bodyPr>
          <a:lstStyle/>
          <a:p>
            <a:r>
              <a:rPr sz="2400" b="1" i="0">
                <a:solidFill>
                  <a:srgbClr val="E8EEF6"/>
                </a:solidFill>
                <a:latin typeface="Calibri"/>
              </a:rPr>
              <a:t>Test Matrix and Correctness: 12 Proposed Scenarios (All Not Run)</a:t>
            </a:r>
          </a:p>
        </p:txBody>
      </p:sp>
      <p:sp>
        <p:nvSpPr>
          <p:cNvPr id="3" name="Source"/>
          <p:cNvSpPr txBox="1"/>
          <p:nvPr/>
        </p:nvSpPr>
        <p:spPr>
          <a:xfrm>
            <a:off x="457200" y="6473952"/>
            <a:ext cx="10424160" cy="256032"/>
          </a:xfrm>
          <a:prstGeom prst="rect">
            <a:avLst/>
          </a:prstGeom>
          <a:noFill/>
        </p:spPr>
        <p:txBody>
          <a:bodyPr wrap="square" anchor="t" lIns="36576" rIns="36576" tIns="18288" bIns="18288">
            <a:spAutoFit/>
          </a:bodyPr>
          <a:lstStyle/>
          <a:p>
            <a:r>
              <a:rPr sz="1000" b="0" i="0">
                <a:solidFill>
                  <a:srgbClr val="A9B8CC"/>
                </a:solidFill>
                <a:latin typeface="Calibri"/>
              </a:rPr>
              <a:t>Proposed tests only. Setup and instrumentation per test: appendix A4–A5. Correctness checklist: appendix A6</a:t>
            </a:r>
          </a:p>
        </p:txBody>
      </p:sp>
      <p:sp>
        <p:nvSpPr>
          <p:cNvPr id="4" name="Slide Number"/>
          <p:cNvSpPr txBox="1"/>
          <p:nvPr/>
        </p:nvSpPr>
        <p:spPr>
          <a:xfrm>
            <a:off x="11064240" y="6473952"/>
            <a:ext cx="685800" cy="256032"/>
          </a:xfrm>
          <a:prstGeom prst="rect">
            <a:avLst/>
          </a:prstGeom>
          <a:noFill/>
        </p:spPr>
        <p:txBody>
          <a:bodyPr wrap="none">
            <a:spAutoFit/>
          </a:bodyPr>
          <a:lstStyle/>
          <a:p>
            <a:pPr algn="r"/>
            <a:fld id="{B6F15528-21DE-4FAA-801E-634DDDAF4B2B}" type="slidenum">
              <a:rPr lang="en-US" sz="1100">
                <a:solidFill>
                  <a:srgbClr val="A9B8CC"/>
                </a:solidFill>
                <a:latin typeface="Calibri"/>
              </a:rPr>
              <a:t>15</a:t>
            </a:fld>
          </a:p>
        </p:txBody>
      </p:sp>
      <p:graphicFrame>
        <p:nvGraphicFramePr>
          <p:cNvPr id="5" name="Table 4"/>
          <p:cNvGraphicFramePr>
            <a:graphicFrameLocks noGrp="1"/>
          </p:cNvGraphicFramePr>
          <p:nvPr/>
        </p:nvGraphicFramePr>
        <p:xfrm>
          <a:off x="457200" y="1051560"/>
          <a:ext cx="11247120" cy="4992624"/>
        </p:xfrm>
        <a:graphic>
          <a:graphicData uri="http://schemas.openxmlformats.org/drawingml/2006/table">
            <a:tbl>
              <a:tblPr firstRow="1" bandRow="1">
                <a:tableStyleId>{5940675A-B579-460E-94D1-54222C63F5DA}</a:tableStyleId>
              </a:tblPr>
              <a:tblGrid>
                <a:gridCol w="365760"/>
                <a:gridCol w="2788920"/>
                <a:gridCol w="3566160"/>
                <a:gridCol w="3566160"/>
                <a:gridCol w="960120"/>
              </a:tblGrid>
              <a:tr h="274320">
                <a:tc>
                  <a:txBody>
                    <a:bodyPr/>
                    <a:lstStyle/>
                    <a:p>
                      <a:r>
                        <a:rPr sz="1000" b="1" i="0">
                          <a:solidFill>
                            <a:srgbClr val="E8EEF6"/>
                          </a:solidFill>
                          <a:latin typeface="Calibri"/>
                        </a:rPr>
                        <a:t>#</a:t>
                      </a:r>
                    </a:p>
                  </a:txBody>
                  <a:tcPr marL="54864" marR="54864" marT="27432" marB="27432" anchor="ctr">
                    <a:solidFill>
                      <a:srgbClr val="22406A"/>
                    </a:solidFill>
                  </a:tcPr>
                </a:tc>
                <a:tc>
                  <a:txBody>
                    <a:bodyPr/>
                    <a:lstStyle/>
                    <a:p>
                      <a:r>
                        <a:rPr sz="1000" b="1" i="0">
                          <a:solidFill>
                            <a:srgbClr val="E8EEF6"/>
                          </a:solidFill>
                          <a:latin typeface="Calibri"/>
                        </a:rPr>
                        <a:t>Scenario</a:t>
                      </a:r>
                    </a:p>
                  </a:txBody>
                  <a:tcPr marL="54864" marR="54864" marT="27432" marB="27432" anchor="ctr">
                    <a:solidFill>
                      <a:srgbClr val="22406A"/>
                    </a:solidFill>
                  </a:tcPr>
                </a:tc>
                <a:tc>
                  <a:txBody>
                    <a:bodyPr/>
                    <a:lstStyle/>
                    <a:p>
                      <a:r>
                        <a:rPr sz="1000" b="1" i="0">
                          <a:solidFill>
                            <a:srgbClr val="E8EEF6"/>
                          </a:solidFill>
                          <a:latin typeface="Calibri"/>
                        </a:rPr>
                        <a:t>Expected path / fallback</a:t>
                      </a:r>
                    </a:p>
                  </a:txBody>
                  <a:tcPr marL="54864" marR="54864" marT="27432" marB="27432" anchor="ctr">
                    <a:solidFill>
                      <a:srgbClr val="22406A"/>
                    </a:solidFill>
                  </a:tcPr>
                </a:tc>
                <a:tc>
                  <a:txBody>
                    <a:bodyPr/>
                    <a:lstStyle/>
                    <a:p>
                      <a:r>
                        <a:rPr sz="1000" b="1" i="0">
                          <a:solidFill>
                            <a:srgbClr val="E8EEF6"/>
                          </a:solidFill>
                          <a:latin typeface="Calibri"/>
                        </a:rPr>
                        <a:t>Pass / fail criterion</a:t>
                      </a:r>
                    </a:p>
                  </a:txBody>
                  <a:tcPr marL="54864" marR="54864" marT="27432" marB="27432" anchor="ctr">
                    <a:solidFill>
                      <a:srgbClr val="22406A"/>
                    </a:solidFill>
                  </a:tcPr>
                </a:tc>
                <a:tc>
                  <a:txBody>
                    <a:bodyPr/>
                    <a:lstStyle/>
                    <a:p>
                      <a:r>
                        <a:rPr sz="1000" b="1" i="0">
                          <a:solidFill>
                            <a:srgbClr val="E8EEF6"/>
                          </a:solidFill>
                          <a:latin typeface="Calibri"/>
                        </a:rPr>
                        <a:t>Result</a:t>
                      </a:r>
                    </a:p>
                  </a:txBody>
                  <a:tcPr marL="54864" marR="54864" marT="27432" marB="27432" anchor="ctr">
                    <a:solidFill>
                      <a:srgbClr val="22406A"/>
                    </a:solidFill>
                  </a:tcPr>
                </a:tc>
              </a:tr>
              <a:tr h="393192">
                <a:tc>
                  <a:txBody>
                    <a:bodyPr/>
                    <a:lstStyle/>
                    <a:p>
                      <a:r>
                        <a:rPr sz="1000" b="0" i="0">
                          <a:solidFill>
                            <a:srgbClr val="E8EEF6"/>
                          </a:solidFill>
                          <a:latin typeface="Calibri"/>
                        </a:rPr>
                        <a:t>1</a:t>
                      </a:r>
                    </a:p>
                  </a:txBody>
                  <a:tcPr marL="54864" marR="54864" marT="27432" marB="27432" anchor="ctr">
                    <a:solidFill>
                      <a:srgbClr val="14243B"/>
                    </a:solidFill>
                  </a:tcPr>
                </a:tc>
                <a:tc>
                  <a:txBody>
                    <a:bodyPr/>
                    <a:lstStyle/>
                    <a:p>
                      <a:r>
                        <a:rPr sz="1000" b="0" i="0">
                          <a:solidFill>
                            <a:srgbClr val="E8EEF6"/>
                          </a:solidFill>
                          <a:latin typeface="Calibri"/>
                        </a:rPr>
                        <a:t>UFS 5.0 device supporting Aggregated Read</a:t>
                      </a:r>
                    </a:p>
                  </a:txBody>
                  <a:tcPr marL="54864" marR="54864" marT="27432" marB="27432" anchor="ctr">
                    <a:solidFill>
                      <a:srgbClr val="14243B"/>
                    </a:solidFill>
                  </a:tcPr>
                </a:tc>
                <a:tc>
                  <a:txBody>
                    <a:bodyPr/>
                    <a:lstStyle/>
                    <a:p>
                      <a:r>
                        <a:rPr sz="1000" b="0" i="0">
                          <a:solidFill>
                            <a:srgbClr val="E8EEF6"/>
                          </a:solidFill>
                          <a:latin typeface="Calibri"/>
                        </a:rPr>
                        <a:t>begin() passes gate; 1 aggregated query; reads served from cache</a:t>
                      </a:r>
                    </a:p>
                  </a:txBody>
                  <a:tcPr marL="54864" marR="54864" marT="27432" marB="27432" anchor="ctr">
                    <a:solidFill>
                      <a:srgbClr val="14243B"/>
                    </a:solidFill>
                  </a:tcPr>
                </a:tc>
                <a:tc>
                  <a:txBody>
                    <a:bodyPr/>
                    <a:lstStyle/>
                    <a:p>
                      <a:r>
                        <a:rPr sz="1000" b="0" i="0">
                          <a:solidFill>
                            <a:srgbClr val="E8EEF6"/>
                          </a:solidFill>
                          <a:latin typeface="Calibri"/>
                        </a:rPr>
                        <a:t>Cached values equal individual-query values; init OK</a:t>
                      </a:r>
                    </a:p>
                  </a:txBody>
                  <a:tcPr marL="54864" marR="54864" marT="27432" marB="27432" anchor="ctr">
                    <a:solidFill>
                      <a:srgbClr val="14243B"/>
                    </a:solidFill>
                  </a:tcPr>
                </a:tc>
                <a:tc>
                  <a:txBody>
                    <a:bodyPr/>
                    <a:lstStyle/>
                    <a:p>
                      <a:r>
                        <a:rPr sz="1000" b="1" i="0">
                          <a:solidFill>
                            <a:srgbClr val="FBBF24"/>
                          </a:solidFill>
                          <a:latin typeface="Calibri"/>
                        </a:rPr>
                        <a:t>Not Run</a:t>
                      </a:r>
                    </a:p>
                  </a:txBody>
                  <a:tcPr marL="54864" marR="54864" marT="27432" marB="27432" anchor="ctr">
                    <a:solidFill>
                      <a:srgbClr val="14243B"/>
                    </a:solidFill>
                  </a:tcPr>
                </a:tc>
              </a:tr>
              <a:tr h="393192">
                <a:tc>
                  <a:txBody>
                    <a:bodyPr/>
                    <a:lstStyle/>
                    <a:p>
                      <a:r>
                        <a:rPr sz="1000" b="0" i="0">
                          <a:solidFill>
                            <a:srgbClr val="E8EEF6"/>
                          </a:solidFill>
                          <a:latin typeface="Calibri"/>
                        </a:rPr>
                        <a:t>2</a:t>
                      </a:r>
                    </a:p>
                  </a:txBody>
                  <a:tcPr marL="54864" marR="54864" marT="27432" marB="27432" anchor="ctr">
                    <a:solidFill>
                      <a:srgbClr val="101F34"/>
                    </a:solidFill>
                  </a:tcPr>
                </a:tc>
                <a:tc>
                  <a:txBody>
                    <a:bodyPr/>
                    <a:lstStyle/>
                    <a:p>
                      <a:r>
                        <a:rPr sz="1000" b="0" i="0">
                          <a:solidFill>
                            <a:srgbClr val="E8EEF6"/>
                          </a:solidFill>
                          <a:latin typeface="Calibri"/>
                        </a:rPr>
                        <a:t>Device older than UFS 5.0</a:t>
                      </a:r>
                    </a:p>
                  </a:txBody>
                  <a:tcPr marL="54864" marR="54864" marT="27432" marB="27432" anchor="ctr">
                    <a:solidFill>
                      <a:srgbClr val="101F34"/>
                    </a:solidFill>
                  </a:tcPr>
                </a:tc>
                <a:tc>
                  <a:txBody>
                    <a:bodyPr/>
                    <a:lstStyle/>
                    <a:p>
                      <a:r>
                        <a:rPr sz="1000" b="0" i="0">
                          <a:solidFill>
                            <a:srgbClr val="E8EEF6"/>
                          </a:solidFill>
                          <a:latin typeface="Calibri"/>
                        </a:rPr>
                        <a:t>begin() returns early; no packet; existing queries</a:t>
                      </a:r>
                    </a:p>
                  </a:txBody>
                  <a:tcPr marL="54864" marR="54864" marT="27432" marB="27432" anchor="ctr">
                    <a:solidFill>
                      <a:srgbClr val="101F34"/>
                    </a:solidFill>
                  </a:tcPr>
                </a:tc>
                <a:tc>
                  <a:txBody>
                    <a:bodyPr/>
                    <a:lstStyle/>
                    <a:p>
                      <a:r>
                        <a:rPr sz="1000" b="0" i="0">
                          <a:solidFill>
                            <a:srgbClr val="E8EEF6"/>
                          </a:solidFill>
                          <a:latin typeface="Calibri"/>
                        </a:rPr>
                        <a:t>No AGGREGATED READ issued; init unchanged</a:t>
                      </a:r>
                    </a:p>
                  </a:txBody>
                  <a:tcPr marL="54864" marR="54864" marT="27432" marB="27432" anchor="ctr">
                    <a:solidFill>
                      <a:srgbClr val="101F34"/>
                    </a:solidFill>
                  </a:tcPr>
                </a:tc>
                <a:tc>
                  <a:txBody>
                    <a:bodyPr/>
                    <a:lstStyle/>
                    <a:p>
                      <a:r>
                        <a:rPr sz="1000" b="1" i="0">
                          <a:solidFill>
                            <a:srgbClr val="FBBF24"/>
                          </a:solidFill>
                          <a:latin typeface="Calibri"/>
                        </a:rPr>
                        <a:t>Not Run</a:t>
                      </a:r>
                    </a:p>
                  </a:txBody>
                  <a:tcPr marL="54864" marR="54864" marT="27432" marB="27432" anchor="ctr">
                    <a:solidFill>
                      <a:srgbClr val="101F34"/>
                    </a:solidFill>
                  </a:tcPr>
                </a:tc>
              </a:tr>
              <a:tr h="393192">
                <a:tc>
                  <a:txBody>
                    <a:bodyPr/>
                    <a:lstStyle/>
                    <a:p>
                      <a:r>
                        <a:rPr sz="1000" b="0" i="0">
                          <a:solidFill>
                            <a:srgbClr val="E8EEF6"/>
                          </a:solidFill>
                          <a:latin typeface="Calibri"/>
                        </a:rPr>
                        <a:t>3</a:t>
                      </a:r>
                    </a:p>
                  </a:txBody>
                  <a:tcPr marL="54864" marR="54864" marT="27432" marB="27432" anchor="ctr">
                    <a:solidFill>
                      <a:srgbClr val="14243B"/>
                    </a:solidFill>
                  </a:tcPr>
                </a:tc>
                <a:tc>
                  <a:txBody>
                    <a:bodyPr/>
                    <a:lstStyle/>
                    <a:p>
                      <a:r>
                        <a:rPr sz="1000" b="0" i="0">
                          <a:solidFill>
                            <a:srgbClr val="E8EEF6"/>
                          </a:solidFill>
                          <a:latin typeface="Calibri"/>
                        </a:rPr>
                        <a:t>UFS 5.0 device rejecting the opcode</a:t>
                      </a:r>
                    </a:p>
                  </a:txBody>
                  <a:tcPr marL="54864" marR="54864" marT="27432" marB="27432" anchor="ctr">
                    <a:solidFill>
                      <a:srgbClr val="14243B"/>
                    </a:solidFill>
                  </a:tcPr>
                </a:tc>
                <a:tc>
                  <a:txBody>
                    <a:bodyPr/>
                    <a:lstStyle/>
                    <a:p>
                      <a:r>
                        <a:rPr sz="1000" b="0" i="0">
                          <a:solidFill>
                            <a:srgbClr val="E8EEF6"/>
                          </a:solidFill>
                          <a:latin typeface="Calibri"/>
                        </a:rPr>
                        <a:t>Retries exhausted; flag set; individual queries</a:t>
                      </a:r>
                    </a:p>
                  </a:txBody>
                  <a:tcPr marL="54864" marR="54864" marT="27432" marB="27432" anchor="ctr">
                    <a:solidFill>
                      <a:srgbClr val="14243B"/>
                    </a:solidFill>
                  </a:tcPr>
                </a:tc>
                <a:tc>
                  <a:txBody>
                    <a:bodyPr/>
                    <a:lstStyle/>
                    <a:p>
                      <a:r>
                        <a:rPr sz="1000" b="0" i="0">
                          <a:solidFill>
                            <a:srgbClr val="E8EEF6"/>
                          </a:solidFill>
                          <a:latin typeface="Calibri"/>
                        </a:rPr>
                        <a:t>Init OK; flag set; no leak</a:t>
                      </a:r>
                    </a:p>
                  </a:txBody>
                  <a:tcPr marL="54864" marR="54864" marT="27432" marB="27432" anchor="ctr">
                    <a:solidFill>
                      <a:srgbClr val="14243B"/>
                    </a:solidFill>
                  </a:tcPr>
                </a:tc>
                <a:tc>
                  <a:txBody>
                    <a:bodyPr/>
                    <a:lstStyle/>
                    <a:p>
                      <a:r>
                        <a:rPr sz="1000" b="1" i="0">
                          <a:solidFill>
                            <a:srgbClr val="FBBF24"/>
                          </a:solidFill>
                          <a:latin typeface="Calibri"/>
                        </a:rPr>
                        <a:t>Not Run</a:t>
                      </a:r>
                    </a:p>
                  </a:txBody>
                  <a:tcPr marL="54864" marR="54864" marT="27432" marB="27432" anchor="ctr">
                    <a:solidFill>
                      <a:srgbClr val="14243B"/>
                    </a:solidFill>
                  </a:tcPr>
                </a:tc>
              </a:tr>
              <a:tr h="393192">
                <a:tc>
                  <a:txBody>
                    <a:bodyPr/>
                    <a:lstStyle/>
                    <a:p>
                      <a:r>
                        <a:rPr sz="1000" b="0" i="0">
                          <a:solidFill>
                            <a:srgbClr val="E8EEF6"/>
                          </a:solidFill>
                          <a:latin typeface="Calibri"/>
                        </a:rPr>
                        <a:t>4</a:t>
                      </a:r>
                    </a:p>
                  </a:txBody>
                  <a:tcPr marL="54864" marR="54864" marT="27432" marB="27432" anchor="ctr">
                    <a:solidFill>
                      <a:srgbClr val="101F34"/>
                    </a:solidFill>
                  </a:tcPr>
                </a:tc>
                <a:tc>
                  <a:txBody>
                    <a:bodyPr/>
                    <a:lstStyle/>
                    <a:p>
                      <a:r>
                        <a:rPr sz="1000" b="0" i="0">
                          <a:solidFill>
                            <a:srgbClr val="E8EEF6"/>
                          </a:solidFill>
                          <a:latin typeface="Calibri"/>
                        </a:rPr>
                        <a:t>Expected attribute missing</a:t>
                      </a:r>
                    </a:p>
                  </a:txBody>
                  <a:tcPr marL="54864" marR="54864" marT="27432" marB="27432" anchor="ctr">
                    <a:solidFill>
                      <a:srgbClr val="101F34"/>
                    </a:solidFill>
                  </a:tcPr>
                </a:tc>
                <a:tc>
                  <a:txBody>
                    <a:bodyPr/>
                    <a:lstStyle/>
                    <a:p>
                      <a:r>
                        <a:rPr sz="1000" b="0" i="0">
                          <a:solidFill>
                            <a:srgbClr val="E8EEF6"/>
                          </a:solidFill>
                          <a:latin typeface="Calibri"/>
                        </a:rPr>
                        <a:t>ufshcd_agg_attr -ENOENT → ufshcd_query_attr_retry</a:t>
                      </a:r>
                    </a:p>
                  </a:txBody>
                  <a:tcPr marL="54864" marR="54864" marT="27432" marB="27432" anchor="ctr">
                    <a:solidFill>
                      <a:srgbClr val="101F34"/>
                    </a:solidFill>
                  </a:tcPr>
                </a:tc>
                <a:tc>
                  <a:txBody>
                    <a:bodyPr/>
                    <a:lstStyle/>
                    <a:p>
                      <a:r>
                        <a:rPr sz="1000" b="0" i="0">
                          <a:solidFill>
                            <a:srgbClr val="E8EEF6"/>
                          </a:solidFill>
                          <a:latin typeface="Calibri"/>
                        </a:rPr>
                        <a:t>Value equals individual read</a:t>
                      </a:r>
                    </a:p>
                  </a:txBody>
                  <a:tcPr marL="54864" marR="54864" marT="27432" marB="27432" anchor="ctr">
                    <a:solidFill>
                      <a:srgbClr val="101F34"/>
                    </a:solidFill>
                  </a:tcPr>
                </a:tc>
                <a:tc>
                  <a:txBody>
                    <a:bodyPr/>
                    <a:lstStyle/>
                    <a:p>
                      <a:r>
                        <a:rPr sz="1000" b="1" i="0">
                          <a:solidFill>
                            <a:srgbClr val="FBBF24"/>
                          </a:solidFill>
                          <a:latin typeface="Calibri"/>
                        </a:rPr>
                        <a:t>Not Run</a:t>
                      </a:r>
                    </a:p>
                  </a:txBody>
                  <a:tcPr marL="54864" marR="54864" marT="27432" marB="27432" anchor="ctr">
                    <a:solidFill>
                      <a:srgbClr val="101F34"/>
                    </a:solidFill>
                  </a:tcPr>
                </a:tc>
              </a:tr>
              <a:tr h="393192">
                <a:tc>
                  <a:txBody>
                    <a:bodyPr/>
                    <a:lstStyle/>
                    <a:p>
                      <a:r>
                        <a:rPr sz="1000" b="0" i="0">
                          <a:solidFill>
                            <a:srgbClr val="E8EEF6"/>
                          </a:solidFill>
                          <a:latin typeface="Calibri"/>
                        </a:rPr>
                        <a:t>5</a:t>
                      </a:r>
                    </a:p>
                  </a:txBody>
                  <a:tcPr marL="54864" marR="54864" marT="27432" marB="27432" anchor="ctr">
                    <a:solidFill>
                      <a:srgbClr val="14243B"/>
                    </a:solidFill>
                  </a:tcPr>
                </a:tc>
                <a:tc>
                  <a:txBody>
                    <a:bodyPr/>
                    <a:lstStyle/>
                    <a:p>
                      <a:r>
                        <a:rPr sz="1000" b="0" i="0">
                          <a:solidFill>
                            <a:srgbClr val="E8EEF6"/>
                          </a:solidFill>
                          <a:latin typeface="Calibri"/>
                        </a:rPr>
                        <a:t>Expected flag missing</a:t>
                      </a:r>
                    </a:p>
                  </a:txBody>
                  <a:tcPr marL="54864" marR="54864" marT="27432" marB="27432" anchor="ctr">
                    <a:solidFill>
                      <a:srgbClr val="14243B"/>
                    </a:solidFill>
                  </a:tcPr>
                </a:tc>
                <a:tc>
                  <a:txBody>
                    <a:bodyPr/>
                    <a:lstStyle/>
                    <a:p>
                      <a:r>
                        <a:rPr sz="1000" b="0" i="0">
                          <a:solidFill>
                            <a:srgbClr val="E8EEF6"/>
                          </a:solidFill>
                          <a:latin typeface="Calibri"/>
                        </a:rPr>
                        <a:t>ufshcd_agg_flag -ENOENT → ufshcd_query_flag_retry</a:t>
                      </a:r>
                    </a:p>
                  </a:txBody>
                  <a:tcPr marL="54864" marR="54864" marT="27432" marB="27432" anchor="ctr">
                    <a:solidFill>
                      <a:srgbClr val="14243B"/>
                    </a:solidFill>
                  </a:tcPr>
                </a:tc>
                <a:tc>
                  <a:txBody>
                    <a:bodyPr/>
                    <a:lstStyle/>
                    <a:p>
                      <a:r>
                        <a:rPr sz="1000" b="0" i="0">
                          <a:solidFill>
                            <a:srgbClr val="E8EEF6"/>
                          </a:solidFill>
                          <a:latin typeface="Calibri"/>
                        </a:rPr>
                        <a:t>Value equals individual read</a:t>
                      </a:r>
                    </a:p>
                  </a:txBody>
                  <a:tcPr marL="54864" marR="54864" marT="27432" marB="27432" anchor="ctr">
                    <a:solidFill>
                      <a:srgbClr val="14243B"/>
                    </a:solidFill>
                  </a:tcPr>
                </a:tc>
                <a:tc>
                  <a:txBody>
                    <a:bodyPr/>
                    <a:lstStyle/>
                    <a:p>
                      <a:r>
                        <a:rPr sz="1000" b="1" i="0">
                          <a:solidFill>
                            <a:srgbClr val="FBBF24"/>
                          </a:solidFill>
                          <a:latin typeface="Calibri"/>
                        </a:rPr>
                        <a:t>Not Run</a:t>
                      </a:r>
                    </a:p>
                  </a:txBody>
                  <a:tcPr marL="54864" marR="54864" marT="27432" marB="27432" anchor="ctr">
                    <a:solidFill>
                      <a:srgbClr val="14243B"/>
                    </a:solidFill>
                  </a:tcPr>
                </a:tc>
              </a:tr>
              <a:tr h="393192">
                <a:tc>
                  <a:txBody>
                    <a:bodyPr/>
                    <a:lstStyle/>
                    <a:p>
                      <a:r>
                        <a:rPr sz="1000" b="0" i="0">
                          <a:solidFill>
                            <a:srgbClr val="E8EEF6"/>
                          </a:solidFill>
                          <a:latin typeface="Calibri"/>
                        </a:rPr>
                        <a:t>6</a:t>
                      </a:r>
                    </a:p>
                  </a:txBody>
                  <a:tcPr marL="54864" marR="54864" marT="27432" marB="27432" anchor="ctr">
                    <a:solidFill>
                      <a:srgbClr val="101F34"/>
                    </a:solidFill>
                  </a:tcPr>
                </a:tc>
                <a:tc>
                  <a:txBody>
                    <a:bodyPr/>
                    <a:lstStyle/>
                    <a:p>
                      <a:r>
                        <a:rPr sz="1000" b="0" i="0">
                          <a:solidFill>
                            <a:srgbClr val="E8EEF6"/>
                          </a:solidFill>
                          <a:latin typeface="Calibri"/>
                        </a:rPr>
                        <a:t>Expected descriptor or string missing</a:t>
                      </a:r>
                    </a:p>
                  </a:txBody>
                  <a:tcPr marL="54864" marR="54864" marT="27432" marB="27432" anchor="ctr">
                    <a:solidFill>
                      <a:srgbClr val="101F34"/>
                    </a:solidFill>
                  </a:tcPr>
                </a:tc>
                <a:tc>
                  <a:txBody>
                    <a:bodyPr/>
                    <a:lstStyle/>
                    <a:p>
                      <a:r>
                        <a:rPr sz="1000" b="0" i="0">
                          <a:solidFill>
                            <a:srgbClr val="E8EEF6"/>
                          </a:solidFill>
                          <a:latin typeface="Calibri"/>
                        </a:rPr>
                        <a:t>ufshcd_agg_desc NULL → ufshcd_query_descriptor_retry</a:t>
                      </a:r>
                    </a:p>
                  </a:txBody>
                  <a:tcPr marL="54864" marR="54864" marT="27432" marB="27432" anchor="ctr">
                    <a:solidFill>
                      <a:srgbClr val="101F34"/>
                    </a:solidFill>
                  </a:tcPr>
                </a:tc>
                <a:tc>
                  <a:txBody>
                    <a:bodyPr/>
                    <a:lstStyle/>
                    <a:p>
                      <a:r>
                        <a:rPr sz="1000" b="0" i="0">
                          <a:solidFill>
                            <a:srgbClr val="E8EEF6"/>
                          </a:solidFill>
                          <a:latin typeface="Calibri"/>
                        </a:rPr>
                        <a:t>Descriptor bytes equal individual read</a:t>
                      </a:r>
                    </a:p>
                  </a:txBody>
                  <a:tcPr marL="54864" marR="54864" marT="27432" marB="27432" anchor="ctr">
                    <a:solidFill>
                      <a:srgbClr val="101F34"/>
                    </a:solidFill>
                  </a:tcPr>
                </a:tc>
                <a:tc>
                  <a:txBody>
                    <a:bodyPr/>
                    <a:lstStyle/>
                    <a:p>
                      <a:r>
                        <a:rPr sz="1000" b="1" i="0">
                          <a:solidFill>
                            <a:srgbClr val="FBBF24"/>
                          </a:solidFill>
                          <a:latin typeface="Calibri"/>
                        </a:rPr>
                        <a:t>Not Run</a:t>
                      </a:r>
                    </a:p>
                  </a:txBody>
                  <a:tcPr marL="54864" marR="54864" marT="27432" marB="27432" anchor="ctr">
                    <a:solidFill>
                      <a:srgbClr val="101F34"/>
                    </a:solidFill>
                  </a:tcPr>
                </a:tc>
              </a:tr>
              <a:tr h="393192">
                <a:tc>
                  <a:txBody>
                    <a:bodyPr/>
                    <a:lstStyle/>
                    <a:p>
                      <a:r>
                        <a:rPr sz="1000" b="0" i="0">
                          <a:solidFill>
                            <a:srgbClr val="E8EEF6"/>
                          </a:solidFill>
                          <a:latin typeface="Calibri"/>
                        </a:rPr>
                        <a:t>7</a:t>
                      </a:r>
                    </a:p>
                  </a:txBody>
                  <a:tcPr marL="54864" marR="54864" marT="27432" marB="27432" anchor="ctr">
                    <a:solidFill>
                      <a:srgbClr val="14243B"/>
                    </a:solidFill>
                  </a:tcPr>
                </a:tc>
                <a:tc>
                  <a:txBody>
                    <a:bodyPr/>
                    <a:lstStyle/>
                    <a:p>
                      <a:r>
                        <a:rPr sz="1000" b="0" i="0">
                          <a:solidFill>
                            <a:srgbClr val="E8EEF6"/>
                          </a:solidFill>
                          <a:latin typeface="Calibri"/>
                        </a:rPr>
                        <a:t>Allocation failure (injected)</a:t>
                      </a:r>
                    </a:p>
                  </a:txBody>
                  <a:tcPr marL="54864" marR="54864" marT="27432" marB="27432" anchor="ctr">
                    <a:solidFill>
                      <a:srgbClr val="14243B"/>
                    </a:solidFill>
                  </a:tcPr>
                </a:tc>
                <a:tc>
                  <a:txBody>
                    <a:bodyPr/>
                    <a:lstStyle/>
                    <a:p>
                      <a:r>
                        <a:rPr sz="1000" b="0" i="0">
                          <a:solidFill>
                            <a:srgbClr val="E8EEF6"/>
                          </a:solidFill>
                          <a:latin typeface="Calibri"/>
                        </a:rPr>
                        <a:t>begin() returns silently; flag not set</a:t>
                      </a:r>
                    </a:p>
                  </a:txBody>
                  <a:tcPr marL="54864" marR="54864" marT="27432" marB="27432" anchor="ctr">
                    <a:solidFill>
                      <a:srgbClr val="14243B"/>
                    </a:solidFill>
                  </a:tcPr>
                </a:tc>
                <a:tc>
                  <a:txBody>
                    <a:bodyPr/>
                    <a:lstStyle/>
                    <a:p>
                      <a:r>
                        <a:rPr sz="1000" b="0" i="0">
                          <a:solidFill>
                            <a:srgbClr val="E8EEF6"/>
                          </a:solidFill>
                          <a:latin typeface="Calibri"/>
                        </a:rPr>
                        <a:t>Init OK; no flag; no leak</a:t>
                      </a:r>
                    </a:p>
                  </a:txBody>
                  <a:tcPr marL="54864" marR="54864" marT="27432" marB="27432" anchor="ctr">
                    <a:solidFill>
                      <a:srgbClr val="14243B"/>
                    </a:solidFill>
                  </a:tcPr>
                </a:tc>
                <a:tc>
                  <a:txBody>
                    <a:bodyPr/>
                    <a:lstStyle/>
                    <a:p>
                      <a:r>
                        <a:rPr sz="1000" b="1" i="0">
                          <a:solidFill>
                            <a:srgbClr val="FBBF24"/>
                          </a:solidFill>
                          <a:latin typeface="Calibri"/>
                        </a:rPr>
                        <a:t>Not Run</a:t>
                      </a:r>
                    </a:p>
                  </a:txBody>
                  <a:tcPr marL="54864" marR="54864" marT="27432" marB="27432" anchor="ctr">
                    <a:solidFill>
                      <a:srgbClr val="14243B"/>
                    </a:solidFill>
                  </a:tcPr>
                </a:tc>
              </a:tr>
              <a:tr h="393192">
                <a:tc>
                  <a:txBody>
                    <a:bodyPr/>
                    <a:lstStyle/>
                    <a:p>
                      <a:r>
                        <a:rPr sz="1000" b="0" i="0">
                          <a:solidFill>
                            <a:srgbClr val="E8EEF6"/>
                          </a:solidFill>
                          <a:latin typeface="Calibri"/>
                        </a:rPr>
                        <a:t>8</a:t>
                      </a:r>
                    </a:p>
                  </a:txBody>
                  <a:tcPr marL="54864" marR="54864" marT="27432" marB="27432" anchor="ctr">
                    <a:solidFill>
                      <a:srgbClr val="101F34"/>
                    </a:solidFill>
                  </a:tcPr>
                </a:tc>
                <a:tc>
                  <a:txBody>
                    <a:bodyPr/>
                    <a:lstStyle/>
                    <a:p>
                      <a:r>
                        <a:rPr sz="1000" b="0" i="0">
                          <a:solidFill>
                            <a:srgbClr val="E8EEF6"/>
                          </a:solidFill>
                          <a:latin typeface="Calibri"/>
                        </a:rPr>
                        <a:t>Aggregated query failure, retry exhaustion</a:t>
                      </a:r>
                    </a:p>
                  </a:txBody>
                  <a:tcPr marL="54864" marR="54864" marT="27432" marB="27432" anchor="ctr">
                    <a:solidFill>
                      <a:srgbClr val="101F34"/>
                    </a:solidFill>
                  </a:tcPr>
                </a:tc>
                <a:tc>
                  <a:txBody>
                    <a:bodyPr/>
                    <a:lstStyle/>
                    <a:p>
                      <a:r>
                        <a:rPr sz="1000" b="0" i="0">
                          <a:solidFill>
                            <a:srgbClr val="E8EEF6"/>
                          </a:solidFill>
                          <a:latin typeface="Calibri"/>
                        </a:rPr>
                        <a:t>As scenario 3 with injected timeout / OCS error</a:t>
                      </a:r>
                    </a:p>
                  </a:txBody>
                  <a:tcPr marL="54864" marR="54864" marT="27432" marB="27432" anchor="ctr">
                    <a:solidFill>
                      <a:srgbClr val="101F34"/>
                    </a:solidFill>
                  </a:tcPr>
                </a:tc>
                <a:tc>
                  <a:txBody>
                    <a:bodyPr/>
                    <a:lstStyle/>
                    <a:p>
                      <a:r>
                        <a:rPr sz="1000" b="0" i="0">
                          <a:solidFill>
                            <a:srgbClr val="E8EEF6"/>
                          </a:solidFill>
                          <a:latin typeface="Calibri"/>
                        </a:rPr>
                        <a:t>Init OK; sticky-flag effect documented</a:t>
                      </a:r>
                    </a:p>
                  </a:txBody>
                  <a:tcPr marL="54864" marR="54864" marT="27432" marB="27432" anchor="ctr">
                    <a:solidFill>
                      <a:srgbClr val="101F34"/>
                    </a:solidFill>
                  </a:tcPr>
                </a:tc>
                <a:tc>
                  <a:txBody>
                    <a:bodyPr/>
                    <a:lstStyle/>
                    <a:p>
                      <a:r>
                        <a:rPr sz="1000" b="1" i="0">
                          <a:solidFill>
                            <a:srgbClr val="FBBF24"/>
                          </a:solidFill>
                          <a:latin typeface="Calibri"/>
                        </a:rPr>
                        <a:t>Not Run</a:t>
                      </a:r>
                    </a:p>
                  </a:txBody>
                  <a:tcPr marL="54864" marR="54864" marT="27432" marB="27432" anchor="ctr">
                    <a:solidFill>
                      <a:srgbClr val="101F34"/>
                    </a:solidFill>
                  </a:tcPr>
                </a:tc>
              </a:tr>
              <a:tr h="393192">
                <a:tc>
                  <a:txBody>
                    <a:bodyPr/>
                    <a:lstStyle/>
                    <a:p>
                      <a:r>
                        <a:rPr sz="1000" b="0" i="0">
                          <a:solidFill>
                            <a:srgbClr val="E8EEF6"/>
                          </a:solidFill>
                          <a:latin typeface="Calibri"/>
                        </a:rPr>
                        <a:t>9</a:t>
                      </a:r>
                    </a:p>
                  </a:txBody>
                  <a:tcPr marL="54864" marR="54864" marT="27432" marB="27432" anchor="ctr">
                    <a:solidFill>
                      <a:srgbClr val="14243B"/>
                    </a:solidFill>
                  </a:tcPr>
                </a:tc>
                <a:tc>
                  <a:txBody>
                    <a:bodyPr/>
                    <a:lstStyle/>
                    <a:p>
                      <a:r>
                        <a:rPr sz="1000" b="0" i="0">
                          <a:solidFill>
                            <a:srgbClr val="E8EEF6"/>
                          </a:solidFill>
                          <a:latin typeface="Calibri"/>
                        </a:rPr>
                        <a:t>Malformed offsets / truncated payload (harness)</a:t>
                      </a:r>
                    </a:p>
                  </a:txBody>
                  <a:tcPr marL="54864" marR="54864" marT="27432" marB="27432" anchor="ctr">
                    <a:solidFill>
                      <a:srgbClr val="14243B"/>
                    </a:solidFill>
                  </a:tcPr>
                </a:tc>
                <a:tc>
                  <a:txBody>
                    <a:bodyPr/>
                    <a:lstStyle/>
                    <a:p>
                      <a:r>
                        <a:rPr sz="1000" b="0" i="0">
                          <a:solidFill>
                            <a:srgbClr val="E8EEF6"/>
                          </a:solidFill>
                          <a:latin typeface="Calibri"/>
                        </a:rPr>
                        <a:t>Invalid offsets → NULL; truncated: observe</a:t>
                      </a:r>
                    </a:p>
                  </a:txBody>
                  <a:tcPr marL="54864" marR="54864" marT="27432" marB="27432" anchor="ctr">
                    <a:solidFill>
                      <a:srgbClr val="14243B"/>
                    </a:solidFill>
                  </a:tcPr>
                </a:tc>
                <a:tc>
                  <a:txBody>
                    <a:bodyPr/>
                    <a:lstStyle/>
                    <a:p>
                      <a:r>
                        <a:rPr sz="1000" b="0" i="0">
                          <a:solidFill>
                            <a:srgbClr val="E8EEF6"/>
                          </a:solidFill>
                          <a:latin typeface="Calibri"/>
                        </a:rPr>
                        <a:t>No out-of-bounds access (KASAN); defined outcome</a:t>
                      </a:r>
                    </a:p>
                  </a:txBody>
                  <a:tcPr marL="54864" marR="54864" marT="27432" marB="27432" anchor="ctr">
                    <a:solidFill>
                      <a:srgbClr val="14243B"/>
                    </a:solidFill>
                  </a:tcPr>
                </a:tc>
                <a:tc>
                  <a:txBody>
                    <a:bodyPr/>
                    <a:lstStyle/>
                    <a:p>
                      <a:r>
                        <a:rPr sz="1000" b="1" i="0">
                          <a:solidFill>
                            <a:srgbClr val="FBBF24"/>
                          </a:solidFill>
                          <a:latin typeface="Calibri"/>
                        </a:rPr>
                        <a:t>Not Run</a:t>
                      </a:r>
                    </a:p>
                  </a:txBody>
                  <a:tcPr marL="54864" marR="54864" marT="27432" marB="27432" anchor="ctr">
                    <a:solidFill>
                      <a:srgbClr val="14243B"/>
                    </a:solidFill>
                  </a:tcPr>
                </a:tc>
              </a:tr>
              <a:tr h="393192">
                <a:tc>
                  <a:txBody>
                    <a:bodyPr/>
                    <a:lstStyle/>
                    <a:p>
                      <a:r>
                        <a:rPr sz="1000" b="0" i="0">
                          <a:solidFill>
                            <a:srgbClr val="E8EEF6"/>
                          </a:solidFill>
                          <a:latin typeface="Calibri"/>
                        </a:rPr>
                        <a:t>10</a:t>
                      </a:r>
                    </a:p>
                  </a:txBody>
                  <a:tcPr marL="54864" marR="54864" marT="27432" marB="27432" anchor="ctr">
                    <a:solidFill>
                      <a:srgbClr val="101F34"/>
                    </a:solidFill>
                  </a:tcPr>
                </a:tc>
                <a:tc>
                  <a:txBody>
                    <a:bodyPr/>
                    <a:lstStyle/>
                    <a:p>
                      <a:r>
                        <a:rPr sz="1000" b="0" i="0">
                          <a:solidFill>
                            <a:srgbClr val="E8EEF6"/>
                          </a:solidFill>
                          <a:latin typeface="Calibri"/>
                        </a:rPr>
                        <a:t>Baseline versus patch-enabled init</a:t>
                      </a:r>
                    </a:p>
                  </a:txBody>
                  <a:tcPr marL="54864" marR="54864" marT="27432" marB="27432" anchor="ctr">
                    <a:solidFill>
                      <a:srgbClr val="101F34"/>
                    </a:solidFill>
                  </a:tcPr>
                </a:tc>
                <a:tc>
                  <a:txBody>
                    <a:bodyPr/>
                    <a:lstStyle/>
                    <a:p>
                      <a:r>
                        <a:rPr sz="1000" b="0" i="0">
                          <a:solidFill>
                            <a:srgbClr val="E8EEF6"/>
                          </a:solidFill>
                          <a:latin typeface="Calibri"/>
                        </a:rPr>
                        <a:t>Same workload, both kernels</a:t>
                      </a:r>
                    </a:p>
                  </a:txBody>
                  <a:tcPr marL="54864" marR="54864" marT="27432" marB="27432" anchor="ctr">
                    <a:solidFill>
                      <a:srgbClr val="101F34"/>
                    </a:solidFill>
                  </a:tcPr>
                </a:tc>
                <a:tc>
                  <a:txBody>
                    <a:bodyPr/>
                    <a:lstStyle/>
                    <a:p>
                      <a:r>
                        <a:rPr sz="1000" b="0" i="0">
                          <a:solidFill>
                            <a:srgbClr val="E8EEF6"/>
                          </a:solidFill>
                          <a:latin typeface="Calibri"/>
                        </a:rPr>
                        <a:t>Values equal; counts lower (hypothesis)</a:t>
                      </a:r>
                    </a:p>
                  </a:txBody>
                  <a:tcPr marL="54864" marR="54864" marT="27432" marB="27432" anchor="ctr">
                    <a:solidFill>
                      <a:srgbClr val="101F34"/>
                    </a:solidFill>
                  </a:tcPr>
                </a:tc>
                <a:tc>
                  <a:txBody>
                    <a:bodyPr/>
                    <a:lstStyle/>
                    <a:p>
                      <a:r>
                        <a:rPr sz="1000" b="1" i="0">
                          <a:solidFill>
                            <a:srgbClr val="FBBF24"/>
                          </a:solidFill>
                          <a:latin typeface="Calibri"/>
                        </a:rPr>
                        <a:t>Not Run</a:t>
                      </a:r>
                    </a:p>
                  </a:txBody>
                  <a:tcPr marL="54864" marR="54864" marT="27432" marB="27432" anchor="ctr">
                    <a:solidFill>
                      <a:srgbClr val="101F34"/>
                    </a:solidFill>
                  </a:tcPr>
                </a:tc>
              </a:tr>
              <a:tr h="393192">
                <a:tc>
                  <a:txBody>
                    <a:bodyPr/>
                    <a:lstStyle/>
                    <a:p>
                      <a:r>
                        <a:rPr sz="1000" b="0" i="0">
                          <a:solidFill>
                            <a:srgbClr val="E8EEF6"/>
                          </a:solidFill>
                          <a:latin typeface="Calibri"/>
                        </a:rPr>
                        <a:t>11</a:t>
                      </a:r>
                    </a:p>
                  </a:txBody>
                  <a:tcPr marL="54864" marR="54864" marT="27432" marB="27432" anchor="ctr">
                    <a:solidFill>
                      <a:srgbClr val="14243B"/>
                    </a:solidFill>
                  </a:tcPr>
                </a:tc>
                <a:tc>
                  <a:txBody>
                    <a:bodyPr/>
                    <a:lstStyle/>
                    <a:p>
                      <a:r>
                        <a:rPr sz="1000" b="0" i="0">
                          <a:solidFill>
                            <a:srgbClr val="E8EEF6"/>
                          </a:solidFill>
                          <a:latin typeface="Calibri"/>
                        </a:rPr>
                        <a:t>WriteBooster enabled, shared-buffer mode</a:t>
                      </a:r>
                    </a:p>
                  </a:txBody>
                  <a:tcPr marL="54864" marR="54864" marT="27432" marB="27432" anchor="ctr">
                    <a:solidFill>
                      <a:srgbClr val="14243B"/>
                    </a:solidFill>
                  </a:tcPr>
                </a:tc>
                <a:tc>
                  <a:txBody>
                    <a:bodyPr/>
                    <a:lstStyle/>
                    <a:p>
                      <a:r>
                        <a:rPr sz="1000" b="0" i="0">
                          <a:solidFill>
                            <a:srgbClr val="E8EEF6"/>
                          </a:solidFill>
                          <a:latin typeface="Calibri"/>
                        </a:rPr>
                        <a:t>Query index 0 → cached lifetime (expected)</a:t>
                      </a:r>
                    </a:p>
                  </a:txBody>
                  <a:tcPr marL="54864" marR="54864" marT="27432" marB="27432" anchor="ctr">
                    <a:solidFill>
                      <a:srgbClr val="14243B"/>
                    </a:solidFill>
                  </a:tcPr>
                </a:tc>
                <a:tc>
                  <a:txBody>
                    <a:bodyPr/>
                    <a:lstStyle/>
                    <a:p>
                      <a:r>
                        <a:rPr sz="1000" b="0" i="0">
                          <a:solidFill>
                            <a:srgbClr val="E8EEF6"/>
                          </a:solidFill>
                          <a:latin typeface="Calibri"/>
                        </a:rPr>
                        <a:t>Cached lifetime equals queried value</a:t>
                      </a:r>
                    </a:p>
                  </a:txBody>
                  <a:tcPr marL="54864" marR="54864" marT="27432" marB="27432" anchor="ctr">
                    <a:solidFill>
                      <a:srgbClr val="14243B"/>
                    </a:solidFill>
                  </a:tcPr>
                </a:tc>
                <a:tc>
                  <a:txBody>
                    <a:bodyPr/>
                    <a:lstStyle/>
                    <a:p>
                      <a:r>
                        <a:rPr sz="1000" b="1" i="0">
                          <a:solidFill>
                            <a:srgbClr val="FBBF24"/>
                          </a:solidFill>
                          <a:latin typeface="Calibri"/>
                        </a:rPr>
                        <a:t>Not Run</a:t>
                      </a:r>
                    </a:p>
                  </a:txBody>
                  <a:tcPr marL="54864" marR="54864" marT="27432" marB="27432" anchor="ctr">
                    <a:solidFill>
                      <a:srgbClr val="14243B"/>
                    </a:solidFill>
                  </a:tcPr>
                </a:tc>
              </a:tr>
              <a:tr h="393192">
                <a:tc>
                  <a:txBody>
                    <a:bodyPr/>
                    <a:lstStyle/>
                    <a:p>
                      <a:r>
                        <a:rPr sz="1000" b="0" i="0">
                          <a:solidFill>
                            <a:srgbClr val="E8EEF6"/>
                          </a:solidFill>
                          <a:latin typeface="Calibri"/>
                        </a:rPr>
                        <a:t>12</a:t>
                      </a:r>
                    </a:p>
                  </a:txBody>
                  <a:tcPr marL="54864" marR="54864" marT="27432" marB="27432" anchor="ctr">
                    <a:solidFill>
                      <a:srgbClr val="101F34"/>
                    </a:solidFill>
                  </a:tcPr>
                </a:tc>
                <a:tc>
                  <a:txBody>
                    <a:bodyPr/>
                    <a:lstStyle/>
                    <a:p>
                      <a:r>
                        <a:rPr sz="1000" b="0" i="0">
                          <a:solidFill>
                            <a:srgbClr val="E8EEF6"/>
                          </a:solidFill>
                          <a:latin typeface="Calibri"/>
                        </a:rPr>
                        <a:t>WB configuration not using cached lifetime</a:t>
                      </a:r>
                    </a:p>
                  </a:txBody>
                  <a:tcPr marL="54864" marR="54864" marT="27432" marB="27432" anchor="ctr">
                    <a:solidFill>
                      <a:srgbClr val="101F34"/>
                    </a:solidFill>
                  </a:tcPr>
                </a:tc>
                <a:tc>
                  <a:txBody>
                    <a:bodyPr/>
                    <a:lstStyle/>
                    <a:p>
                      <a:r>
                        <a:rPr sz="1000" b="0" i="0">
                          <a:solidFill>
                            <a:srgbClr val="E8EEF6"/>
                          </a:solidFill>
                          <a:latin typeface="Calibri"/>
                        </a:rPr>
                        <a:t>Index ≠ 0 → individual attribute query</a:t>
                      </a:r>
                    </a:p>
                  </a:txBody>
                  <a:tcPr marL="54864" marR="54864" marT="27432" marB="27432" anchor="ctr">
                    <a:solidFill>
                      <a:srgbClr val="101F34"/>
                    </a:solidFill>
                  </a:tcPr>
                </a:tc>
                <a:tc>
                  <a:txBody>
                    <a:bodyPr/>
                    <a:lstStyle/>
                    <a:p>
                      <a:r>
                        <a:rPr sz="1000" b="0" i="0">
                          <a:solidFill>
                            <a:srgbClr val="E8EEF6"/>
                          </a:solidFill>
                          <a:latin typeface="Calibri"/>
                        </a:rPr>
                        <a:t>Individual query used; value correct</a:t>
                      </a:r>
                    </a:p>
                  </a:txBody>
                  <a:tcPr marL="54864" marR="54864" marT="27432" marB="27432" anchor="ctr">
                    <a:solidFill>
                      <a:srgbClr val="101F34"/>
                    </a:solidFill>
                  </a:tcPr>
                </a:tc>
                <a:tc>
                  <a:txBody>
                    <a:bodyPr/>
                    <a:lstStyle/>
                    <a:p>
                      <a:r>
                        <a:rPr sz="1000" b="1" i="0">
                          <a:solidFill>
                            <a:srgbClr val="FBBF24"/>
                          </a:solidFill>
                          <a:latin typeface="Calibri"/>
                        </a:rPr>
                        <a:t>Not Run</a:t>
                      </a:r>
                    </a:p>
                  </a:txBody>
                  <a:tcPr marL="54864" marR="54864" marT="27432" marB="27432" anchor="ctr">
                    <a:solidFill>
                      <a:srgbClr val="101F34"/>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626"/>
        </a:solidFill>
        <a:effectLst/>
      </p:bgPr>
    </p:bg>
    <p:spTree>
      <p:nvGrpSpPr>
        <p:cNvPr id="1" name=""/>
        <p:cNvGrpSpPr/>
        <p:nvPr/>
      </p:nvGrpSpPr>
      <p:grpSpPr/>
      <p:sp>
        <p:nvSpPr>
          <p:cNvPr id="2" name="Title"/>
          <p:cNvSpPr txBox="1"/>
          <p:nvPr/>
        </p:nvSpPr>
        <p:spPr>
          <a:xfrm>
            <a:off x="457200" y="274320"/>
            <a:ext cx="11247120" cy="548640"/>
          </a:xfrm>
          <a:prstGeom prst="rect">
            <a:avLst/>
          </a:prstGeom>
          <a:noFill/>
        </p:spPr>
        <p:txBody>
          <a:bodyPr wrap="square" anchor="ctr" lIns="36576" rIns="36576" tIns="18288" bIns="18288">
            <a:spAutoFit/>
          </a:bodyPr>
          <a:lstStyle/>
          <a:p>
            <a:r>
              <a:rPr sz="2400" b="1" i="0">
                <a:solidFill>
                  <a:srgbClr val="E8EEF6"/>
                </a:solidFill>
                <a:latin typeface="Calibri"/>
              </a:rPr>
              <a:t>Performance Results Framework: Blank Table, No Measurements</a:t>
            </a:r>
          </a:p>
        </p:txBody>
      </p:sp>
      <p:sp>
        <p:nvSpPr>
          <p:cNvPr id="3" name="Source"/>
          <p:cNvSpPr txBox="1"/>
          <p:nvPr/>
        </p:nvSpPr>
        <p:spPr>
          <a:xfrm>
            <a:off x="457200" y="6473952"/>
            <a:ext cx="10424160" cy="256032"/>
          </a:xfrm>
          <a:prstGeom prst="rect">
            <a:avLst/>
          </a:prstGeom>
          <a:noFill/>
        </p:spPr>
        <p:txBody>
          <a:bodyPr wrap="square" anchor="t" lIns="36576" rIns="36576" tIns="18288" bIns="18288">
            <a:spAutoFit/>
          </a:bodyPr>
          <a:lstStyle/>
          <a:p>
            <a:r>
              <a:rPr sz="1000" b="0" i="0">
                <a:solidFill>
                  <a:srgbClr val="A9B8CC"/>
                </a:solidFill>
                <a:latin typeface="Calibri"/>
              </a:rPr>
              <a:t>Framework only — every value is TBD; no benchmark or hardware run exists for this series</a:t>
            </a:r>
          </a:p>
        </p:txBody>
      </p:sp>
      <p:sp>
        <p:nvSpPr>
          <p:cNvPr id="4" name="Slide Number"/>
          <p:cNvSpPr txBox="1"/>
          <p:nvPr/>
        </p:nvSpPr>
        <p:spPr>
          <a:xfrm>
            <a:off x="11064240" y="6473952"/>
            <a:ext cx="685800" cy="256032"/>
          </a:xfrm>
          <a:prstGeom prst="rect">
            <a:avLst/>
          </a:prstGeom>
          <a:noFill/>
        </p:spPr>
        <p:txBody>
          <a:bodyPr wrap="none">
            <a:spAutoFit/>
          </a:bodyPr>
          <a:lstStyle/>
          <a:p>
            <a:pPr algn="r"/>
            <a:fld id="{B6F15528-21DE-4FAA-801E-634DDDAF4B2B}" type="slidenum">
              <a:rPr lang="en-US" sz="1100">
                <a:solidFill>
                  <a:srgbClr val="A9B8CC"/>
                </a:solidFill>
                <a:latin typeface="Calibri"/>
              </a:rPr>
              <a:t>16</a:t>
            </a:fld>
          </a:p>
        </p:txBody>
      </p:sp>
      <p:graphicFrame>
        <p:nvGraphicFramePr>
          <p:cNvPr id="5" name="Table 4"/>
          <p:cNvGraphicFramePr>
            <a:graphicFrameLocks noGrp="1"/>
          </p:cNvGraphicFramePr>
          <p:nvPr/>
        </p:nvGraphicFramePr>
        <p:xfrm>
          <a:off x="457200" y="1097280"/>
          <a:ext cx="10149840" cy="3383280"/>
        </p:xfrm>
        <a:graphic>
          <a:graphicData uri="http://schemas.openxmlformats.org/drawingml/2006/table">
            <a:tbl>
              <a:tblPr firstRow="1" bandRow="1">
                <a:tableStyleId>{5940675A-B579-460E-94D1-54222C63F5DA}</a:tableStyleId>
              </a:tblPr>
              <a:tblGrid>
                <a:gridCol w="3108960"/>
                <a:gridCol w="1280160"/>
                <a:gridCol w="1371600"/>
                <a:gridCol w="1371600"/>
                <a:gridCol w="1463040"/>
                <a:gridCol w="1554480"/>
              </a:tblGrid>
              <a:tr h="310896">
                <a:tc>
                  <a:txBody>
                    <a:bodyPr/>
                    <a:lstStyle/>
                    <a:p>
                      <a:r>
                        <a:rPr sz="1100" b="1" i="0">
                          <a:solidFill>
                            <a:srgbClr val="E8EEF6"/>
                          </a:solidFill>
                          <a:latin typeface="Calibri"/>
                        </a:rPr>
                        <a:t>Metric</a:t>
                      </a:r>
                    </a:p>
                  </a:txBody>
                  <a:tcPr marL="54864" marR="54864" marT="27432" marB="27432" anchor="ctr">
                    <a:solidFill>
                      <a:srgbClr val="22406A"/>
                    </a:solidFill>
                  </a:tcPr>
                </a:tc>
                <a:tc>
                  <a:txBody>
                    <a:bodyPr/>
                    <a:lstStyle/>
                    <a:p>
                      <a:r>
                        <a:rPr sz="1100" b="1" i="0">
                          <a:solidFill>
                            <a:srgbClr val="E8EEF6"/>
                          </a:solidFill>
                          <a:latin typeface="Calibri"/>
                        </a:rPr>
                        <a:t>Baseline</a:t>
                      </a:r>
                    </a:p>
                  </a:txBody>
                  <a:tcPr marL="54864" marR="54864" marT="27432" marB="27432" anchor="ctr">
                    <a:solidFill>
                      <a:srgbClr val="22406A"/>
                    </a:solidFill>
                  </a:tcPr>
                </a:tc>
                <a:tc>
                  <a:txBody>
                    <a:bodyPr/>
                    <a:lstStyle/>
                    <a:p>
                      <a:r>
                        <a:rPr sz="1100" b="1" i="0">
                          <a:solidFill>
                            <a:srgbClr val="E8EEF6"/>
                          </a:solidFill>
                          <a:latin typeface="Calibri"/>
                        </a:rPr>
                        <a:t>Patch enabled</a:t>
                      </a:r>
                    </a:p>
                  </a:txBody>
                  <a:tcPr marL="54864" marR="54864" marT="27432" marB="27432" anchor="ctr">
                    <a:solidFill>
                      <a:srgbClr val="22406A"/>
                    </a:solidFill>
                  </a:tcPr>
                </a:tc>
                <a:tc>
                  <a:txBody>
                    <a:bodyPr/>
                    <a:lstStyle/>
                    <a:p>
                      <a:r>
                        <a:rPr sz="1100" b="1" i="0">
                          <a:solidFill>
                            <a:srgbClr val="E8EEF6"/>
                          </a:solidFill>
                          <a:latin typeface="Calibri"/>
                        </a:rPr>
                        <a:t>Absolute change</a:t>
                      </a:r>
                    </a:p>
                  </a:txBody>
                  <a:tcPr marL="54864" marR="54864" marT="27432" marB="27432" anchor="ctr">
                    <a:solidFill>
                      <a:srgbClr val="22406A"/>
                    </a:solidFill>
                  </a:tcPr>
                </a:tc>
                <a:tc>
                  <a:txBody>
                    <a:bodyPr/>
                    <a:lstStyle/>
                    <a:p>
                      <a:r>
                        <a:rPr sz="1100" b="1" i="0">
                          <a:solidFill>
                            <a:srgbClr val="E8EEF6"/>
                          </a:solidFill>
                          <a:latin typeface="Calibri"/>
                        </a:rPr>
                        <a:t>Percentage change</a:t>
                      </a:r>
                    </a:p>
                  </a:txBody>
                  <a:tcPr marL="54864" marR="54864" marT="27432" marB="27432" anchor="ctr">
                    <a:solidFill>
                      <a:srgbClr val="22406A"/>
                    </a:solidFill>
                  </a:tcPr>
                </a:tc>
                <a:tc>
                  <a:txBody>
                    <a:bodyPr/>
                    <a:lstStyle/>
                    <a:p>
                      <a:r>
                        <a:rPr sz="1100" b="1" i="0">
                          <a:solidFill>
                            <a:srgbClr val="E8EEF6"/>
                          </a:solidFill>
                          <a:latin typeface="Calibri"/>
                        </a:rPr>
                        <a:t>Measurement status</a:t>
                      </a:r>
                    </a:p>
                  </a:txBody>
                  <a:tcPr marL="54864" marR="54864" marT="27432" marB="27432" anchor="ctr">
                    <a:solidFill>
                      <a:srgbClr val="22406A"/>
                    </a:solidFill>
                  </a:tcPr>
                </a:tc>
              </a:tr>
              <a:tr h="384048">
                <a:tc>
                  <a:txBody>
                    <a:bodyPr/>
                    <a:lstStyle/>
                    <a:p>
                      <a:r>
                        <a:rPr sz="1100" b="0" i="0">
                          <a:solidFill>
                            <a:srgbClr val="E8EEF6"/>
                          </a:solidFill>
                          <a:latin typeface="Calibri"/>
                        </a:rPr>
                        <a:t>Individual query count</a:t>
                      </a:r>
                    </a:p>
                  </a:txBody>
                  <a:tcPr marL="54864" marR="54864" marT="27432" marB="27432" anchor="ctr">
                    <a:solidFill>
                      <a:srgbClr val="14243B"/>
                    </a:solidFill>
                  </a:tcPr>
                </a:tc>
                <a:tc>
                  <a:txBody>
                    <a:bodyPr/>
                    <a:lstStyle/>
                    <a:p>
                      <a:r>
                        <a:rPr sz="1100" b="0" i="0">
                          <a:solidFill>
                            <a:srgbClr val="E8EEF6"/>
                          </a:solidFill>
                          <a:latin typeface="Calibri"/>
                        </a:rPr>
                        <a:t>TBD</a:t>
                      </a:r>
                    </a:p>
                  </a:txBody>
                  <a:tcPr marL="54864" marR="54864" marT="27432" marB="27432" anchor="ctr">
                    <a:solidFill>
                      <a:srgbClr val="14243B"/>
                    </a:solidFill>
                  </a:tcPr>
                </a:tc>
                <a:tc>
                  <a:txBody>
                    <a:bodyPr/>
                    <a:lstStyle/>
                    <a:p>
                      <a:r>
                        <a:rPr sz="1100" b="0" i="0">
                          <a:solidFill>
                            <a:srgbClr val="E8EEF6"/>
                          </a:solidFill>
                          <a:latin typeface="Calibri"/>
                        </a:rPr>
                        <a:t>TBD</a:t>
                      </a:r>
                    </a:p>
                  </a:txBody>
                  <a:tcPr marL="54864" marR="54864" marT="27432" marB="27432" anchor="ctr">
                    <a:solidFill>
                      <a:srgbClr val="14243B"/>
                    </a:solidFill>
                  </a:tcPr>
                </a:tc>
                <a:tc>
                  <a:txBody>
                    <a:bodyPr/>
                    <a:lstStyle/>
                    <a:p>
                      <a:r>
                        <a:rPr sz="1100" b="0" i="0">
                          <a:solidFill>
                            <a:srgbClr val="E8EEF6"/>
                          </a:solidFill>
                          <a:latin typeface="Calibri"/>
                        </a:rPr>
                        <a:t>TBD</a:t>
                      </a:r>
                    </a:p>
                  </a:txBody>
                  <a:tcPr marL="54864" marR="54864" marT="27432" marB="27432" anchor="ctr">
                    <a:solidFill>
                      <a:srgbClr val="14243B"/>
                    </a:solidFill>
                  </a:tcPr>
                </a:tc>
                <a:tc>
                  <a:txBody>
                    <a:bodyPr/>
                    <a:lstStyle/>
                    <a:p>
                      <a:r>
                        <a:rPr sz="1100" b="0" i="0">
                          <a:solidFill>
                            <a:srgbClr val="E8EEF6"/>
                          </a:solidFill>
                          <a:latin typeface="Calibri"/>
                        </a:rPr>
                        <a:t>TBD</a:t>
                      </a:r>
                    </a:p>
                  </a:txBody>
                  <a:tcPr marL="54864" marR="54864" marT="27432" marB="27432" anchor="ctr">
                    <a:solidFill>
                      <a:srgbClr val="14243B"/>
                    </a:solidFill>
                  </a:tcPr>
                </a:tc>
                <a:tc>
                  <a:txBody>
                    <a:bodyPr/>
                    <a:lstStyle/>
                    <a:p>
                      <a:r>
                        <a:rPr sz="1100" b="1" i="0">
                          <a:solidFill>
                            <a:srgbClr val="FBBF24"/>
                          </a:solidFill>
                          <a:latin typeface="Calibri"/>
                        </a:rPr>
                        <a:t>Not Run</a:t>
                      </a:r>
                    </a:p>
                  </a:txBody>
                  <a:tcPr marL="54864" marR="54864" marT="27432" marB="27432" anchor="ctr">
                    <a:solidFill>
                      <a:srgbClr val="14243B"/>
                    </a:solidFill>
                  </a:tcPr>
                </a:tc>
              </a:tr>
              <a:tr h="384048">
                <a:tc>
                  <a:txBody>
                    <a:bodyPr/>
                    <a:lstStyle/>
                    <a:p>
                      <a:r>
                        <a:rPr sz="1100" b="0" i="0">
                          <a:solidFill>
                            <a:srgbClr val="E8EEF6"/>
                          </a:solidFill>
                          <a:latin typeface="Calibri"/>
                        </a:rPr>
                        <a:t>Aggregated query count</a:t>
                      </a:r>
                    </a:p>
                  </a:txBody>
                  <a:tcPr marL="54864" marR="54864" marT="27432" marB="27432" anchor="ctr">
                    <a:solidFill>
                      <a:srgbClr val="101F34"/>
                    </a:solidFill>
                  </a:tcPr>
                </a:tc>
                <a:tc>
                  <a:txBody>
                    <a:bodyPr/>
                    <a:lstStyle/>
                    <a:p>
                      <a:r>
                        <a:rPr sz="1100" b="0" i="0">
                          <a:solidFill>
                            <a:srgbClr val="E8EEF6"/>
                          </a:solidFill>
                          <a:latin typeface="Calibri"/>
                        </a:rPr>
                        <a:t>TBD</a:t>
                      </a:r>
                    </a:p>
                  </a:txBody>
                  <a:tcPr marL="54864" marR="54864" marT="27432" marB="27432" anchor="ctr">
                    <a:solidFill>
                      <a:srgbClr val="101F34"/>
                    </a:solidFill>
                  </a:tcPr>
                </a:tc>
                <a:tc>
                  <a:txBody>
                    <a:bodyPr/>
                    <a:lstStyle/>
                    <a:p>
                      <a:r>
                        <a:rPr sz="1100" b="0" i="0">
                          <a:solidFill>
                            <a:srgbClr val="E8EEF6"/>
                          </a:solidFill>
                          <a:latin typeface="Calibri"/>
                        </a:rPr>
                        <a:t>TBD</a:t>
                      </a:r>
                    </a:p>
                  </a:txBody>
                  <a:tcPr marL="54864" marR="54864" marT="27432" marB="27432" anchor="ctr">
                    <a:solidFill>
                      <a:srgbClr val="101F34"/>
                    </a:solidFill>
                  </a:tcPr>
                </a:tc>
                <a:tc>
                  <a:txBody>
                    <a:bodyPr/>
                    <a:lstStyle/>
                    <a:p>
                      <a:r>
                        <a:rPr sz="1100" b="0" i="0">
                          <a:solidFill>
                            <a:srgbClr val="E8EEF6"/>
                          </a:solidFill>
                          <a:latin typeface="Calibri"/>
                        </a:rPr>
                        <a:t>TBD</a:t>
                      </a:r>
                    </a:p>
                  </a:txBody>
                  <a:tcPr marL="54864" marR="54864" marT="27432" marB="27432" anchor="ctr">
                    <a:solidFill>
                      <a:srgbClr val="101F34"/>
                    </a:solidFill>
                  </a:tcPr>
                </a:tc>
                <a:tc>
                  <a:txBody>
                    <a:bodyPr/>
                    <a:lstStyle/>
                    <a:p>
                      <a:r>
                        <a:rPr sz="1100" b="0" i="0">
                          <a:solidFill>
                            <a:srgbClr val="E8EEF6"/>
                          </a:solidFill>
                          <a:latin typeface="Calibri"/>
                        </a:rPr>
                        <a:t>TBD</a:t>
                      </a:r>
                    </a:p>
                  </a:txBody>
                  <a:tcPr marL="54864" marR="54864" marT="27432" marB="27432" anchor="ctr">
                    <a:solidFill>
                      <a:srgbClr val="101F34"/>
                    </a:solidFill>
                  </a:tcPr>
                </a:tc>
                <a:tc>
                  <a:txBody>
                    <a:bodyPr/>
                    <a:lstStyle/>
                    <a:p>
                      <a:r>
                        <a:rPr sz="1100" b="1" i="0">
                          <a:solidFill>
                            <a:srgbClr val="FBBF24"/>
                          </a:solidFill>
                          <a:latin typeface="Calibri"/>
                        </a:rPr>
                        <a:t>Not Run</a:t>
                      </a:r>
                    </a:p>
                  </a:txBody>
                  <a:tcPr marL="54864" marR="54864" marT="27432" marB="27432" anchor="ctr">
                    <a:solidFill>
                      <a:srgbClr val="101F34"/>
                    </a:solidFill>
                  </a:tcPr>
                </a:tc>
              </a:tr>
              <a:tr h="384048">
                <a:tc>
                  <a:txBody>
                    <a:bodyPr/>
                    <a:lstStyle/>
                    <a:p>
                      <a:r>
                        <a:rPr sz="1100" b="0" i="0">
                          <a:solidFill>
                            <a:srgbClr val="E8EEF6"/>
                          </a:solidFill>
                          <a:latin typeface="Calibri"/>
                        </a:rPr>
                        <a:t>Total query count</a:t>
                      </a:r>
                    </a:p>
                  </a:txBody>
                  <a:tcPr marL="54864" marR="54864" marT="27432" marB="27432" anchor="ctr">
                    <a:solidFill>
                      <a:srgbClr val="14243B"/>
                    </a:solidFill>
                  </a:tcPr>
                </a:tc>
                <a:tc>
                  <a:txBody>
                    <a:bodyPr/>
                    <a:lstStyle/>
                    <a:p>
                      <a:r>
                        <a:rPr sz="1100" b="0" i="0">
                          <a:solidFill>
                            <a:srgbClr val="E8EEF6"/>
                          </a:solidFill>
                          <a:latin typeface="Calibri"/>
                        </a:rPr>
                        <a:t>TBD</a:t>
                      </a:r>
                    </a:p>
                  </a:txBody>
                  <a:tcPr marL="54864" marR="54864" marT="27432" marB="27432" anchor="ctr">
                    <a:solidFill>
                      <a:srgbClr val="14243B"/>
                    </a:solidFill>
                  </a:tcPr>
                </a:tc>
                <a:tc>
                  <a:txBody>
                    <a:bodyPr/>
                    <a:lstStyle/>
                    <a:p>
                      <a:r>
                        <a:rPr sz="1100" b="0" i="0">
                          <a:solidFill>
                            <a:srgbClr val="E8EEF6"/>
                          </a:solidFill>
                          <a:latin typeface="Calibri"/>
                        </a:rPr>
                        <a:t>TBD</a:t>
                      </a:r>
                    </a:p>
                  </a:txBody>
                  <a:tcPr marL="54864" marR="54864" marT="27432" marB="27432" anchor="ctr">
                    <a:solidFill>
                      <a:srgbClr val="14243B"/>
                    </a:solidFill>
                  </a:tcPr>
                </a:tc>
                <a:tc>
                  <a:txBody>
                    <a:bodyPr/>
                    <a:lstStyle/>
                    <a:p>
                      <a:r>
                        <a:rPr sz="1100" b="0" i="0">
                          <a:solidFill>
                            <a:srgbClr val="E8EEF6"/>
                          </a:solidFill>
                          <a:latin typeface="Calibri"/>
                        </a:rPr>
                        <a:t>TBD</a:t>
                      </a:r>
                    </a:p>
                  </a:txBody>
                  <a:tcPr marL="54864" marR="54864" marT="27432" marB="27432" anchor="ctr">
                    <a:solidFill>
                      <a:srgbClr val="14243B"/>
                    </a:solidFill>
                  </a:tcPr>
                </a:tc>
                <a:tc>
                  <a:txBody>
                    <a:bodyPr/>
                    <a:lstStyle/>
                    <a:p>
                      <a:r>
                        <a:rPr sz="1100" b="0" i="0">
                          <a:solidFill>
                            <a:srgbClr val="E8EEF6"/>
                          </a:solidFill>
                          <a:latin typeface="Calibri"/>
                        </a:rPr>
                        <a:t>TBD</a:t>
                      </a:r>
                    </a:p>
                  </a:txBody>
                  <a:tcPr marL="54864" marR="54864" marT="27432" marB="27432" anchor="ctr">
                    <a:solidFill>
                      <a:srgbClr val="14243B"/>
                    </a:solidFill>
                  </a:tcPr>
                </a:tc>
                <a:tc>
                  <a:txBody>
                    <a:bodyPr/>
                    <a:lstStyle/>
                    <a:p>
                      <a:r>
                        <a:rPr sz="1100" b="1" i="0">
                          <a:solidFill>
                            <a:srgbClr val="FBBF24"/>
                          </a:solidFill>
                          <a:latin typeface="Calibri"/>
                        </a:rPr>
                        <a:t>Not Run</a:t>
                      </a:r>
                    </a:p>
                  </a:txBody>
                  <a:tcPr marL="54864" marR="54864" marT="27432" marB="27432" anchor="ctr">
                    <a:solidFill>
                      <a:srgbClr val="14243B"/>
                    </a:solidFill>
                  </a:tcPr>
                </a:tc>
              </a:tr>
              <a:tr h="384048">
                <a:tc>
                  <a:txBody>
                    <a:bodyPr/>
                    <a:lstStyle/>
                    <a:p>
                      <a:r>
                        <a:rPr sz="1100" b="0" i="0">
                          <a:solidFill>
                            <a:srgbClr val="E8EEF6"/>
                          </a:solidFill>
                          <a:latin typeface="Calibri"/>
                        </a:rPr>
                        <a:t>Initialization duration</a:t>
                      </a:r>
                    </a:p>
                  </a:txBody>
                  <a:tcPr marL="54864" marR="54864" marT="27432" marB="27432" anchor="ctr">
                    <a:solidFill>
                      <a:srgbClr val="101F34"/>
                    </a:solidFill>
                  </a:tcPr>
                </a:tc>
                <a:tc>
                  <a:txBody>
                    <a:bodyPr/>
                    <a:lstStyle/>
                    <a:p>
                      <a:r>
                        <a:rPr sz="1100" b="0" i="0">
                          <a:solidFill>
                            <a:srgbClr val="E8EEF6"/>
                          </a:solidFill>
                          <a:latin typeface="Calibri"/>
                        </a:rPr>
                        <a:t>TBD</a:t>
                      </a:r>
                    </a:p>
                  </a:txBody>
                  <a:tcPr marL="54864" marR="54864" marT="27432" marB="27432" anchor="ctr">
                    <a:solidFill>
                      <a:srgbClr val="101F34"/>
                    </a:solidFill>
                  </a:tcPr>
                </a:tc>
                <a:tc>
                  <a:txBody>
                    <a:bodyPr/>
                    <a:lstStyle/>
                    <a:p>
                      <a:r>
                        <a:rPr sz="1100" b="0" i="0">
                          <a:solidFill>
                            <a:srgbClr val="E8EEF6"/>
                          </a:solidFill>
                          <a:latin typeface="Calibri"/>
                        </a:rPr>
                        <a:t>TBD</a:t>
                      </a:r>
                    </a:p>
                  </a:txBody>
                  <a:tcPr marL="54864" marR="54864" marT="27432" marB="27432" anchor="ctr">
                    <a:solidFill>
                      <a:srgbClr val="101F34"/>
                    </a:solidFill>
                  </a:tcPr>
                </a:tc>
                <a:tc>
                  <a:txBody>
                    <a:bodyPr/>
                    <a:lstStyle/>
                    <a:p>
                      <a:r>
                        <a:rPr sz="1100" b="0" i="0">
                          <a:solidFill>
                            <a:srgbClr val="E8EEF6"/>
                          </a:solidFill>
                          <a:latin typeface="Calibri"/>
                        </a:rPr>
                        <a:t>TBD</a:t>
                      </a:r>
                    </a:p>
                  </a:txBody>
                  <a:tcPr marL="54864" marR="54864" marT="27432" marB="27432" anchor="ctr">
                    <a:solidFill>
                      <a:srgbClr val="101F34"/>
                    </a:solidFill>
                  </a:tcPr>
                </a:tc>
                <a:tc>
                  <a:txBody>
                    <a:bodyPr/>
                    <a:lstStyle/>
                    <a:p>
                      <a:r>
                        <a:rPr sz="1100" b="0" i="0">
                          <a:solidFill>
                            <a:srgbClr val="E8EEF6"/>
                          </a:solidFill>
                          <a:latin typeface="Calibri"/>
                        </a:rPr>
                        <a:t>TBD</a:t>
                      </a:r>
                    </a:p>
                  </a:txBody>
                  <a:tcPr marL="54864" marR="54864" marT="27432" marB="27432" anchor="ctr">
                    <a:solidFill>
                      <a:srgbClr val="101F34"/>
                    </a:solidFill>
                  </a:tcPr>
                </a:tc>
                <a:tc>
                  <a:txBody>
                    <a:bodyPr/>
                    <a:lstStyle/>
                    <a:p>
                      <a:r>
                        <a:rPr sz="1100" b="1" i="0">
                          <a:solidFill>
                            <a:srgbClr val="FBBF24"/>
                          </a:solidFill>
                          <a:latin typeface="Calibri"/>
                        </a:rPr>
                        <a:t>Not Run</a:t>
                      </a:r>
                    </a:p>
                  </a:txBody>
                  <a:tcPr marL="54864" marR="54864" marT="27432" marB="27432" anchor="ctr">
                    <a:solidFill>
                      <a:srgbClr val="101F34"/>
                    </a:solidFill>
                  </a:tcPr>
                </a:tc>
              </a:tr>
              <a:tr h="384048">
                <a:tc>
                  <a:txBody>
                    <a:bodyPr/>
                    <a:lstStyle/>
                    <a:p>
                      <a:r>
                        <a:rPr sz="1100" b="0" i="0">
                          <a:solidFill>
                            <a:srgbClr val="E8EEF6"/>
                          </a:solidFill>
                          <a:latin typeface="Calibri"/>
                        </a:rPr>
                        <a:t>Query retry count</a:t>
                      </a:r>
                    </a:p>
                  </a:txBody>
                  <a:tcPr marL="54864" marR="54864" marT="27432" marB="27432" anchor="ctr">
                    <a:solidFill>
                      <a:srgbClr val="14243B"/>
                    </a:solidFill>
                  </a:tcPr>
                </a:tc>
                <a:tc>
                  <a:txBody>
                    <a:bodyPr/>
                    <a:lstStyle/>
                    <a:p>
                      <a:r>
                        <a:rPr sz="1100" b="0" i="0">
                          <a:solidFill>
                            <a:srgbClr val="E8EEF6"/>
                          </a:solidFill>
                          <a:latin typeface="Calibri"/>
                        </a:rPr>
                        <a:t>TBD</a:t>
                      </a:r>
                    </a:p>
                  </a:txBody>
                  <a:tcPr marL="54864" marR="54864" marT="27432" marB="27432" anchor="ctr">
                    <a:solidFill>
                      <a:srgbClr val="14243B"/>
                    </a:solidFill>
                  </a:tcPr>
                </a:tc>
                <a:tc>
                  <a:txBody>
                    <a:bodyPr/>
                    <a:lstStyle/>
                    <a:p>
                      <a:r>
                        <a:rPr sz="1100" b="0" i="0">
                          <a:solidFill>
                            <a:srgbClr val="E8EEF6"/>
                          </a:solidFill>
                          <a:latin typeface="Calibri"/>
                        </a:rPr>
                        <a:t>TBD</a:t>
                      </a:r>
                    </a:p>
                  </a:txBody>
                  <a:tcPr marL="54864" marR="54864" marT="27432" marB="27432" anchor="ctr">
                    <a:solidFill>
                      <a:srgbClr val="14243B"/>
                    </a:solidFill>
                  </a:tcPr>
                </a:tc>
                <a:tc>
                  <a:txBody>
                    <a:bodyPr/>
                    <a:lstStyle/>
                    <a:p>
                      <a:r>
                        <a:rPr sz="1100" b="0" i="0">
                          <a:solidFill>
                            <a:srgbClr val="E8EEF6"/>
                          </a:solidFill>
                          <a:latin typeface="Calibri"/>
                        </a:rPr>
                        <a:t>TBD</a:t>
                      </a:r>
                    </a:p>
                  </a:txBody>
                  <a:tcPr marL="54864" marR="54864" marT="27432" marB="27432" anchor="ctr">
                    <a:solidFill>
                      <a:srgbClr val="14243B"/>
                    </a:solidFill>
                  </a:tcPr>
                </a:tc>
                <a:tc>
                  <a:txBody>
                    <a:bodyPr/>
                    <a:lstStyle/>
                    <a:p>
                      <a:r>
                        <a:rPr sz="1100" b="0" i="0">
                          <a:solidFill>
                            <a:srgbClr val="E8EEF6"/>
                          </a:solidFill>
                          <a:latin typeface="Calibri"/>
                        </a:rPr>
                        <a:t>TBD</a:t>
                      </a:r>
                    </a:p>
                  </a:txBody>
                  <a:tcPr marL="54864" marR="54864" marT="27432" marB="27432" anchor="ctr">
                    <a:solidFill>
                      <a:srgbClr val="14243B"/>
                    </a:solidFill>
                  </a:tcPr>
                </a:tc>
                <a:tc>
                  <a:txBody>
                    <a:bodyPr/>
                    <a:lstStyle/>
                    <a:p>
                      <a:r>
                        <a:rPr sz="1100" b="1" i="0">
                          <a:solidFill>
                            <a:srgbClr val="FBBF24"/>
                          </a:solidFill>
                          <a:latin typeface="Calibri"/>
                        </a:rPr>
                        <a:t>Not Run</a:t>
                      </a:r>
                    </a:p>
                  </a:txBody>
                  <a:tcPr marL="54864" marR="54864" marT="27432" marB="27432" anchor="ctr">
                    <a:solidFill>
                      <a:srgbClr val="14243B"/>
                    </a:solidFill>
                  </a:tcPr>
                </a:tc>
              </a:tr>
              <a:tr h="384048">
                <a:tc>
                  <a:txBody>
                    <a:bodyPr/>
                    <a:lstStyle/>
                    <a:p>
                      <a:r>
                        <a:rPr sz="1100" b="0" i="0">
                          <a:solidFill>
                            <a:srgbClr val="E8EEF6"/>
                          </a:solidFill>
                          <a:latin typeface="Calibri"/>
                        </a:rPr>
                        <a:t>Query execution time (extra)</a:t>
                      </a:r>
                    </a:p>
                  </a:txBody>
                  <a:tcPr marL="54864" marR="54864" marT="27432" marB="27432" anchor="ctr">
                    <a:solidFill>
                      <a:srgbClr val="101F34"/>
                    </a:solidFill>
                  </a:tcPr>
                </a:tc>
                <a:tc>
                  <a:txBody>
                    <a:bodyPr/>
                    <a:lstStyle/>
                    <a:p>
                      <a:r>
                        <a:rPr sz="1100" b="0" i="0">
                          <a:solidFill>
                            <a:srgbClr val="E8EEF6"/>
                          </a:solidFill>
                          <a:latin typeface="Calibri"/>
                        </a:rPr>
                        <a:t>TBD</a:t>
                      </a:r>
                    </a:p>
                  </a:txBody>
                  <a:tcPr marL="54864" marR="54864" marT="27432" marB="27432" anchor="ctr">
                    <a:solidFill>
                      <a:srgbClr val="101F34"/>
                    </a:solidFill>
                  </a:tcPr>
                </a:tc>
                <a:tc>
                  <a:txBody>
                    <a:bodyPr/>
                    <a:lstStyle/>
                    <a:p>
                      <a:r>
                        <a:rPr sz="1100" b="0" i="0">
                          <a:solidFill>
                            <a:srgbClr val="E8EEF6"/>
                          </a:solidFill>
                          <a:latin typeface="Calibri"/>
                        </a:rPr>
                        <a:t>TBD</a:t>
                      </a:r>
                    </a:p>
                  </a:txBody>
                  <a:tcPr marL="54864" marR="54864" marT="27432" marB="27432" anchor="ctr">
                    <a:solidFill>
                      <a:srgbClr val="101F34"/>
                    </a:solidFill>
                  </a:tcPr>
                </a:tc>
                <a:tc>
                  <a:txBody>
                    <a:bodyPr/>
                    <a:lstStyle/>
                    <a:p>
                      <a:r>
                        <a:rPr sz="1100" b="0" i="0">
                          <a:solidFill>
                            <a:srgbClr val="E8EEF6"/>
                          </a:solidFill>
                          <a:latin typeface="Calibri"/>
                        </a:rPr>
                        <a:t>TBD</a:t>
                      </a:r>
                    </a:p>
                  </a:txBody>
                  <a:tcPr marL="54864" marR="54864" marT="27432" marB="27432" anchor="ctr">
                    <a:solidFill>
                      <a:srgbClr val="101F34"/>
                    </a:solidFill>
                  </a:tcPr>
                </a:tc>
                <a:tc>
                  <a:txBody>
                    <a:bodyPr/>
                    <a:lstStyle/>
                    <a:p>
                      <a:r>
                        <a:rPr sz="1100" b="0" i="0">
                          <a:solidFill>
                            <a:srgbClr val="E8EEF6"/>
                          </a:solidFill>
                          <a:latin typeface="Calibri"/>
                        </a:rPr>
                        <a:t>TBD</a:t>
                      </a:r>
                    </a:p>
                  </a:txBody>
                  <a:tcPr marL="54864" marR="54864" marT="27432" marB="27432" anchor="ctr">
                    <a:solidFill>
                      <a:srgbClr val="101F34"/>
                    </a:solidFill>
                  </a:tcPr>
                </a:tc>
                <a:tc>
                  <a:txBody>
                    <a:bodyPr/>
                    <a:lstStyle/>
                    <a:p>
                      <a:r>
                        <a:rPr sz="1100" b="1" i="0">
                          <a:solidFill>
                            <a:srgbClr val="FBBF24"/>
                          </a:solidFill>
                          <a:latin typeface="Calibri"/>
                        </a:rPr>
                        <a:t>Not Run</a:t>
                      </a:r>
                    </a:p>
                  </a:txBody>
                  <a:tcPr marL="54864" marR="54864" marT="27432" marB="27432" anchor="ctr">
                    <a:solidFill>
                      <a:srgbClr val="101F34"/>
                    </a:solidFill>
                  </a:tcPr>
                </a:tc>
              </a:tr>
              <a:tr h="384048">
                <a:tc>
                  <a:txBody>
                    <a:bodyPr/>
                    <a:lstStyle/>
                    <a:p>
                      <a:r>
                        <a:rPr sz="1100" b="0" i="0">
                          <a:solidFill>
                            <a:srgbClr val="E8EEF6"/>
                          </a:solidFill>
                          <a:latin typeface="Calibri"/>
                        </a:rPr>
                        <a:t>Cache hits / fallback reads (extra)</a:t>
                      </a:r>
                    </a:p>
                  </a:txBody>
                  <a:tcPr marL="54864" marR="54864" marT="27432" marB="27432" anchor="ctr">
                    <a:solidFill>
                      <a:srgbClr val="14243B"/>
                    </a:solidFill>
                  </a:tcPr>
                </a:tc>
                <a:tc>
                  <a:txBody>
                    <a:bodyPr/>
                    <a:lstStyle/>
                    <a:p>
                      <a:r>
                        <a:rPr sz="1100" b="0" i="0">
                          <a:solidFill>
                            <a:srgbClr val="E8EEF6"/>
                          </a:solidFill>
                          <a:latin typeface="Calibri"/>
                        </a:rPr>
                        <a:t>TBD</a:t>
                      </a:r>
                    </a:p>
                  </a:txBody>
                  <a:tcPr marL="54864" marR="54864" marT="27432" marB="27432" anchor="ctr">
                    <a:solidFill>
                      <a:srgbClr val="14243B"/>
                    </a:solidFill>
                  </a:tcPr>
                </a:tc>
                <a:tc>
                  <a:txBody>
                    <a:bodyPr/>
                    <a:lstStyle/>
                    <a:p>
                      <a:r>
                        <a:rPr sz="1100" b="0" i="0">
                          <a:solidFill>
                            <a:srgbClr val="E8EEF6"/>
                          </a:solidFill>
                          <a:latin typeface="Calibri"/>
                        </a:rPr>
                        <a:t>TBD</a:t>
                      </a:r>
                    </a:p>
                  </a:txBody>
                  <a:tcPr marL="54864" marR="54864" marT="27432" marB="27432" anchor="ctr">
                    <a:solidFill>
                      <a:srgbClr val="14243B"/>
                    </a:solidFill>
                  </a:tcPr>
                </a:tc>
                <a:tc>
                  <a:txBody>
                    <a:bodyPr/>
                    <a:lstStyle/>
                    <a:p>
                      <a:r>
                        <a:rPr sz="1100" b="0" i="0">
                          <a:solidFill>
                            <a:srgbClr val="E8EEF6"/>
                          </a:solidFill>
                          <a:latin typeface="Calibri"/>
                        </a:rPr>
                        <a:t>TBD</a:t>
                      </a:r>
                    </a:p>
                  </a:txBody>
                  <a:tcPr marL="54864" marR="54864" marT="27432" marB="27432" anchor="ctr">
                    <a:solidFill>
                      <a:srgbClr val="14243B"/>
                    </a:solidFill>
                  </a:tcPr>
                </a:tc>
                <a:tc>
                  <a:txBody>
                    <a:bodyPr/>
                    <a:lstStyle/>
                    <a:p>
                      <a:r>
                        <a:rPr sz="1100" b="0" i="0">
                          <a:solidFill>
                            <a:srgbClr val="E8EEF6"/>
                          </a:solidFill>
                          <a:latin typeface="Calibri"/>
                        </a:rPr>
                        <a:t>TBD</a:t>
                      </a:r>
                    </a:p>
                  </a:txBody>
                  <a:tcPr marL="54864" marR="54864" marT="27432" marB="27432" anchor="ctr">
                    <a:solidFill>
                      <a:srgbClr val="14243B"/>
                    </a:solidFill>
                  </a:tcPr>
                </a:tc>
                <a:tc>
                  <a:txBody>
                    <a:bodyPr/>
                    <a:lstStyle/>
                    <a:p>
                      <a:r>
                        <a:rPr sz="1100" b="1" i="0">
                          <a:solidFill>
                            <a:srgbClr val="FBBF24"/>
                          </a:solidFill>
                          <a:latin typeface="Calibri"/>
                        </a:rPr>
                        <a:t>Not Run</a:t>
                      </a:r>
                    </a:p>
                  </a:txBody>
                  <a:tcPr marL="54864" marR="54864" marT="27432" marB="27432" anchor="ctr">
                    <a:solidFill>
                      <a:srgbClr val="14243B"/>
                    </a:solidFill>
                  </a:tcPr>
                </a:tc>
              </a:tr>
              <a:tr h="384048">
                <a:tc>
                  <a:txBody>
                    <a:bodyPr/>
                    <a:lstStyle/>
                    <a:p>
                      <a:r>
                        <a:rPr sz="1100" b="0" i="0">
                          <a:solidFill>
                            <a:srgbClr val="E8EEF6"/>
                          </a:solidFill>
                          <a:latin typeface="Calibri"/>
                        </a:rPr>
                        <a:t>CPU overhead of parse and copy (extra)</a:t>
                      </a:r>
                    </a:p>
                  </a:txBody>
                  <a:tcPr marL="54864" marR="54864" marT="27432" marB="27432" anchor="ctr">
                    <a:solidFill>
                      <a:srgbClr val="101F34"/>
                    </a:solidFill>
                  </a:tcPr>
                </a:tc>
                <a:tc>
                  <a:txBody>
                    <a:bodyPr/>
                    <a:lstStyle/>
                    <a:p>
                      <a:r>
                        <a:rPr sz="1100" b="0" i="0">
                          <a:solidFill>
                            <a:srgbClr val="E8EEF6"/>
                          </a:solidFill>
                          <a:latin typeface="Calibri"/>
                        </a:rPr>
                        <a:t>TBD</a:t>
                      </a:r>
                    </a:p>
                  </a:txBody>
                  <a:tcPr marL="54864" marR="54864" marT="27432" marB="27432" anchor="ctr">
                    <a:solidFill>
                      <a:srgbClr val="101F34"/>
                    </a:solidFill>
                  </a:tcPr>
                </a:tc>
                <a:tc>
                  <a:txBody>
                    <a:bodyPr/>
                    <a:lstStyle/>
                    <a:p>
                      <a:r>
                        <a:rPr sz="1100" b="0" i="0">
                          <a:solidFill>
                            <a:srgbClr val="E8EEF6"/>
                          </a:solidFill>
                          <a:latin typeface="Calibri"/>
                        </a:rPr>
                        <a:t>TBD</a:t>
                      </a:r>
                    </a:p>
                  </a:txBody>
                  <a:tcPr marL="54864" marR="54864" marT="27432" marB="27432" anchor="ctr">
                    <a:solidFill>
                      <a:srgbClr val="101F34"/>
                    </a:solidFill>
                  </a:tcPr>
                </a:tc>
                <a:tc>
                  <a:txBody>
                    <a:bodyPr/>
                    <a:lstStyle/>
                    <a:p>
                      <a:r>
                        <a:rPr sz="1100" b="0" i="0">
                          <a:solidFill>
                            <a:srgbClr val="E8EEF6"/>
                          </a:solidFill>
                          <a:latin typeface="Calibri"/>
                        </a:rPr>
                        <a:t>TBD</a:t>
                      </a:r>
                    </a:p>
                  </a:txBody>
                  <a:tcPr marL="54864" marR="54864" marT="27432" marB="27432" anchor="ctr">
                    <a:solidFill>
                      <a:srgbClr val="101F34"/>
                    </a:solidFill>
                  </a:tcPr>
                </a:tc>
                <a:tc>
                  <a:txBody>
                    <a:bodyPr/>
                    <a:lstStyle/>
                    <a:p>
                      <a:r>
                        <a:rPr sz="1100" b="0" i="0">
                          <a:solidFill>
                            <a:srgbClr val="E8EEF6"/>
                          </a:solidFill>
                          <a:latin typeface="Calibri"/>
                        </a:rPr>
                        <a:t>TBD</a:t>
                      </a:r>
                    </a:p>
                  </a:txBody>
                  <a:tcPr marL="54864" marR="54864" marT="27432" marB="27432" anchor="ctr">
                    <a:solidFill>
                      <a:srgbClr val="101F34"/>
                    </a:solidFill>
                  </a:tcPr>
                </a:tc>
                <a:tc>
                  <a:txBody>
                    <a:bodyPr/>
                    <a:lstStyle/>
                    <a:p>
                      <a:r>
                        <a:rPr sz="1100" b="1" i="0">
                          <a:solidFill>
                            <a:srgbClr val="FBBF24"/>
                          </a:solidFill>
                          <a:latin typeface="Calibri"/>
                        </a:rPr>
                        <a:t>Not Run</a:t>
                      </a:r>
                    </a:p>
                  </a:txBody>
                  <a:tcPr marL="54864" marR="54864" marT="27432" marB="27432" anchor="ctr">
                    <a:solidFill>
                      <a:srgbClr val="101F34"/>
                    </a:solidFill>
                  </a:tcPr>
                </a:tc>
              </a:tr>
            </a:tbl>
          </a:graphicData>
        </a:graphic>
      </p:graphicFrame>
      <p:sp>
        <p:nvSpPr>
          <p:cNvPr id="6" name="Rounded Rectangle 5"/>
          <p:cNvSpPr/>
          <p:nvPr/>
        </p:nvSpPr>
        <p:spPr>
          <a:xfrm>
            <a:off x="457200" y="4617720"/>
            <a:ext cx="5532120" cy="1737360"/>
          </a:xfrm>
          <a:prstGeom prst="roundRect">
            <a:avLst>
              <a:gd name="adj" fmla="val 4000"/>
            </a:avLst>
          </a:prstGeom>
          <a:solidFill>
            <a:srgbClr val="14243B"/>
          </a:solidFill>
          <a:ln w="9525">
            <a:solidFill>
              <a:srgbClr val="3A52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4663440"/>
            <a:ext cx="5303520" cy="1645920"/>
          </a:xfrm>
          <a:prstGeom prst="rect">
            <a:avLst/>
          </a:prstGeom>
          <a:noFill/>
        </p:spPr>
        <p:txBody>
          <a:bodyPr wrap="square" anchor="t" lIns="36576" rIns="36576" tIns="18288" bIns="18288">
            <a:spAutoFit/>
          </a:bodyPr>
          <a:lstStyle/>
          <a:p>
            <a:pPr>
              <a:spcAft>
                <a:spcPts val="200"/>
              </a:spcAft>
            </a:pPr>
            <a:r>
              <a:rPr sz="1100" b="1" i="0">
                <a:solidFill>
                  <a:srgbClr val="2DD4BF"/>
                </a:solidFill>
                <a:latin typeface="Calibri"/>
              </a:rPr>
              <a:t>Definitions</a:t>
            </a:r>
          </a:p>
          <a:p>
            <a:pPr>
              <a:spcAft>
                <a:spcPts val="200"/>
              </a:spcAft>
            </a:pPr>
            <a:r>
              <a:rPr sz="1100" b="0" i="0">
                <a:solidFill>
                  <a:srgbClr val="E8EEF6"/>
                </a:solidFill>
                <a:latin typeface="Calibri"/>
              </a:rPr>
              <a:t>Absolute change = Patch enabled − Baseline</a:t>
            </a:r>
          </a:p>
          <a:p>
            <a:pPr>
              <a:spcAft>
                <a:spcPts val="200"/>
              </a:spcAft>
            </a:pPr>
            <a:r>
              <a:rPr sz="1100" b="0" i="0">
                <a:solidFill>
                  <a:srgbClr val="E8EEF6"/>
                </a:solidFill>
                <a:latin typeface="Calibri"/>
              </a:rPr>
              <a:t>Percentage change = ((Patch enabled − Baseline) / Baseline) × 100%</a:t>
            </a:r>
          </a:p>
          <a:p>
            <a:pPr>
              <a:spcAft>
                <a:spcPts val="200"/>
              </a:spcAft>
            </a:pPr>
            <a:r>
              <a:rPr sz="1100" b="0" i="0">
                <a:solidFill>
                  <a:srgbClr val="E8EEF6"/>
                </a:solidFill>
                <a:latin typeface="Calibri"/>
              </a:rPr>
              <a:t>Baseline = 0 → percentage undefined / not applicable</a:t>
            </a:r>
          </a:p>
          <a:p>
            <a:pPr>
              <a:spcAft>
                <a:spcPts val="200"/>
              </a:spcAft>
            </a:pPr>
            <a:r>
              <a:rPr sz="1100" b="0" i="0">
                <a:solidFill>
                  <a:srgbClr val="E8EEF6"/>
                </a:solidFill>
                <a:latin typeface="Calibri"/>
              </a:rPr>
              <a:t>Report sample count, median, mean and spread</a:t>
            </a:r>
          </a:p>
        </p:txBody>
      </p:sp>
      <p:sp>
        <p:nvSpPr>
          <p:cNvPr id="8" name="Rounded Rectangle 7"/>
          <p:cNvSpPr/>
          <p:nvPr/>
        </p:nvSpPr>
        <p:spPr>
          <a:xfrm>
            <a:off x="6172200" y="4617720"/>
            <a:ext cx="5532120" cy="1737360"/>
          </a:xfrm>
          <a:prstGeom prst="roundRect">
            <a:avLst>
              <a:gd name="adj" fmla="val 4000"/>
            </a:avLst>
          </a:prstGeom>
          <a:solidFill>
            <a:srgbClr val="14243B"/>
          </a:solidFill>
          <a:ln w="9525">
            <a:solidFill>
              <a:srgbClr val="3A52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4663440"/>
            <a:ext cx="5303520" cy="1645920"/>
          </a:xfrm>
          <a:prstGeom prst="rect">
            <a:avLst/>
          </a:prstGeom>
          <a:noFill/>
        </p:spPr>
        <p:txBody>
          <a:bodyPr wrap="square" anchor="t" lIns="36576" rIns="36576" tIns="18288" bIns="18288">
            <a:spAutoFit/>
          </a:bodyPr>
          <a:lstStyle/>
          <a:p>
            <a:pPr>
              <a:spcAft>
                <a:spcPts val="200"/>
              </a:spcAft>
            </a:pPr>
            <a:r>
              <a:rPr sz="1100" b="1" i="0">
                <a:solidFill>
                  <a:srgbClr val="FBBF24"/>
                </a:solidFill>
                <a:latin typeface="Calibri"/>
              </a:rPr>
              <a:t>Interpretation guard</a:t>
            </a:r>
          </a:p>
          <a:p>
            <a:pPr>
              <a:spcAft>
                <a:spcPts val="200"/>
              </a:spcAft>
            </a:pPr>
            <a:r>
              <a:rPr sz="1100" b="0" i="0">
                <a:solidFill>
                  <a:srgbClr val="E8EEF6"/>
                </a:solidFill>
                <a:latin typeface="Calibri"/>
              </a:rPr>
              <a:t>Lower totals support the hypothesis only if correctness is preserved</a:t>
            </a:r>
          </a:p>
          <a:p>
            <a:pPr>
              <a:spcAft>
                <a:spcPts val="200"/>
              </a:spcAft>
            </a:pPr>
            <a:r>
              <a:rPr sz="1100" b="0" i="0">
                <a:solidFill>
                  <a:srgbClr val="E8EEF6"/>
                </a:solidFill>
                <a:latin typeface="Calibri"/>
              </a:rPr>
              <a:t>No speed-up is asserted or guaranteed</a:t>
            </a:r>
          </a:p>
          <a:p>
            <a:pPr>
              <a:spcAft>
                <a:spcPts val="200"/>
              </a:spcAft>
            </a:pPr>
            <a:r>
              <a:rPr sz="1100" b="0" i="0">
                <a:solidFill>
                  <a:srgbClr val="E8EEF6"/>
                </a:solidFill>
                <a:latin typeface="Calibri"/>
              </a:rPr>
              <a:t>Identical device, firmware, kernel config and device tree for both runs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626"/>
        </a:solidFill>
        <a:effectLst/>
      </p:bgPr>
    </p:bg>
    <p:spTree>
      <p:nvGrpSpPr>
        <p:cNvPr id="1" name=""/>
        <p:cNvGrpSpPr/>
        <p:nvPr/>
      </p:nvGrpSpPr>
      <p:grpSpPr/>
      <p:sp>
        <p:nvSpPr>
          <p:cNvPr id="2" name="Title"/>
          <p:cNvSpPr txBox="1"/>
          <p:nvPr/>
        </p:nvSpPr>
        <p:spPr>
          <a:xfrm>
            <a:off x="457200" y="274320"/>
            <a:ext cx="11247120" cy="548640"/>
          </a:xfrm>
          <a:prstGeom prst="rect">
            <a:avLst/>
          </a:prstGeom>
          <a:noFill/>
        </p:spPr>
        <p:txBody>
          <a:bodyPr wrap="square" anchor="ctr" lIns="36576" rIns="36576" tIns="18288" bIns="18288">
            <a:spAutoFit/>
          </a:bodyPr>
          <a:lstStyle/>
          <a:p>
            <a:r>
              <a:rPr sz="2400" b="1" i="0">
                <a:solidFill>
                  <a:srgbClr val="E8EEF6"/>
                </a:solidFill>
                <a:latin typeface="Calibri"/>
              </a:rPr>
              <a:t>Conclusions and Next Steps: Supported, Unproven, Priorities</a:t>
            </a:r>
          </a:p>
        </p:txBody>
      </p:sp>
      <p:sp>
        <p:nvSpPr>
          <p:cNvPr id="3" name="Source"/>
          <p:cNvSpPr txBox="1"/>
          <p:nvPr/>
        </p:nvSpPr>
        <p:spPr>
          <a:xfrm>
            <a:off x="457200" y="6473952"/>
            <a:ext cx="10424160" cy="256032"/>
          </a:xfrm>
          <a:prstGeom prst="rect">
            <a:avLst/>
          </a:prstGeom>
          <a:noFill/>
        </p:spPr>
        <p:txBody>
          <a:bodyPr wrap="square" anchor="t" lIns="36576" rIns="36576" tIns="18288" bIns="18288">
            <a:spAutoFit/>
          </a:bodyPr>
          <a:lstStyle/>
          <a:p>
            <a:r>
              <a:rPr sz="1000" b="0" i="0">
                <a:solidFill>
                  <a:srgbClr val="A9B8CC"/>
                </a:solidFill>
                <a:latin typeface="Calibri"/>
              </a:rPr>
              <a:t>Source: analysis of [PATCH v2 1/2] and [PATCH v2 2/2]; see slides 12–13 for qualifications</a:t>
            </a:r>
          </a:p>
        </p:txBody>
      </p:sp>
      <p:sp>
        <p:nvSpPr>
          <p:cNvPr id="4" name="Slide Number"/>
          <p:cNvSpPr txBox="1"/>
          <p:nvPr/>
        </p:nvSpPr>
        <p:spPr>
          <a:xfrm>
            <a:off x="11064240" y="6473952"/>
            <a:ext cx="685800" cy="256032"/>
          </a:xfrm>
          <a:prstGeom prst="rect">
            <a:avLst/>
          </a:prstGeom>
          <a:noFill/>
        </p:spPr>
        <p:txBody>
          <a:bodyPr wrap="none">
            <a:spAutoFit/>
          </a:bodyPr>
          <a:lstStyle/>
          <a:p>
            <a:pPr algn="r"/>
            <a:fld id="{B6F15528-21DE-4FAA-801E-634DDDAF4B2B}" type="slidenum">
              <a:rPr lang="en-US" sz="1100">
                <a:solidFill>
                  <a:srgbClr val="A9B8CC"/>
                </a:solidFill>
                <a:latin typeface="Calibri"/>
              </a:rPr>
              <a:t>17</a:t>
            </a:fld>
          </a:p>
        </p:txBody>
      </p:sp>
      <p:sp>
        <p:nvSpPr>
          <p:cNvPr id="5" name="Rounded Rectangle 4"/>
          <p:cNvSpPr/>
          <p:nvPr/>
        </p:nvSpPr>
        <p:spPr>
          <a:xfrm>
            <a:off x="457200" y="1097280"/>
            <a:ext cx="3657600" cy="5166360"/>
          </a:xfrm>
          <a:prstGeom prst="roundRect">
            <a:avLst>
              <a:gd name="adj" fmla="val 4000"/>
            </a:avLst>
          </a:prstGeom>
          <a:solidFill>
            <a:srgbClr val="14243B"/>
          </a:solidFill>
          <a:ln w="9525">
            <a:solidFill>
              <a:srgbClr val="3A52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188720"/>
            <a:ext cx="3383280" cy="365760"/>
          </a:xfrm>
          <a:prstGeom prst="rect">
            <a:avLst/>
          </a:prstGeom>
          <a:noFill/>
        </p:spPr>
        <p:txBody>
          <a:bodyPr wrap="square" anchor="t" lIns="36576" rIns="36576" tIns="18288" bIns="18288">
            <a:spAutoFit/>
          </a:bodyPr>
          <a:lstStyle/>
          <a:p>
            <a:r>
              <a:rPr sz="1400" b="1" i="0">
                <a:solidFill>
                  <a:srgbClr val="4ADE80"/>
                </a:solidFill>
                <a:latin typeface="Calibri"/>
              </a:rPr>
              <a:t>Supported conclusions (VERIFIED)</a:t>
            </a:r>
          </a:p>
        </p:txBody>
      </p:sp>
      <p:sp>
        <p:nvSpPr>
          <p:cNvPr id="7" name="TextBox 6"/>
          <p:cNvSpPr txBox="1"/>
          <p:nvPr/>
        </p:nvSpPr>
        <p:spPr>
          <a:xfrm>
            <a:off x="594360" y="1691640"/>
            <a:ext cx="3383280" cy="4480560"/>
          </a:xfrm>
          <a:prstGeom prst="rect">
            <a:avLst/>
          </a:prstGeom>
          <a:noFill/>
        </p:spPr>
        <p:txBody>
          <a:bodyPr wrap="square" anchor="t" lIns="36576" rIns="36576" tIns="18288" bIns="18288">
            <a:spAutoFit/>
          </a:bodyPr>
          <a:lstStyle/>
          <a:p>
            <a:pPr marL="182880" indent="-182880">
              <a:spcAft>
                <a:spcPts val="600"/>
              </a:spcAft>
              <a:buClr>
                <a:srgbClr val="2DD4BF"/>
              </a:buClr>
              <a:buChar char="•"/>
            </a:pPr>
            <a:r>
              <a:rPr sz="1200" b="0" i="0">
                <a:solidFill>
                  <a:srgbClr val="E8EEF6"/>
                </a:solidFill>
                <a:latin typeface="Calibri"/>
              </a:rPr>
              <a:t>P1 adds the mask, group types, 4-byte header, data_segment_length and the AGGREGATED_READ copy path</a:t>
            </a:r>
          </a:p>
          <a:p>
            <a:pPr marL="182880" indent="-182880">
              <a:spcAft>
                <a:spcPts val="600"/>
              </a:spcAft>
              <a:buClr>
                <a:srgbClr val="2DD4BF"/>
              </a:buClr>
              <a:buChar char="•"/>
            </a:pPr>
            <a:r>
              <a:rPr sz="1200" b="0" i="0">
                <a:solidFill>
                  <a:srgbClr val="E8EEF6"/>
                </a:solidFill>
                <a:latin typeface="Calibri"/>
              </a:rPr>
              <a:t>P2 adds begin/end, one cached packet, bounded parsers and cache-first wrappers</a:t>
            </a:r>
          </a:p>
          <a:p>
            <a:pPr marL="182880" indent="-182880">
              <a:spcAft>
                <a:spcPts val="600"/>
              </a:spcAft>
              <a:buClr>
                <a:srgbClr val="2DD4BF"/>
              </a:buClr>
              <a:buChar char="•"/>
            </a:pPr>
            <a:r>
              <a:rPr sz="1200" b="0" i="0">
                <a:solidFill>
                  <a:srgbClr val="E8EEF6"/>
                </a:solidFill>
                <a:latin typeface="Calibri"/>
              </a:rPr>
              <a:t>Misses, older devices and failures route to the existing *_retry queries</a:t>
            </a:r>
          </a:p>
          <a:p>
            <a:pPr marL="182880" indent="-182880">
              <a:spcAft>
                <a:spcPts val="600"/>
              </a:spcAft>
              <a:buClr>
                <a:srgbClr val="2DD4BF"/>
              </a:buClr>
              <a:buChar char="•"/>
            </a:pPr>
            <a:r>
              <a:rPr sz="1200" b="0" i="0">
                <a:solidFill>
                  <a:srgbClr val="E8EEF6"/>
                </a:solidFill>
                <a:latin typeface="Calibri"/>
              </a:rPr>
              <a:t>Gate: wspecversion ≥ 0x500; sticky agg_read_unsupported after retries</a:t>
            </a:r>
          </a:p>
        </p:txBody>
      </p:sp>
      <p:sp>
        <p:nvSpPr>
          <p:cNvPr id="8" name="Rounded Rectangle 7"/>
          <p:cNvSpPr/>
          <p:nvPr/>
        </p:nvSpPr>
        <p:spPr>
          <a:xfrm>
            <a:off x="4251960" y="1097280"/>
            <a:ext cx="3657600" cy="5166360"/>
          </a:xfrm>
          <a:prstGeom prst="roundRect">
            <a:avLst>
              <a:gd name="adj" fmla="val 4000"/>
            </a:avLst>
          </a:prstGeom>
          <a:solidFill>
            <a:srgbClr val="14243B"/>
          </a:solidFill>
          <a:ln w="9525">
            <a:solidFill>
              <a:srgbClr val="3A52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0" y="1188720"/>
            <a:ext cx="3383280" cy="365760"/>
          </a:xfrm>
          <a:prstGeom prst="rect">
            <a:avLst/>
          </a:prstGeom>
          <a:noFill/>
        </p:spPr>
        <p:txBody>
          <a:bodyPr wrap="square" anchor="t" lIns="36576" rIns="36576" tIns="18288" bIns="18288">
            <a:spAutoFit/>
          </a:bodyPr>
          <a:lstStyle/>
          <a:p>
            <a:r>
              <a:rPr sz="1400" b="1" i="0">
                <a:solidFill>
                  <a:srgbClr val="FBBF24"/>
                </a:solidFill>
                <a:latin typeface="Calibri"/>
              </a:rPr>
              <a:t>Unproven hypotheses</a:t>
            </a:r>
          </a:p>
        </p:txBody>
      </p:sp>
      <p:sp>
        <p:nvSpPr>
          <p:cNvPr id="10" name="TextBox 9"/>
          <p:cNvSpPr txBox="1"/>
          <p:nvPr/>
        </p:nvSpPr>
        <p:spPr>
          <a:xfrm>
            <a:off x="4389120" y="1691640"/>
            <a:ext cx="3383280" cy="4480560"/>
          </a:xfrm>
          <a:prstGeom prst="rect">
            <a:avLst/>
          </a:prstGeom>
          <a:noFill/>
        </p:spPr>
        <p:txBody>
          <a:bodyPr wrap="square" anchor="t" lIns="36576" rIns="36576" tIns="18288" bIns="18288">
            <a:spAutoFit/>
          </a:bodyPr>
          <a:lstStyle/>
          <a:p>
            <a:pPr marL="182880" indent="-182880">
              <a:spcAft>
                <a:spcPts val="600"/>
              </a:spcAft>
              <a:buClr>
                <a:srgbClr val="2DD4BF"/>
              </a:buClr>
              <a:buChar char="•"/>
            </a:pPr>
            <a:r>
              <a:rPr sz="1200" b="0" i="0">
                <a:solidFill>
                  <a:srgbClr val="E8EEF6"/>
                </a:solidFill>
                <a:latin typeface="Calibri"/>
              </a:rPr>
              <a:t>Fewer query transactions during init</a:t>
            </a:r>
          </a:p>
          <a:p>
            <a:pPr marL="182880" indent="-182880">
              <a:spcAft>
                <a:spcPts val="600"/>
              </a:spcAft>
              <a:buClr>
                <a:srgbClr val="2DD4BF"/>
              </a:buClr>
              <a:buChar char="•"/>
            </a:pPr>
            <a:r>
              <a:rPr sz="1200" b="0" i="0">
                <a:solidFill>
                  <a:srgbClr val="E8EEF6"/>
                </a:solidFill>
                <a:latin typeface="Calibri"/>
              </a:rPr>
              <a:t>Shorter init duration</a:t>
            </a:r>
          </a:p>
          <a:p>
            <a:pPr marL="182880" indent="-182880">
              <a:spcAft>
                <a:spcPts val="600"/>
              </a:spcAft>
              <a:buClr>
                <a:srgbClr val="2DD4BF"/>
              </a:buClr>
              <a:buChar char="•"/>
            </a:pPr>
            <a:r>
              <a:rPr sz="1200" b="0" i="0">
                <a:solidFill>
                  <a:srgbClr val="E8EEF6"/>
                </a:solidFill>
                <a:latin typeface="Calibri"/>
              </a:rPr>
              <a:t>Negligible CPU overhead of parse and copy</a:t>
            </a:r>
          </a:p>
          <a:p>
            <a:pPr marL="182880" indent="-182880">
              <a:spcAft>
                <a:spcPts val="600"/>
              </a:spcAft>
              <a:buClr>
                <a:srgbClr val="2DD4BF"/>
              </a:buClr>
              <a:buChar char="•"/>
            </a:pPr>
            <a:r>
              <a:rPr sz="1200" b="0" i="0">
                <a:solidFill>
                  <a:srgbClr val="E8EEF6"/>
                </a:solidFill>
                <a:latin typeface="Calibri"/>
              </a:rPr>
              <a:t>Identical values for all cached reads</a:t>
            </a:r>
          </a:p>
          <a:p>
            <a:pPr marL="182880" indent="-182880">
              <a:spcAft>
                <a:spcPts val="600"/>
              </a:spcAft>
              <a:buClr>
                <a:srgbClr val="2DD4BF"/>
              </a:buClr>
              <a:buChar char="•"/>
            </a:pPr>
            <a:r>
              <a:rPr sz="1200" b="0" i="0">
                <a:solidFill>
                  <a:srgbClr val="E8EEF6"/>
                </a:solidFill>
                <a:latin typeface="Calibri"/>
              </a:rPr>
              <a:t>WB lifetime cached exactly in shared-buffer mode</a:t>
            </a:r>
          </a:p>
        </p:txBody>
      </p:sp>
      <p:sp>
        <p:nvSpPr>
          <p:cNvPr id="11" name="Rounded Rectangle 10"/>
          <p:cNvSpPr/>
          <p:nvPr/>
        </p:nvSpPr>
        <p:spPr>
          <a:xfrm>
            <a:off x="8046720" y="1097280"/>
            <a:ext cx="3657600" cy="5166360"/>
          </a:xfrm>
          <a:prstGeom prst="roundRect">
            <a:avLst>
              <a:gd name="adj" fmla="val 4000"/>
            </a:avLst>
          </a:prstGeom>
          <a:solidFill>
            <a:srgbClr val="14243B"/>
          </a:solidFill>
          <a:ln w="9525">
            <a:solidFill>
              <a:srgbClr val="3A52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80" y="1188720"/>
            <a:ext cx="3383280" cy="365760"/>
          </a:xfrm>
          <a:prstGeom prst="rect">
            <a:avLst/>
          </a:prstGeom>
          <a:noFill/>
        </p:spPr>
        <p:txBody>
          <a:bodyPr wrap="square" anchor="t" lIns="36576" rIns="36576" tIns="18288" bIns="18288">
            <a:spAutoFit/>
          </a:bodyPr>
          <a:lstStyle/>
          <a:p>
            <a:r>
              <a:rPr sz="1400" b="1" i="0">
                <a:solidFill>
                  <a:srgbClr val="F87171"/>
                </a:solidFill>
                <a:latin typeface="Calibri"/>
              </a:rPr>
              <a:t>Validation priorities (proposed)</a:t>
            </a:r>
          </a:p>
        </p:txBody>
      </p:sp>
      <p:sp>
        <p:nvSpPr>
          <p:cNvPr id="13" name="TextBox 12"/>
          <p:cNvSpPr txBox="1"/>
          <p:nvPr/>
        </p:nvSpPr>
        <p:spPr>
          <a:xfrm>
            <a:off x="8183880" y="1691640"/>
            <a:ext cx="3383280" cy="4480560"/>
          </a:xfrm>
          <a:prstGeom prst="rect">
            <a:avLst/>
          </a:prstGeom>
          <a:noFill/>
        </p:spPr>
        <p:txBody>
          <a:bodyPr wrap="square" anchor="t" lIns="36576" rIns="36576" tIns="18288" bIns="18288">
            <a:spAutoFit/>
          </a:bodyPr>
          <a:lstStyle/>
          <a:p>
            <a:pPr marL="182880" indent="-182880">
              <a:spcAft>
                <a:spcPts val="600"/>
              </a:spcAft>
              <a:buClr>
                <a:srgbClr val="2DD4BF"/>
              </a:buClr>
              <a:buChar char="•"/>
            </a:pPr>
            <a:r>
              <a:rPr sz="1200" b="0" i="0">
                <a:solidFill>
                  <a:srgbClr val="E8EEF6"/>
                </a:solidFill>
                <a:latin typeface="Calibri"/>
              </a:rPr>
              <a:t>Build on base tree: confirm opcode definition</a:t>
            </a:r>
          </a:p>
          <a:p>
            <a:pPr marL="182880" indent="-182880">
              <a:spcAft>
                <a:spcPts val="600"/>
              </a:spcAft>
              <a:buClr>
                <a:srgbClr val="2DD4BF"/>
              </a:buClr>
              <a:buChar char="•"/>
            </a:pPr>
            <a:r>
              <a:rPr sz="1200" b="0" i="0">
                <a:solidFill>
                  <a:srgbClr val="E8EEF6"/>
                </a:solidFill>
                <a:latin typeface="Calibri"/>
              </a:rPr>
              <a:t>KASAN / fault-injection on malformed and over-long replies</a:t>
            </a:r>
          </a:p>
          <a:p>
            <a:pPr marL="182880" indent="-182880">
              <a:spcAft>
                <a:spcPts val="600"/>
              </a:spcAft>
              <a:buClr>
                <a:srgbClr val="2DD4BF"/>
              </a:buClr>
              <a:buChar char="•"/>
            </a:pPr>
            <a:r>
              <a:rPr sz="1200" b="0" i="0">
                <a:solidFill>
                  <a:srgbClr val="E8EEF6"/>
                </a:solidFill>
                <a:latin typeface="Calibri"/>
              </a:rPr>
              <a:t>Check begin/end pairing on re-init and early exits</a:t>
            </a:r>
          </a:p>
          <a:p>
            <a:pPr marL="182880" indent="-182880">
              <a:spcAft>
                <a:spcPts val="600"/>
              </a:spcAft>
              <a:buClr>
                <a:srgbClr val="2DD4BF"/>
              </a:buClr>
              <a:buChar char="•"/>
            </a:pPr>
            <a:r>
              <a:rPr sz="1200" b="0" i="0">
                <a:solidFill>
                  <a:srgbClr val="E8EEF6"/>
                </a:solidFill>
                <a:latin typeface="Calibri"/>
              </a:rPr>
              <a:t>Cross-check layouts with JESD220H</a:t>
            </a:r>
          </a:p>
          <a:p>
            <a:pPr marL="182880" indent="-182880">
              <a:spcAft>
                <a:spcPts val="600"/>
              </a:spcAft>
              <a:buClr>
                <a:srgbClr val="2DD4BF"/>
              </a:buClr>
              <a:buChar char="•"/>
            </a:pPr>
            <a:r>
              <a:rPr sz="1200" b="0" i="0">
                <a:solidFill>
                  <a:srgbClr val="E8EEF6"/>
                </a:solidFill>
                <a:latin typeface="Calibri"/>
              </a:rPr>
              <a:t>Instrument, then measure baseline vs patched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626"/>
        </a:solidFill>
        <a:effectLst/>
      </p:bgPr>
    </p:bg>
    <p:spTree>
      <p:nvGrpSpPr>
        <p:cNvPr id="1" name=""/>
        <p:cNvGrpSpPr/>
        <p:nvPr/>
      </p:nvGrpSpPr>
      <p:grpSpPr/>
      <p:sp>
        <p:nvSpPr>
          <p:cNvPr id="2" name="Title"/>
          <p:cNvSpPr txBox="1"/>
          <p:nvPr/>
        </p:nvSpPr>
        <p:spPr>
          <a:xfrm>
            <a:off x="457200" y="274320"/>
            <a:ext cx="11247120" cy="548640"/>
          </a:xfrm>
          <a:prstGeom prst="rect">
            <a:avLst/>
          </a:prstGeom>
          <a:noFill/>
        </p:spPr>
        <p:txBody>
          <a:bodyPr wrap="square" anchor="ctr" lIns="36576" rIns="36576" tIns="18288" bIns="18288">
            <a:spAutoFit/>
          </a:bodyPr>
          <a:lstStyle/>
          <a:p>
            <a:r>
              <a:rPr sz="2400" b="1" i="0">
                <a:solidFill>
                  <a:srgbClr val="E8EEF6"/>
                </a:solidFill>
                <a:latin typeface="Calibri"/>
              </a:rPr>
              <a:t>Appendix: Source Map — Symbols, Files and Patch Locations</a:t>
            </a:r>
          </a:p>
        </p:txBody>
      </p:sp>
      <p:sp>
        <p:nvSpPr>
          <p:cNvPr id="3" name="Source"/>
          <p:cNvSpPr txBox="1"/>
          <p:nvPr/>
        </p:nvSpPr>
        <p:spPr>
          <a:xfrm>
            <a:off x="457200" y="6473952"/>
            <a:ext cx="10424160" cy="256032"/>
          </a:xfrm>
          <a:prstGeom prst="rect">
            <a:avLst/>
          </a:prstGeom>
          <a:noFill/>
        </p:spPr>
        <p:txBody>
          <a:bodyPr wrap="square" anchor="t" lIns="36576" rIns="36576" tIns="18288" bIns="18288">
            <a:spAutoFit/>
          </a:bodyPr>
          <a:lstStyle/>
          <a:p>
            <a:r>
              <a:rPr sz="1000" b="0" i="0">
                <a:solidFill>
                  <a:srgbClr val="A9B8CC"/>
                </a:solidFill>
                <a:latin typeface="Calibri"/>
              </a:rPr>
              <a:t>Locations are diff hunk contexts (hunk-header function names); no line numbers are claimed</a:t>
            </a:r>
          </a:p>
        </p:txBody>
      </p:sp>
      <p:sp>
        <p:nvSpPr>
          <p:cNvPr id="4" name="Slide Number"/>
          <p:cNvSpPr txBox="1"/>
          <p:nvPr/>
        </p:nvSpPr>
        <p:spPr>
          <a:xfrm>
            <a:off x="11064240" y="6473952"/>
            <a:ext cx="685800" cy="256032"/>
          </a:xfrm>
          <a:prstGeom prst="rect">
            <a:avLst/>
          </a:prstGeom>
          <a:noFill/>
        </p:spPr>
        <p:txBody>
          <a:bodyPr wrap="none">
            <a:spAutoFit/>
          </a:bodyPr>
          <a:lstStyle/>
          <a:p>
            <a:pPr algn="r"/>
            <a:fld id="{B6F15528-21DE-4FAA-801E-634DDDAF4B2B}" type="slidenum">
              <a:rPr lang="en-US" sz="1100">
                <a:solidFill>
                  <a:srgbClr val="A9B8CC"/>
                </a:solidFill>
                <a:latin typeface="Calibri"/>
              </a:rPr>
              <a:t>18</a:t>
            </a:fld>
          </a:p>
        </p:txBody>
      </p:sp>
      <p:graphicFrame>
        <p:nvGraphicFramePr>
          <p:cNvPr id="5" name="Table 4"/>
          <p:cNvGraphicFramePr>
            <a:graphicFrameLocks noGrp="1"/>
          </p:cNvGraphicFramePr>
          <p:nvPr/>
        </p:nvGraphicFramePr>
        <p:xfrm>
          <a:off x="457200" y="1051560"/>
          <a:ext cx="11247120" cy="5266944"/>
        </p:xfrm>
        <a:graphic>
          <a:graphicData uri="http://schemas.openxmlformats.org/drawingml/2006/table">
            <a:tbl>
              <a:tblPr firstRow="1" bandRow="1">
                <a:tableStyleId>{5940675A-B579-460E-94D1-54222C63F5DA}</a:tableStyleId>
              </a:tblPr>
              <a:tblGrid>
                <a:gridCol w="3931920"/>
                <a:gridCol w="2148840"/>
                <a:gridCol w="502920"/>
                <a:gridCol w="4663440"/>
              </a:tblGrid>
              <a:tr h="274320">
                <a:tc>
                  <a:txBody>
                    <a:bodyPr/>
                    <a:lstStyle/>
                    <a:p>
                      <a:r>
                        <a:rPr sz="1000" b="1" i="0">
                          <a:solidFill>
                            <a:srgbClr val="E8EEF6"/>
                          </a:solidFill>
                          <a:latin typeface="Calibri"/>
                        </a:rPr>
                        <a:t>Symbol</a:t>
                      </a:r>
                    </a:p>
                  </a:txBody>
                  <a:tcPr marL="54864" marR="54864" marT="27432" marB="27432" anchor="ctr">
                    <a:solidFill>
                      <a:srgbClr val="22406A"/>
                    </a:solidFill>
                  </a:tcPr>
                </a:tc>
                <a:tc>
                  <a:txBody>
                    <a:bodyPr/>
                    <a:lstStyle/>
                    <a:p>
                      <a:r>
                        <a:rPr sz="1000" b="1" i="0">
                          <a:solidFill>
                            <a:srgbClr val="E8EEF6"/>
                          </a:solidFill>
                          <a:latin typeface="Calibri"/>
                        </a:rPr>
                        <a:t>File</a:t>
                      </a:r>
                    </a:p>
                  </a:txBody>
                  <a:tcPr marL="54864" marR="54864" marT="27432" marB="27432" anchor="ctr">
                    <a:solidFill>
                      <a:srgbClr val="22406A"/>
                    </a:solidFill>
                  </a:tcPr>
                </a:tc>
                <a:tc>
                  <a:txBody>
                    <a:bodyPr/>
                    <a:lstStyle/>
                    <a:p>
                      <a:r>
                        <a:rPr sz="1000" b="1" i="0">
                          <a:solidFill>
                            <a:srgbClr val="E8EEF6"/>
                          </a:solidFill>
                          <a:latin typeface="Calibri"/>
                        </a:rPr>
                        <a:t>Patch</a:t>
                      </a:r>
                    </a:p>
                  </a:txBody>
                  <a:tcPr marL="54864" marR="54864" marT="27432" marB="27432" anchor="ctr">
                    <a:solidFill>
                      <a:srgbClr val="22406A"/>
                    </a:solidFill>
                  </a:tcPr>
                </a:tc>
                <a:tc>
                  <a:txBody>
                    <a:bodyPr/>
                    <a:lstStyle/>
                    <a:p>
                      <a:r>
                        <a:rPr sz="1000" b="1" i="0">
                          <a:solidFill>
                            <a:srgbClr val="E8EEF6"/>
                          </a:solidFill>
                          <a:latin typeface="Calibri"/>
                        </a:rPr>
                        <a:t>Hunk location / role</a:t>
                      </a:r>
                    </a:p>
                  </a:txBody>
                  <a:tcPr marL="54864" marR="54864" marT="27432" marB="27432" anchor="ctr">
                    <a:solidFill>
                      <a:srgbClr val="22406A"/>
                    </a:solidFill>
                  </a:tcPr>
                </a:tc>
              </a:tr>
              <a:tr h="384048">
                <a:tc>
                  <a:txBody>
                    <a:bodyPr/>
                    <a:lstStyle/>
                    <a:p>
                      <a:r>
                        <a:rPr sz="1000" b="0" i="0">
                          <a:solidFill>
                            <a:srgbClr val="E8EEF6"/>
                          </a:solidFill>
                          <a:latin typeface="Calibri"/>
                        </a:rPr>
                        <a:t>ufshcd_copy_query_response()</a:t>
                      </a:r>
                    </a:p>
                  </a:txBody>
                  <a:tcPr marL="54864" marR="54864" marT="27432" marB="27432" anchor="ctr">
                    <a:solidFill>
                      <a:srgbClr val="14243B"/>
                    </a:solidFill>
                  </a:tcPr>
                </a:tc>
                <a:tc>
                  <a:txBody>
                    <a:bodyPr/>
                    <a:lstStyle/>
                    <a:p>
                      <a:r>
                        <a:rPr sz="1000" b="0" i="0">
                          <a:solidFill>
                            <a:srgbClr val="E8EEF6"/>
                          </a:solidFill>
                          <a:latin typeface="Calibri"/>
                        </a:rPr>
                        <a:t>drivers/ufs/core/ufshcd.c</a:t>
                      </a:r>
                    </a:p>
                  </a:txBody>
                  <a:tcPr marL="54864" marR="54864" marT="27432" marB="27432" anchor="ctr">
                    <a:solidFill>
                      <a:srgbClr val="14243B"/>
                    </a:solidFill>
                  </a:tcPr>
                </a:tc>
                <a:tc>
                  <a:txBody>
                    <a:bodyPr/>
                    <a:lstStyle/>
                    <a:p>
                      <a:r>
                        <a:rPr sz="1000" b="0" i="0">
                          <a:solidFill>
                            <a:srgbClr val="E8EEF6"/>
                          </a:solidFill>
                          <a:latin typeface="Calibri"/>
                        </a:rPr>
                        <a:t>P1</a:t>
                      </a:r>
                    </a:p>
                  </a:txBody>
                  <a:tcPr marL="54864" marR="54864" marT="27432" marB="27432" anchor="ctr">
                    <a:solidFill>
                      <a:srgbClr val="14243B"/>
                    </a:solidFill>
                  </a:tcPr>
                </a:tc>
                <a:tc>
                  <a:txBody>
                    <a:bodyPr/>
                    <a:lstStyle/>
                    <a:p>
                      <a:r>
                        <a:rPr sz="1000" b="0" i="0">
                          <a:solidFill>
                            <a:srgbClr val="E8EEF6"/>
                          </a:solidFill>
                          <a:latin typeface="Calibri"/>
                        </a:rPr>
                        <a:t>Records data_segment_length; adds AGGREGATED_READ to descriptor-copy branch</a:t>
                      </a:r>
                    </a:p>
                  </a:txBody>
                  <a:tcPr marL="54864" marR="54864" marT="27432" marB="27432" anchor="ctr">
                    <a:solidFill>
                      <a:srgbClr val="14243B"/>
                    </a:solidFill>
                  </a:tcPr>
                </a:tc>
              </a:tr>
              <a:tr h="384048">
                <a:tc>
                  <a:txBody>
                    <a:bodyPr/>
                    <a:lstStyle/>
                    <a:p>
                      <a:r>
                        <a:rPr sz="1000" b="0" i="0">
                          <a:solidFill>
                            <a:srgbClr val="E8EEF6"/>
                          </a:solidFill>
                          <a:latin typeface="Calibri"/>
                        </a:rPr>
                        <a:t>enum ufs_agg_type, enum ufs_agg_group_type, struct utp_agg_group_header, QUERY_AGG_GROUP_HDR_SIZE</a:t>
                      </a:r>
                    </a:p>
                  </a:txBody>
                  <a:tcPr marL="54864" marR="54864" marT="27432" marB="27432" anchor="ctr">
                    <a:solidFill>
                      <a:srgbClr val="101F34"/>
                    </a:solidFill>
                  </a:tcPr>
                </a:tc>
                <a:tc>
                  <a:txBody>
                    <a:bodyPr/>
                    <a:lstStyle/>
                    <a:p>
                      <a:r>
                        <a:rPr sz="1000" b="0" i="0">
                          <a:solidFill>
                            <a:srgbClr val="E8EEF6"/>
                          </a:solidFill>
                          <a:latin typeface="Calibri"/>
                        </a:rPr>
                        <a:t>include/ufs/ufs.h</a:t>
                      </a:r>
                    </a:p>
                  </a:txBody>
                  <a:tcPr marL="54864" marR="54864" marT="27432" marB="27432" anchor="ctr">
                    <a:solidFill>
                      <a:srgbClr val="101F34"/>
                    </a:solidFill>
                  </a:tcPr>
                </a:tc>
                <a:tc>
                  <a:txBody>
                    <a:bodyPr/>
                    <a:lstStyle/>
                    <a:p>
                      <a:r>
                        <a:rPr sz="1000" b="0" i="0">
                          <a:solidFill>
                            <a:srgbClr val="E8EEF6"/>
                          </a:solidFill>
                          <a:latin typeface="Calibri"/>
                        </a:rPr>
                        <a:t>P1</a:t>
                      </a:r>
                    </a:p>
                  </a:txBody>
                  <a:tcPr marL="54864" marR="54864" marT="27432" marB="27432" anchor="ctr">
                    <a:solidFill>
                      <a:srgbClr val="101F34"/>
                    </a:solidFill>
                  </a:tcPr>
                </a:tc>
                <a:tc>
                  <a:txBody>
                    <a:bodyPr/>
                    <a:lstStyle/>
                    <a:p>
                      <a:r>
                        <a:rPr sz="1000" b="0" i="0">
                          <a:solidFill>
                            <a:srgbClr val="E8EEF6"/>
                          </a:solidFill>
                          <a:latin typeface="Calibri"/>
                        </a:rPr>
                        <a:t>Added near enum ufs_dev_pwr_mode / UFS_WB_BUF_REMAIN_PERCENT; macro beside QUERY_AGGREGATED_MAX_SIZE</a:t>
                      </a:r>
                    </a:p>
                  </a:txBody>
                  <a:tcPr marL="54864" marR="54864" marT="27432" marB="27432" anchor="ctr">
                    <a:solidFill>
                      <a:srgbClr val="101F34"/>
                    </a:solidFill>
                  </a:tcPr>
                </a:tc>
              </a:tr>
              <a:tr h="384048">
                <a:tc>
                  <a:txBody>
                    <a:bodyPr/>
                    <a:lstStyle/>
                    <a:p>
                      <a:r>
                        <a:rPr sz="1000" b="0" i="0">
                          <a:solidFill>
                            <a:srgbClr val="E8EEF6"/>
                          </a:solidFill>
                          <a:latin typeface="Calibri"/>
                        </a:rPr>
                        <a:t>ufs_query_res::data_segment_length</a:t>
                      </a:r>
                    </a:p>
                  </a:txBody>
                  <a:tcPr marL="54864" marR="54864" marT="27432" marB="27432" anchor="ctr">
                    <a:solidFill>
                      <a:srgbClr val="14243B"/>
                    </a:solidFill>
                  </a:tcPr>
                </a:tc>
                <a:tc>
                  <a:txBody>
                    <a:bodyPr/>
                    <a:lstStyle/>
                    <a:p>
                      <a:r>
                        <a:rPr sz="1000" b="0" i="0">
                          <a:solidFill>
                            <a:srgbClr val="E8EEF6"/>
                          </a:solidFill>
                          <a:latin typeface="Calibri"/>
                        </a:rPr>
                        <a:t>include/ufs/ufshcd.h</a:t>
                      </a:r>
                    </a:p>
                  </a:txBody>
                  <a:tcPr marL="54864" marR="54864" marT="27432" marB="27432" anchor="ctr">
                    <a:solidFill>
                      <a:srgbClr val="14243B"/>
                    </a:solidFill>
                  </a:tcPr>
                </a:tc>
                <a:tc>
                  <a:txBody>
                    <a:bodyPr/>
                    <a:lstStyle/>
                    <a:p>
                      <a:r>
                        <a:rPr sz="1000" b="0" i="0">
                          <a:solidFill>
                            <a:srgbClr val="E8EEF6"/>
                          </a:solidFill>
                          <a:latin typeface="Calibri"/>
                        </a:rPr>
                        <a:t>P1</a:t>
                      </a:r>
                    </a:p>
                  </a:txBody>
                  <a:tcPr marL="54864" marR="54864" marT="27432" marB="27432" anchor="ctr">
                    <a:solidFill>
                      <a:srgbClr val="14243B"/>
                    </a:solidFill>
                  </a:tcPr>
                </a:tc>
                <a:tc>
                  <a:txBody>
                    <a:bodyPr/>
                    <a:lstStyle/>
                    <a:p>
                      <a:r>
                        <a:rPr sz="1000" b="0" i="0">
                          <a:solidFill>
                            <a:srgbClr val="E8EEF6"/>
                          </a:solidFill>
                          <a:latin typeface="Calibri"/>
                        </a:rPr>
                        <a:t>struct ufs_query_res</a:t>
                      </a:r>
                    </a:p>
                  </a:txBody>
                  <a:tcPr marL="54864" marR="54864" marT="27432" marB="27432" anchor="ctr">
                    <a:solidFill>
                      <a:srgbClr val="14243B"/>
                    </a:solidFill>
                  </a:tcPr>
                </a:tc>
              </a:tr>
              <a:tr h="384048">
                <a:tc>
                  <a:txBody>
                    <a:bodyPr/>
                    <a:lstStyle/>
                    <a:p>
                      <a:r>
                        <a:rPr sz="1000" b="0" i="0">
                          <a:solidFill>
                            <a:srgbClr val="E8EEF6"/>
                          </a:solidFill>
                          <a:latin typeface="Calibri"/>
                        </a:rPr>
                        <a:t>ufs_agg_attr_width[], ufshcd_agg_group/string/desc/attr/flag, ufshcd_read_attr/flag</a:t>
                      </a:r>
                    </a:p>
                  </a:txBody>
                  <a:tcPr marL="54864" marR="54864" marT="27432" marB="27432" anchor="ctr">
                    <a:solidFill>
                      <a:srgbClr val="101F34"/>
                    </a:solidFill>
                  </a:tcPr>
                </a:tc>
                <a:tc>
                  <a:txBody>
                    <a:bodyPr/>
                    <a:lstStyle/>
                    <a:p>
                      <a:r>
                        <a:rPr sz="1000" b="0" i="0">
                          <a:solidFill>
                            <a:srgbClr val="E8EEF6"/>
                          </a:solidFill>
                          <a:latin typeface="Calibri"/>
                        </a:rPr>
                        <a:t>drivers/ufs/core/ufshcd.c</a:t>
                      </a:r>
                    </a:p>
                  </a:txBody>
                  <a:tcPr marL="54864" marR="54864" marT="27432" marB="27432" anchor="ctr">
                    <a:solidFill>
                      <a:srgbClr val="101F34"/>
                    </a:solidFill>
                  </a:tcPr>
                </a:tc>
                <a:tc>
                  <a:txBody>
                    <a:bodyPr/>
                    <a:lstStyle/>
                    <a:p>
                      <a:r>
                        <a:rPr sz="1000" b="0" i="0">
                          <a:solidFill>
                            <a:srgbClr val="E8EEF6"/>
                          </a:solidFill>
                          <a:latin typeface="Calibri"/>
                        </a:rPr>
                        <a:t>P2</a:t>
                      </a:r>
                    </a:p>
                  </a:txBody>
                  <a:tcPr marL="54864" marR="54864" marT="27432" marB="27432" anchor="ctr">
                    <a:solidFill>
                      <a:srgbClr val="101F34"/>
                    </a:solidFill>
                  </a:tcPr>
                </a:tc>
                <a:tc>
                  <a:txBody>
                    <a:bodyPr/>
                    <a:lstStyle/>
                    <a:p>
                      <a:r>
                        <a:rPr sz="1000" b="0" i="0">
                          <a:solidFill>
                            <a:srgbClr val="E8EEF6"/>
                          </a:solidFill>
                          <a:latin typeface="Calibri"/>
                        </a:rPr>
                        <a:t>New block after ufshcd_query_descriptor_retry()</a:t>
                      </a:r>
                    </a:p>
                  </a:txBody>
                  <a:tcPr marL="54864" marR="54864" marT="27432" marB="27432" anchor="ctr">
                    <a:solidFill>
                      <a:srgbClr val="101F34"/>
                    </a:solidFill>
                  </a:tcPr>
                </a:tc>
              </a:tr>
              <a:tr h="384048">
                <a:tc>
                  <a:txBody>
                    <a:bodyPr/>
                    <a:lstStyle/>
                    <a:p>
                      <a:r>
                        <a:rPr sz="1000" b="0" i="0">
                          <a:solidFill>
                            <a:srgbClr val="E8EEF6"/>
                          </a:solidFill>
                          <a:latin typeface="Calibri"/>
                        </a:rPr>
                        <a:t>ufshcd_query_aggregated_read(), ufshcd_agg_read_begin(), ufshcd_agg_read_end()</a:t>
                      </a:r>
                    </a:p>
                  </a:txBody>
                  <a:tcPr marL="54864" marR="54864" marT="27432" marB="27432" anchor="ctr">
                    <a:solidFill>
                      <a:srgbClr val="14243B"/>
                    </a:solidFill>
                  </a:tcPr>
                </a:tc>
                <a:tc>
                  <a:txBody>
                    <a:bodyPr/>
                    <a:lstStyle/>
                    <a:p>
                      <a:r>
                        <a:rPr sz="1000" b="0" i="0">
                          <a:solidFill>
                            <a:srgbClr val="E8EEF6"/>
                          </a:solidFill>
                          <a:latin typeface="Calibri"/>
                        </a:rPr>
                        <a:t>drivers/ufs/core/ufshcd.c</a:t>
                      </a:r>
                    </a:p>
                  </a:txBody>
                  <a:tcPr marL="54864" marR="54864" marT="27432" marB="27432" anchor="ctr">
                    <a:solidFill>
                      <a:srgbClr val="14243B"/>
                    </a:solidFill>
                  </a:tcPr>
                </a:tc>
                <a:tc>
                  <a:txBody>
                    <a:bodyPr/>
                    <a:lstStyle/>
                    <a:p>
                      <a:r>
                        <a:rPr sz="1000" b="0" i="0">
                          <a:solidFill>
                            <a:srgbClr val="E8EEF6"/>
                          </a:solidFill>
                          <a:latin typeface="Calibri"/>
                        </a:rPr>
                        <a:t>P2</a:t>
                      </a:r>
                    </a:p>
                  </a:txBody>
                  <a:tcPr marL="54864" marR="54864" marT="27432" marB="27432" anchor="ctr">
                    <a:solidFill>
                      <a:srgbClr val="14243B"/>
                    </a:solidFill>
                  </a:tcPr>
                </a:tc>
                <a:tc>
                  <a:txBody>
                    <a:bodyPr/>
                    <a:lstStyle/>
                    <a:p>
                      <a:r>
                        <a:rPr sz="1000" b="0" i="0">
                          <a:solidFill>
                            <a:srgbClr val="E8EEF6"/>
                          </a:solidFill>
                          <a:latin typeface="Calibri"/>
                        </a:rPr>
                        <a:t>Same new block, before ufshcd_read_desc_param()</a:t>
                      </a:r>
                    </a:p>
                  </a:txBody>
                  <a:tcPr marL="54864" marR="54864" marT="27432" marB="27432" anchor="ctr">
                    <a:solidFill>
                      <a:srgbClr val="14243B"/>
                    </a:solidFill>
                  </a:tcPr>
                </a:tc>
              </a:tr>
              <a:tr h="384048">
                <a:tc>
                  <a:txBody>
                    <a:bodyPr/>
                    <a:lstStyle/>
                    <a:p>
                      <a:r>
                        <a:rPr sz="1000" b="0" i="0">
                          <a:solidFill>
                            <a:srgbClr val="E8EEF6"/>
                          </a:solidFill>
                          <a:latin typeface="Calibri"/>
                        </a:rPr>
                        <a:t>ufshcd_read_desc_param()</a:t>
                      </a:r>
                    </a:p>
                  </a:txBody>
                  <a:tcPr marL="54864" marR="54864" marT="27432" marB="27432" anchor="ctr">
                    <a:solidFill>
                      <a:srgbClr val="101F34"/>
                    </a:solidFill>
                  </a:tcPr>
                </a:tc>
                <a:tc>
                  <a:txBody>
                    <a:bodyPr/>
                    <a:lstStyle/>
                    <a:p>
                      <a:r>
                        <a:rPr sz="1000" b="0" i="0">
                          <a:solidFill>
                            <a:srgbClr val="E8EEF6"/>
                          </a:solidFill>
                          <a:latin typeface="Calibri"/>
                        </a:rPr>
                        <a:t>drivers/ufs/core/ufshcd.c</a:t>
                      </a:r>
                    </a:p>
                  </a:txBody>
                  <a:tcPr marL="54864" marR="54864" marT="27432" marB="27432" anchor="ctr">
                    <a:solidFill>
                      <a:srgbClr val="101F34"/>
                    </a:solidFill>
                  </a:tcPr>
                </a:tc>
                <a:tc>
                  <a:txBody>
                    <a:bodyPr/>
                    <a:lstStyle/>
                    <a:p>
                      <a:r>
                        <a:rPr sz="1000" b="0" i="0">
                          <a:solidFill>
                            <a:srgbClr val="E8EEF6"/>
                          </a:solidFill>
                          <a:latin typeface="Calibri"/>
                        </a:rPr>
                        <a:t>P2</a:t>
                      </a:r>
                    </a:p>
                  </a:txBody>
                  <a:tcPr marL="54864" marR="54864" marT="27432" marB="27432" anchor="ctr">
                    <a:solidFill>
                      <a:srgbClr val="101F34"/>
                    </a:solidFill>
                  </a:tcPr>
                </a:tc>
                <a:tc>
                  <a:txBody>
                    <a:bodyPr/>
                    <a:lstStyle/>
                    <a:p>
                      <a:r>
                        <a:rPr sz="1000" b="0" i="0">
                          <a:solidFill>
                            <a:srgbClr val="E8EEF6"/>
                          </a:solidFill>
                          <a:latin typeface="Calibri"/>
                        </a:rPr>
                        <a:t>Cache lookup replaces unconditional descriptor query</a:t>
                      </a:r>
                    </a:p>
                  </a:txBody>
                  <a:tcPr marL="54864" marR="54864" marT="27432" marB="27432" anchor="ctr">
                    <a:solidFill>
                      <a:srgbClr val="101F34"/>
                    </a:solidFill>
                  </a:tcPr>
                </a:tc>
              </a:tr>
              <a:tr h="384048">
                <a:tc>
                  <a:txBody>
                    <a:bodyPr/>
                    <a:lstStyle/>
                    <a:p>
                      <a:r>
                        <a:rPr sz="1000" b="0" i="0">
                          <a:solidFill>
                            <a:srgbClr val="E8EEF6"/>
                          </a:solidFill>
                          <a:latin typeface="Calibri"/>
                        </a:rPr>
                        <a:t>ufshcd_get_ref_clk_gating_wait()</a:t>
                      </a:r>
                    </a:p>
                  </a:txBody>
                  <a:tcPr marL="54864" marR="54864" marT="27432" marB="27432" anchor="ctr">
                    <a:solidFill>
                      <a:srgbClr val="14243B"/>
                    </a:solidFill>
                  </a:tcPr>
                </a:tc>
                <a:tc>
                  <a:txBody>
                    <a:bodyPr/>
                    <a:lstStyle/>
                    <a:p>
                      <a:r>
                        <a:rPr sz="1000" b="0" i="0">
                          <a:solidFill>
                            <a:srgbClr val="E8EEF6"/>
                          </a:solidFill>
                          <a:latin typeface="Calibri"/>
                        </a:rPr>
                        <a:t>drivers/ufs/core/ufshcd.c</a:t>
                      </a:r>
                    </a:p>
                  </a:txBody>
                  <a:tcPr marL="54864" marR="54864" marT="27432" marB="27432" anchor="ctr">
                    <a:solidFill>
                      <a:srgbClr val="14243B"/>
                    </a:solidFill>
                  </a:tcPr>
                </a:tc>
                <a:tc>
                  <a:txBody>
                    <a:bodyPr/>
                    <a:lstStyle/>
                    <a:p>
                      <a:r>
                        <a:rPr sz="1000" b="0" i="0">
                          <a:solidFill>
                            <a:srgbClr val="E8EEF6"/>
                          </a:solidFill>
                          <a:latin typeface="Calibri"/>
                        </a:rPr>
                        <a:t>P2</a:t>
                      </a:r>
                    </a:p>
                  </a:txBody>
                  <a:tcPr marL="54864" marR="54864" marT="27432" marB="27432" anchor="ctr">
                    <a:solidFill>
                      <a:srgbClr val="14243B"/>
                    </a:solidFill>
                  </a:tcPr>
                </a:tc>
                <a:tc>
                  <a:txBody>
                    <a:bodyPr/>
                    <a:lstStyle/>
                    <a:p>
                      <a:r>
                        <a:rPr sz="1000" b="0" i="0">
                          <a:solidFill>
                            <a:srgbClr val="E8EEF6"/>
                          </a:solidFill>
                          <a:latin typeface="Calibri"/>
                        </a:rPr>
                        <a:t>ufshcd_query_attr_retry → ufshcd_read_attr</a:t>
                      </a:r>
                    </a:p>
                  </a:txBody>
                  <a:tcPr marL="54864" marR="54864" marT="27432" marB="27432" anchor="ctr">
                    <a:solidFill>
                      <a:srgbClr val="14243B"/>
                    </a:solidFill>
                  </a:tcPr>
                </a:tc>
              </a:tr>
              <a:tr h="384048">
                <a:tc>
                  <a:txBody>
                    <a:bodyPr/>
                    <a:lstStyle/>
                    <a:p>
                      <a:r>
                        <a:rPr sz="1000" b="0" i="0">
                          <a:solidFill>
                            <a:srgbClr val="E8EEF6"/>
                          </a:solidFill>
                          <a:latin typeface="Calibri"/>
                        </a:rPr>
                        <a:t>ufshcd_is_wb_buf_lifetime_available()</a:t>
                      </a:r>
                    </a:p>
                  </a:txBody>
                  <a:tcPr marL="54864" marR="54864" marT="27432" marB="27432" anchor="ctr">
                    <a:solidFill>
                      <a:srgbClr val="101F34"/>
                    </a:solidFill>
                  </a:tcPr>
                </a:tc>
                <a:tc>
                  <a:txBody>
                    <a:bodyPr/>
                    <a:lstStyle/>
                    <a:p>
                      <a:r>
                        <a:rPr sz="1000" b="0" i="0">
                          <a:solidFill>
                            <a:srgbClr val="E8EEF6"/>
                          </a:solidFill>
                          <a:latin typeface="Calibri"/>
                        </a:rPr>
                        <a:t>drivers/ufs/core/ufshcd.c</a:t>
                      </a:r>
                    </a:p>
                  </a:txBody>
                  <a:tcPr marL="54864" marR="54864" marT="27432" marB="27432" anchor="ctr">
                    <a:solidFill>
                      <a:srgbClr val="101F34"/>
                    </a:solidFill>
                  </a:tcPr>
                </a:tc>
                <a:tc>
                  <a:txBody>
                    <a:bodyPr/>
                    <a:lstStyle/>
                    <a:p>
                      <a:r>
                        <a:rPr sz="1000" b="0" i="0">
                          <a:solidFill>
                            <a:srgbClr val="E8EEF6"/>
                          </a:solidFill>
                          <a:latin typeface="Calibri"/>
                        </a:rPr>
                        <a:t>P2</a:t>
                      </a:r>
                    </a:p>
                  </a:txBody>
                  <a:tcPr marL="54864" marR="54864" marT="27432" marB="27432" anchor="ctr">
                    <a:solidFill>
                      <a:srgbClr val="101F34"/>
                    </a:solidFill>
                  </a:tcPr>
                </a:tc>
                <a:tc>
                  <a:txBody>
                    <a:bodyPr/>
                    <a:lstStyle/>
                    <a:p>
                      <a:r>
                        <a:rPr sz="1000" b="0" i="0">
                          <a:solidFill>
                            <a:srgbClr val="E8EEF6"/>
                          </a:solidFill>
                          <a:latin typeface="Calibri"/>
                        </a:rPr>
                        <a:t>ufshcd_query_attr_retry → ufshcd_read_attr (index from ufshcd_wb_get_query_index)</a:t>
                      </a:r>
                    </a:p>
                  </a:txBody>
                  <a:tcPr marL="54864" marR="54864" marT="27432" marB="27432" anchor="ctr">
                    <a:solidFill>
                      <a:srgbClr val="101F34"/>
                    </a:solidFill>
                  </a:tcPr>
                </a:tc>
              </a:tr>
              <a:tr h="384048">
                <a:tc>
                  <a:txBody>
                    <a:bodyPr/>
                    <a:lstStyle/>
                    <a:p>
                      <a:r>
                        <a:rPr sz="1000" b="0" i="0">
                          <a:solidFill>
                            <a:srgbClr val="E8EEF6"/>
                          </a:solidFill>
                          <a:latin typeface="Calibri"/>
                        </a:rPr>
                        <a:t>ufshcd_set_rtt()</a:t>
                      </a:r>
                    </a:p>
                  </a:txBody>
                  <a:tcPr marL="54864" marR="54864" marT="27432" marB="27432" anchor="ctr">
                    <a:solidFill>
                      <a:srgbClr val="14243B"/>
                    </a:solidFill>
                  </a:tcPr>
                </a:tc>
                <a:tc>
                  <a:txBody>
                    <a:bodyPr/>
                    <a:lstStyle/>
                    <a:p>
                      <a:r>
                        <a:rPr sz="1000" b="0" i="0">
                          <a:solidFill>
                            <a:srgbClr val="E8EEF6"/>
                          </a:solidFill>
                          <a:latin typeface="Calibri"/>
                        </a:rPr>
                        <a:t>drivers/ufs/core/ufshcd.c</a:t>
                      </a:r>
                    </a:p>
                  </a:txBody>
                  <a:tcPr marL="54864" marR="54864" marT="27432" marB="27432" anchor="ctr">
                    <a:solidFill>
                      <a:srgbClr val="14243B"/>
                    </a:solidFill>
                  </a:tcPr>
                </a:tc>
                <a:tc>
                  <a:txBody>
                    <a:bodyPr/>
                    <a:lstStyle/>
                    <a:p>
                      <a:r>
                        <a:rPr sz="1000" b="0" i="0">
                          <a:solidFill>
                            <a:srgbClr val="E8EEF6"/>
                          </a:solidFill>
                          <a:latin typeface="Calibri"/>
                        </a:rPr>
                        <a:t>P2</a:t>
                      </a:r>
                    </a:p>
                  </a:txBody>
                  <a:tcPr marL="54864" marR="54864" marT="27432" marB="27432" anchor="ctr">
                    <a:solidFill>
                      <a:srgbClr val="14243B"/>
                    </a:solidFill>
                  </a:tcPr>
                </a:tc>
                <a:tc>
                  <a:txBody>
                    <a:bodyPr/>
                    <a:lstStyle/>
                    <a:p>
                      <a:r>
                        <a:rPr sz="1000" b="0" i="0">
                          <a:solidFill>
                            <a:srgbClr val="E8EEF6"/>
                          </a:solidFill>
                          <a:latin typeface="Calibri"/>
                        </a:rPr>
                        <a:t>ufshcd_query_attr_retry → ufshcd_read_attr</a:t>
                      </a:r>
                    </a:p>
                  </a:txBody>
                  <a:tcPr marL="54864" marR="54864" marT="27432" marB="27432" anchor="ctr">
                    <a:solidFill>
                      <a:srgbClr val="14243B"/>
                    </a:solidFill>
                  </a:tcPr>
                </a:tc>
              </a:tr>
              <a:tr h="384048">
                <a:tc>
                  <a:txBody>
                    <a:bodyPr/>
                    <a:lstStyle/>
                    <a:p>
                      <a:r>
                        <a:rPr sz="1000" b="0" i="0">
                          <a:solidFill>
                            <a:srgbClr val="E8EEF6"/>
                          </a:solidFill>
                          <a:latin typeface="Calibri"/>
                        </a:rPr>
                        <a:t>ufs_get_device_desc()</a:t>
                      </a:r>
                    </a:p>
                  </a:txBody>
                  <a:tcPr marL="54864" marR="54864" marT="27432" marB="27432" anchor="ctr">
                    <a:solidFill>
                      <a:srgbClr val="101F34"/>
                    </a:solidFill>
                  </a:tcPr>
                </a:tc>
                <a:tc>
                  <a:txBody>
                    <a:bodyPr/>
                    <a:lstStyle/>
                    <a:p>
                      <a:r>
                        <a:rPr sz="1000" b="0" i="0">
                          <a:solidFill>
                            <a:srgbClr val="E8EEF6"/>
                          </a:solidFill>
                          <a:latin typeface="Calibri"/>
                        </a:rPr>
                        <a:t>drivers/ufs/core/ufshcd.c</a:t>
                      </a:r>
                    </a:p>
                  </a:txBody>
                  <a:tcPr marL="54864" marR="54864" marT="27432" marB="27432" anchor="ctr">
                    <a:solidFill>
                      <a:srgbClr val="101F34"/>
                    </a:solidFill>
                  </a:tcPr>
                </a:tc>
                <a:tc>
                  <a:txBody>
                    <a:bodyPr/>
                    <a:lstStyle/>
                    <a:p>
                      <a:r>
                        <a:rPr sz="1000" b="0" i="0">
                          <a:solidFill>
                            <a:srgbClr val="E8EEF6"/>
                          </a:solidFill>
                          <a:latin typeface="Calibri"/>
                        </a:rPr>
                        <a:t>P2</a:t>
                      </a:r>
                    </a:p>
                  </a:txBody>
                  <a:tcPr marL="54864" marR="54864" marT="27432" marB="27432" anchor="ctr">
                    <a:solidFill>
                      <a:srgbClr val="101F34"/>
                    </a:solidFill>
                  </a:tcPr>
                </a:tc>
                <a:tc>
                  <a:txBody>
                    <a:bodyPr/>
                    <a:lstStyle/>
                    <a:p>
                      <a:r>
                        <a:rPr sz="1000" b="0" i="0">
                          <a:solidFill>
                            <a:srgbClr val="E8EEF6"/>
                          </a:solidFill>
                          <a:latin typeface="Calibri"/>
                        </a:rPr>
                        <a:t>Fills agg_str_idx[]; calls ufshcd_agg_read_begin()</a:t>
                      </a:r>
                    </a:p>
                  </a:txBody>
                  <a:tcPr marL="54864" marR="54864" marT="27432" marB="27432" anchor="ctr">
                    <a:solidFill>
                      <a:srgbClr val="101F34"/>
                    </a:solidFill>
                  </a:tcPr>
                </a:tc>
              </a:tr>
              <a:tr h="384048">
                <a:tc>
                  <a:txBody>
                    <a:bodyPr/>
                    <a:lstStyle/>
                    <a:p>
                      <a:r>
                        <a:rPr sz="1000" b="0" i="0">
                          <a:solidFill>
                            <a:srgbClr val="E8EEF6"/>
                          </a:solidFill>
                          <a:latin typeface="Calibri"/>
                        </a:rPr>
                        <a:t>ufshcd_device_params_init()</a:t>
                      </a:r>
                    </a:p>
                  </a:txBody>
                  <a:tcPr marL="54864" marR="54864" marT="27432" marB="27432" anchor="ctr">
                    <a:solidFill>
                      <a:srgbClr val="14243B"/>
                    </a:solidFill>
                  </a:tcPr>
                </a:tc>
                <a:tc>
                  <a:txBody>
                    <a:bodyPr/>
                    <a:lstStyle/>
                    <a:p>
                      <a:r>
                        <a:rPr sz="1000" b="0" i="0">
                          <a:solidFill>
                            <a:srgbClr val="E8EEF6"/>
                          </a:solidFill>
                          <a:latin typeface="Calibri"/>
                        </a:rPr>
                        <a:t>drivers/ufs/core/ufshcd.c</a:t>
                      </a:r>
                    </a:p>
                  </a:txBody>
                  <a:tcPr marL="54864" marR="54864" marT="27432" marB="27432" anchor="ctr">
                    <a:solidFill>
                      <a:srgbClr val="14243B"/>
                    </a:solidFill>
                  </a:tcPr>
                </a:tc>
                <a:tc>
                  <a:txBody>
                    <a:bodyPr/>
                    <a:lstStyle/>
                    <a:p>
                      <a:r>
                        <a:rPr sz="1000" b="0" i="0">
                          <a:solidFill>
                            <a:srgbClr val="E8EEF6"/>
                          </a:solidFill>
                          <a:latin typeface="Calibri"/>
                        </a:rPr>
                        <a:t>P2</a:t>
                      </a:r>
                    </a:p>
                  </a:txBody>
                  <a:tcPr marL="54864" marR="54864" marT="27432" marB="27432" anchor="ctr">
                    <a:solidFill>
                      <a:srgbClr val="14243B"/>
                    </a:solidFill>
                  </a:tcPr>
                </a:tc>
                <a:tc>
                  <a:txBody>
                    <a:bodyPr/>
                    <a:lstStyle/>
                    <a:p>
                      <a:r>
                        <a:rPr sz="1000" b="0" i="0">
                          <a:solidFill>
                            <a:srgbClr val="E8EEF6"/>
                          </a:solidFill>
                          <a:latin typeface="Calibri"/>
                        </a:rPr>
                        <a:t>Flag read via ufshcd_read_flag(); ufshcd_agg_read_end() at out:</a:t>
                      </a:r>
                    </a:p>
                  </a:txBody>
                  <a:tcPr marL="54864" marR="54864" marT="27432" marB="27432" anchor="ctr">
                    <a:solidFill>
                      <a:srgbClr val="14243B"/>
                    </a:solidFill>
                  </a:tcPr>
                </a:tc>
              </a:tr>
              <a:tr h="384048">
                <a:tc>
                  <a:txBody>
                    <a:bodyPr/>
                    <a:lstStyle/>
                    <a:p>
                      <a:r>
                        <a:rPr sz="1000" b="0" i="0">
                          <a:solidFill>
                            <a:srgbClr val="E8EEF6"/>
                          </a:solidFill>
                          <a:latin typeface="Calibri"/>
                        </a:rPr>
                        <a:t>ufs_dev_info::agg_read_unsupported</a:t>
                      </a:r>
                    </a:p>
                  </a:txBody>
                  <a:tcPr marL="54864" marR="54864" marT="27432" marB="27432" anchor="ctr">
                    <a:solidFill>
                      <a:srgbClr val="101F34"/>
                    </a:solidFill>
                  </a:tcPr>
                </a:tc>
                <a:tc>
                  <a:txBody>
                    <a:bodyPr/>
                    <a:lstStyle/>
                    <a:p>
                      <a:r>
                        <a:rPr sz="1000" b="0" i="0">
                          <a:solidFill>
                            <a:srgbClr val="E8EEF6"/>
                          </a:solidFill>
                          <a:latin typeface="Calibri"/>
                        </a:rPr>
                        <a:t>include/ufs/ufs.h</a:t>
                      </a:r>
                    </a:p>
                  </a:txBody>
                  <a:tcPr marL="54864" marR="54864" marT="27432" marB="27432" anchor="ctr">
                    <a:solidFill>
                      <a:srgbClr val="101F34"/>
                    </a:solidFill>
                  </a:tcPr>
                </a:tc>
                <a:tc>
                  <a:txBody>
                    <a:bodyPr/>
                    <a:lstStyle/>
                    <a:p>
                      <a:r>
                        <a:rPr sz="1000" b="0" i="0">
                          <a:solidFill>
                            <a:srgbClr val="E8EEF6"/>
                          </a:solidFill>
                          <a:latin typeface="Calibri"/>
                        </a:rPr>
                        <a:t>P2</a:t>
                      </a:r>
                    </a:p>
                  </a:txBody>
                  <a:tcPr marL="54864" marR="54864" marT="27432" marB="27432" anchor="ctr">
                    <a:solidFill>
                      <a:srgbClr val="101F34"/>
                    </a:solidFill>
                  </a:tcPr>
                </a:tc>
                <a:tc>
                  <a:txBody>
                    <a:bodyPr/>
                    <a:lstStyle/>
                    <a:p>
                      <a:r>
                        <a:rPr sz="1000" b="0" i="0">
                          <a:solidFill>
                            <a:srgbClr val="E8EEF6"/>
                          </a:solidFill>
                          <a:latin typeface="Calibri"/>
                        </a:rPr>
                        <a:t>struct ufs_dev_info, after hid_sup</a:t>
                      </a:r>
                    </a:p>
                  </a:txBody>
                  <a:tcPr marL="54864" marR="54864" marT="27432" marB="27432" anchor="ctr">
                    <a:solidFill>
                      <a:srgbClr val="101F34"/>
                    </a:solidFill>
                  </a:tcPr>
                </a:tc>
              </a:tr>
              <a:tr h="384048">
                <a:tc>
                  <a:txBody>
                    <a:bodyPr/>
                    <a:lstStyle/>
                    <a:p>
                      <a:r>
                        <a:rPr sz="1000" b="0" i="0">
                          <a:solidFill>
                            <a:srgbClr val="E8EEF6"/>
                          </a:solidFill>
                          <a:latin typeface="Calibri"/>
                        </a:rPr>
                        <a:t>ufs_hba::agg_packet, agg_packet_len, agg_str_idx</a:t>
                      </a:r>
                    </a:p>
                  </a:txBody>
                  <a:tcPr marL="54864" marR="54864" marT="27432" marB="27432" anchor="ctr">
                    <a:solidFill>
                      <a:srgbClr val="14243B"/>
                    </a:solidFill>
                  </a:tcPr>
                </a:tc>
                <a:tc>
                  <a:txBody>
                    <a:bodyPr/>
                    <a:lstStyle/>
                    <a:p>
                      <a:r>
                        <a:rPr sz="1000" b="0" i="0">
                          <a:solidFill>
                            <a:srgbClr val="E8EEF6"/>
                          </a:solidFill>
                          <a:latin typeface="Calibri"/>
                        </a:rPr>
                        <a:t>include/ufs/ufshcd.h</a:t>
                      </a:r>
                    </a:p>
                  </a:txBody>
                  <a:tcPr marL="54864" marR="54864" marT="27432" marB="27432" anchor="ctr">
                    <a:solidFill>
                      <a:srgbClr val="14243B"/>
                    </a:solidFill>
                  </a:tcPr>
                </a:tc>
                <a:tc>
                  <a:txBody>
                    <a:bodyPr/>
                    <a:lstStyle/>
                    <a:p>
                      <a:r>
                        <a:rPr sz="1000" b="0" i="0">
                          <a:solidFill>
                            <a:srgbClr val="E8EEF6"/>
                          </a:solidFill>
                          <a:latin typeface="Calibri"/>
                        </a:rPr>
                        <a:t>P2</a:t>
                      </a:r>
                    </a:p>
                  </a:txBody>
                  <a:tcPr marL="54864" marR="54864" marT="27432" marB="27432" anchor="ctr">
                    <a:solidFill>
                      <a:srgbClr val="14243B"/>
                    </a:solidFill>
                  </a:tcPr>
                </a:tc>
                <a:tc>
                  <a:txBody>
                    <a:bodyPr/>
                    <a:lstStyle/>
                    <a:p>
                      <a:r>
                        <a:rPr sz="1000" b="0" i="0">
                          <a:solidFill>
                            <a:srgbClr val="E8EEF6"/>
                          </a:solidFill>
                          <a:latin typeface="Calibri"/>
                        </a:rPr>
                        <a:t>End of struct ufs_hba, after tx_eq_params</a:t>
                      </a:r>
                    </a:p>
                  </a:txBody>
                  <a:tcPr marL="54864" marR="54864" marT="27432" marB="27432" anchor="ctr">
                    <a:solidFill>
                      <a:srgbClr val="14243B"/>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626"/>
        </a:solidFill>
        <a:effectLst/>
      </p:bgPr>
    </p:bg>
    <p:spTree>
      <p:nvGrpSpPr>
        <p:cNvPr id="1" name=""/>
        <p:cNvGrpSpPr/>
        <p:nvPr/>
      </p:nvGrpSpPr>
      <p:grpSpPr/>
      <p:sp>
        <p:nvSpPr>
          <p:cNvPr id="2" name="Title"/>
          <p:cNvSpPr txBox="1"/>
          <p:nvPr/>
        </p:nvSpPr>
        <p:spPr>
          <a:xfrm>
            <a:off x="457200" y="274320"/>
            <a:ext cx="11247120" cy="548640"/>
          </a:xfrm>
          <a:prstGeom prst="rect">
            <a:avLst/>
          </a:prstGeom>
          <a:noFill/>
        </p:spPr>
        <p:txBody>
          <a:bodyPr wrap="square" anchor="ctr" lIns="36576" rIns="36576" tIns="18288" bIns="18288">
            <a:spAutoFit/>
          </a:bodyPr>
          <a:lstStyle/>
          <a:p>
            <a:r>
              <a:rPr sz="2400" b="1" i="0">
                <a:solidFill>
                  <a:srgbClr val="E8EEF6"/>
                </a:solidFill>
                <a:latin typeface="Calibri"/>
              </a:rPr>
              <a:t>Appendix A1: API Table (1/2) — New Helpers</a:t>
            </a:r>
          </a:p>
        </p:txBody>
      </p:sp>
      <p:sp>
        <p:nvSpPr>
          <p:cNvPr id="3" name="Source"/>
          <p:cNvSpPr txBox="1"/>
          <p:nvPr/>
        </p:nvSpPr>
        <p:spPr>
          <a:xfrm>
            <a:off x="457200" y="6473952"/>
            <a:ext cx="10424160" cy="256032"/>
          </a:xfrm>
          <a:prstGeom prst="rect">
            <a:avLst/>
          </a:prstGeom>
          <a:noFill/>
        </p:spPr>
        <p:txBody>
          <a:bodyPr wrap="square" anchor="t" lIns="36576" rIns="36576" tIns="18288" bIns="18288">
            <a:spAutoFit/>
          </a:bodyPr>
          <a:lstStyle/>
          <a:p>
            <a:r>
              <a:rPr sz="1000" b="0" i="0">
                <a:solidFill>
                  <a:srgbClr val="A9B8CC"/>
                </a:solidFill>
                <a:latin typeface="Calibri"/>
              </a:rPr>
              <a:t>Source: drivers/ufs/core/ufshcd.c (P2) — new static helpers inserted after ufshcd_query_descriptor_retry()</a:t>
            </a:r>
          </a:p>
        </p:txBody>
      </p:sp>
      <p:sp>
        <p:nvSpPr>
          <p:cNvPr id="4" name="Slide Number"/>
          <p:cNvSpPr txBox="1"/>
          <p:nvPr/>
        </p:nvSpPr>
        <p:spPr>
          <a:xfrm>
            <a:off x="11064240" y="6473952"/>
            <a:ext cx="685800" cy="256032"/>
          </a:xfrm>
          <a:prstGeom prst="rect">
            <a:avLst/>
          </a:prstGeom>
          <a:noFill/>
        </p:spPr>
        <p:txBody>
          <a:bodyPr wrap="none">
            <a:spAutoFit/>
          </a:bodyPr>
          <a:lstStyle/>
          <a:p>
            <a:pPr algn="r"/>
            <a:fld id="{B6F15528-21DE-4FAA-801E-634DDDAF4B2B}" type="slidenum">
              <a:rPr lang="en-US" sz="1100">
                <a:solidFill>
                  <a:srgbClr val="A9B8CC"/>
                </a:solidFill>
                <a:latin typeface="Calibri"/>
              </a:rPr>
              <a:t>19</a:t>
            </a:fld>
          </a:p>
        </p:txBody>
      </p:sp>
      <p:graphicFrame>
        <p:nvGraphicFramePr>
          <p:cNvPr id="5" name="Table 4"/>
          <p:cNvGraphicFramePr>
            <a:graphicFrameLocks noGrp="1"/>
          </p:cNvGraphicFramePr>
          <p:nvPr/>
        </p:nvGraphicFramePr>
        <p:xfrm>
          <a:off x="457200" y="1051560"/>
          <a:ext cx="11247120" cy="4800600"/>
        </p:xfrm>
        <a:graphic>
          <a:graphicData uri="http://schemas.openxmlformats.org/drawingml/2006/table">
            <a:tbl>
              <a:tblPr firstRow="1" bandRow="1">
                <a:tableStyleId>{5940675A-B579-460E-94D1-54222C63F5DA}</a:tableStyleId>
              </a:tblPr>
              <a:tblGrid>
                <a:gridCol w="1920240"/>
                <a:gridCol w="2240280"/>
                <a:gridCol w="1600200"/>
                <a:gridCol w="1234440"/>
                <a:gridCol w="2926080"/>
                <a:gridCol w="1325880"/>
              </a:tblGrid>
              <a:tr h="274320">
                <a:tc>
                  <a:txBody>
                    <a:bodyPr/>
                    <a:lstStyle/>
                    <a:p>
                      <a:r>
                        <a:rPr sz="1000" b="1" i="0">
                          <a:solidFill>
                            <a:srgbClr val="E8EEF6"/>
                          </a:solidFill>
                          <a:latin typeface="Calibri"/>
                        </a:rPr>
                        <a:t>API</a:t>
                      </a:r>
                    </a:p>
                  </a:txBody>
                  <a:tcPr marL="54864" marR="54864" marT="27432" marB="27432" anchor="ctr">
                    <a:solidFill>
                      <a:srgbClr val="22406A"/>
                    </a:solidFill>
                  </a:tcPr>
                </a:tc>
                <a:tc>
                  <a:txBody>
                    <a:bodyPr/>
                    <a:lstStyle/>
                    <a:p>
                      <a:r>
                        <a:rPr sz="1000" b="1" i="0">
                          <a:solidFill>
                            <a:srgbClr val="E8EEF6"/>
                          </a:solidFill>
                          <a:latin typeface="Calibri"/>
                        </a:rPr>
                        <a:t>Responsibility</a:t>
                      </a:r>
                    </a:p>
                  </a:txBody>
                  <a:tcPr marL="54864" marR="54864" marT="27432" marB="27432" anchor="ctr">
                    <a:solidFill>
                      <a:srgbClr val="22406A"/>
                    </a:solidFill>
                  </a:tcPr>
                </a:tc>
                <a:tc>
                  <a:txBody>
                    <a:bodyPr/>
                    <a:lstStyle/>
                    <a:p>
                      <a:r>
                        <a:rPr sz="1000" b="1" i="0">
                          <a:solidFill>
                            <a:srgbClr val="E8EEF6"/>
                          </a:solidFill>
                          <a:latin typeface="Calibri"/>
                        </a:rPr>
                        <a:t>Input</a:t>
                      </a:r>
                    </a:p>
                  </a:txBody>
                  <a:tcPr marL="54864" marR="54864" marT="27432" marB="27432" anchor="ctr">
                    <a:solidFill>
                      <a:srgbClr val="22406A"/>
                    </a:solidFill>
                  </a:tcPr>
                </a:tc>
                <a:tc>
                  <a:txBody>
                    <a:bodyPr/>
                    <a:lstStyle/>
                    <a:p>
                      <a:r>
                        <a:rPr sz="1000" b="1" i="0">
                          <a:solidFill>
                            <a:srgbClr val="E8EEF6"/>
                          </a:solidFill>
                          <a:latin typeface="Calibri"/>
                        </a:rPr>
                        <a:t>Output / return</a:t>
                      </a:r>
                    </a:p>
                  </a:txBody>
                  <a:tcPr marL="54864" marR="54864" marT="27432" marB="27432" anchor="ctr">
                    <a:solidFill>
                      <a:srgbClr val="22406A"/>
                    </a:solidFill>
                  </a:tcPr>
                </a:tc>
                <a:tc>
                  <a:txBody>
                    <a:bodyPr/>
                    <a:lstStyle/>
                    <a:p>
                      <a:r>
                        <a:rPr sz="1000" b="1" i="0">
                          <a:solidFill>
                            <a:srgbClr val="E8EEF6"/>
                          </a:solidFill>
                          <a:latin typeface="Calibri"/>
                        </a:rPr>
                        <a:t>Verified call relationship</a:t>
                      </a:r>
                    </a:p>
                  </a:txBody>
                  <a:tcPr marL="54864" marR="54864" marT="27432" marB="27432" anchor="ctr">
                    <a:solidFill>
                      <a:srgbClr val="22406A"/>
                    </a:solidFill>
                  </a:tcPr>
                </a:tc>
                <a:tc>
                  <a:txBody>
                    <a:bodyPr/>
                    <a:lstStyle/>
                    <a:p>
                      <a:r>
                        <a:rPr sz="1000" b="1" i="0">
                          <a:solidFill>
                            <a:srgbClr val="E8EEF6"/>
                          </a:solidFill>
                          <a:latin typeface="Calibri"/>
                        </a:rPr>
                        <a:t>Role in patch</a:t>
                      </a:r>
                    </a:p>
                  </a:txBody>
                  <a:tcPr marL="54864" marR="54864" marT="27432" marB="27432" anchor="ctr">
                    <a:solidFill>
                      <a:srgbClr val="22406A"/>
                    </a:solidFill>
                  </a:tcPr>
                </a:tc>
              </a:tr>
              <a:tr h="502920">
                <a:tc>
                  <a:txBody>
                    <a:bodyPr/>
                    <a:lstStyle/>
                    <a:p>
                      <a:r>
                        <a:rPr sz="1000" b="0" i="0">
                          <a:solidFill>
                            <a:srgbClr val="E8EEF6"/>
                          </a:solidFill>
                          <a:latin typeface="Calibri"/>
                        </a:rPr>
                        <a:t>ufs_agg_attr_width[]</a:t>
                      </a:r>
                    </a:p>
                  </a:txBody>
                  <a:tcPr marL="54864" marR="54864" marT="27432" marB="27432" anchor="ctr">
                    <a:solidFill>
                      <a:srgbClr val="14243B"/>
                    </a:solidFill>
                  </a:tcPr>
                </a:tc>
                <a:tc>
                  <a:txBody>
                    <a:bodyPr/>
                    <a:lstStyle/>
                    <a:p>
                      <a:r>
                        <a:rPr sz="1000" b="0" i="0">
                          <a:solidFill>
                            <a:srgbClr val="E8EEF6"/>
                          </a:solidFill>
                          <a:latin typeface="Calibri"/>
                        </a:rPr>
                        <a:t>Attribute width in bytes by IDN</a:t>
                      </a:r>
                    </a:p>
                  </a:txBody>
                  <a:tcPr marL="54864" marR="54864" marT="27432" marB="27432" anchor="ctr">
                    <a:solidFill>
                      <a:srgbClr val="14243B"/>
                    </a:solidFill>
                  </a:tcPr>
                </a:tc>
                <a:tc>
                  <a:txBody>
                    <a:bodyPr/>
                    <a:lstStyle/>
                    <a:p>
                      <a:r>
                        <a:rPr sz="1000" b="0" i="0">
                          <a:solidFill>
                            <a:srgbClr val="E8EEF6"/>
                          </a:solidFill>
                          <a:latin typeface="Calibri"/>
                        </a:rPr>
                        <a:t>Index = attribute IDN</a:t>
                      </a:r>
                    </a:p>
                  </a:txBody>
                  <a:tcPr marL="54864" marR="54864" marT="27432" marB="27432" anchor="ctr">
                    <a:solidFill>
                      <a:srgbClr val="14243B"/>
                    </a:solidFill>
                  </a:tcPr>
                </a:tc>
                <a:tc>
                  <a:txBody>
                    <a:bodyPr/>
                    <a:lstStyle/>
                    <a:p>
                      <a:r>
                        <a:rPr sz="1000" b="0" i="0">
                          <a:solidFill>
                            <a:srgbClr val="E8EEF6"/>
                          </a:solidFill>
                          <a:latin typeface="Calibri"/>
                        </a:rPr>
                        <a:t>Width; 0 = absent</a:t>
                      </a:r>
                    </a:p>
                  </a:txBody>
                  <a:tcPr marL="54864" marR="54864" marT="27432" marB="27432" anchor="ctr">
                    <a:solidFill>
                      <a:srgbClr val="14243B"/>
                    </a:solidFill>
                  </a:tcPr>
                </a:tc>
                <a:tc>
                  <a:txBody>
                    <a:bodyPr/>
                    <a:lstStyle/>
                    <a:p>
                      <a:r>
                        <a:rPr sz="1000" b="0" i="0">
                          <a:solidFill>
                            <a:srgbClr val="E8EEF6"/>
                          </a:solidFill>
                          <a:latin typeface="Calibri"/>
                        </a:rPr>
                        <a:t>Data; read by ufshcd_agg_attr()</a:t>
                      </a:r>
                    </a:p>
                  </a:txBody>
                  <a:tcPr marL="54864" marR="54864" marT="27432" marB="27432" anchor="ctr">
                    <a:solidFill>
                      <a:srgbClr val="14243B"/>
                    </a:solidFill>
                  </a:tcPr>
                </a:tc>
                <a:tc>
                  <a:txBody>
                    <a:bodyPr/>
                    <a:lstStyle/>
                    <a:p>
                      <a:r>
                        <a:rPr sz="1000" b="0" i="0">
                          <a:solidFill>
                            <a:srgbClr val="E8EEF6"/>
                          </a:solidFill>
                          <a:latin typeface="Calibri"/>
                        </a:rPr>
                        <a:t>New (P2)</a:t>
                      </a:r>
                    </a:p>
                  </a:txBody>
                  <a:tcPr marL="54864" marR="54864" marT="27432" marB="27432" anchor="ctr">
                    <a:solidFill>
                      <a:srgbClr val="14243B"/>
                    </a:solidFill>
                  </a:tcPr>
                </a:tc>
              </a:tr>
              <a:tr h="502920">
                <a:tc>
                  <a:txBody>
                    <a:bodyPr/>
                    <a:lstStyle/>
                    <a:p>
                      <a:r>
                        <a:rPr sz="1000" b="0" i="0">
                          <a:solidFill>
                            <a:srgbClr val="E8EEF6"/>
                          </a:solidFill>
                          <a:latin typeface="Calibri"/>
                        </a:rPr>
                        <a:t>ufshcd_agg_group()</a:t>
                      </a:r>
                    </a:p>
                  </a:txBody>
                  <a:tcPr marL="54864" marR="54864" marT="27432" marB="27432" anchor="ctr">
                    <a:solidFill>
                      <a:srgbClr val="101F34"/>
                    </a:solidFill>
                  </a:tcPr>
                </a:tc>
                <a:tc>
                  <a:txBody>
                    <a:bodyPr/>
                    <a:lstStyle/>
                    <a:p>
                      <a:r>
                        <a:rPr sz="1000" b="0" i="0">
                          <a:solidFill>
                            <a:srgbClr val="E8EEF6"/>
                          </a:solidFill>
                          <a:latin typeface="Calibri"/>
                        </a:rPr>
                        <a:t>Walk group chain, find group by type</a:t>
                      </a:r>
                    </a:p>
                  </a:txBody>
                  <a:tcPr marL="54864" marR="54864" marT="27432" marB="27432" anchor="ctr">
                    <a:solidFill>
                      <a:srgbClr val="101F34"/>
                    </a:solidFill>
                  </a:tcPr>
                </a:tc>
                <a:tc>
                  <a:txBody>
                    <a:bodyPr/>
                    <a:lstStyle/>
                    <a:p>
                      <a:r>
                        <a:rPr sz="1000" b="0" i="0">
                          <a:solidFill>
                            <a:srgbClr val="E8EEF6"/>
                          </a:solidFill>
                          <a:latin typeface="Calibri"/>
                        </a:rPr>
                        <a:t>hba, type, *group_len</a:t>
                      </a:r>
                    </a:p>
                  </a:txBody>
                  <a:tcPr marL="54864" marR="54864" marT="27432" marB="27432" anchor="ctr">
                    <a:solidFill>
                      <a:srgbClr val="101F34"/>
                    </a:solidFill>
                  </a:tcPr>
                </a:tc>
                <a:tc>
                  <a:txBody>
                    <a:bodyPr/>
                    <a:lstStyle/>
                    <a:p>
                      <a:r>
                        <a:rPr sz="1000" b="0" i="0">
                          <a:solidFill>
                            <a:srgbClr val="E8EEF6"/>
                          </a:solidFill>
                          <a:latin typeface="Calibri"/>
                        </a:rPr>
                        <a:t>Payload ptr or NULL</a:t>
                      </a:r>
                    </a:p>
                  </a:txBody>
                  <a:tcPr marL="54864" marR="54864" marT="27432" marB="27432" anchor="ctr">
                    <a:solidFill>
                      <a:srgbClr val="101F34"/>
                    </a:solidFill>
                  </a:tcPr>
                </a:tc>
                <a:tc>
                  <a:txBody>
                    <a:bodyPr/>
                    <a:lstStyle/>
                    <a:p>
                      <a:r>
                        <a:rPr sz="1000" b="0" i="0">
                          <a:solidFill>
                            <a:srgbClr val="E8EEF6"/>
                          </a:solidFill>
                          <a:latin typeface="Calibri"/>
                        </a:rPr>
                        <a:t>Called by ufshcd_agg_string/desc/attr/flag</a:t>
                      </a:r>
                    </a:p>
                  </a:txBody>
                  <a:tcPr marL="54864" marR="54864" marT="27432" marB="27432" anchor="ctr">
                    <a:solidFill>
                      <a:srgbClr val="101F34"/>
                    </a:solidFill>
                  </a:tcPr>
                </a:tc>
                <a:tc>
                  <a:txBody>
                    <a:bodyPr/>
                    <a:lstStyle/>
                    <a:p>
                      <a:r>
                        <a:rPr sz="1000" b="0" i="0">
                          <a:solidFill>
                            <a:srgbClr val="E8EEF6"/>
                          </a:solidFill>
                          <a:latin typeface="Calibri"/>
                        </a:rPr>
                        <a:t>New (P2)</a:t>
                      </a:r>
                    </a:p>
                  </a:txBody>
                  <a:tcPr marL="54864" marR="54864" marT="27432" marB="27432" anchor="ctr">
                    <a:solidFill>
                      <a:srgbClr val="101F34"/>
                    </a:solidFill>
                  </a:tcPr>
                </a:tc>
              </a:tr>
              <a:tr h="502920">
                <a:tc>
                  <a:txBody>
                    <a:bodyPr/>
                    <a:lstStyle/>
                    <a:p>
                      <a:r>
                        <a:rPr sz="1000" b="0" i="0">
                          <a:solidFill>
                            <a:srgbClr val="E8EEF6"/>
                          </a:solidFill>
                          <a:latin typeface="Calibri"/>
                        </a:rPr>
                        <a:t>ufshcd_agg_string()</a:t>
                      </a:r>
                    </a:p>
                  </a:txBody>
                  <a:tcPr marL="54864" marR="54864" marT="27432" marB="27432" anchor="ctr">
                    <a:solidFill>
                      <a:srgbClr val="14243B"/>
                    </a:solidFill>
                  </a:tcPr>
                </a:tc>
                <a:tc>
                  <a:txBody>
                    <a:bodyPr/>
                    <a:lstStyle/>
                    <a:p>
                      <a:r>
                        <a:rPr sz="1000" b="0" i="0">
                          <a:solidFill>
                            <a:srgbClr val="E8EEF6"/>
                          </a:solidFill>
                          <a:latin typeface="Calibri"/>
                        </a:rPr>
                        <a:t>Find string descriptor via agg_str_idx[]</a:t>
                      </a:r>
                    </a:p>
                  </a:txBody>
                  <a:tcPr marL="54864" marR="54864" marT="27432" marB="27432" anchor="ctr">
                    <a:solidFill>
                      <a:srgbClr val="14243B"/>
                    </a:solidFill>
                  </a:tcPr>
                </a:tc>
                <a:tc>
                  <a:txBody>
                    <a:bodyPr/>
                    <a:lstStyle/>
                    <a:p>
                      <a:r>
                        <a:rPr sz="1000" b="0" i="0">
                          <a:solidFill>
                            <a:srgbClr val="E8EEF6"/>
                          </a:solidFill>
                          <a:latin typeface="Calibri"/>
                        </a:rPr>
                        <a:t>hba, index, *len</a:t>
                      </a:r>
                    </a:p>
                  </a:txBody>
                  <a:tcPr marL="54864" marR="54864" marT="27432" marB="27432" anchor="ctr">
                    <a:solidFill>
                      <a:srgbClr val="14243B"/>
                    </a:solidFill>
                  </a:tcPr>
                </a:tc>
                <a:tc>
                  <a:txBody>
                    <a:bodyPr/>
                    <a:lstStyle/>
                    <a:p>
                      <a:r>
                        <a:rPr sz="1000" b="0" i="0">
                          <a:solidFill>
                            <a:srgbClr val="E8EEF6"/>
                          </a:solidFill>
                          <a:latin typeface="Calibri"/>
                        </a:rPr>
                        <a:t>Descriptor ptr or NULL</a:t>
                      </a:r>
                    </a:p>
                  </a:txBody>
                  <a:tcPr marL="54864" marR="54864" marT="27432" marB="27432" anchor="ctr">
                    <a:solidFill>
                      <a:srgbClr val="14243B"/>
                    </a:solidFill>
                  </a:tcPr>
                </a:tc>
                <a:tc>
                  <a:txBody>
                    <a:bodyPr/>
                    <a:lstStyle/>
                    <a:p>
                      <a:r>
                        <a:rPr sz="1000" b="0" i="0">
                          <a:solidFill>
                            <a:srgbClr val="E8EEF6"/>
                          </a:solidFill>
                          <a:latin typeface="Calibri"/>
                        </a:rPr>
                        <a:t>Called by ufshcd_agg_desc(); calls ufshcd_agg_group()</a:t>
                      </a:r>
                    </a:p>
                  </a:txBody>
                  <a:tcPr marL="54864" marR="54864" marT="27432" marB="27432" anchor="ctr">
                    <a:solidFill>
                      <a:srgbClr val="14243B"/>
                    </a:solidFill>
                  </a:tcPr>
                </a:tc>
                <a:tc>
                  <a:txBody>
                    <a:bodyPr/>
                    <a:lstStyle/>
                    <a:p>
                      <a:r>
                        <a:rPr sz="1000" b="0" i="0">
                          <a:solidFill>
                            <a:srgbClr val="E8EEF6"/>
                          </a:solidFill>
                          <a:latin typeface="Calibri"/>
                        </a:rPr>
                        <a:t>New (P2)</a:t>
                      </a:r>
                    </a:p>
                  </a:txBody>
                  <a:tcPr marL="54864" marR="54864" marT="27432" marB="27432" anchor="ctr">
                    <a:solidFill>
                      <a:srgbClr val="14243B"/>
                    </a:solidFill>
                  </a:tcPr>
                </a:tc>
              </a:tr>
              <a:tr h="502920">
                <a:tc>
                  <a:txBody>
                    <a:bodyPr/>
                    <a:lstStyle/>
                    <a:p>
                      <a:r>
                        <a:rPr sz="1000" b="0" i="0">
                          <a:solidFill>
                            <a:srgbClr val="E8EEF6"/>
                          </a:solidFill>
                          <a:latin typeface="Calibri"/>
                        </a:rPr>
                        <a:t>ufshcd_agg_desc()</a:t>
                      </a:r>
                    </a:p>
                  </a:txBody>
                  <a:tcPr marL="54864" marR="54864" marT="27432" marB="27432" anchor="ctr">
                    <a:solidFill>
                      <a:srgbClr val="101F34"/>
                    </a:solidFill>
                  </a:tcPr>
                </a:tc>
                <a:tc>
                  <a:txBody>
                    <a:bodyPr/>
                    <a:lstStyle/>
                    <a:p>
                      <a:r>
                        <a:rPr sz="1000" b="0" i="0">
                          <a:solidFill>
                            <a:srgbClr val="E8EEF6"/>
                          </a:solidFill>
                          <a:latin typeface="Calibri"/>
                        </a:rPr>
                        <a:t>Find descriptor (DESCS group) or delegate strings</a:t>
                      </a:r>
                    </a:p>
                  </a:txBody>
                  <a:tcPr marL="54864" marR="54864" marT="27432" marB="27432" anchor="ctr">
                    <a:solidFill>
                      <a:srgbClr val="101F34"/>
                    </a:solidFill>
                  </a:tcPr>
                </a:tc>
                <a:tc>
                  <a:txBody>
                    <a:bodyPr/>
                    <a:lstStyle/>
                    <a:p>
                      <a:r>
                        <a:rPr sz="1000" b="0" i="0">
                          <a:solidFill>
                            <a:srgbClr val="E8EEF6"/>
                          </a:solidFill>
                          <a:latin typeface="Calibri"/>
                        </a:rPr>
                        <a:t>hba, idn, index, *len</a:t>
                      </a:r>
                    </a:p>
                  </a:txBody>
                  <a:tcPr marL="54864" marR="54864" marT="27432" marB="27432" anchor="ctr">
                    <a:solidFill>
                      <a:srgbClr val="101F34"/>
                    </a:solidFill>
                  </a:tcPr>
                </a:tc>
                <a:tc>
                  <a:txBody>
                    <a:bodyPr/>
                    <a:lstStyle/>
                    <a:p>
                      <a:r>
                        <a:rPr sz="1000" b="0" i="0">
                          <a:solidFill>
                            <a:srgbClr val="E8EEF6"/>
                          </a:solidFill>
                          <a:latin typeface="Calibri"/>
                        </a:rPr>
                        <a:t>Descriptor ptr or NULL</a:t>
                      </a:r>
                    </a:p>
                  </a:txBody>
                  <a:tcPr marL="54864" marR="54864" marT="27432" marB="27432" anchor="ctr">
                    <a:solidFill>
                      <a:srgbClr val="101F34"/>
                    </a:solidFill>
                  </a:tcPr>
                </a:tc>
                <a:tc>
                  <a:txBody>
                    <a:bodyPr/>
                    <a:lstStyle/>
                    <a:p>
                      <a:r>
                        <a:rPr sz="1000" b="0" i="0">
                          <a:solidFill>
                            <a:srgbClr val="E8EEF6"/>
                          </a:solidFill>
                          <a:latin typeface="Calibri"/>
                        </a:rPr>
                        <a:t>Called by ufshcd_read_desc_param(); calls ufshcd_agg_string()/ufshcd_agg_group()</a:t>
                      </a:r>
                    </a:p>
                  </a:txBody>
                  <a:tcPr marL="54864" marR="54864" marT="27432" marB="27432" anchor="ctr">
                    <a:solidFill>
                      <a:srgbClr val="101F34"/>
                    </a:solidFill>
                  </a:tcPr>
                </a:tc>
                <a:tc>
                  <a:txBody>
                    <a:bodyPr/>
                    <a:lstStyle/>
                    <a:p>
                      <a:r>
                        <a:rPr sz="1000" b="0" i="0">
                          <a:solidFill>
                            <a:srgbClr val="E8EEF6"/>
                          </a:solidFill>
                          <a:latin typeface="Calibri"/>
                        </a:rPr>
                        <a:t>New (P2)</a:t>
                      </a:r>
                    </a:p>
                  </a:txBody>
                  <a:tcPr marL="54864" marR="54864" marT="27432" marB="27432" anchor="ctr">
                    <a:solidFill>
                      <a:srgbClr val="101F34"/>
                    </a:solidFill>
                  </a:tcPr>
                </a:tc>
              </a:tr>
              <a:tr h="502920">
                <a:tc>
                  <a:txBody>
                    <a:bodyPr/>
                    <a:lstStyle/>
                    <a:p>
                      <a:r>
                        <a:rPr sz="1000" b="0" i="0">
                          <a:solidFill>
                            <a:srgbClr val="E8EEF6"/>
                          </a:solidFill>
                          <a:latin typeface="Calibri"/>
                        </a:rPr>
                        <a:t>ufshcd_agg_attr()</a:t>
                      </a:r>
                    </a:p>
                  </a:txBody>
                  <a:tcPr marL="54864" marR="54864" marT="27432" marB="27432" anchor="ctr">
                    <a:solidFill>
                      <a:srgbClr val="14243B"/>
                    </a:solidFill>
                  </a:tcPr>
                </a:tc>
                <a:tc>
                  <a:txBody>
                    <a:bodyPr/>
                    <a:lstStyle/>
                    <a:p>
                      <a:r>
                        <a:rPr sz="1000" b="0" i="0">
                          <a:solidFill>
                            <a:srgbClr val="E8EEF6"/>
                          </a:solidFill>
                          <a:latin typeface="Calibri"/>
                        </a:rPr>
                        <a:t>Extract attribute value, big-endian</a:t>
                      </a:r>
                    </a:p>
                  </a:txBody>
                  <a:tcPr marL="54864" marR="54864" marT="27432" marB="27432" anchor="ctr">
                    <a:solidFill>
                      <a:srgbClr val="14243B"/>
                    </a:solidFill>
                  </a:tcPr>
                </a:tc>
                <a:tc>
                  <a:txBody>
                    <a:bodyPr/>
                    <a:lstStyle/>
                    <a:p>
                      <a:r>
                        <a:rPr sz="1000" b="0" i="0">
                          <a:solidFill>
                            <a:srgbClr val="E8EEF6"/>
                          </a:solidFill>
                          <a:latin typeface="Calibri"/>
                        </a:rPr>
                        <a:t>hba, idn, *out</a:t>
                      </a:r>
                    </a:p>
                  </a:txBody>
                  <a:tcPr marL="54864" marR="54864" marT="27432" marB="27432" anchor="ctr">
                    <a:solidFill>
                      <a:srgbClr val="14243B"/>
                    </a:solidFill>
                  </a:tcPr>
                </a:tc>
                <a:tc>
                  <a:txBody>
                    <a:bodyPr/>
                    <a:lstStyle/>
                    <a:p>
                      <a:r>
                        <a:rPr sz="1000" b="0" i="0">
                          <a:solidFill>
                            <a:srgbClr val="E8EEF6"/>
                          </a:solidFill>
                          <a:latin typeface="Calibri"/>
                        </a:rPr>
                        <a:t>0 hit / -ENOENT</a:t>
                      </a:r>
                    </a:p>
                  </a:txBody>
                  <a:tcPr marL="54864" marR="54864" marT="27432" marB="27432" anchor="ctr">
                    <a:solidFill>
                      <a:srgbClr val="14243B"/>
                    </a:solidFill>
                  </a:tcPr>
                </a:tc>
                <a:tc>
                  <a:txBody>
                    <a:bodyPr/>
                    <a:lstStyle/>
                    <a:p>
                      <a:r>
                        <a:rPr sz="1000" b="0" i="0">
                          <a:solidFill>
                            <a:srgbClr val="E8EEF6"/>
                          </a:solidFill>
                          <a:latin typeface="Calibri"/>
                        </a:rPr>
                        <a:t>Called by ufshcd_read_attr(); calls ufshcd_agg_group()</a:t>
                      </a:r>
                    </a:p>
                  </a:txBody>
                  <a:tcPr marL="54864" marR="54864" marT="27432" marB="27432" anchor="ctr">
                    <a:solidFill>
                      <a:srgbClr val="14243B"/>
                    </a:solidFill>
                  </a:tcPr>
                </a:tc>
                <a:tc>
                  <a:txBody>
                    <a:bodyPr/>
                    <a:lstStyle/>
                    <a:p>
                      <a:r>
                        <a:rPr sz="1000" b="0" i="0">
                          <a:solidFill>
                            <a:srgbClr val="E8EEF6"/>
                          </a:solidFill>
                          <a:latin typeface="Calibri"/>
                        </a:rPr>
                        <a:t>New (P2)</a:t>
                      </a:r>
                    </a:p>
                  </a:txBody>
                  <a:tcPr marL="54864" marR="54864" marT="27432" marB="27432" anchor="ctr">
                    <a:solidFill>
                      <a:srgbClr val="14243B"/>
                    </a:solidFill>
                  </a:tcPr>
                </a:tc>
              </a:tr>
              <a:tr h="502920">
                <a:tc>
                  <a:txBody>
                    <a:bodyPr/>
                    <a:lstStyle/>
                    <a:p>
                      <a:r>
                        <a:rPr sz="1000" b="0" i="0">
                          <a:solidFill>
                            <a:srgbClr val="E8EEF6"/>
                          </a:solidFill>
                          <a:latin typeface="Calibri"/>
                        </a:rPr>
                        <a:t>ufshcd_agg_flag()</a:t>
                      </a:r>
                    </a:p>
                  </a:txBody>
                  <a:tcPr marL="54864" marR="54864" marT="27432" marB="27432" anchor="ctr">
                    <a:solidFill>
                      <a:srgbClr val="101F34"/>
                    </a:solidFill>
                  </a:tcPr>
                </a:tc>
                <a:tc>
                  <a:txBody>
                    <a:bodyPr/>
                    <a:lstStyle/>
                    <a:p>
                      <a:r>
                        <a:rPr sz="1000" b="0" i="0">
                          <a:solidFill>
                            <a:srgbClr val="E8EEF6"/>
                          </a:solidFill>
                          <a:latin typeface="Calibri"/>
                        </a:rPr>
                        <a:t>Extract flag byte by IDN</a:t>
                      </a:r>
                    </a:p>
                  </a:txBody>
                  <a:tcPr marL="54864" marR="54864" marT="27432" marB="27432" anchor="ctr">
                    <a:solidFill>
                      <a:srgbClr val="101F34"/>
                    </a:solidFill>
                  </a:tcPr>
                </a:tc>
                <a:tc>
                  <a:txBody>
                    <a:bodyPr/>
                    <a:lstStyle/>
                    <a:p>
                      <a:r>
                        <a:rPr sz="1000" b="0" i="0">
                          <a:solidFill>
                            <a:srgbClr val="E8EEF6"/>
                          </a:solidFill>
                          <a:latin typeface="Calibri"/>
                        </a:rPr>
                        <a:t>hba, idn, *out</a:t>
                      </a:r>
                    </a:p>
                  </a:txBody>
                  <a:tcPr marL="54864" marR="54864" marT="27432" marB="27432" anchor="ctr">
                    <a:solidFill>
                      <a:srgbClr val="101F34"/>
                    </a:solidFill>
                  </a:tcPr>
                </a:tc>
                <a:tc>
                  <a:txBody>
                    <a:bodyPr/>
                    <a:lstStyle/>
                    <a:p>
                      <a:r>
                        <a:rPr sz="1000" b="0" i="0">
                          <a:solidFill>
                            <a:srgbClr val="E8EEF6"/>
                          </a:solidFill>
                          <a:latin typeface="Calibri"/>
                        </a:rPr>
                        <a:t>0 hit / -ENOENT</a:t>
                      </a:r>
                    </a:p>
                  </a:txBody>
                  <a:tcPr marL="54864" marR="54864" marT="27432" marB="27432" anchor="ctr">
                    <a:solidFill>
                      <a:srgbClr val="101F34"/>
                    </a:solidFill>
                  </a:tcPr>
                </a:tc>
                <a:tc>
                  <a:txBody>
                    <a:bodyPr/>
                    <a:lstStyle/>
                    <a:p>
                      <a:r>
                        <a:rPr sz="1000" b="0" i="0">
                          <a:solidFill>
                            <a:srgbClr val="E8EEF6"/>
                          </a:solidFill>
                          <a:latin typeface="Calibri"/>
                        </a:rPr>
                        <a:t>Called by ufshcd_read_flag(); calls ufshcd_agg_group()</a:t>
                      </a:r>
                    </a:p>
                  </a:txBody>
                  <a:tcPr marL="54864" marR="54864" marT="27432" marB="27432" anchor="ctr">
                    <a:solidFill>
                      <a:srgbClr val="101F34"/>
                    </a:solidFill>
                  </a:tcPr>
                </a:tc>
                <a:tc>
                  <a:txBody>
                    <a:bodyPr/>
                    <a:lstStyle/>
                    <a:p>
                      <a:r>
                        <a:rPr sz="1000" b="0" i="0">
                          <a:solidFill>
                            <a:srgbClr val="E8EEF6"/>
                          </a:solidFill>
                          <a:latin typeface="Calibri"/>
                        </a:rPr>
                        <a:t>New (P2)</a:t>
                      </a:r>
                    </a:p>
                  </a:txBody>
                  <a:tcPr marL="54864" marR="54864" marT="27432" marB="27432" anchor="ctr">
                    <a:solidFill>
                      <a:srgbClr val="101F34"/>
                    </a:solidFill>
                  </a:tcPr>
                </a:tc>
              </a:tr>
              <a:tr h="502920">
                <a:tc>
                  <a:txBody>
                    <a:bodyPr/>
                    <a:lstStyle/>
                    <a:p>
                      <a:r>
                        <a:rPr sz="1000" b="0" i="0">
                          <a:solidFill>
                            <a:srgbClr val="E8EEF6"/>
                          </a:solidFill>
                          <a:latin typeface="Calibri"/>
                        </a:rPr>
                        <a:t>ufshcd_read_attr()</a:t>
                      </a:r>
                    </a:p>
                  </a:txBody>
                  <a:tcPr marL="54864" marR="54864" marT="27432" marB="27432" anchor="ctr">
                    <a:solidFill>
                      <a:srgbClr val="14243B"/>
                    </a:solidFill>
                  </a:tcPr>
                </a:tc>
                <a:tc>
                  <a:txBody>
                    <a:bodyPr/>
                    <a:lstStyle/>
                    <a:p>
                      <a:r>
                        <a:rPr sz="1000" b="0" i="0">
                          <a:solidFill>
                            <a:srgbClr val="E8EEF6"/>
                          </a:solidFill>
                          <a:latin typeface="Calibri"/>
                        </a:rPr>
                        <a:t>Cache-first attribute read (index 0)</a:t>
                      </a:r>
                    </a:p>
                  </a:txBody>
                  <a:tcPr marL="54864" marR="54864" marT="27432" marB="27432" anchor="ctr">
                    <a:solidFill>
                      <a:srgbClr val="14243B"/>
                    </a:solidFill>
                  </a:tcPr>
                </a:tc>
                <a:tc>
                  <a:txBody>
                    <a:bodyPr/>
                    <a:lstStyle/>
                    <a:p>
                      <a:r>
                        <a:rPr sz="1000" b="0" i="0">
                          <a:solidFill>
                            <a:srgbClr val="E8EEF6"/>
                          </a:solidFill>
                          <a:latin typeface="Calibri"/>
                        </a:rPr>
                        <a:t>hba, idn, index, *out</a:t>
                      </a:r>
                    </a:p>
                  </a:txBody>
                  <a:tcPr marL="54864" marR="54864" marT="27432" marB="27432" anchor="ctr">
                    <a:solidFill>
                      <a:srgbClr val="14243B"/>
                    </a:solidFill>
                  </a:tcPr>
                </a:tc>
                <a:tc>
                  <a:txBody>
                    <a:bodyPr/>
                    <a:lstStyle/>
                    <a:p>
                      <a:r>
                        <a:rPr sz="1000" b="0" i="0">
                          <a:solidFill>
                            <a:srgbClr val="E8EEF6"/>
                          </a:solidFill>
                          <a:latin typeface="Calibri"/>
                        </a:rPr>
                        <a:t>0 / &lt; 0</a:t>
                      </a:r>
                    </a:p>
                  </a:txBody>
                  <a:tcPr marL="54864" marR="54864" marT="27432" marB="27432" anchor="ctr">
                    <a:solidFill>
                      <a:srgbClr val="14243B"/>
                    </a:solidFill>
                  </a:tcPr>
                </a:tc>
                <a:tc>
                  <a:txBody>
                    <a:bodyPr/>
                    <a:lstStyle/>
                    <a:p>
                      <a:r>
                        <a:rPr sz="1000" b="0" i="0">
                          <a:solidFill>
                            <a:srgbClr val="E8EEF6"/>
                          </a:solidFill>
                          <a:latin typeface="Calibri"/>
                        </a:rPr>
                        <a:t>Called by ref-clk wait, WB lifetime, set_rtt; calls ufshcd_agg_attr(), else ufshcd_query_attr_retry()</a:t>
                      </a:r>
                    </a:p>
                  </a:txBody>
                  <a:tcPr marL="54864" marR="54864" marT="27432" marB="27432" anchor="ctr">
                    <a:solidFill>
                      <a:srgbClr val="14243B"/>
                    </a:solidFill>
                  </a:tcPr>
                </a:tc>
                <a:tc>
                  <a:txBody>
                    <a:bodyPr/>
                    <a:lstStyle/>
                    <a:p>
                      <a:r>
                        <a:rPr sz="1000" b="0" i="0">
                          <a:solidFill>
                            <a:srgbClr val="E8EEF6"/>
                          </a:solidFill>
                          <a:latin typeface="Calibri"/>
                        </a:rPr>
                        <a:t>New wrapper (P2)</a:t>
                      </a:r>
                    </a:p>
                  </a:txBody>
                  <a:tcPr marL="54864" marR="54864" marT="27432" marB="27432" anchor="ctr">
                    <a:solidFill>
                      <a:srgbClr val="14243B"/>
                    </a:solidFill>
                  </a:tcPr>
                </a:tc>
              </a:tr>
              <a:tr h="502920">
                <a:tc>
                  <a:txBody>
                    <a:bodyPr/>
                    <a:lstStyle/>
                    <a:p>
                      <a:r>
                        <a:rPr sz="1000" b="0" i="0">
                          <a:solidFill>
                            <a:srgbClr val="E8EEF6"/>
                          </a:solidFill>
                          <a:latin typeface="Calibri"/>
                        </a:rPr>
                        <a:t>ufshcd_read_flag()</a:t>
                      </a:r>
                    </a:p>
                  </a:txBody>
                  <a:tcPr marL="54864" marR="54864" marT="27432" marB="27432" anchor="ctr">
                    <a:solidFill>
                      <a:srgbClr val="101F34"/>
                    </a:solidFill>
                  </a:tcPr>
                </a:tc>
                <a:tc>
                  <a:txBody>
                    <a:bodyPr/>
                    <a:lstStyle/>
                    <a:p>
                      <a:r>
                        <a:rPr sz="1000" b="0" i="0">
                          <a:solidFill>
                            <a:srgbClr val="E8EEF6"/>
                          </a:solidFill>
                          <a:latin typeface="Calibri"/>
                        </a:rPr>
                        <a:t>Cache-first flag read</a:t>
                      </a:r>
                    </a:p>
                  </a:txBody>
                  <a:tcPr marL="54864" marR="54864" marT="27432" marB="27432" anchor="ctr">
                    <a:solidFill>
                      <a:srgbClr val="101F34"/>
                    </a:solidFill>
                  </a:tcPr>
                </a:tc>
                <a:tc>
                  <a:txBody>
                    <a:bodyPr/>
                    <a:lstStyle/>
                    <a:p>
                      <a:r>
                        <a:rPr sz="1000" b="0" i="0">
                          <a:solidFill>
                            <a:srgbClr val="E8EEF6"/>
                          </a:solidFill>
                          <a:latin typeface="Calibri"/>
                        </a:rPr>
                        <a:t>hba, idn, *out</a:t>
                      </a:r>
                    </a:p>
                  </a:txBody>
                  <a:tcPr marL="54864" marR="54864" marT="27432" marB="27432" anchor="ctr">
                    <a:solidFill>
                      <a:srgbClr val="101F34"/>
                    </a:solidFill>
                  </a:tcPr>
                </a:tc>
                <a:tc>
                  <a:txBody>
                    <a:bodyPr/>
                    <a:lstStyle/>
                    <a:p>
                      <a:r>
                        <a:rPr sz="1000" b="0" i="0">
                          <a:solidFill>
                            <a:srgbClr val="E8EEF6"/>
                          </a:solidFill>
                          <a:latin typeface="Calibri"/>
                        </a:rPr>
                        <a:t>0 / &lt; 0</a:t>
                      </a:r>
                    </a:p>
                  </a:txBody>
                  <a:tcPr marL="54864" marR="54864" marT="27432" marB="27432" anchor="ctr">
                    <a:solidFill>
                      <a:srgbClr val="101F34"/>
                    </a:solidFill>
                  </a:tcPr>
                </a:tc>
                <a:tc>
                  <a:txBody>
                    <a:bodyPr/>
                    <a:lstStyle/>
                    <a:p>
                      <a:r>
                        <a:rPr sz="1000" b="0" i="0">
                          <a:solidFill>
                            <a:srgbClr val="E8EEF6"/>
                          </a:solidFill>
                          <a:latin typeface="Calibri"/>
                        </a:rPr>
                        <a:t>Called by ufshcd_device_params_init(); calls ufshcd_agg_flag(), else ufshcd_query_flag_retry()</a:t>
                      </a:r>
                    </a:p>
                  </a:txBody>
                  <a:tcPr marL="54864" marR="54864" marT="27432" marB="27432" anchor="ctr">
                    <a:solidFill>
                      <a:srgbClr val="101F34"/>
                    </a:solidFill>
                  </a:tcPr>
                </a:tc>
                <a:tc>
                  <a:txBody>
                    <a:bodyPr/>
                    <a:lstStyle/>
                    <a:p>
                      <a:r>
                        <a:rPr sz="1000" b="0" i="0">
                          <a:solidFill>
                            <a:srgbClr val="E8EEF6"/>
                          </a:solidFill>
                          <a:latin typeface="Calibri"/>
                        </a:rPr>
                        <a:t>New wrapper (P2)</a:t>
                      </a:r>
                    </a:p>
                  </a:txBody>
                  <a:tcPr marL="54864" marR="54864" marT="27432" marB="27432" anchor="ctr">
                    <a:solidFill>
                      <a:srgbClr val="101F34"/>
                    </a:solidFill>
                  </a:tcPr>
                </a:tc>
              </a:tr>
              <a:tr h="502920">
                <a:tc>
                  <a:txBody>
                    <a:bodyPr/>
                    <a:lstStyle/>
                    <a:p>
                      <a:r>
                        <a:rPr sz="1000" b="0" i="0">
                          <a:solidFill>
                            <a:srgbClr val="E8EEF6"/>
                          </a:solidFill>
                          <a:latin typeface="Calibri"/>
                        </a:rPr>
                        <a:t>ufshcd_query_aggregated_read()</a:t>
                      </a:r>
                    </a:p>
                  </a:txBody>
                  <a:tcPr marL="54864" marR="54864" marT="27432" marB="27432" anchor="ctr">
                    <a:solidFill>
                      <a:srgbClr val="14243B"/>
                    </a:solidFill>
                  </a:tcPr>
                </a:tc>
                <a:tc>
                  <a:txBody>
                    <a:bodyPr/>
                    <a:lstStyle/>
                    <a:p>
                      <a:r>
                        <a:rPr sz="1000" b="0" i="0">
                          <a:solidFill>
                            <a:srgbClr val="E8EEF6"/>
                          </a:solidFill>
                          <a:latin typeface="Calibri"/>
                        </a:rPr>
                        <a:t>Issue AGGREGATED READ query</a:t>
                      </a:r>
                    </a:p>
                  </a:txBody>
                  <a:tcPr marL="54864" marR="54864" marT="27432" marB="27432" anchor="ctr">
                    <a:solidFill>
                      <a:srgbClr val="14243B"/>
                    </a:solidFill>
                  </a:tcPr>
                </a:tc>
                <a:tc>
                  <a:txBody>
                    <a:bodyPr/>
                    <a:lstStyle/>
                    <a:p>
                      <a:r>
                        <a:rPr sz="1000" b="0" i="0">
                          <a:solidFill>
                            <a:srgbClr val="E8EEF6"/>
                          </a:solidFill>
                          <a:latin typeface="Calibri"/>
                        </a:rPr>
                        <a:t>hba, agg_type, buf, *buf_len</a:t>
                      </a:r>
                    </a:p>
                  </a:txBody>
                  <a:tcPr marL="54864" marR="54864" marT="27432" marB="27432" anchor="ctr">
                    <a:solidFill>
                      <a:srgbClr val="14243B"/>
                    </a:solidFill>
                  </a:tcPr>
                </a:tc>
                <a:tc>
                  <a:txBody>
                    <a:bodyPr/>
                    <a:lstStyle/>
                    <a:p>
                      <a:r>
                        <a:rPr sz="1000" b="0" i="0">
                          <a:solidFill>
                            <a:srgbClr val="E8EEF6"/>
                          </a:solidFill>
                          <a:latin typeface="Calibri"/>
                        </a:rPr>
                        <a:t>0; &gt; 0 OCS; &lt; 0</a:t>
                      </a:r>
                    </a:p>
                  </a:txBody>
                  <a:tcPr marL="54864" marR="54864" marT="27432" marB="27432" anchor="ctr">
                    <a:solidFill>
                      <a:srgbClr val="14243B"/>
                    </a:solidFill>
                  </a:tcPr>
                </a:tc>
                <a:tc>
                  <a:txBody>
                    <a:bodyPr/>
                    <a:lstStyle/>
                    <a:p>
                      <a:r>
                        <a:rPr sz="1000" b="0" i="0">
                          <a:solidFill>
                            <a:srgbClr val="E8EEF6"/>
                          </a:solidFill>
                          <a:latin typeface="Calibri"/>
                        </a:rPr>
                        <a:t>Called by ufshcd_agg_read_begin(); uses ufshcd_dev_man_lock, ufshcd_init_query, ufshcd_exec_dev_cmd</a:t>
                      </a:r>
                    </a:p>
                  </a:txBody>
                  <a:tcPr marL="54864" marR="54864" marT="27432" marB="27432" anchor="ctr">
                    <a:solidFill>
                      <a:srgbClr val="14243B"/>
                    </a:solidFill>
                  </a:tcPr>
                </a:tc>
                <a:tc>
                  <a:txBody>
                    <a:bodyPr/>
                    <a:lstStyle/>
                    <a:p>
                      <a:r>
                        <a:rPr sz="1000" b="0" i="0">
                          <a:solidFill>
                            <a:srgbClr val="E8EEF6"/>
                          </a:solidFill>
                          <a:latin typeface="Calibri"/>
                        </a:rPr>
                        <a:t>New (P2)</a:t>
                      </a:r>
                    </a:p>
                  </a:txBody>
                  <a:tcPr marL="54864" marR="54864" marT="27432" marB="27432" anchor="ctr">
                    <a:solidFill>
                      <a:srgbClr val="14243B"/>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626"/>
        </a:solidFill>
        <a:effectLst/>
      </p:bgPr>
    </p:bg>
    <p:spTree>
      <p:nvGrpSpPr>
        <p:cNvPr id="1" name=""/>
        <p:cNvGrpSpPr/>
        <p:nvPr/>
      </p:nvGrpSpPr>
      <p:grpSpPr/>
      <p:sp>
        <p:nvSpPr>
          <p:cNvPr id="2" name="Title"/>
          <p:cNvSpPr txBox="1"/>
          <p:nvPr/>
        </p:nvSpPr>
        <p:spPr>
          <a:xfrm>
            <a:off x="457200" y="274320"/>
            <a:ext cx="11247120" cy="548640"/>
          </a:xfrm>
          <a:prstGeom prst="rect">
            <a:avLst/>
          </a:prstGeom>
          <a:noFill/>
        </p:spPr>
        <p:txBody>
          <a:bodyPr wrap="square" anchor="ctr" lIns="36576" rIns="36576" tIns="18288" bIns="18288">
            <a:spAutoFit/>
          </a:bodyPr>
          <a:lstStyle/>
          <a:p>
            <a:r>
              <a:rPr sz="2400" b="1" i="0">
                <a:solidFill>
                  <a:srgbClr val="E8EEF6"/>
                </a:solidFill>
                <a:latin typeface="Calibri"/>
              </a:rPr>
              <a:t>Appendix A2: API Table (2/2) — Modified Existing Functions</a:t>
            </a:r>
          </a:p>
        </p:txBody>
      </p:sp>
      <p:sp>
        <p:nvSpPr>
          <p:cNvPr id="3" name="Source"/>
          <p:cNvSpPr txBox="1"/>
          <p:nvPr/>
        </p:nvSpPr>
        <p:spPr>
          <a:xfrm>
            <a:off x="457200" y="6473952"/>
            <a:ext cx="10424160" cy="256032"/>
          </a:xfrm>
          <a:prstGeom prst="rect">
            <a:avLst/>
          </a:prstGeom>
          <a:noFill/>
        </p:spPr>
        <p:txBody>
          <a:bodyPr wrap="square" anchor="t" lIns="36576" rIns="36576" tIns="18288" bIns="18288">
            <a:spAutoFit/>
          </a:bodyPr>
          <a:lstStyle/>
          <a:p>
            <a:r>
              <a:rPr sz="1000" b="0" i="0">
                <a:solidFill>
                  <a:srgbClr val="A9B8CC"/>
                </a:solidFill>
                <a:latin typeface="Calibri"/>
              </a:rPr>
              <a:t>Source: drivers/ufs/core/ufshcd.c — hunk contexts of P1 and P2; return types as shown in hunk headers</a:t>
            </a:r>
          </a:p>
        </p:txBody>
      </p:sp>
      <p:sp>
        <p:nvSpPr>
          <p:cNvPr id="4" name="Slide Number"/>
          <p:cNvSpPr txBox="1"/>
          <p:nvPr/>
        </p:nvSpPr>
        <p:spPr>
          <a:xfrm>
            <a:off x="11064240" y="6473952"/>
            <a:ext cx="685800" cy="256032"/>
          </a:xfrm>
          <a:prstGeom prst="rect">
            <a:avLst/>
          </a:prstGeom>
          <a:noFill/>
        </p:spPr>
        <p:txBody>
          <a:bodyPr wrap="none">
            <a:spAutoFit/>
          </a:bodyPr>
          <a:lstStyle/>
          <a:p>
            <a:pPr algn="r"/>
            <a:fld id="{B6F15528-21DE-4FAA-801E-634DDDAF4B2B}" type="slidenum">
              <a:rPr lang="en-US" sz="1100">
                <a:solidFill>
                  <a:srgbClr val="A9B8CC"/>
                </a:solidFill>
                <a:latin typeface="Calibri"/>
              </a:rPr>
              <a:t>20</a:t>
            </a:fld>
          </a:p>
        </p:txBody>
      </p:sp>
      <p:graphicFrame>
        <p:nvGraphicFramePr>
          <p:cNvPr id="5" name="Table 4"/>
          <p:cNvGraphicFramePr>
            <a:graphicFrameLocks noGrp="1"/>
          </p:cNvGraphicFramePr>
          <p:nvPr/>
        </p:nvGraphicFramePr>
        <p:xfrm>
          <a:off x="457200" y="1051560"/>
          <a:ext cx="11247120" cy="4846320"/>
        </p:xfrm>
        <a:graphic>
          <a:graphicData uri="http://schemas.openxmlformats.org/drawingml/2006/table">
            <a:tbl>
              <a:tblPr firstRow="1" bandRow="1">
                <a:tableStyleId>{5940675A-B579-460E-94D1-54222C63F5DA}</a:tableStyleId>
              </a:tblPr>
              <a:tblGrid>
                <a:gridCol w="1920240"/>
                <a:gridCol w="2240280"/>
                <a:gridCol w="1600200"/>
                <a:gridCol w="1234440"/>
                <a:gridCol w="2926080"/>
                <a:gridCol w="1325880"/>
              </a:tblGrid>
              <a:tr h="274320">
                <a:tc>
                  <a:txBody>
                    <a:bodyPr/>
                    <a:lstStyle/>
                    <a:p>
                      <a:r>
                        <a:rPr sz="1000" b="1" i="0">
                          <a:solidFill>
                            <a:srgbClr val="E8EEF6"/>
                          </a:solidFill>
                          <a:latin typeface="Calibri"/>
                        </a:rPr>
                        <a:t>API</a:t>
                      </a:r>
                    </a:p>
                  </a:txBody>
                  <a:tcPr marL="54864" marR="54864" marT="27432" marB="27432" anchor="ctr">
                    <a:solidFill>
                      <a:srgbClr val="22406A"/>
                    </a:solidFill>
                  </a:tcPr>
                </a:tc>
                <a:tc>
                  <a:txBody>
                    <a:bodyPr/>
                    <a:lstStyle/>
                    <a:p>
                      <a:r>
                        <a:rPr sz="1000" b="1" i="0">
                          <a:solidFill>
                            <a:srgbClr val="E8EEF6"/>
                          </a:solidFill>
                          <a:latin typeface="Calibri"/>
                        </a:rPr>
                        <a:t>Responsibility</a:t>
                      </a:r>
                    </a:p>
                  </a:txBody>
                  <a:tcPr marL="54864" marR="54864" marT="27432" marB="27432" anchor="ctr">
                    <a:solidFill>
                      <a:srgbClr val="22406A"/>
                    </a:solidFill>
                  </a:tcPr>
                </a:tc>
                <a:tc>
                  <a:txBody>
                    <a:bodyPr/>
                    <a:lstStyle/>
                    <a:p>
                      <a:r>
                        <a:rPr sz="1000" b="1" i="0">
                          <a:solidFill>
                            <a:srgbClr val="E8EEF6"/>
                          </a:solidFill>
                          <a:latin typeface="Calibri"/>
                        </a:rPr>
                        <a:t>Input</a:t>
                      </a:r>
                    </a:p>
                  </a:txBody>
                  <a:tcPr marL="54864" marR="54864" marT="27432" marB="27432" anchor="ctr">
                    <a:solidFill>
                      <a:srgbClr val="22406A"/>
                    </a:solidFill>
                  </a:tcPr>
                </a:tc>
                <a:tc>
                  <a:txBody>
                    <a:bodyPr/>
                    <a:lstStyle/>
                    <a:p>
                      <a:r>
                        <a:rPr sz="1000" b="1" i="0">
                          <a:solidFill>
                            <a:srgbClr val="E8EEF6"/>
                          </a:solidFill>
                          <a:latin typeface="Calibri"/>
                        </a:rPr>
                        <a:t>Output / return</a:t>
                      </a:r>
                    </a:p>
                  </a:txBody>
                  <a:tcPr marL="54864" marR="54864" marT="27432" marB="27432" anchor="ctr">
                    <a:solidFill>
                      <a:srgbClr val="22406A"/>
                    </a:solidFill>
                  </a:tcPr>
                </a:tc>
                <a:tc>
                  <a:txBody>
                    <a:bodyPr/>
                    <a:lstStyle/>
                    <a:p>
                      <a:r>
                        <a:rPr sz="1000" b="1" i="0">
                          <a:solidFill>
                            <a:srgbClr val="E8EEF6"/>
                          </a:solidFill>
                          <a:latin typeface="Calibri"/>
                        </a:rPr>
                        <a:t>Verified call relationship</a:t>
                      </a:r>
                    </a:p>
                  </a:txBody>
                  <a:tcPr marL="54864" marR="54864" marT="27432" marB="27432" anchor="ctr">
                    <a:solidFill>
                      <a:srgbClr val="22406A"/>
                    </a:solidFill>
                  </a:tcPr>
                </a:tc>
                <a:tc>
                  <a:txBody>
                    <a:bodyPr/>
                    <a:lstStyle/>
                    <a:p>
                      <a:r>
                        <a:rPr sz="1000" b="1" i="0">
                          <a:solidFill>
                            <a:srgbClr val="E8EEF6"/>
                          </a:solidFill>
                          <a:latin typeface="Calibri"/>
                        </a:rPr>
                        <a:t>Role in patch</a:t>
                      </a:r>
                    </a:p>
                  </a:txBody>
                  <a:tcPr marL="54864" marR="54864" marT="27432" marB="27432" anchor="ctr">
                    <a:solidFill>
                      <a:srgbClr val="22406A"/>
                    </a:solidFill>
                  </a:tcPr>
                </a:tc>
              </a:tr>
              <a:tr h="457200">
                <a:tc>
                  <a:txBody>
                    <a:bodyPr/>
                    <a:lstStyle/>
                    <a:p>
                      <a:r>
                        <a:rPr sz="1000" b="0" i="0">
                          <a:solidFill>
                            <a:srgbClr val="E8EEF6"/>
                          </a:solidFill>
                          <a:latin typeface="Calibri"/>
                        </a:rPr>
                        <a:t>ufshcd_agg_read_begin()</a:t>
                      </a:r>
                    </a:p>
                  </a:txBody>
                  <a:tcPr marL="54864" marR="54864" marT="27432" marB="27432" anchor="ctr">
                    <a:solidFill>
                      <a:srgbClr val="14243B"/>
                    </a:solidFill>
                  </a:tcPr>
                </a:tc>
                <a:tc>
                  <a:txBody>
                    <a:bodyPr/>
                    <a:lstStyle/>
                    <a:p>
                      <a:r>
                        <a:rPr sz="1000" b="0" i="0">
                          <a:solidFill>
                            <a:srgbClr val="E8EEF6"/>
                          </a:solidFill>
                          <a:latin typeface="Calibri"/>
                        </a:rPr>
                        <a:t>Version gate, alloc, query with retries, cache packet</a:t>
                      </a:r>
                    </a:p>
                  </a:txBody>
                  <a:tcPr marL="54864" marR="54864" marT="27432" marB="27432" anchor="ctr">
                    <a:solidFill>
                      <a:srgbClr val="14243B"/>
                    </a:solidFill>
                  </a:tcPr>
                </a:tc>
                <a:tc>
                  <a:txBody>
                    <a:bodyPr/>
                    <a:lstStyle/>
                    <a:p>
                      <a:r>
                        <a:rPr sz="1000" b="0" i="0">
                          <a:solidFill>
                            <a:srgbClr val="E8EEF6"/>
                          </a:solidFill>
                          <a:latin typeface="Calibri"/>
                        </a:rPr>
                        <a:t>hba, agg_type</a:t>
                      </a:r>
                    </a:p>
                  </a:txBody>
                  <a:tcPr marL="54864" marR="54864" marT="27432" marB="27432" anchor="ctr">
                    <a:solidFill>
                      <a:srgbClr val="14243B"/>
                    </a:solidFill>
                  </a:tcPr>
                </a:tc>
                <a:tc>
                  <a:txBody>
                    <a:bodyPr/>
                    <a:lstStyle/>
                    <a:p>
                      <a:r>
                        <a:rPr sz="1000" b="0" i="0">
                          <a:solidFill>
                            <a:srgbClr val="E8EEF6"/>
                          </a:solidFill>
                          <a:latin typeface="Calibri"/>
                        </a:rPr>
                        <a:t>void</a:t>
                      </a:r>
                    </a:p>
                  </a:txBody>
                  <a:tcPr marL="54864" marR="54864" marT="27432" marB="27432" anchor="ctr">
                    <a:solidFill>
                      <a:srgbClr val="14243B"/>
                    </a:solidFill>
                  </a:tcPr>
                </a:tc>
                <a:tc>
                  <a:txBody>
                    <a:bodyPr/>
                    <a:lstStyle/>
                    <a:p>
                      <a:r>
                        <a:rPr sz="1000" b="0" i="0">
                          <a:solidFill>
                            <a:srgbClr val="E8EEF6"/>
                          </a:solidFill>
                          <a:latin typeface="Calibri"/>
                        </a:rPr>
                        <a:t>Called by ufs_get_device_desc(); calls ufshcd_query_aggregated_read()</a:t>
                      </a:r>
                    </a:p>
                  </a:txBody>
                  <a:tcPr marL="54864" marR="54864" marT="27432" marB="27432" anchor="ctr">
                    <a:solidFill>
                      <a:srgbClr val="14243B"/>
                    </a:solidFill>
                  </a:tcPr>
                </a:tc>
                <a:tc>
                  <a:txBody>
                    <a:bodyPr/>
                    <a:lstStyle/>
                    <a:p>
                      <a:r>
                        <a:rPr sz="1000" b="0" i="0">
                          <a:solidFill>
                            <a:srgbClr val="E8EEF6"/>
                          </a:solidFill>
                          <a:latin typeface="Calibri"/>
                        </a:rPr>
                        <a:t>New (P2)</a:t>
                      </a:r>
                    </a:p>
                  </a:txBody>
                  <a:tcPr marL="54864" marR="54864" marT="27432" marB="27432" anchor="ctr">
                    <a:solidFill>
                      <a:srgbClr val="14243B"/>
                    </a:solidFill>
                  </a:tcPr>
                </a:tc>
              </a:tr>
              <a:tr h="457200">
                <a:tc>
                  <a:txBody>
                    <a:bodyPr/>
                    <a:lstStyle/>
                    <a:p>
                      <a:r>
                        <a:rPr sz="1000" b="0" i="0">
                          <a:solidFill>
                            <a:srgbClr val="E8EEF6"/>
                          </a:solidFill>
                          <a:latin typeface="Calibri"/>
                        </a:rPr>
                        <a:t>ufshcd_agg_read_end()</a:t>
                      </a:r>
                    </a:p>
                  </a:txBody>
                  <a:tcPr marL="54864" marR="54864" marT="27432" marB="27432" anchor="ctr">
                    <a:solidFill>
                      <a:srgbClr val="101F34"/>
                    </a:solidFill>
                  </a:tcPr>
                </a:tc>
                <a:tc>
                  <a:txBody>
                    <a:bodyPr/>
                    <a:lstStyle/>
                    <a:p>
                      <a:r>
                        <a:rPr sz="1000" b="0" i="0">
                          <a:solidFill>
                            <a:srgbClr val="E8EEF6"/>
                          </a:solidFill>
                          <a:latin typeface="Calibri"/>
                        </a:rPr>
                        <a:t>Free packet, NULL pointer, zero length</a:t>
                      </a:r>
                    </a:p>
                  </a:txBody>
                  <a:tcPr marL="54864" marR="54864" marT="27432" marB="27432" anchor="ctr">
                    <a:solidFill>
                      <a:srgbClr val="101F34"/>
                    </a:solidFill>
                  </a:tcPr>
                </a:tc>
                <a:tc>
                  <a:txBody>
                    <a:bodyPr/>
                    <a:lstStyle/>
                    <a:p>
                      <a:r>
                        <a:rPr sz="1000" b="0" i="0">
                          <a:solidFill>
                            <a:srgbClr val="E8EEF6"/>
                          </a:solidFill>
                          <a:latin typeface="Calibri"/>
                        </a:rPr>
                        <a:t>hba</a:t>
                      </a:r>
                    </a:p>
                  </a:txBody>
                  <a:tcPr marL="54864" marR="54864" marT="27432" marB="27432" anchor="ctr">
                    <a:solidFill>
                      <a:srgbClr val="101F34"/>
                    </a:solidFill>
                  </a:tcPr>
                </a:tc>
                <a:tc>
                  <a:txBody>
                    <a:bodyPr/>
                    <a:lstStyle/>
                    <a:p>
                      <a:r>
                        <a:rPr sz="1000" b="0" i="0">
                          <a:solidFill>
                            <a:srgbClr val="E8EEF6"/>
                          </a:solidFill>
                          <a:latin typeface="Calibri"/>
                        </a:rPr>
                        <a:t>void</a:t>
                      </a:r>
                    </a:p>
                  </a:txBody>
                  <a:tcPr marL="54864" marR="54864" marT="27432" marB="27432" anchor="ctr">
                    <a:solidFill>
                      <a:srgbClr val="101F34"/>
                    </a:solidFill>
                  </a:tcPr>
                </a:tc>
                <a:tc>
                  <a:txBody>
                    <a:bodyPr/>
                    <a:lstStyle/>
                    <a:p>
                      <a:r>
                        <a:rPr sz="1000" b="0" i="0">
                          <a:solidFill>
                            <a:srgbClr val="E8EEF6"/>
                          </a:solidFill>
                          <a:latin typeface="Calibri"/>
                        </a:rPr>
                        <a:t>Called at out: of ufshcd_device_params_init()</a:t>
                      </a:r>
                    </a:p>
                  </a:txBody>
                  <a:tcPr marL="54864" marR="54864" marT="27432" marB="27432" anchor="ctr">
                    <a:solidFill>
                      <a:srgbClr val="101F34"/>
                    </a:solidFill>
                  </a:tcPr>
                </a:tc>
                <a:tc>
                  <a:txBody>
                    <a:bodyPr/>
                    <a:lstStyle/>
                    <a:p>
                      <a:r>
                        <a:rPr sz="1000" b="0" i="0">
                          <a:solidFill>
                            <a:srgbClr val="E8EEF6"/>
                          </a:solidFill>
                          <a:latin typeface="Calibri"/>
                        </a:rPr>
                        <a:t>New (P2)</a:t>
                      </a:r>
                    </a:p>
                  </a:txBody>
                  <a:tcPr marL="54864" marR="54864" marT="27432" marB="27432" anchor="ctr">
                    <a:solidFill>
                      <a:srgbClr val="101F34"/>
                    </a:solidFill>
                  </a:tcPr>
                </a:tc>
              </a:tr>
              <a:tr h="457200">
                <a:tc>
                  <a:txBody>
                    <a:bodyPr/>
                    <a:lstStyle/>
                    <a:p>
                      <a:r>
                        <a:rPr sz="1000" b="0" i="0">
                          <a:solidFill>
                            <a:srgbClr val="E8EEF6"/>
                          </a:solidFill>
                          <a:latin typeface="Calibri"/>
                        </a:rPr>
                        <a:t>ufshcd_copy_query_response()</a:t>
                      </a:r>
                    </a:p>
                  </a:txBody>
                  <a:tcPr marL="54864" marR="54864" marT="27432" marB="27432" anchor="ctr">
                    <a:solidFill>
                      <a:srgbClr val="14243B"/>
                    </a:solidFill>
                  </a:tcPr>
                </a:tc>
                <a:tc>
                  <a:txBody>
                    <a:bodyPr/>
                    <a:lstStyle/>
                    <a:p>
                      <a:r>
                        <a:rPr sz="1000" b="0" i="0">
                          <a:solidFill>
                            <a:srgbClr val="E8EEF6"/>
                          </a:solidFill>
                          <a:latin typeface="Calibri"/>
                        </a:rPr>
                        <a:t>Copy OSF; record data_segment_length; copy desc/aggregated data</a:t>
                      </a:r>
                    </a:p>
                  </a:txBody>
                  <a:tcPr marL="54864" marR="54864" marT="27432" marB="27432" anchor="ctr">
                    <a:solidFill>
                      <a:srgbClr val="14243B"/>
                    </a:solidFill>
                  </a:tcPr>
                </a:tc>
                <a:tc>
                  <a:txBody>
                    <a:bodyPr/>
                    <a:lstStyle/>
                    <a:p>
                      <a:r>
                        <a:rPr sz="1000" b="0" i="0">
                          <a:solidFill>
                            <a:srgbClr val="E8EEF6"/>
                          </a:solidFill>
                          <a:latin typeface="Calibri"/>
                        </a:rPr>
                        <a:t>hba, lrbp</a:t>
                      </a:r>
                    </a:p>
                  </a:txBody>
                  <a:tcPr marL="54864" marR="54864" marT="27432" marB="27432" anchor="ctr">
                    <a:solidFill>
                      <a:srgbClr val="14243B"/>
                    </a:solidFill>
                  </a:tcPr>
                </a:tc>
                <a:tc>
                  <a:txBody>
                    <a:bodyPr/>
                    <a:lstStyle/>
                    <a:p>
                      <a:r>
                        <a:rPr sz="1000" b="0" i="0">
                          <a:solidFill>
                            <a:srgbClr val="E8EEF6"/>
                          </a:solidFill>
                          <a:latin typeface="Calibri"/>
                        </a:rPr>
                        <a:t>int (not shown)</a:t>
                      </a:r>
                    </a:p>
                  </a:txBody>
                  <a:tcPr marL="54864" marR="54864" marT="27432" marB="27432" anchor="ctr">
                    <a:solidFill>
                      <a:srgbClr val="14243B"/>
                    </a:solidFill>
                  </a:tcPr>
                </a:tc>
                <a:tc>
                  <a:txBody>
                    <a:bodyPr/>
                    <a:lstStyle/>
                    <a:p>
                      <a:r>
                        <a:rPr sz="1000" b="0" i="0">
                          <a:solidFill>
                            <a:srgbClr val="E8EEF6"/>
                          </a:solidFill>
                          <a:latin typeface="Calibri"/>
                        </a:rPr>
                        <a:t>Call site not in diff (INFERENCE: exec path)</a:t>
                      </a:r>
                    </a:p>
                  </a:txBody>
                  <a:tcPr marL="54864" marR="54864" marT="27432" marB="27432" anchor="ctr">
                    <a:solidFill>
                      <a:srgbClr val="14243B"/>
                    </a:solidFill>
                  </a:tcPr>
                </a:tc>
                <a:tc>
                  <a:txBody>
                    <a:bodyPr/>
                    <a:lstStyle/>
                    <a:p>
                      <a:r>
                        <a:rPr sz="1000" b="0" i="0">
                          <a:solidFill>
                            <a:srgbClr val="E8EEF6"/>
                          </a:solidFill>
                          <a:latin typeface="Calibri"/>
                        </a:rPr>
                        <a:t>Modified (P1)</a:t>
                      </a:r>
                    </a:p>
                  </a:txBody>
                  <a:tcPr marL="54864" marR="54864" marT="27432" marB="27432" anchor="ctr">
                    <a:solidFill>
                      <a:srgbClr val="14243B"/>
                    </a:solidFill>
                  </a:tcPr>
                </a:tc>
              </a:tr>
              <a:tr h="457200">
                <a:tc>
                  <a:txBody>
                    <a:bodyPr/>
                    <a:lstStyle/>
                    <a:p>
                      <a:r>
                        <a:rPr sz="1000" b="0" i="0">
                          <a:solidFill>
                            <a:srgbClr val="E8EEF6"/>
                          </a:solidFill>
                          <a:latin typeface="Calibri"/>
                        </a:rPr>
                        <a:t>ufshcd_read_desc_param()</a:t>
                      </a:r>
                    </a:p>
                  </a:txBody>
                  <a:tcPr marL="54864" marR="54864" marT="27432" marB="27432" anchor="ctr">
                    <a:solidFill>
                      <a:srgbClr val="101F34"/>
                    </a:solidFill>
                  </a:tcPr>
                </a:tc>
                <a:tc>
                  <a:txBody>
                    <a:bodyPr/>
                    <a:lstStyle/>
                    <a:p>
                      <a:r>
                        <a:rPr sz="1000" b="0" i="0">
                          <a:solidFill>
                            <a:srgbClr val="E8EEF6"/>
                          </a:solidFill>
                          <a:latin typeface="Calibri"/>
                        </a:rPr>
                        <a:t>Cache-first descriptor read, else full descriptor query</a:t>
                      </a:r>
                    </a:p>
                  </a:txBody>
                  <a:tcPr marL="54864" marR="54864" marT="27432" marB="27432" anchor="ctr">
                    <a:solidFill>
                      <a:srgbClr val="101F34"/>
                    </a:solidFill>
                  </a:tcPr>
                </a:tc>
                <a:tc>
                  <a:txBody>
                    <a:bodyPr/>
                    <a:lstStyle/>
                    <a:p>
                      <a:r>
                        <a:rPr sz="1000" b="0" i="0">
                          <a:solidFill>
                            <a:srgbClr val="E8EEF6"/>
                          </a:solidFill>
                          <a:latin typeface="Calibri"/>
                        </a:rPr>
                        <a:t>hba, desc_id, desc_index, param_offset, …</a:t>
                      </a:r>
                    </a:p>
                  </a:txBody>
                  <a:tcPr marL="54864" marR="54864" marT="27432" marB="27432" anchor="ctr">
                    <a:solidFill>
                      <a:srgbClr val="101F34"/>
                    </a:solidFill>
                  </a:tcPr>
                </a:tc>
                <a:tc>
                  <a:txBody>
                    <a:bodyPr/>
                    <a:lstStyle/>
                    <a:p>
                      <a:r>
                        <a:rPr sz="1000" b="0" i="0">
                          <a:solidFill>
                            <a:srgbClr val="E8EEF6"/>
                          </a:solidFill>
                          <a:latin typeface="Calibri"/>
                        </a:rPr>
                        <a:t>int</a:t>
                      </a:r>
                    </a:p>
                  </a:txBody>
                  <a:tcPr marL="54864" marR="54864" marT="27432" marB="27432" anchor="ctr">
                    <a:solidFill>
                      <a:srgbClr val="101F34"/>
                    </a:solidFill>
                  </a:tcPr>
                </a:tc>
                <a:tc>
                  <a:txBody>
                    <a:bodyPr/>
                    <a:lstStyle/>
                    <a:p>
                      <a:r>
                        <a:rPr sz="1000" b="0" i="0">
                          <a:solidFill>
                            <a:srgbClr val="E8EEF6"/>
                          </a:solidFill>
                          <a:latin typeface="Calibri"/>
                        </a:rPr>
                        <a:t>Calls ufshcd_agg_desc(); fallback ufshcd_query_descriptor_retry()</a:t>
                      </a:r>
                    </a:p>
                  </a:txBody>
                  <a:tcPr marL="54864" marR="54864" marT="27432" marB="27432" anchor="ctr">
                    <a:solidFill>
                      <a:srgbClr val="101F34"/>
                    </a:solidFill>
                  </a:tcPr>
                </a:tc>
                <a:tc>
                  <a:txBody>
                    <a:bodyPr/>
                    <a:lstStyle/>
                    <a:p>
                      <a:r>
                        <a:rPr sz="1000" b="0" i="0">
                          <a:solidFill>
                            <a:srgbClr val="E8EEF6"/>
                          </a:solidFill>
                          <a:latin typeface="Calibri"/>
                        </a:rPr>
                        <a:t>Modified (P2)</a:t>
                      </a:r>
                    </a:p>
                  </a:txBody>
                  <a:tcPr marL="54864" marR="54864" marT="27432" marB="27432" anchor="ctr">
                    <a:solidFill>
                      <a:srgbClr val="101F34"/>
                    </a:solidFill>
                  </a:tcPr>
                </a:tc>
              </a:tr>
              <a:tr h="457200">
                <a:tc>
                  <a:txBody>
                    <a:bodyPr/>
                    <a:lstStyle/>
                    <a:p>
                      <a:r>
                        <a:rPr sz="1000" b="0" i="0">
                          <a:solidFill>
                            <a:srgbClr val="E8EEF6"/>
                          </a:solidFill>
                          <a:latin typeface="Calibri"/>
                        </a:rPr>
                        <a:t>ufshcd_get_ref_clk_gating_wait()</a:t>
                      </a:r>
                    </a:p>
                  </a:txBody>
                  <a:tcPr marL="54864" marR="54864" marT="27432" marB="27432" anchor="ctr">
                    <a:solidFill>
                      <a:srgbClr val="14243B"/>
                    </a:solidFill>
                  </a:tcPr>
                </a:tc>
                <a:tc>
                  <a:txBody>
                    <a:bodyPr/>
                    <a:lstStyle/>
                    <a:p>
                      <a:r>
                        <a:rPr sz="1000" b="0" i="0">
                          <a:solidFill>
                            <a:srgbClr val="E8EEF6"/>
                          </a:solidFill>
                          <a:latin typeface="Calibri"/>
                        </a:rPr>
                        <a:t>bRefClkGatingWaitTime read if wspecversion ≥ 0x300</a:t>
                      </a:r>
                    </a:p>
                  </a:txBody>
                  <a:tcPr marL="54864" marR="54864" marT="27432" marB="27432" anchor="ctr">
                    <a:solidFill>
                      <a:srgbClr val="14243B"/>
                    </a:solidFill>
                  </a:tcPr>
                </a:tc>
                <a:tc>
                  <a:txBody>
                    <a:bodyPr/>
                    <a:lstStyle/>
                    <a:p>
                      <a:r>
                        <a:rPr sz="1000" b="0" i="0">
                          <a:solidFill>
                            <a:srgbClr val="E8EEF6"/>
                          </a:solidFill>
                          <a:latin typeface="Calibri"/>
                        </a:rPr>
                        <a:t>hba</a:t>
                      </a:r>
                    </a:p>
                  </a:txBody>
                  <a:tcPr marL="54864" marR="54864" marT="27432" marB="27432" anchor="ctr">
                    <a:solidFill>
                      <a:srgbClr val="14243B"/>
                    </a:solidFill>
                  </a:tcPr>
                </a:tc>
                <a:tc>
                  <a:txBody>
                    <a:bodyPr/>
                    <a:lstStyle/>
                    <a:p>
                      <a:r>
                        <a:rPr sz="1000" b="0" i="0">
                          <a:solidFill>
                            <a:srgbClr val="E8EEF6"/>
                          </a:solidFill>
                          <a:latin typeface="Calibri"/>
                        </a:rPr>
                        <a:t>int</a:t>
                      </a:r>
                    </a:p>
                  </a:txBody>
                  <a:tcPr marL="54864" marR="54864" marT="27432" marB="27432" anchor="ctr">
                    <a:solidFill>
                      <a:srgbClr val="14243B"/>
                    </a:solidFill>
                  </a:tcPr>
                </a:tc>
                <a:tc>
                  <a:txBody>
                    <a:bodyPr/>
                    <a:lstStyle/>
                    <a:p>
                      <a:r>
                        <a:rPr sz="1000" b="0" i="0">
                          <a:solidFill>
                            <a:srgbClr val="E8EEF6"/>
                          </a:solidFill>
                          <a:latin typeface="Calibri"/>
                        </a:rPr>
                        <a:t>Called by ufshcd_device_params_init() (context); calls ufshcd_read_attr()</a:t>
                      </a:r>
                    </a:p>
                  </a:txBody>
                  <a:tcPr marL="54864" marR="54864" marT="27432" marB="27432" anchor="ctr">
                    <a:solidFill>
                      <a:srgbClr val="14243B"/>
                    </a:solidFill>
                  </a:tcPr>
                </a:tc>
                <a:tc>
                  <a:txBody>
                    <a:bodyPr/>
                    <a:lstStyle/>
                    <a:p>
                      <a:r>
                        <a:rPr sz="1000" b="0" i="0">
                          <a:solidFill>
                            <a:srgbClr val="E8EEF6"/>
                          </a:solidFill>
                          <a:latin typeface="Calibri"/>
                        </a:rPr>
                        <a:t>Modified (P2)</a:t>
                      </a:r>
                    </a:p>
                  </a:txBody>
                  <a:tcPr marL="54864" marR="54864" marT="27432" marB="27432" anchor="ctr">
                    <a:solidFill>
                      <a:srgbClr val="14243B"/>
                    </a:solidFill>
                  </a:tcPr>
                </a:tc>
              </a:tr>
              <a:tr h="457200">
                <a:tc>
                  <a:txBody>
                    <a:bodyPr/>
                    <a:lstStyle/>
                    <a:p>
                      <a:r>
                        <a:rPr sz="1000" b="0" i="0">
                          <a:solidFill>
                            <a:srgbClr val="E8EEF6"/>
                          </a:solidFill>
                          <a:latin typeface="Calibri"/>
                        </a:rPr>
                        <a:t>ufshcd_is_wb_buf_lifetime_available()</a:t>
                      </a:r>
                    </a:p>
                  </a:txBody>
                  <a:tcPr marL="54864" marR="54864" marT="27432" marB="27432" anchor="ctr">
                    <a:solidFill>
                      <a:srgbClr val="101F34"/>
                    </a:solidFill>
                  </a:tcPr>
                </a:tc>
                <a:tc>
                  <a:txBody>
                    <a:bodyPr/>
                    <a:lstStyle/>
                    <a:p>
                      <a:r>
                        <a:rPr sz="1000" b="0" i="0">
                          <a:solidFill>
                            <a:srgbClr val="E8EEF6"/>
                          </a:solidFill>
                          <a:latin typeface="Calibri"/>
                        </a:rPr>
                        <a:t>WB lifetime attribute read</a:t>
                      </a:r>
                    </a:p>
                  </a:txBody>
                  <a:tcPr marL="54864" marR="54864" marT="27432" marB="27432" anchor="ctr">
                    <a:solidFill>
                      <a:srgbClr val="101F34"/>
                    </a:solidFill>
                  </a:tcPr>
                </a:tc>
                <a:tc>
                  <a:txBody>
                    <a:bodyPr/>
                    <a:lstStyle/>
                    <a:p>
                      <a:r>
                        <a:rPr sz="1000" b="0" i="0">
                          <a:solidFill>
                            <a:srgbClr val="E8EEF6"/>
                          </a:solidFill>
                          <a:latin typeface="Calibri"/>
                        </a:rPr>
                        <a:t>hba</a:t>
                      </a:r>
                    </a:p>
                  </a:txBody>
                  <a:tcPr marL="54864" marR="54864" marT="27432" marB="27432" anchor="ctr">
                    <a:solidFill>
                      <a:srgbClr val="101F34"/>
                    </a:solidFill>
                  </a:tcPr>
                </a:tc>
                <a:tc>
                  <a:txBody>
                    <a:bodyPr/>
                    <a:lstStyle/>
                    <a:p>
                      <a:r>
                        <a:rPr sz="1000" b="0" i="0">
                          <a:solidFill>
                            <a:srgbClr val="E8EEF6"/>
                          </a:solidFill>
                          <a:latin typeface="Calibri"/>
                        </a:rPr>
                        <a:t>bool</a:t>
                      </a:r>
                    </a:p>
                  </a:txBody>
                  <a:tcPr marL="54864" marR="54864" marT="27432" marB="27432" anchor="ctr">
                    <a:solidFill>
                      <a:srgbClr val="101F34"/>
                    </a:solidFill>
                  </a:tcPr>
                </a:tc>
                <a:tc>
                  <a:txBody>
                    <a:bodyPr/>
                    <a:lstStyle/>
                    <a:p>
                      <a:r>
                        <a:rPr sz="1000" b="0" i="0">
                          <a:solidFill>
                            <a:srgbClr val="E8EEF6"/>
                          </a:solidFill>
                          <a:latin typeface="Calibri"/>
                        </a:rPr>
                        <a:t>Calls ufshcd_read_attr(); caller and ufshcd_wb_probe() link not established</a:t>
                      </a:r>
                    </a:p>
                  </a:txBody>
                  <a:tcPr marL="54864" marR="54864" marT="27432" marB="27432" anchor="ctr">
                    <a:solidFill>
                      <a:srgbClr val="101F34"/>
                    </a:solidFill>
                  </a:tcPr>
                </a:tc>
                <a:tc>
                  <a:txBody>
                    <a:bodyPr/>
                    <a:lstStyle/>
                    <a:p>
                      <a:r>
                        <a:rPr sz="1000" b="0" i="0">
                          <a:solidFill>
                            <a:srgbClr val="E8EEF6"/>
                          </a:solidFill>
                          <a:latin typeface="Calibri"/>
                        </a:rPr>
                        <a:t>Modified (P2)</a:t>
                      </a:r>
                    </a:p>
                  </a:txBody>
                  <a:tcPr marL="54864" marR="54864" marT="27432" marB="27432" anchor="ctr">
                    <a:solidFill>
                      <a:srgbClr val="101F34"/>
                    </a:solidFill>
                  </a:tcPr>
                </a:tc>
              </a:tr>
              <a:tr h="457200">
                <a:tc>
                  <a:txBody>
                    <a:bodyPr/>
                    <a:lstStyle/>
                    <a:p>
                      <a:r>
                        <a:rPr sz="1000" b="0" i="0">
                          <a:solidFill>
                            <a:srgbClr val="E8EEF6"/>
                          </a:solidFill>
                          <a:latin typeface="Calibri"/>
                        </a:rPr>
                        <a:t>ufshcd_set_rtt()</a:t>
                      </a:r>
                    </a:p>
                  </a:txBody>
                  <a:tcPr marL="54864" marR="54864" marT="27432" marB="27432" anchor="ctr">
                    <a:solidFill>
                      <a:srgbClr val="14243B"/>
                    </a:solidFill>
                  </a:tcPr>
                </a:tc>
                <a:tc>
                  <a:txBody>
                    <a:bodyPr/>
                    <a:lstStyle/>
                    <a:p>
                      <a:r>
                        <a:rPr sz="1000" b="0" i="0">
                          <a:solidFill>
                            <a:srgbClr val="E8EEF6"/>
                          </a:solidFill>
                          <a:latin typeface="Calibri"/>
                        </a:rPr>
                        <a:t>bMaxNumOfRTT read if wspecversion ≥ 0x400</a:t>
                      </a:r>
                    </a:p>
                  </a:txBody>
                  <a:tcPr marL="54864" marR="54864" marT="27432" marB="27432" anchor="ctr">
                    <a:solidFill>
                      <a:srgbClr val="14243B"/>
                    </a:solidFill>
                  </a:tcPr>
                </a:tc>
                <a:tc>
                  <a:txBody>
                    <a:bodyPr/>
                    <a:lstStyle/>
                    <a:p>
                      <a:r>
                        <a:rPr sz="1000" b="0" i="0">
                          <a:solidFill>
                            <a:srgbClr val="E8EEF6"/>
                          </a:solidFill>
                          <a:latin typeface="Calibri"/>
                        </a:rPr>
                        <a:t>hba</a:t>
                      </a:r>
                    </a:p>
                  </a:txBody>
                  <a:tcPr marL="54864" marR="54864" marT="27432" marB="27432" anchor="ctr">
                    <a:solidFill>
                      <a:srgbClr val="14243B"/>
                    </a:solidFill>
                  </a:tcPr>
                </a:tc>
                <a:tc>
                  <a:txBody>
                    <a:bodyPr/>
                    <a:lstStyle/>
                    <a:p>
                      <a:r>
                        <a:rPr sz="1000" b="0" i="0">
                          <a:solidFill>
                            <a:srgbClr val="E8EEF6"/>
                          </a:solidFill>
                          <a:latin typeface="Calibri"/>
                        </a:rPr>
                        <a:t>void</a:t>
                      </a:r>
                    </a:p>
                  </a:txBody>
                  <a:tcPr marL="54864" marR="54864" marT="27432" marB="27432" anchor="ctr">
                    <a:solidFill>
                      <a:srgbClr val="14243B"/>
                    </a:solidFill>
                  </a:tcPr>
                </a:tc>
                <a:tc>
                  <a:txBody>
                    <a:bodyPr/>
                    <a:lstStyle/>
                    <a:p>
                      <a:r>
                        <a:rPr sz="1000" b="0" i="0">
                          <a:solidFill>
                            <a:srgbClr val="E8EEF6"/>
                          </a:solidFill>
                          <a:latin typeface="Calibri"/>
                        </a:rPr>
                        <a:t>Calls ufshcd_read_attr(); caller not in diff</a:t>
                      </a:r>
                    </a:p>
                  </a:txBody>
                  <a:tcPr marL="54864" marR="54864" marT="27432" marB="27432" anchor="ctr">
                    <a:solidFill>
                      <a:srgbClr val="14243B"/>
                    </a:solidFill>
                  </a:tcPr>
                </a:tc>
                <a:tc>
                  <a:txBody>
                    <a:bodyPr/>
                    <a:lstStyle/>
                    <a:p>
                      <a:r>
                        <a:rPr sz="1000" b="0" i="0">
                          <a:solidFill>
                            <a:srgbClr val="E8EEF6"/>
                          </a:solidFill>
                          <a:latin typeface="Calibri"/>
                        </a:rPr>
                        <a:t>Modified (P2)</a:t>
                      </a:r>
                    </a:p>
                  </a:txBody>
                  <a:tcPr marL="54864" marR="54864" marT="27432" marB="27432" anchor="ctr">
                    <a:solidFill>
                      <a:srgbClr val="14243B"/>
                    </a:solidFill>
                  </a:tcPr>
                </a:tc>
              </a:tr>
              <a:tr h="457200">
                <a:tc>
                  <a:txBody>
                    <a:bodyPr/>
                    <a:lstStyle/>
                    <a:p>
                      <a:r>
                        <a:rPr sz="1000" b="0" i="0">
                          <a:solidFill>
                            <a:srgbClr val="E8EEF6"/>
                          </a:solidFill>
                          <a:latin typeface="Calibri"/>
                        </a:rPr>
                        <a:t>ufs_get_device_desc()</a:t>
                      </a:r>
                    </a:p>
                  </a:txBody>
                  <a:tcPr marL="54864" marR="54864" marT="27432" marB="27432" anchor="ctr">
                    <a:solidFill>
                      <a:srgbClr val="101F34"/>
                    </a:solidFill>
                  </a:tcPr>
                </a:tc>
                <a:tc>
                  <a:txBody>
                    <a:bodyPr/>
                    <a:lstStyle/>
                    <a:p>
                      <a:r>
                        <a:rPr sz="1000" b="0" i="0">
                          <a:solidFill>
                            <a:srgbClr val="E8EEF6"/>
                          </a:solidFill>
                          <a:latin typeface="Calibri"/>
                        </a:rPr>
                        <a:t>Parse device desc; fill agg_str_idx[]; start cache</a:t>
                      </a:r>
                    </a:p>
                  </a:txBody>
                  <a:tcPr marL="54864" marR="54864" marT="27432" marB="27432" anchor="ctr">
                    <a:solidFill>
                      <a:srgbClr val="101F34"/>
                    </a:solidFill>
                  </a:tcPr>
                </a:tc>
                <a:tc>
                  <a:txBody>
                    <a:bodyPr/>
                    <a:lstStyle/>
                    <a:p>
                      <a:r>
                        <a:rPr sz="1000" b="0" i="0">
                          <a:solidFill>
                            <a:srgbClr val="E8EEF6"/>
                          </a:solidFill>
                          <a:latin typeface="Calibri"/>
                        </a:rPr>
                        <a:t>hba</a:t>
                      </a:r>
                    </a:p>
                  </a:txBody>
                  <a:tcPr marL="54864" marR="54864" marT="27432" marB="27432" anchor="ctr">
                    <a:solidFill>
                      <a:srgbClr val="101F34"/>
                    </a:solidFill>
                  </a:tcPr>
                </a:tc>
                <a:tc>
                  <a:txBody>
                    <a:bodyPr/>
                    <a:lstStyle/>
                    <a:p>
                      <a:r>
                        <a:rPr sz="1000" b="0" i="0">
                          <a:solidFill>
                            <a:srgbClr val="E8EEF6"/>
                          </a:solidFill>
                          <a:latin typeface="Calibri"/>
                        </a:rPr>
                        <a:t>int</a:t>
                      </a:r>
                    </a:p>
                  </a:txBody>
                  <a:tcPr marL="54864" marR="54864" marT="27432" marB="27432" anchor="ctr">
                    <a:solidFill>
                      <a:srgbClr val="101F34"/>
                    </a:solidFill>
                  </a:tcPr>
                </a:tc>
                <a:tc>
                  <a:txBody>
                    <a:bodyPr/>
                    <a:lstStyle/>
                    <a:p>
                      <a:r>
                        <a:rPr sz="1000" b="0" i="0">
                          <a:solidFill>
                            <a:srgbClr val="E8EEF6"/>
                          </a:solidFill>
                          <a:latin typeface="Calibri"/>
                        </a:rPr>
                        <a:t>Calls ufshcd_agg_read_begin()</a:t>
                      </a:r>
                    </a:p>
                  </a:txBody>
                  <a:tcPr marL="54864" marR="54864" marT="27432" marB="27432" anchor="ctr">
                    <a:solidFill>
                      <a:srgbClr val="101F34"/>
                    </a:solidFill>
                  </a:tcPr>
                </a:tc>
                <a:tc>
                  <a:txBody>
                    <a:bodyPr/>
                    <a:lstStyle/>
                    <a:p>
                      <a:r>
                        <a:rPr sz="1000" b="0" i="0">
                          <a:solidFill>
                            <a:srgbClr val="E8EEF6"/>
                          </a:solidFill>
                          <a:latin typeface="Calibri"/>
                        </a:rPr>
                        <a:t>Modified (P2)</a:t>
                      </a:r>
                    </a:p>
                  </a:txBody>
                  <a:tcPr marL="54864" marR="54864" marT="27432" marB="27432" anchor="ctr">
                    <a:solidFill>
                      <a:srgbClr val="101F34"/>
                    </a:solidFill>
                  </a:tcPr>
                </a:tc>
              </a:tr>
              <a:tr h="457200">
                <a:tc>
                  <a:txBody>
                    <a:bodyPr/>
                    <a:lstStyle/>
                    <a:p>
                      <a:r>
                        <a:rPr sz="1000" b="0" i="0">
                          <a:solidFill>
                            <a:srgbClr val="E8EEF6"/>
                          </a:solidFill>
                          <a:latin typeface="Calibri"/>
                        </a:rPr>
                        <a:t>ufshcd_device_params_init()</a:t>
                      </a:r>
                    </a:p>
                  </a:txBody>
                  <a:tcPr marL="54864" marR="54864" marT="27432" marB="27432" anchor="ctr">
                    <a:solidFill>
                      <a:srgbClr val="14243B"/>
                    </a:solidFill>
                  </a:tcPr>
                </a:tc>
                <a:tc>
                  <a:txBody>
                    <a:bodyPr/>
                    <a:lstStyle/>
                    <a:p>
                      <a:r>
                        <a:rPr sz="1000" b="0" i="0">
                          <a:solidFill>
                            <a:srgbClr val="E8EEF6"/>
                          </a:solidFill>
                          <a:latin typeface="Calibri"/>
                        </a:rPr>
                        <a:t>Init params; flag read; end cache</a:t>
                      </a:r>
                    </a:p>
                  </a:txBody>
                  <a:tcPr marL="54864" marR="54864" marT="27432" marB="27432" anchor="ctr">
                    <a:solidFill>
                      <a:srgbClr val="14243B"/>
                    </a:solidFill>
                  </a:tcPr>
                </a:tc>
                <a:tc>
                  <a:txBody>
                    <a:bodyPr/>
                    <a:lstStyle/>
                    <a:p>
                      <a:r>
                        <a:rPr sz="1000" b="0" i="0">
                          <a:solidFill>
                            <a:srgbClr val="E8EEF6"/>
                          </a:solidFill>
                          <a:latin typeface="Calibri"/>
                        </a:rPr>
                        <a:t>hba</a:t>
                      </a:r>
                    </a:p>
                  </a:txBody>
                  <a:tcPr marL="54864" marR="54864" marT="27432" marB="27432" anchor="ctr">
                    <a:solidFill>
                      <a:srgbClr val="14243B"/>
                    </a:solidFill>
                  </a:tcPr>
                </a:tc>
                <a:tc>
                  <a:txBody>
                    <a:bodyPr/>
                    <a:lstStyle/>
                    <a:p>
                      <a:r>
                        <a:rPr sz="1000" b="0" i="0">
                          <a:solidFill>
                            <a:srgbClr val="E8EEF6"/>
                          </a:solidFill>
                          <a:latin typeface="Calibri"/>
                        </a:rPr>
                        <a:t>int</a:t>
                      </a:r>
                    </a:p>
                  </a:txBody>
                  <a:tcPr marL="54864" marR="54864" marT="27432" marB="27432" anchor="ctr">
                    <a:solidFill>
                      <a:srgbClr val="14243B"/>
                    </a:solidFill>
                  </a:tcPr>
                </a:tc>
                <a:tc>
                  <a:txBody>
                    <a:bodyPr/>
                    <a:lstStyle/>
                    <a:p>
                      <a:r>
                        <a:rPr sz="1000" b="0" i="0">
                          <a:solidFill>
                            <a:srgbClr val="E8EEF6"/>
                          </a:solidFill>
                          <a:latin typeface="Calibri"/>
                        </a:rPr>
                        <a:t>Calls ufshcd_get_ref_clk_gating_wait(), ufshcd_read_flag(), ufshcd_agg_read_end()</a:t>
                      </a:r>
                    </a:p>
                  </a:txBody>
                  <a:tcPr marL="54864" marR="54864" marT="27432" marB="27432" anchor="ctr">
                    <a:solidFill>
                      <a:srgbClr val="14243B"/>
                    </a:solidFill>
                  </a:tcPr>
                </a:tc>
                <a:tc>
                  <a:txBody>
                    <a:bodyPr/>
                    <a:lstStyle/>
                    <a:p>
                      <a:r>
                        <a:rPr sz="1000" b="0" i="0">
                          <a:solidFill>
                            <a:srgbClr val="E8EEF6"/>
                          </a:solidFill>
                          <a:latin typeface="Calibri"/>
                        </a:rPr>
                        <a:t>Modified (P2)</a:t>
                      </a:r>
                    </a:p>
                  </a:txBody>
                  <a:tcPr marL="54864" marR="54864" marT="27432" marB="27432" anchor="ctr">
                    <a:solidFill>
                      <a:srgbClr val="14243B"/>
                    </a:solidFill>
                  </a:tcPr>
                </a:tc>
              </a:tr>
              <a:tr h="457200">
                <a:tc>
                  <a:txBody>
                    <a:bodyPr/>
                    <a:lstStyle/>
                    <a:p>
                      <a:r>
                        <a:rPr sz="1000" b="0" i="0">
                          <a:solidFill>
                            <a:srgbClr val="E8EEF6"/>
                          </a:solidFill>
                          <a:latin typeface="Calibri"/>
                        </a:rPr>
                        <a:t>ufshcd_wb_probe() / ufshcd_create_device_id()</a:t>
                      </a:r>
                    </a:p>
                  </a:txBody>
                  <a:tcPr marL="54864" marR="54864" marT="27432" marB="27432" anchor="ctr">
                    <a:solidFill>
                      <a:srgbClr val="101F34"/>
                    </a:solidFill>
                  </a:tcPr>
                </a:tc>
                <a:tc>
                  <a:txBody>
                    <a:bodyPr/>
                    <a:lstStyle/>
                    <a:p>
                      <a:r>
                        <a:rPr sz="1000" b="0" i="0">
                          <a:solidFill>
                            <a:srgbClr val="E8EEF6"/>
                          </a:solidFill>
                          <a:latin typeface="Calibri"/>
                        </a:rPr>
                        <a:t>Named in commit message</a:t>
                      </a:r>
                    </a:p>
                  </a:txBody>
                  <a:tcPr marL="54864" marR="54864" marT="27432" marB="27432" anchor="ctr">
                    <a:solidFill>
                      <a:srgbClr val="101F34"/>
                    </a:solidFill>
                  </a:tcPr>
                </a:tc>
                <a:tc>
                  <a:txBody>
                    <a:bodyPr/>
                    <a:lstStyle/>
                    <a:p>
                      <a:r>
                        <a:rPr sz="1000" b="0" i="0">
                          <a:solidFill>
                            <a:srgbClr val="E8EEF6"/>
                          </a:solidFill>
                          <a:latin typeface="Calibri"/>
                        </a:rPr>
                        <a:t>n/a</a:t>
                      </a:r>
                    </a:p>
                  </a:txBody>
                  <a:tcPr marL="54864" marR="54864" marT="27432" marB="27432" anchor="ctr">
                    <a:solidFill>
                      <a:srgbClr val="101F34"/>
                    </a:solidFill>
                  </a:tcPr>
                </a:tc>
                <a:tc>
                  <a:txBody>
                    <a:bodyPr/>
                    <a:lstStyle/>
                    <a:p>
                      <a:r>
                        <a:rPr sz="1000" b="0" i="0">
                          <a:solidFill>
                            <a:srgbClr val="E8EEF6"/>
                          </a:solidFill>
                          <a:latin typeface="Calibri"/>
                        </a:rPr>
                        <a:t>n/a</a:t>
                      </a:r>
                    </a:p>
                  </a:txBody>
                  <a:tcPr marL="54864" marR="54864" marT="27432" marB="27432" anchor="ctr">
                    <a:solidFill>
                      <a:srgbClr val="101F34"/>
                    </a:solidFill>
                  </a:tcPr>
                </a:tc>
                <a:tc>
                  <a:txBody>
                    <a:bodyPr/>
                    <a:lstStyle/>
                    <a:p>
                      <a:r>
                        <a:rPr sz="1000" b="0" i="0">
                          <a:solidFill>
                            <a:srgbClr val="E8EEF6"/>
                          </a:solidFill>
                          <a:latin typeface="Calibri"/>
                        </a:rPr>
                        <a:t>Not in diff: relationship not established; not directly called by new code</a:t>
                      </a:r>
                    </a:p>
                  </a:txBody>
                  <a:tcPr marL="54864" marR="54864" marT="27432" marB="27432" anchor="ctr">
                    <a:solidFill>
                      <a:srgbClr val="101F34"/>
                    </a:solidFill>
                  </a:tcPr>
                </a:tc>
                <a:tc>
                  <a:txBody>
                    <a:bodyPr/>
                    <a:lstStyle/>
                    <a:p>
                      <a:r>
                        <a:rPr sz="1000" b="0" i="0">
                          <a:solidFill>
                            <a:srgbClr val="E8EEF6"/>
                          </a:solidFill>
                          <a:latin typeface="Calibri"/>
                        </a:rPr>
                        <a:t>Not modified</a:t>
                      </a:r>
                    </a:p>
                  </a:txBody>
                  <a:tcPr marL="54864" marR="54864" marT="27432" marB="27432" anchor="ctr">
                    <a:solidFill>
                      <a:srgbClr val="101F34"/>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626"/>
        </a:solidFill>
        <a:effectLst/>
      </p:bgPr>
    </p:bg>
    <p:spTree>
      <p:nvGrpSpPr>
        <p:cNvPr id="1" name=""/>
        <p:cNvGrpSpPr/>
        <p:nvPr/>
      </p:nvGrpSpPr>
      <p:grpSpPr/>
      <p:sp>
        <p:nvSpPr>
          <p:cNvPr id="2" name="Title"/>
          <p:cNvSpPr txBox="1"/>
          <p:nvPr/>
        </p:nvSpPr>
        <p:spPr>
          <a:xfrm>
            <a:off x="457200" y="274320"/>
            <a:ext cx="11247120" cy="548640"/>
          </a:xfrm>
          <a:prstGeom prst="rect">
            <a:avLst/>
          </a:prstGeom>
          <a:noFill/>
        </p:spPr>
        <p:txBody>
          <a:bodyPr wrap="square" anchor="ctr" lIns="36576" rIns="36576" tIns="18288" bIns="18288">
            <a:spAutoFit/>
          </a:bodyPr>
          <a:lstStyle/>
          <a:p>
            <a:r>
              <a:rPr sz="2400" b="1" i="0">
                <a:solidFill>
                  <a:srgbClr val="E8EEF6"/>
                </a:solidFill>
                <a:latin typeface="Calibri"/>
              </a:rPr>
              <a:t>Appendix A3: Attribute, Flag, Descriptor and String Data Paths</a:t>
            </a:r>
          </a:p>
        </p:txBody>
      </p:sp>
      <p:sp>
        <p:nvSpPr>
          <p:cNvPr id="3" name="Source"/>
          <p:cNvSpPr txBox="1"/>
          <p:nvPr/>
        </p:nvSpPr>
        <p:spPr>
          <a:xfrm>
            <a:off x="457200" y="6473952"/>
            <a:ext cx="10424160" cy="256032"/>
          </a:xfrm>
          <a:prstGeom prst="rect">
            <a:avLst/>
          </a:prstGeom>
          <a:noFill/>
        </p:spPr>
        <p:txBody>
          <a:bodyPr wrap="square" anchor="t" lIns="36576" rIns="36576" tIns="18288" bIns="18288">
            <a:spAutoFit/>
          </a:bodyPr>
          <a:lstStyle/>
          <a:p>
            <a:r>
              <a:rPr sz="1000" b="0" i="0">
                <a:solidFill>
                  <a:srgbClr val="A9B8CC"/>
                </a:solidFill>
                <a:latin typeface="Calibri"/>
              </a:rPr>
              <a:t>Source: drivers/ufs/core/ufshcd.c — ufshcd_agg_attr(), ufshcd_agg_flag(), ufshcd_agg_desc(), ufshcd_agg_string()</a:t>
            </a:r>
          </a:p>
        </p:txBody>
      </p:sp>
      <p:sp>
        <p:nvSpPr>
          <p:cNvPr id="4" name="Slide Number"/>
          <p:cNvSpPr txBox="1"/>
          <p:nvPr/>
        </p:nvSpPr>
        <p:spPr>
          <a:xfrm>
            <a:off x="11064240" y="6473952"/>
            <a:ext cx="685800" cy="256032"/>
          </a:xfrm>
          <a:prstGeom prst="rect">
            <a:avLst/>
          </a:prstGeom>
          <a:noFill/>
        </p:spPr>
        <p:txBody>
          <a:bodyPr wrap="none">
            <a:spAutoFit/>
          </a:bodyPr>
          <a:lstStyle/>
          <a:p>
            <a:pPr algn="r"/>
            <a:fld id="{B6F15528-21DE-4FAA-801E-634DDDAF4B2B}" type="slidenum">
              <a:rPr lang="en-US" sz="1100">
                <a:solidFill>
                  <a:srgbClr val="A9B8CC"/>
                </a:solidFill>
                <a:latin typeface="Calibri"/>
              </a:rPr>
              <a:t>21</a:t>
            </a:fld>
          </a:p>
        </p:txBody>
      </p:sp>
      <p:sp>
        <p:nvSpPr>
          <p:cNvPr id="5" name="Block 1"/>
          <p:cNvSpPr/>
          <p:nvPr/>
        </p:nvSpPr>
        <p:spPr>
          <a:xfrm>
            <a:off x="457200" y="1143000"/>
            <a:ext cx="2926080" cy="685800"/>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2DD4BF"/>
                </a:solidFill>
                <a:latin typeface="Calibri"/>
              </a:rPr>
              <a:t>[1] </a:t>
            </a:r>
            <a:r>
              <a:rPr sz="1100" b="1" i="0">
                <a:solidFill>
                  <a:srgbClr val="E8EEF6"/>
                </a:solidFill>
                <a:latin typeface="Calibri"/>
              </a:rPr>
              <a:t>ufshcd_read_attr()</a:t>
            </a:r>
          </a:p>
          <a:p>
            <a:r>
              <a:rPr sz="1000" b="0" i="0">
                <a:solidFill>
                  <a:srgbClr val="A9B8CC"/>
                </a:solidFill>
                <a:latin typeface="Calibri"/>
              </a:rPr>
              <a:t>Attribute read</a:t>
            </a:r>
          </a:p>
        </p:txBody>
      </p:sp>
      <p:sp>
        <p:nvSpPr>
          <p:cNvPr id="6" name="Block 2"/>
          <p:cNvSpPr/>
          <p:nvPr/>
        </p:nvSpPr>
        <p:spPr>
          <a:xfrm>
            <a:off x="4023360" y="1143000"/>
            <a:ext cx="2651760" cy="685800"/>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2DD4BF"/>
                </a:solidFill>
                <a:latin typeface="Calibri"/>
              </a:rPr>
              <a:t>[2] </a:t>
            </a:r>
            <a:r>
              <a:rPr sz="1100" b="1" i="0">
                <a:solidFill>
                  <a:srgbClr val="E8EEF6"/>
                </a:solidFill>
                <a:latin typeface="Calibri"/>
              </a:rPr>
              <a:t>ufshcd_agg_attr()</a:t>
            </a:r>
          </a:p>
        </p:txBody>
      </p:sp>
      <p:sp>
        <p:nvSpPr>
          <p:cNvPr id="7" name="Block 3"/>
          <p:cNvSpPr/>
          <p:nvPr/>
        </p:nvSpPr>
        <p:spPr>
          <a:xfrm>
            <a:off x="7315200" y="1143000"/>
            <a:ext cx="4389120" cy="685800"/>
          </a:xfrm>
          <a:prstGeom prst="roundRect">
            <a:avLst>
              <a:gd name="adj" fmla="val 10000"/>
            </a:avLst>
          </a:prstGeom>
          <a:solidFill>
            <a:srgbClr val="1B304D"/>
          </a:solidFill>
          <a:ln w="15875">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2DD4BF"/>
                </a:solidFill>
                <a:latin typeface="Calibri"/>
              </a:rPr>
              <a:t>[3] </a:t>
            </a:r>
            <a:r>
              <a:rPr sz="1100" b="1" i="0">
                <a:solidFill>
                  <a:srgbClr val="E8EEF6"/>
                </a:solidFill>
                <a:latin typeface="Calibri"/>
              </a:rPr>
              <a:t>ATTRS group 0x02</a:t>
            </a:r>
          </a:p>
          <a:p>
            <a:r>
              <a:rPr sz="1000" b="0" i="0">
                <a:solidFill>
                  <a:srgbClr val="A9B8CC"/>
                </a:solidFill>
                <a:latin typeface="Calibri"/>
              </a:rPr>
              <a:t>values packed by IDN width, big-endian; offset = Σ widths below IDN</a:t>
            </a:r>
          </a:p>
        </p:txBody>
      </p:sp>
      <p:cxnSp>
        <p:nvCxnSpPr>
          <p:cNvPr id="8" name="Arrow A1"/>
          <p:cNvCxnSpPr>
            <a:stCxn id="5" idx="3"/>
            <a:endCxn id="6" idx="1"/>
          </p:cNvCxnSpPr>
          <p:nvPr/>
        </p:nvCxnSpPr>
        <p:spPr>
          <a:xfrm>
            <a:off x="3383280" y="1485900"/>
            <a:ext cx="640080" cy="0"/>
          </a:xfrm>
          <a:prstGeom prst="line">
            <a:avLst/>
          </a:prstGeom>
          <a:ln w="22225">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Label A1"/>
          <p:cNvSpPr/>
          <p:nvPr/>
        </p:nvSpPr>
        <p:spPr>
          <a:xfrm>
            <a:off x="3529584" y="1367028"/>
            <a:ext cx="347472" cy="237744"/>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A1</a:t>
            </a:r>
          </a:p>
        </p:txBody>
      </p:sp>
      <p:cxnSp>
        <p:nvCxnSpPr>
          <p:cNvPr id="10" name="Arrow A2"/>
          <p:cNvCxnSpPr>
            <a:stCxn id="6" idx="3"/>
            <a:endCxn id="7" idx="1"/>
          </p:cNvCxnSpPr>
          <p:nvPr/>
        </p:nvCxnSpPr>
        <p:spPr>
          <a:xfrm>
            <a:off x="6675120" y="1485900"/>
            <a:ext cx="640080" cy="0"/>
          </a:xfrm>
          <a:prstGeom prst="line">
            <a:avLst/>
          </a:prstGeom>
          <a:ln w="22225">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Label A2"/>
          <p:cNvSpPr/>
          <p:nvPr/>
        </p:nvSpPr>
        <p:spPr>
          <a:xfrm>
            <a:off x="6821424" y="1367028"/>
            <a:ext cx="347472" cy="237744"/>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A2</a:t>
            </a:r>
          </a:p>
        </p:txBody>
      </p:sp>
      <p:sp>
        <p:nvSpPr>
          <p:cNvPr id="12" name="Block 4"/>
          <p:cNvSpPr/>
          <p:nvPr/>
        </p:nvSpPr>
        <p:spPr>
          <a:xfrm>
            <a:off x="457200" y="2221991"/>
            <a:ext cx="2926080" cy="685800"/>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2DD4BF"/>
                </a:solidFill>
                <a:latin typeface="Calibri"/>
              </a:rPr>
              <a:t>[4] </a:t>
            </a:r>
            <a:r>
              <a:rPr sz="1100" b="1" i="0">
                <a:solidFill>
                  <a:srgbClr val="E8EEF6"/>
                </a:solidFill>
                <a:latin typeface="Calibri"/>
              </a:rPr>
              <a:t>ufshcd_read_flag()</a:t>
            </a:r>
          </a:p>
          <a:p>
            <a:r>
              <a:rPr sz="1000" b="0" i="0">
                <a:solidFill>
                  <a:srgbClr val="A9B8CC"/>
                </a:solidFill>
                <a:latin typeface="Calibri"/>
              </a:rPr>
              <a:t>Flag read</a:t>
            </a:r>
          </a:p>
        </p:txBody>
      </p:sp>
      <p:sp>
        <p:nvSpPr>
          <p:cNvPr id="13" name="Block 5"/>
          <p:cNvSpPr/>
          <p:nvPr/>
        </p:nvSpPr>
        <p:spPr>
          <a:xfrm>
            <a:off x="4023360" y="2221991"/>
            <a:ext cx="2651760" cy="685800"/>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2DD4BF"/>
                </a:solidFill>
                <a:latin typeface="Calibri"/>
              </a:rPr>
              <a:t>[5] </a:t>
            </a:r>
            <a:r>
              <a:rPr sz="1100" b="1" i="0">
                <a:solidFill>
                  <a:srgbClr val="E8EEF6"/>
                </a:solidFill>
                <a:latin typeface="Calibri"/>
              </a:rPr>
              <a:t>ufshcd_agg_flag()</a:t>
            </a:r>
          </a:p>
        </p:txBody>
      </p:sp>
      <p:sp>
        <p:nvSpPr>
          <p:cNvPr id="14" name="Block 6"/>
          <p:cNvSpPr/>
          <p:nvPr/>
        </p:nvSpPr>
        <p:spPr>
          <a:xfrm>
            <a:off x="7315200" y="2221991"/>
            <a:ext cx="4389120" cy="685800"/>
          </a:xfrm>
          <a:prstGeom prst="roundRect">
            <a:avLst>
              <a:gd name="adj" fmla="val 10000"/>
            </a:avLst>
          </a:prstGeom>
          <a:solidFill>
            <a:srgbClr val="1B304D"/>
          </a:solidFill>
          <a:ln w="15875">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2DD4BF"/>
                </a:solidFill>
                <a:latin typeface="Calibri"/>
              </a:rPr>
              <a:t>[6] </a:t>
            </a:r>
            <a:r>
              <a:rPr sz="1100" b="1" i="0">
                <a:solidFill>
                  <a:srgbClr val="E8EEF6"/>
                </a:solidFill>
                <a:latin typeface="Calibri"/>
              </a:rPr>
              <a:t>FLAGS group 0x01</a:t>
            </a:r>
          </a:p>
          <a:p>
            <a:r>
              <a:rPr sz="1000" b="0" i="0">
                <a:solidFill>
                  <a:srgbClr val="A9B8CC"/>
                </a:solidFill>
                <a:latin typeface="Calibri"/>
              </a:rPr>
              <a:t>one byte per flag, indexed by IDN</a:t>
            </a:r>
          </a:p>
        </p:txBody>
      </p:sp>
      <p:cxnSp>
        <p:nvCxnSpPr>
          <p:cNvPr id="15" name="Arrow A3"/>
          <p:cNvCxnSpPr>
            <a:stCxn id="12" idx="3"/>
            <a:endCxn id="13" idx="1"/>
          </p:cNvCxnSpPr>
          <p:nvPr/>
        </p:nvCxnSpPr>
        <p:spPr>
          <a:xfrm>
            <a:off x="3383280" y="2564891"/>
            <a:ext cx="640080" cy="0"/>
          </a:xfrm>
          <a:prstGeom prst="line">
            <a:avLst/>
          </a:prstGeom>
          <a:ln w="22225">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Label A3"/>
          <p:cNvSpPr/>
          <p:nvPr/>
        </p:nvSpPr>
        <p:spPr>
          <a:xfrm>
            <a:off x="3529584" y="2446020"/>
            <a:ext cx="347472" cy="237744"/>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A3</a:t>
            </a:r>
          </a:p>
        </p:txBody>
      </p:sp>
      <p:cxnSp>
        <p:nvCxnSpPr>
          <p:cNvPr id="17" name="Arrow A4"/>
          <p:cNvCxnSpPr>
            <a:stCxn id="13" idx="3"/>
            <a:endCxn id="14" idx="1"/>
          </p:cNvCxnSpPr>
          <p:nvPr/>
        </p:nvCxnSpPr>
        <p:spPr>
          <a:xfrm>
            <a:off x="6675120" y="2564891"/>
            <a:ext cx="640080" cy="0"/>
          </a:xfrm>
          <a:prstGeom prst="line">
            <a:avLst/>
          </a:prstGeom>
          <a:ln w="22225">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Label A4"/>
          <p:cNvSpPr/>
          <p:nvPr/>
        </p:nvSpPr>
        <p:spPr>
          <a:xfrm>
            <a:off x="6821424" y="2446020"/>
            <a:ext cx="347472" cy="237744"/>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A4</a:t>
            </a:r>
          </a:p>
        </p:txBody>
      </p:sp>
      <p:sp>
        <p:nvSpPr>
          <p:cNvPr id="19" name="Block 7"/>
          <p:cNvSpPr/>
          <p:nvPr/>
        </p:nvSpPr>
        <p:spPr>
          <a:xfrm>
            <a:off x="457200" y="3300984"/>
            <a:ext cx="2926080" cy="685800"/>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2DD4BF"/>
                </a:solidFill>
                <a:latin typeface="Calibri"/>
              </a:rPr>
              <a:t>[7] </a:t>
            </a:r>
            <a:r>
              <a:rPr sz="1100" b="1" i="0">
                <a:solidFill>
                  <a:srgbClr val="E8EEF6"/>
                </a:solidFill>
                <a:latin typeface="Calibri"/>
              </a:rPr>
              <a:t>ufshcd_read_desc_param()</a:t>
            </a:r>
          </a:p>
          <a:p>
            <a:r>
              <a:rPr sz="1000" b="0" i="0">
                <a:solidFill>
                  <a:srgbClr val="A9B8CC"/>
                </a:solidFill>
                <a:latin typeface="Calibri"/>
              </a:rPr>
              <a:t>Descriptor read</a:t>
            </a:r>
          </a:p>
        </p:txBody>
      </p:sp>
      <p:sp>
        <p:nvSpPr>
          <p:cNvPr id="20" name="Block 8"/>
          <p:cNvSpPr/>
          <p:nvPr/>
        </p:nvSpPr>
        <p:spPr>
          <a:xfrm>
            <a:off x="4023360" y="3300984"/>
            <a:ext cx="2651760" cy="685800"/>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2DD4BF"/>
                </a:solidFill>
                <a:latin typeface="Calibri"/>
              </a:rPr>
              <a:t>[8] </a:t>
            </a:r>
            <a:r>
              <a:rPr sz="1100" b="1" i="0">
                <a:solidFill>
                  <a:srgbClr val="E8EEF6"/>
                </a:solidFill>
                <a:latin typeface="Calibri"/>
              </a:rPr>
              <a:t>ufshcd_agg_desc()</a:t>
            </a:r>
          </a:p>
        </p:txBody>
      </p:sp>
      <p:sp>
        <p:nvSpPr>
          <p:cNvPr id="21" name="Block 9"/>
          <p:cNvSpPr/>
          <p:nvPr/>
        </p:nvSpPr>
        <p:spPr>
          <a:xfrm>
            <a:off x="7315200" y="3300984"/>
            <a:ext cx="4389120" cy="685800"/>
          </a:xfrm>
          <a:prstGeom prst="roundRect">
            <a:avLst>
              <a:gd name="adj" fmla="val 10000"/>
            </a:avLst>
          </a:prstGeom>
          <a:solidFill>
            <a:srgbClr val="1B304D"/>
          </a:solidFill>
          <a:ln w="15875">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2DD4BF"/>
                </a:solidFill>
                <a:latin typeface="Calibri"/>
              </a:rPr>
              <a:t>[9] </a:t>
            </a:r>
            <a:r>
              <a:rPr sz="1100" b="1" i="0">
                <a:solidFill>
                  <a:srgbClr val="E8EEF6"/>
                </a:solidFill>
                <a:latin typeface="Calibri"/>
              </a:rPr>
              <a:t>DESCS group 0x03</a:t>
            </a:r>
          </a:p>
          <a:p>
            <a:r>
              <a:rPr sz="1000" b="0" i="0">
                <a:solidFill>
                  <a:srgbClr val="A9B8CC"/>
                </a:solidFill>
                <a:latin typeface="Calibri"/>
              </a:rPr>
              <a:t>back-to-back descriptors with length byte (not requested here)</a:t>
            </a:r>
          </a:p>
        </p:txBody>
      </p:sp>
      <p:cxnSp>
        <p:nvCxnSpPr>
          <p:cNvPr id="22" name="Arrow A5"/>
          <p:cNvCxnSpPr>
            <a:stCxn id="19" idx="3"/>
            <a:endCxn id="20" idx="1"/>
          </p:cNvCxnSpPr>
          <p:nvPr/>
        </p:nvCxnSpPr>
        <p:spPr>
          <a:xfrm>
            <a:off x="3383280" y="3643884"/>
            <a:ext cx="640080" cy="0"/>
          </a:xfrm>
          <a:prstGeom prst="line">
            <a:avLst/>
          </a:prstGeom>
          <a:ln w="22225">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Label A5"/>
          <p:cNvSpPr/>
          <p:nvPr/>
        </p:nvSpPr>
        <p:spPr>
          <a:xfrm>
            <a:off x="3529584" y="3525012"/>
            <a:ext cx="347472" cy="237744"/>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A5</a:t>
            </a:r>
          </a:p>
        </p:txBody>
      </p:sp>
      <p:cxnSp>
        <p:nvCxnSpPr>
          <p:cNvPr id="24" name="Arrow A6"/>
          <p:cNvCxnSpPr>
            <a:stCxn id="20" idx="3"/>
            <a:endCxn id="21" idx="1"/>
          </p:cNvCxnSpPr>
          <p:nvPr/>
        </p:nvCxnSpPr>
        <p:spPr>
          <a:xfrm>
            <a:off x="6675120" y="3643884"/>
            <a:ext cx="640080" cy="0"/>
          </a:xfrm>
          <a:prstGeom prst="line">
            <a:avLst/>
          </a:prstGeom>
          <a:ln w="22225">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Label A6"/>
          <p:cNvSpPr/>
          <p:nvPr/>
        </p:nvSpPr>
        <p:spPr>
          <a:xfrm>
            <a:off x="6821424" y="3525012"/>
            <a:ext cx="347472" cy="237744"/>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A6</a:t>
            </a:r>
          </a:p>
        </p:txBody>
      </p:sp>
      <p:sp>
        <p:nvSpPr>
          <p:cNvPr id="26" name="Block 10"/>
          <p:cNvSpPr/>
          <p:nvPr/>
        </p:nvSpPr>
        <p:spPr>
          <a:xfrm>
            <a:off x="457200" y="4379976"/>
            <a:ext cx="2926080" cy="685800"/>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2DD4BF"/>
                </a:solidFill>
                <a:latin typeface="Calibri"/>
              </a:rPr>
              <a:t>[10] </a:t>
            </a:r>
            <a:r>
              <a:rPr sz="1100" b="1" i="0">
                <a:solidFill>
                  <a:srgbClr val="E8EEF6"/>
                </a:solidFill>
                <a:latin typeface="Calibri"/>
              </a:rPr>
              <a:t>ufshcd_read_desc_param(STRING)</a:t>
            </a:r>
          </a:p>
          <a:p>
            <a:r>
              <a:rPr sz="1000" b="0" i="0">
                <a:solidFill>
                  <a:srgbClr val="A9B8CC"/>
                </a:solidFill>
                <a:latin typeface="Calibri"/>
              </a:rPr>
              <a:t>String read</a:t>
            </a:r>
          </a:p>
        </p:txBody>
      </p:sp>
      <p:sp>
        <p:nvSpPr>
          <p:cNvPr id="27" name="Block 11"/>
          <p:cNvSpPr/>
          <p:nvPr/>
        </p:nvSpPr>
        <p:spPr>
          <a:xfrm>
            <a:off x="4023360" y="4379976"/>
            <a:ext cx="2651760" cy="685800"/>
          </a:xfrm>
          <a:prstGeom prst="roundRect">
            <a:avLst>
              <a:gd name="adj" fmla="val 10000"/>
            </a:avLst>
          </a:prstGeom>
          <a:solidFill>
            <a:srgbClr val="1B304D"/>
          </a:solidFill>
          <a:ln w="1587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2DD4BF"/>
                </a:solidFill>
                <a:latin typeface="Calibri"/>
              </a:rPr>
              <a:t>[11] </a:t>
            </a:r>
            <a:r>
              <a:rPr sz="1100" b="1" i="0">
                <a:solidFill>
                  <a:srgbClr val="E8EEF6"/>
                </a:solidFill>
                <a:latin typeface="Calibri"/>
              </a:rPr>
              <a:t>ufshcd_agg_string()</a:t>
            </a:r>
          </a:p>
        </p:txBody>
      </p:sp>
      <p:sp>
        <p:nvSpPr>
          <p:cNvPr id="28" name="Block 12"/>
          <p:cNvSpPr/>
          <p:nvPr/>
        </p:nvSpPr>
        <p:spPr>
          <a:xfrm>
            <a:off x="7315200" y="4379976"/>
            <a:ext cx="4389120" cy="685800"/>
          </a:xfrm>
          <a:prstGeom prst="roundRect">
            <a:avLst>
              <a:gd name="adj" fmla="val 10000"/>
            </a:avLst>
          </a:prstGeom>
          <a:solidFill>
            <a:srgbClr val="1B304D"/>
          </a:solidFill>
          <a:ln w="15875">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2DD4BF"/>
                </a:solidFill>
                <a:latin typeface="Calibri"/>
              </a:rPr>
              <a:t>[12] </a:t>
            </a:r>
            <a:r>
              <a:rPr sz="1100" b="1" i="0">
                <a:solidFill>
                  <a:srgbClr val="E8EEF6"/>
                </a:solidFill>
                <a:latin typeface="Calibri"/>
              </a:rPr>
              <a:t>STR groups 0x04–0x08</a:t>
            </a:r>
          </a:p>
          <a:p>
            <a:r>
              <a:rPr sz="1000" b="0" i="0">
                <a:solidFill>
                  <a:srgbClr val="A9B8CC"/>
                </a:solidFill>
                <a:latin typeface="Calibri"/>
              </a:rPr>
              <a:t>one string descriptor per group, indexed via agg_str_idx[]</a:t>
            </a:r>
          </a:p>
        </p:txBody>
      </p:sp>
      <p:cxnSp>
        <p:nvCxnSpPr>
          <p:cNvPr id="29" name="Arrow A7"/>
          <p:cNvCxnSpPr>
            <a:stCxn id="26" idx="3"/>
            <a:endCxn id="27" idx="1"/>
          </p:cNvCxnSpPr>
          <p:nvPr/>
        </p:nvCxnSpPr>
        <p:spPr>
          <a:xfrm>
            <a:off x="3383280" y="4722876"/>
            <a:ext cx="640080" cy="0"/>
          </a:xfrm>
          <a:prstGeom prst="line">
            <a:avLst/>
          </a:prstGeom>
          <a:ln w="22225">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Label A7"/>
          <p:cNvSpPr/>
          <p:nvPr/>
        </p:nvSpPr>
        <p:spPr>
          <a:xfrm>
            <a:off x="3529584" y="4604004"/>
            <a:ext cx="347472" cy="237744"/>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A7</a:t>
            </a:r>
          </a:p>
        </p:txBody>
      </p:sp>
      <p:cxnSp>
        <p:nvCxnSpPr>
          <p:cNvPr id="31" name="Arrow A8"/>
          <p:cNvCxnSpPr>
            <a:stCxn id="27" idx="3"/>
            <a:endCxn id="28" idx="1"/>
          </p:cNvCxnSpPr>
          <p:nvPr/>
        </p:nvCxnSpPr>
        <p:spPr>
          <a:xfrm>
            <a:off x="6675120" y="4722876"/>
            <a:ext cx="640080" cy="0"/>
          </a:xfrm>
          <a:prstGeom prst="line">
            <a:avLst/>
          </a:prstGeom>
          <a:ln w="22225">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Label A8"/>
          <p:cNvSpPr/>
          <p:nvPr/>
        </p:nvSpPr>
        <p:spPr>
          <a:xfrm>
            <a:off x="6821424" y="4604004"/>
            <a:ext cx="347472" cy="237744"/>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1000" b="1" i="0">
                <a:solidFill>
                  <a:srgbClr val="0B1626"/>
                </a:solidFill>
                <a:latin typeface="Calibri"/>
              </a:rPr>
              <a:t>A8</a:t>
            </a:r>
          </a:p>
        </p:txBody>
      </p:sp>
      <p:sp>
        <p:nvSpPr>
          <p:cNvPr id="33" name="Legend key"/>
          <p:cNvSpPr txBox="1"/>
          <p:nvPr/>
        </p:nvSpPr>
        <p:spPr>
          <a:xfrm>
            <a:off x="457200" y="5486400"/>
            <a:ext cx="11247120" cy="201168"/>
          </a:xfrm>
          <a:prstGeom prst="rect">
            <a:avLst/>
          </a:prstGeom>
          <a:noFill/>
        </p:spPr>
        <p:txBody>
          <a:bodyPr wrap="square" anchor="t" lIns="36576" rIns="36576" tIns="18288" bIns="18288">
            <a:spAutoFit/>
          </a:bodyPr>
          <a:lstStyle/>
          <a:p>
            <a:r>
              <a:rPr sz="1000" b="0" i="1">
                <a:solidFill>
                  <a:srgbClr val="A9B8CC"/>
                </a:solidFill>
                <a:latin typeface="Calibri"/>
              </a:rPr>
              <a:t>Solid = verified · dashed = conceptual / unverified · amber = fallback</a:t>
            </a:r>
          </a:p>
        </p:txBody>
      </p:sp>
      <p:sp>
        <p:nvSpPr>
          <p:cNvPr id="34" name="Legend 1"/>
          <p:cNvSpPr txBox="1"/>
          <p:nvPr/>
        </p:nvSpPr>
        <p:spPr>
          <a:xfrm>
            <a:off x="457200" y="5687568"/>
            <a:ext cx="5532120" cy="914400"/>
          </a:xfrm>
          <a:prstGeom prst="rect">
            <a:avLst/>
          </a:prstGeom>
          <a:noFill/>
        </p:spPr>
        <p:txBody>
          <a:bodyPr wrap="square" anchor="t" lIns="36576" rIns="36576" tIns="18288" bIns="18288">
            <a:spAutoFit/>
          </a:bodyPr>
          <a:lstStyle/>
          <a:p>
            <a:r>
              <a:rPr sz="1000" b="1" i="0">
                <a:solidFill>
                  <a:srgbClr val="2DD4BF"/>
                </a:solidFill>
                <a:latin typeface="Calibri"/>
              </a:rPr>
              <a:t>A1</a:t>
            </a:r>
            <a:r>
              <a:rPr sz="1000" b="0" i="0">
                <a:solidFill>
                  <a:srgbClr val="A9B8CC"/>
                </a:solidFill>
                <a:latin typeface="Calibri"/>
              </a:rPr>
              <a:t>  [1]→[2]  </a:t>
            </a:r>
            <a:r>
              <a:rPr sz="1000" b="0" i="0">
                <a:solidFill>
                  <a:srgbClr val="E8EEF6"/>
                </a:solidFill>
                <a:latin typeface="Calibri"/>
              </a:rPr>
              <a:t>Attribute: cache lookup</a:t>
            </a:r>
          </a:p>
          <a:p>
            <a:r>
              <a:rPr sz="1000" b="1" i="0">
                <a:solidFill>
                  <a:srgbClr val="2DD4BF"/>
                </a:solidFill>
                <a:latin typeface="Calibri"/>
              </a:rPr>
              <a:t>A2</a:t>
            </a:r>
            <a:r>
              <a:rPr sz="1000" b="0" i="0">
                <a:solidFill>
                  <a:srgbClr val="A9B8CC"/>
                </a:solidFill>
                <a:latin typeface="Calibri"/>
              </a:rPr>
              <a:t>  [2]→[3]  </a:t>
            </a:r>
            <a:r>
              <a:rPr sz="1000" b="0" i="0">
                <a:solidFill>
                  <a:srgbClr val="E8EEF6"/>
                </a:solidFill>
                <a:latin typeface="Calibri"/>
              </a:rPr>
              <a:t>Attribute: group payload parsed</a:t>
            </a:r>
          </a:p>
          <a:p>
            <a:r>
              <a:rPr sz="1000" b="1" i="0">
                <a:solidFill>
                  <a:srgbClr val="2DD4BF"/>
                </a:solidFill>
                <a:latin typeface="Calibri"/>
              </a:rPr>
              <a:t>A3</a:t>
            </a:r>
            <a:r>
              <a:rPr sz="1000" b="0" i="0">
                <a:solidFill>
                  <a:srgbClr val="A9B8CC"/>
                </a:solidFill>
                <a:latin typeface="Calibri"/>
              </a:rPr>
              <a:t>  [4]→[5]  </a:t>
            </a:r>
            <a:r>
              <a:rPr sz="1000" b="0" i="0">
                <a:solidFill>
                  <a:srgbClr val="E8EEF6"/>
                </a:solidFill>
                <a:latin typeface="Calibri"/>
              </a:rPr>
              <a:t>Flag: cache lookup</a:t>
            </a:r>
          </a:p>
          <a:p>
            <a:r>
              <a:rPr sz="1000" b="1" i="0">
                <a:solidFill>
                  <a:srgbClr val="2DD4BF"/>
                </a:solidFill>
                <a:latin typeface="Calibri"/>
              </a:rPr>
              <a:t>A4</a:t>
            </a:r>
            <a:r>
              <a:rPr sz="1000" b="0" i="0">
                <a:solidFill>
                  <a:srgbClr val="A9B8CC"/>
                </a:solidFill>
                <a:latin typeface="Calibri"/>
              </a:rPr>
              <a:t>  [5]→[6]  </a:t>
            </a:r>
            <a:r>
              <a:rPr sz="1000" b="0" i="0">
                <a:solidFill>
                  <a:srgbClr val="E8EEF6"/>
                </a:solidFill>
                <a:latin typeface="Calibri"/>
              </a:rPr>
              <a:t>Flag: group payload parsed</a:t>
            </a:r>
          </a:p>
        </p:txBody>
      </p:sp>
      <p:sp>
        <p:nvSpPr>
          <p:cNvPr id="35" name="Legend 2"/>
          <p:cNvSpPr txBox="1"/>
          <p:nvPr/>
        </p:nvSpPr>
        <p:spPr>
          <a:xfrm>
            <a:off x="6080760" y="5687568"/>
            <a:ext cx="5532120" cy="914400"/>
          </a:xfrm>
          <a:prstGeom prst="rect">
            <a:avLst/>
          </a:prstGeom>
          <a:noFill/>
        </p:spPr>
        <p:txBody>
          <a:bodyPr wrap="square" anchor="t" lIns="36576" rIns="36576" tIns="18288" bIns="18288">
            <a:spAutoFit/>
          </a:bodyPr>
          <a:lstStyle/>
          <a:p>
            <a:r>
              <a:rPr sz="1000" b="1" i="0">
                <a:solidFill>
                  <a:srgbClr val="2DD4BF"/>
                </a:solidFill>
                <a:latin typeface="Calibri"/>
              </a:rPr>
              <a:t>A5</a:t>
            </a:r>
            <a:r>
              <a:rPr sz="1000" b="0" i="0">
                <a:solidFill>
                  <a:srgbClr val="A9B8CC"/>
                </a:solidFill>
                <a:latin typeface="Calibri"/>
              </a:rPr>
              <a:t>  [7]→[8]  </a:t>
            </a:r>
            <a:r>
              <a:rPr sz="1000" b="0" i="0">
                <a:solidFill>
                  <a:srgbClr val="E8EEF6"/>
                </a:solidFill>
                <a:latin typeface="Calibri"/>
              </a:rPr>
              <a:t>Descriptor: cache lookup</a:t>
            </a:r>
          </a:p>
          <a:p>
            <a:r>
              <a:rPr sz="1000" b="1" i="0">
                <a:solidFill>
                  <a:srgbClr val="2DD4BF"/>
                </a:solidFill>
                <a:latin typeface="Calibri"/>
              </a:rPr>
              <a:t>A6</a:t>
            </a:r>
            <a:r>
              <a:rPr sz="1000" b="0" i="0">
                <a:solidFill>
                  <a:srgbClr val="A9B8CC"/>
                </a:solidFill>
                <a:latin typeface="Calibri"/>
              </a:rPr>
              <a:t>  [8]→[9]  </a:t>
            </a:r>
            <a:r>
              <a:rPr sz="1000" b="0" i="0">
                <a:solidFill>
                  <a:srgbClr val="E8EEF6"/>
                </a:solidFill>
                <a:latin typeface="Calibri"/>
              </a:rPr>
              <a:t>Descriptor: group payload parsed</a:t>
            </a:r>
          </a:p>
          <a:p>
            <a:r>
              <a:rPr sz="1000" b="1" i="0">
                <a:solidFill>
                  <a:srgbClr val="2DD4BF"/>
                </a:solidFill>
                <a:latin typeface="Calibri"/>
              </a:rPr>
              <a:t>A7</a:t>
            </a:r>
            <a:r>
              <a:rPr sz="1000" b="0" i="0">
                <a:solidFill>
                  <a:srgbClr val="A9B8CC"/>
                </a:solidFill>
                <a:latin typeface="Calibri"/>
              </a:rPr>
              <a:t>  [10]→[11]  </a:t>
            </a:r>
            <a:r>
              <a:rPr sz="1000" b="0" i="0">
                <a:solidFill>
                  <a:srgbClr val="E8EEF6"/>
                </a:solidFill>
                <a:latin typeface="Calibri"/>
              </a:rPr>
              <a:t>String: cache lookup</a:t>
            </a:r>
          </a:p>
          <a:p>
            <a:r>
              <a:rPr sz="1000" b="1" i="0">
                <a:solidFill>
                  <a:srgbClr val="2DD4BF"/>
                </a:solidFill>
                <a:latin typeface="Calibri"/>
              </a:rPr>
              <a:t>A8</a:t>
            </a:r>
            <a:r>
              <a:rPr sz="1000" b="0" i="0">
                <a:solidFill>
                  <a:srgbClr val="A9B8CC"/>
                </a:solidFill>
                <a:latin typeface="Calibri"/>
              </a:rPr>
              <a:t>  [11]→[12]  </a:t>
            </a:r>
            <a:r>
              <a:rPr sz="1000" b="0" i="0">
                <a:solidFill>
                  <a:srgbClr val="E8EEF6"/>
                </a:solidFill>
                <a:latin typeface="Calibri"/>
              </a:rPr>
              <a:t>String: group payload parsed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626"/>
        </a:solidFill>
        <a:effectLst/>
      </p:bgPr>
    </p:bg>
    <p:spTree>
      <p:nvGrpSpPr>
        <p:cNvPr id="1" name=""/>
        <p:cNvGrpSpPr/>
        <p:nvPr/>
      </p:nvGrpSpPr>
      <p:grpSpPr/>
      <p:sp>
        <p:nvSpPr>
          <p:cNvPr id="2" name="Title"/>
          <p:cNvSpPr txBox="1"/>
          <p:nvPr/>
        </p:nvSpPr>
        <p:spPr>
          <a:xfrm>
            <a:off x="457200" y="274320"/>
            <a:ext cx="11247120" cy="548640"/>
          </a:xfrm>
          <a:prstGeom prst="rect">
            <a:avLst/>
          </a:prstGeom>
          <a:noFill/>
        </p:spPr>
        <p:txBody>
          <a:bodyPr wrap="square" anchor="ctr" lIns="36576" rIns="36576" tIns="18288" bIns="18288">
            <a:spAutoFit/>
          </a:bodyPr>
          <a:lstStyle/>
          <a:p>
            <a:r>
              <a:rPr sz="2400" b="1" i="0">
                <a:solidFill>
                  <a:srgbClr val="E8EEF6"/>
                </a:solidFill>
                <a:latin typeface="Calibri"/>
              </a:rPr>
              <a:t>Appendix A4: Test Details 1–6 — Setup, Instrumentation, Fallback</a:t>
            </a:r>
          </a:p>
        </p:txBody>
      </p:sp>
      <p:sp>
        <p:nvSpPr>
          <p:cNvPr id="3" name="Source"/>
          <p:cNvSpPr txBox="1"/>
          <p:nvPr/>
        </p:nvSpPr>
        <p:spPr>
          <a:xfrm>
            <a:off x="457200" y="6473952"/>
            <a:ext cx="10424160" cy="256032"/>
          </a:xfrm>
          <a:prstGeom prst="rect">
            <a:avLst/>
          </a:prstGeom>
          <a:noFill/>
        </p:spPr>
        <p:txBody>
          <a:bodyPr wrap="square" anchor="t" lIns="36576" rIns="36576" tIns="18288" bIns="18288">
            <a:spAutoFit/>
          </a:bodyPr>
          <a:lstStyle/>
          <a:p>
            <a:r>
              <a:rPr sz="1000" b="0" i="0">
                <a:solidFill>
                  <a:srgbClr val="A9B8CC"/>
                </a:solidFill>
                <a:latin typeface="Calibri"/>
              </a:rPr>
              <a:t>Proposed tests only — none executed. Instrumentation items are to be added; availability of any existing tracepoint is not verified</a:t>
            </a:r>
          </a:p>
        </p:txBody>
      </p:sp>
      <p:sp>
        <p:nvSpPr>
          <p:cNvPr id="4" name="Slide Number"/>
          <p:cNvSpPr txBox="1"/>
          <p:nvPr/>
        </p:nvSpPr>
        <p:spPr>
          <a:xfrm>
            <a:off x="11064240" y="6473952"/>
            <a:ext cx="685800" cy="256032"/>
          </a:xfrm>
          <a:prstGeom prst="rect">
            <a:avLst/>
          </a:prstGeom>
          <a:noFill/>
        </p:spPr>
        <p:txBody>
          <a:bodyPr wrap="none">
            <a:spAutoFit/>
          </a:bodyPr>
          <a:lstStyle/>
          <a:p>
            <a:pPr algn="r"/>
            <a:fld id="{B6F15528-21DE-4FAA-801E-634DDDAF4B2B}" type="slidenum">
              <a:rPr lang="en-US" sz="1100">
                <a:solidFill>
                  <a:srgbClr val="A9B8CC"/>
                </a:solidFill>
                <a:latin typeface="Calibri"/>
              </a:rPr>
              <a:t>22</a:t>
            </a:fld>
          </a:p>
        </p:txBody>
      </p:sp>
      <p:graphicFrame>
        <p:nvGraphicFramePr>
          <p:cNvPr id="5" name="Table 4"/>
          <p:cNvGraphicFramePr>
            <a:graphicFrameLocks noGrp="1"/>
          </p:cNvGraphicFramePr>
          <p:nvPr/>
        </p:nvGraphicFramePr>
        <p:xfrm>
          <a:off x="457200" y="1051560"/>
          <a:ext cx="11247120" cy="4663440"/>
        </p:xfrm>
        <a:graphic>
          <a:graphicData uri="http://schemas.openxmlformats.org/drawingml/2006/table">
            <a:tbl>
              <a:tblPr firstRow="1" bandRow="1">
                <a:tableStyleId>{5940675A-B579-460E-94D1-54222C63F5DA}</a:tableStyleId>
              </a:tblPr>
              <a:tblGrid>
                <a:gridCol w="365760"/>
                <a:gridCol w="3566160"/>
                <a:gridCol w="3383280"/>
                <a:gridCol w="2926080"/>
                <a:gridCol w="1005840"/>
              </a:tblGrid>
              <a:tr h="274320">
                <a:tc>
                  <a:txBody>
                    <a:bodyPr/>
                    <a:lstStyle/>
                    <a:p>
                      <a:r>
                        <a:rPr sz="1000" b="1" i="0">
                          <a:solidFill>
                            <a:srgbClr val="E8EEF6"/>
                          </a:solidFill>
                          <a:latin typeface="Calibri"/>
                        </a:rPr>
                        <a:t>#</a:t>
                      </a:r>
                    </a:p>
                  </a:txBody>
                  <a:tcPr marL="54864" marR="54864" marT="27432" marB="27432" anchor="ctr">
                    <a:solidFill>
                      <a:srgbClr val="22406A"/>
                    </a:solidFill>
                  </a:tcPr>
                </a:tc>
                <a:tc>
                  <a:txBody>
                    <a:bodyPr/>
                    <a:lstStyle/>
                    <a:p>
                      <a:r>
                        <a:rPr sz="1000" b="1" i="0">
                          <a:solidFill>
                            <a:srgbClr val="E8EEF6"/>
                          </a:solidFill>
                          <a:latin typeface="Calibri"/>
                        </a:rPr>
                        <a:t>Setup / preconditions</a:t>
                      </a:r>
                    </a:p>
                  </a:txBody>
                  <a:tcPr marL="54864" marR="54864" marT="27432" marB="27432" anchor="ctr">
                    <a:solidFill>
                      <a:srgbClr val="22406A"/>
                    </a:solidFill>
                  </a:tcPr>
                </a:tc>
                <a:tc>
                  <a:txBody>
                    <a:bodyPr/>
                    <a:lstStyle/>
                    <a:p>
                      <a:r>
                        <a:rPr sz="1000" b="1" i="0">
                          <a:solidFill>
                            <a:srgbClr val="E8EEF6"/>
                          </a:solidFill>
                          <a:latin typeface="Calibri"/>
                        </a:rPr>
                        <a:t>Instrumentation (to be added)</a:t>
                      </a:r>
                    </a:p>
                  </a:txBody>
                  <a:tcPr marL="54864" marR="54864" marT="27432" marB="27432" anchor="ctr">
                    <a:solidFill>
                      <a:srgbClr val="22406A"/>
                    </a:solidFill>
                  </a:tcPr>
                </a:tc>
                <a:tc>
                  <a:txBody>
                    <a:bodyPr/>
                    <a:lstStyle/>
                    <a:p>
                      <a:r>
                        <a:rPr sz="1000" b="1" i="0">
                          <a:solidFill>
                            <a:srgbClr val="E8EEF6"/>
                          </a:solidFill>
                          <a:latin typeface="Calibri"/>
                        </a:rPr>
                        <a:t>Expected fallback (if in code)</a:t>
                      </a:r>
                    </a:p>
                  </a:txBody>
                  <a:tcPr marL="54864" marR="54864" marT="27432" marB="27432" anchor="ctr">
                    <a:solidFill>
                      <a:srgbClr val="22406A"/>
                    </a:solidFill>
                  </a:tcPr>
                </a:tc>
                <a:tc>
                  <a:txBody>
                    <a:bodyPr/>
                    <a:lstStyle/>
                    <a:p>
                      <a:r>
                        <a:rPr sz="1000" b="1" i="0">
                          <a:solidFill>
                            <a:srgbClr val="E8EEF6"/>
                          </a:solidFill>
                          <a:latin typeface="Calibri"/>
                        </a:rPr>
                        <a:t>Actual result</a:t>
                      </a:r>
                    </a:p>
                  </a:txBody>
                  <a:tcPr marL="54864" marR="54864" marT="27432" marB="27432" anchor="ctr">
                    <a:solidFill>
                      <a:srgbClr val="22406A"/>
                    </a:solidFill>
                  </a:tcPr>
                </a:tc>
              </a:tr>
              <a:tr h="731520">
                <a:tc>
                  <a:txBody>
                    <a:bodyPr/>
                    <a:lstStyle/>
                    <a:p>
                      <a:r>
                        <a:rPr sz="1000" b="0" i="0">
                          <a:solidFill>
                            <a:srgbClr val="E8EEF6"/>
                          </a:solidFill>
                          <a:latin typeface="Calibri"/>
                        </a:rPr>
                        <a:t>1</a:t>
                      </a:r>
                    </a:p>
                  </a:txBody>
                  <a:tcPr marL="54864" marR="54864" marT="27432" marB="27432" anchor="ctr">
                    <a:solidFill>
                      <a:srgbClr val="14243B"/>
                    </a:solidFill>
                  </a:tcPr>
                </a:tc>
                <a:tc>
                  <a:txBody>
                    <a:bodyPr/>
                    <a:lstStyle/>
                    <a:p>
                      <a:r>
                        <a:rPr sz="1000" b="0" i="0">
                          <a:solidFill>
                            <a:srgbClr val="E8EEF6"/>
                          </a:solidFill>
                          <a:latin typeface="Calibri"/>
                        </a:rPr>
                        <a:t>UFS 5.0 device that implements AGGREGATED READ; patched kernel; cold boot</a:t>
                      </a:r>
                    </a:p>
                  </a:txBody>
                  <a:tcPr marL="54864" marR="54864" marT="27432" marB="27432" anchor="ctr">
                    <a:solidFill>
                      <a:srgbClr val="14243B"/>
                    </a:solidFill>
                  </a:tcPr>
                </a:tc>
                <a:tc>
                  <a:txBody>
                    <a:bodyPr/>
                    <a:lstStyle/>
                    <a:p>
                      <a:r>
                        <a:rPr sz="1000" b="0" i="0">
                          <a:solidFill>
                            <a:srgbClr val="E8EEF6"/>
                          </a:solidFill>
                          <a:latin typeface="Calibri"/>
                        </a:rPr>
                        <a:t>Counters: aggregated, individual, cache hits; log values read via cache</a:t>
                      </a:r>
                    </a:p>
                  </a:txBody>
                  <a:tcPr marL="54864" marR="54864" marT="27432" marB="27432" anchor="ctr">
                    <a:solidFill>
                      <a:srgbClr val="14243B"/>
                    </a:solidFill>
                  </a:tcPr>
                </a:tc>
                <a:tc>
                  <a:txBody>
                    <a:bodyPr/>
                    <a:lstStyle/>
                    <a:p>
                      <a:r>
                        <a:rPr sz="1000" b="0" i="0">
                          <a:solidFill>
                            <a:srgbClr val="E8EEF6"/>
                          </a:solidFill>
                          <a:latin typeface="Calibri"/>
                        </a:rPr>
                        <a:t>n/a (no fallback expected for documented items)</a:t>
                      </a:r>
                    </a:p>
                  </a:txBody>
                  <a:tcPr marL="54864" marR="54864" marT="27432" marB="27432" anchor="ctr">
                    <a:solidFill>
                      <a:srgbClr val="14243B"/>
                    </a:solidFill>
                  </a:tcPr>
                </a:tc>
                <a:tc>
                  <a:txBody>
                    <a:bodyPr/>
                    <a:lstStyle/>
                    <a:p>
                      <a:r>
                        <a:rPr sz="1000" b="1" i="0">
                          <a:solidFill>
                            <a:srgbClr val="FBBF24"/>
                          </a:solidFill>
                          <a:latin typeface="Calibri"/>
                        </a:rPr>
                        <a:t>Not Run</a:t>
                      </a:r>
                    </a:p>
                  </a:txBody>
                  <a:tcPr marL="54864" marR="54864" marT="27432" marB="27432" anchor="ctr">
                    <a:solidFill>
                      <a:srgbClr val="14243B"/>
                    </a:solidFill>
                  </a:tcPr>
                </a:tc>
              </a:tr>
              <a:tr h="731520">
                <a:tc>
                  <a:txBody>
                    <a:bodyPr/>
                    <a:lstStyle/>
                    <a:p>
                      <a:r>
                        <a:rPr sz="1000" b="0" i="0">
                          <a:solidFill>
                            <a:srgbClr val="E8EEF6"/>
                          </a:solidFill>
                          <a:latin typeface="Calibri"/>
                        </a:rPr>
                        <a:t>2</a:t>
                      </a:r>
                    </a:p>
                  </a:txBody>
                  <a:tcPr marL="54864" marR="54864" marT="27432" marB="27432" anchor="ctr">
                    <a:solidFill>
                      <a:srgbClr val="101F34"/>
                    </a:solidFill>
                  </a:tcPr>
                </a:tc>
                <a:tc>
                  <a:txBody>
                    <a:bodyPr/>
                    <a:lstStyle/>
                    <a:p>
                      <a:r>
                        <a:rPr sz="1000" b="0" i="0">
                          <a:solidFill>
                            <a:srgbClr val="E8EEF6"/>
                          </a:solidFill>
                          <a:latin typeface="Calibri"/>
                        </a:rPr>
                        <a:t>UFS 4.x or earlier device (wspecversion &lt; 0x500); patched kernel</a:t>
                      </a:r>
                    </a:p>
                  </a:txBody>
                  <a:tcPr marL="54864" marR="54864" marT="27432" marB="27432" anchor="ctr">
                    <a:solidFill>
                      <a:srgbClr val="101F34"/>
                    </a:solidFill>
                  </a:tcPr>
                </a:tc>
                <a:tc>
                  <a:txBody>
                    <a:bodyPr/>
                    <a:lstStyle/>
                    <a:p>
                      <a:r>
                        <a:rPr sz="1000" b="0" i="0">
                          <a:solidFill>
                            <a:srgbClr val="E8EEF6"/>
                          </a:solidFill>
                          <a:latin typeface="Calibri"/>
                        </a:rPr>
                        <a:t>Counter in ufshcd_query_aggregated_read(); expect zero</a:t>
                      </a:r>
                    </a:p>
                  </a:txBody>
                  <a:tcPr marL="54864" marR="54864" marT="27432" marB="27432" anchor="ctr">
                    <a:solidFill>
                      <a:srgbClr val="101F34"/>
                    </a:solidFill>
                  </a:tcPr>
                </a:tc>
                <a:tc>
                  <a:txBody>
                    <a:bodyPr/>
                    <a:lstStyle/>
                    <a:p>
                      <a:r>
                        <a:rPr sz="1000" b="0" i="0">
                          <a:solidFill>
                            <a:srgbClr val="E8EEF6"/>
                          </a:solidFill>
                          <a:latin typeface="Calibri"/>
                        </a:rPr>
                        <a:t>Not applicable: begin() returns before any query</a:t>
                      </a:r>
                    </a:p>
                  </a:txBody>
                  <a:tcPr marL="54864" marR="54864" marT="27432" marB="27432" anchor="ctr">
                    <a:solidFill>
                      <a:srgbClr val="101F34"/>
                    </a:solidFill>
                  </a:tcPr>
                </a:tc>
                <a:tc>
                  <a:txBody>
                    <a:bodyPr/>
                    <a:lstStyle/>
                    <a:p>
                      <a:r>
                        <a:rPr sz="1000" b="1" i="0">
                          <a:solidFill>
                            <a:srgbClr val="FBBF24"/>
                          </a:solidFill>
                          <a:latin typeface="Calibri"/>
                        </a:rPr>
                        <a:t>Not Run</a:t>
                      </a:r>
                    </a:p>
                  </a:txBody>
                  <a:tcPr marL="54864" marR="54864" marT="27432" marB="27432" anchor="ctr">
                    <a:solidFill>
                      <a:srgbClr val="101F34"/>
                    </a:solidFill>
                  </a:tcPr>
                </a:tc>
              </a:tr>
              <a:tr h="731520">
                <a:tc>
                  <a:txBody>
                    <a:bodyPr/>
                    <a:lstStyle/>
                    <a:p>
                      <a:r>
                        <a:rPr sz="1000" b="0" i="0">
                          <a:solidFill>
                            <a:srgbClr val="E8EEF6"/>
                          </a:solidFill>
                          <a:latin typeface="Calibri"/>
                        </a:rPr>
                        <a:t>3</a:t>
                      </a:r>
                    </a:p>
                  </a:txBody>
                  <a:tcPr marL="54864" marR="54864" marT="27432" marB="27432" anchor="ctr">
                    <a:solidFill>
                      <a:srgbClr val="14243B"/>
                    </a:solidFill>
                  </a:tcPr>
                </a:tc>
                <a:tc>
                  <a:txBody>
                    <a:bodyPr/>
                    <a:lstStyle/>
                    <a:p>
                      <a:r>
                        <a:rPr sz="1000" b="0" i="0">
                          <a:solidFill>
                            <a:srgbClr val="E8EEF6"/>
                          </a:solidFill>
                          <a:latin typeface="Calibri"/>
                        </a:rPr>
                        <a:t>UFS 5.0 device or device model that rejects opcode 0x9</a:t>
                      </a:r>
                    </a:p>
                  </a:txBody>
                  <a:tcPr marL="54864" marR="54864" marT="27432" marB="27432" anchor="ctr">
                    <a:solidFill>
                      <a:srgbClr val="14243B"/>
                    </a:solidFill>
                  </a:tcPr>
                </a:tc>
                <a:tc>
                  <a:txBody>
                    <a:bodyPr/>
                    <a:lstStyle/>
                    <a:p>
                      <a:r>
                        <a:rPr sz="1000" b="0" i="0">
                          <a:solidFill>
                            <a:srgbClr val="E8EEF6"/>
                          </a:solidFill>
                          <a:latin typeface="Calibri"/>
                        </a:rPr>
                        <a:t>Counters on retries; log agg_read_unsupported; dev_dbg</a:t>
                      </a:r>
                    </a:p>
                  </a:txBody>
                  <a:tcPr marL="54864" marR="54864" marT="27432" marB="27432" anchor="ctr">
                    <a:solidFill>
                      <a:srgbClr val="14243B"/>
                    </a:solidFill>
                  </a:tcPr>
                </a:tc>
                <a:tc>
                  <a:txBody>
                    <a:bodyPr/>
                    <a:lstStyle/>
                    <a:p>
                      <a:r>
                        <a:rPr sz="1000" b="0" i="0">
                          <a:solidFill>
                            <a:srgbClr val="E8EEF6"/>
                          </a:solidFill>
                          <a:latin typeface="Calibri"/>
                        </a:rPr>
                        <a:t>Individual queries; sticky flag set</a:t>
                      </a:r>
                    </a:p>
                  </a:txBody>
                  <a:tcPr marL="54864" marR="54864" marT="27432" marB="27432" anchor="ctr">
                    <a:solidFill>
                      <a:srgbClr val="14243B"/>
                    </a:solidFill>
                  </a:tcPr>
                </a:tc>
                <a:tc>
                  <a:txBody>
                    <a:bodyPr/>
                    <a:lstStyle/>
                    <a:p>
                      <a:r>
                        <a:rPr sz="1000" b="1" i="0">
                          <a:solidFill>
                            <a:srgbClr val="FBBF24"/>
                          </a:solidFill>
                          <a:latin typeface="Calibri"/>
                        </a:rPr>
                        <a:t>Not Run</a:t>
                      </a:r>
                    </a:p>
                  </a:txBody>
                  <a:tcPr marL="54864" marR="54864" marT="27432" marB="27432" anchor="ctr">
                    <a:solidFill>
                      <a:srgbClr val="14243B"/>
                    </a:solidFill>
                  </a:tcPr>
                </a:tc>
              </a:tr>
              <a:tr h="731520">
                <a:tc>
                  <a:txBody>
                    <a:bodyPr/>
                    <a:lstStyle/>
                    <a:p>
                      <a:r>
                        <a:rPr sz="1000" b="0" i="0">
                          <a:solidFill>
                            <a:srgbClr val="E8EEF6"/>
                          </a:solidFill>
                          <a:latin typeface="Calibri"/>
                        </a:rPr>
                        <a:t>4</a:t>
                      </a:r>
                    </a:p>
                  </a:txBody>
                  <a:tcPr marL="54864" marR="54864" marT="27432" marB="27432" anchor="ctr">
                    <a:solidFill>
                      <a:srgbClr val="101F34"/>
                    </a:solidFill>
                  </a:tcPr>
                </a:tc>
                <a:tc>
                  <a:txBody>
                    <a:bodyPr/>
                    <a:lstStyle/>
                    <a:p>
                      <a:r>
                        <a:rPr sz="1000" b="0" i="0">
                          <a:solidFill>
                            <a:srgbClr val="E8EEF6"/>
                          </a:solidFill>
                          <a:latin typeface="Calibri"/>
                        </a:rPr>
                        <a:t>Harness returning a packet whose ATTRS group is absent or short</a:t>
                      </a:r>
                    </a:p>
                  </a:txBody>
                  <a:tcPr marL="54864" marR="54864" marT="27432" marB="27432" anchor="ctr">
                    <a:solidFill>
                      <a:srgbClr val="101F34"/>
                    </a:solidFill>
                  </a:tcPr>
                </a:tc>
                <a:tc>
                  <a:txBody>
                    <a:bodyPr/>
                    <a:lstStyle/>
                    <a:p>
                      <a:r>
                        <a:rPr sz="1000" b="0" i="0">
                          <a:solidFill>
                            <a:srgbClr val="E8EEF6"/>
                          </a:solidFill>
                          <a:latin typeface="Calibri"/>
                        </a:rPr>
                        <a:t>Counter of ufshcd_agg_attr() -ENOENT and fallback queries</a:t>
                      </a:r>
                    </a:p>
                  </a:txBody>
                  <a:tcPr marL="54864" marR="54864" marT="27432" marB="27432" anchor="ctr">
                    <a:solidFill>
                      <a:srgbClr val="101F34"/>
                    </a:solidFill>
                  </a:tcPr>
                </a:tc>
                <a:tc>
                  <a:txBody>
                    <a:bodyPr/>
                    <a:lstStyle/>
                    <a:p>
                      <a:r>
                        <a:rPr sz="1000" b="0" i="0">
                          <a:solidFill>
                            <a:srgbClr val="E8EEF6"/>
                          </a:solidFill>
                          <a:latin typeface="Calibri"/>
                        </a:rPr>
                        <a:t>ufshcd_query_attr_retry()</a:t>
                      </a:r>
                    </a:p>
                  </a:txBody>
                  <a:tcPr marL="54864" marR="54864" marT="27432" marB="27432" anchor="ctr">
                    <a:solidFill>
                      <a:srgbClr val="101F34"/>
                    </a:solidFill>
                  </a:tcPr>
                </a:tc>
                <a:tc>
                  <a:txBody>
                    <a:bodyPr/>
                    <a:lstStyle/>
                    <a:p>
                      <a:r>
                        <a:rPr sz="1000" b="1" i="0">
                          <a:solidFill>
                            <a:srgbClr val="FBBF24"/>
                          </a:solidFill>
                          <a:latin typeface="Calibri"/>
                        </a:rPr>
                        <a:t>Not Run</a:t>
                      </a:r>
                    </a:p>
                  </a:txBody>
                  <a:tcPr marL="54864" marR="54864" marT="27432" marB="27432" anchor="ctr">
                    <a:solidFill>
                      <a:srgbClr val="101F34"/>
                    </a:solidFill>
                  </a:tcPr>
                </a:tc>
              </a:tr>
              <a:tr h="731520">
                <a:tc>
                  <a:txBody>
                    <a:bodyPr/>
                    <a:lstStyle/>
                    <a:p>
                      <a:r>
                        <a:rPr sz="1000" b="0" i="0">
                          <a:solidFill>
                            <a:srgbClr val="E8EEF6"/>
                          </a:solidFill>
                          <a:latin typeface="Calibri"/>
                        </a:rPr>
                        <a:t>5</a:t>
                      </a:r>
                    </a:p>
                  </a:txBody>
                  <a:tcPr marL="54864" marR="54864" marT="27432" marB="27432" anchor="ctr">
                    <a:solidFill>
                      <a:srgbClr val="14243B"/>
                    </a:solidFill>
                  </a:tcPr>
                </a:tc>
                <a:tc>
                  <a:txBody>
                    <a:bodyPr/>
                    <a:lstStyle/>
                    <a:p>
                      <a:r>
                        <a:rPr sz="1000" b="0" i="0">
                          <a:solidFill>
                            <a:srgbClr val="E8EEF6"/>
                          </a:solidFill>
                          <a:latin typeface="Calibri"/>
                        </a:rPr>
                        <a:t>Harness returning a packet with no FLAGS group (or too short)</a:t>
                      </a:r>
                    </a:p>
                  </a:txBody>
                  <a:tcPr marL="54864" marR="54864" marT="27432" marB="27432" anchor="ctr">
                    <a:solidFill>
                      <a:srgbClr val="14243B"/>
                    </a:solidFill>
                  </a:tcPr>
                </a:tc>
                <a:tc>
                  <a:txBody>
                    <a:bodyPr/>
                    <a:lstStyle/>
                    <a:p>
                      <a:r>
                        <a:rPr sz="1000" b="0" i="0">
                          <a:solidFill>
                            <a:srgbClr val="E8EEF6"/>
                          </a:solidFill>
                          <a:latin typeface="Calibri"/>
                        </a:rPr>
                        <a:t>Counter of ufshcd_agg_flag() -ENOENT and fallback queries</a:t>
                      </a:r>
                    </a:p>
                  </a:txBody>
                  <a:tcPr marL="54864" marR="54864" marT="27432" marB="27432" anchor="ctr">
                    <a:solidFill>
                      <a:srgbClr val="14243B"/>
                    </a:solidFill>
                  </a:tcPr>
                </a:tc>
                <a:tc>
                  <a:txBody>
                    <a:bodyPr/>
                    <a:lstStyle/>
                    <a:p>
                      <a:r>
                        <a:rPr sz="1000" b="0" i="0">
                          <a:solidFill>
                            <a:srgbClr val="E8EEF6"/>
                          </a:solidFill>
                          <a:latin typeface="Calibri"/>
                        </a:rPr>
                        <a:t>ufshcd_query_flag_retry()</a:t>
                      </a:r>
                    </a:p>
                  </a:txBody>
                  <a:tcPr marL="54864" marR="54864" marT="27432" marB="27432" anchor="ctr">
                    <a:solidFill>
                      <a:srgbClr val="14243B"/>
                    </a:solidFill>
                  </a:tcPr>
                </a:tc>
                <a:tc>
                  <a:txBody>
                    <a:bodyPr/>
                    <a:lstStyle/>
                    <a:p>
                      <a:r>
                        <a:rPr sz="1000" b="1" i="0">
                          <a:solidFill>
                            <a:srgbClr val="FBBF24"/>
                          </a:solidFill>
                          <a:latin typeface="Calibri"/>
                        </a:rPr>
                        <a:t>Not Run</a:t>
                      </a:r>
                    </a:p>
                  </a:txBody>
                  <a:tcPr marL="54864" marR="54864" marT="27432" marB="27432" anchor="ctr">
                    <a:solidFill>
                      <a:srgbClr val="14243B"/>
                    </a:solidFill>
                  </a:tcPr>
                </a:tc>
              </a:tr>
              <a:tr h="731520">
                <a:tc>
                  <a:txBody>
                    <a:bodyPr/>
                    <a:lstStyle/>
                    <a:p>
                      <a:r>
                        <a:rPr sz="1000" b="0" i="0">
                          <a:solidFill>
                            <a:srgbClr val="E8EEF6"/>
                          </a:solidFill>
                          <a:latin typeface="Calibri"/>
                        </a:rPr>
                        <a:t>6</a:t>
                      </a:r>
                    </a:p>
                  </a:txBody>
                  <a:tcPr marL="54864" marR="54864" marT="27432" marB="27432" anchor="ctr">
                    <a:solidFill>
                      <a:srgbClr val="101F34"/>
                    </a:solidFill>
                  </a:tcPr>
                </a:tc>
                <a:tc>
                  <a:txBody>
                    <a:bodyPr/>
                    <a:lstStyle/>
                    <a:p>
                      <a:r>
                        <a:rPr sz="1000" b="0" i="0">
                          <a:solidFill>
                            <a:srgbClr val="E8EEF6"/>
                          </a:solidFill>
                          <a:latin typeface="Calibri"/>
                        </a:rPr>
                        <a:t>Harness returning no string group, or an inconsistent length byte</a:t>
                      </a:r>
                    </a:p>
                  </a:txBody>
                  <a:tcPr marL="54864" marR="54864" marT="27432" marB="27432" anchor="ctr">
                    <a:solidFill>
                      <a:srgbClr val="101F34"/>
                    </a:solidFill>
                  </a:tcPr>
                </a:tc>
                <a:tc>
                  <a:txBody>
                    <a:bodyPr/>
                    <a:lstStyle/>
                    <a:p>
                      <a:r>
                        <a:rPr sz="1000" b="0" i="0">
                          <a:solidFill>
                            <a:srgbClr val="E8EEF6"/>
                          </a:solidFill>
                          <a:latin typeface="Calibri"/>
                        </a:rPr>
                        <a:t>Counter of NULL from ufshcd_agg_desc()/string; compare bytes</a:t>
                      </a:r>
                    </a:p>
                  </a:txBody>
                  <a:tcPr marL="54864" marR="54864" marT="27432" marB="27432" anchor="ctr">
                    <a:solidFill>
                      <a:srgbClr val="101F34"/>
                    </a:solidFill>
                  </a:tcPr>
                </a:tc>
                <a:tc>
                  <a:txBody>
                    <a:bodyPr/>
                    <a:lstStyle/>
                    <a:p>
                      <a:r>
                        <a:rPr sz="1000" b="0" i="0">
                          <a:solidFill>
                            <a:srgbClr val="E8EEF6"/>
                          </a:solidFill>
                          <a:latin typeface="Calibri"/>
                        </a:rPr>
                        <a:t>ufshcd_query_descriptor_retry()</a:t>
                      </a:r>
                    </a:p>
                  </a:txBody>
                  <a:tcPr marL="54864" marR="54864" marT="27432" marB="27432" anchor="ctr">
                    <a:solidFill>
                      <a:srgbClr val="101F34"/>
                    </a:solidFill>
                  </a:tcPr>
                </a:tc>
                <a:tc>
                  <a:txBody>
                    <a:bodyPr/>
                    <a:lstStyle/>
                    <a:p>
                      <a:r>
                        <a:rPr sz="1000" b="1" i="0">
                          <a:solidFill>
                            <a:srgbClr val="FBBF24"/>
                          </a:solidFill>
                          <a:latin typeface="Calibri"/>
                        </a:rPr>
                        <a:t>Not Run</a:t>
                      </a:r>
                    </a:p>
                  </a:txBody>
                  <a:tcPr marL="54864" marR="54864" marT="27432" marB="27432" anchor="ctr">
                    <a:solidFill>
                      <a:srgbClr val="101F34"/>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626"/>
        </a:solidFill>
        <a:effectLst/>
      </p:bgPr>
    </p:bg>
    <p:spTree>
      <p:nvGrpSpPr>
        <p:cNvPr id="1" name=""/>
        <p:cNvGrpSpPr/>
        <p:nvPr/>
      </p:nvGrpSpPr>
      <p:grpSpPr/>
      <p:sp>
        <p:nvSpPr>
          <p:cNvPr id="2" name="Title"/>
          <p:cNvSpPr txBox="1"/>
          <p:nvPr/>
        </p:nvSpPr>
        <p:spPr>
          <a:xfrm>
            <a:off x="457200" y="274320"/>
            <a:ext cx="11247120" cy="548640"/>
          </a:xfrm>
          <a:prstGeom prst="rect">
            <a:avLst/>
          </a:prstGeom>
          <a:noFill/>
        </p:spPr>
        <p:txBody>
          <a:bodyPr wrap="square" anchor="ctr" lIns="36576" rIns="36576" tIns="18288" bIns="18288">
            <a:spAutoFit/>
          </a:bodyPr>
          <a:lstStyle/>
          <a:p>
            <a:r>
              <a:rPr sz="2400" b="1" i="0">
                <a:solidFill>
                  <a:srgbClr val="E8EEF6"/>
                </a:solidFill>
                <a:latin typeface="Calibri"/>
              </a:rPr>
              <a:t>Appendix A5: Test Details 7–12 — Setup, Instrumentation, Fallback</a:t>
            </a:r>
          </a:p>
        </p:txBody>
      </p:sp>
      <p:sp>
        <p:nvSpPr>
          <p:cNvPr id="3" name="Source"/>
          <p:cNvSpPr txBox="1"/>
          <p:nvPr/>
        </p:nvSpPr>
        <p:spPr>
          <a:xfrm>
            <a:off x="457200" y="6473952"/>
            <a:ext cx="10424160" cy="256032"/>
          </a:xfrm>
          <a:prstGeom prst="rect">
            <a:avLst/>
          </a:prstGeom>
          <a:noFill/>
        </p:spPr>
        <p:txBody>
          <a:bodyPr wrap="square" anchor="t" lIns="36576" rIns="36576" tIns="18288" bIns="18288">
            <a:spAutoFit/>
          </a:bodyPr>
          <a:lstStyle/>
          <a:p>
            <a:r>
              <a:rPr sz="1000" b="0" i="0">
                <a:solidFill>
                  <a:srgbClr val="A9B8CC"/>
                </a:solidFill>
                <a:latin typeface="Calibri"/>
              </a:rPr>
              <a:t>Proposed tests only — none executed. Instrumentation items are to be added; availability of any existing tracepoint is not verified</a:t>
            </a:r>
          </a:p>
        </p:txBody>
      </p:sp>
      <p:sp>
        <p:nvSpPr>
          <p:cNvPr id="4" name="Slide Number"/>
          <p:cNvSpPr txBox="1"/>
          <p:nvPr/>
        </p:nvSpPr>
        <p:spPr>
          <a:xfrm>
            <a:off x="11064240" y="6473952"/>
            <a:ext cx="685800" cy="256032"/>
          </a:xfrm>
          <a:prstGeom prst="rect">
            <a:avLst/>
          </a:prstGeom>
          <a:noFill/>
        </p:spPr>
        <p:txBody>
          <a:bodyPr wrap="none">
            <a:spAutoFit/>
          </a:bodyPr>
          <a:lstStyle/>
          <a:p>
            <a:pPr algn="r"/>
            <a:fld id="{B6F15528-21DE-4FAA-801E-634DDDAF4B2B}" type="slidenum">
              <a:rPr lang="en-US" sz="1100">
                <a:solidFill>
                  <a:srgbClr val="A9B8CC"/>
                </a:solidFill>
                <a:latin typeface="Calibri"/>
              </a:rPr>
              <a:t>23</a:t>
            </a:fld>
          </a:p>
        </p:txBody>
      </p:sp>
      <p:graphicFrame>
        <p:nvGraphicFramePr>
          <p:cNvPr id="5" name="Table 4"/>
          <p:cNvGraphicFramePr>
            <a:graphicFrameLocks noGrp="1"/>
          </p:cNvGraphicFramePr>
          <p:nvPr/>
        </p:nvGraphicFramePr>
        <p:xfrm>
          <a:off x="457200" y="1051560"/>
          <a:ext cx="11247120" cy="4663440"/>
        </p:xfrm>
        <a:graphic>
          <a:graphicData uri="http://schemas.openxmlformats.org/drawingml/2006/table">
            <a:tbl>
              <a:tblPr firstRow="1" bandRow="1">
                <a:tableStyleId>{5940675A-B579-460E-94D1-54222C63F5DA}</a:tableStyleId>
              </a:tblPr>
              <a:tblGrid>
                <a:gridCol w="365760"/>
                <a:gridCol w="3566160"/>
                <a:gridCol w="3383280"/>
                <a:gridCol w="2926080"/>
                <a:gridCol w="1005840"/>
              </a:tblGrid>
              <a:tr h="274320">
                <a:tc>
                  <a:txBody>
                    <a:bodyPr/>
                    <a:lstStyle/>
                    <a:p>
                      <a:r>
                        <a:rPr sz="1000" b="1" i="0">
                          <a:solidFill>
                            <a:srgbClr val="E8EEF6"/>
                          </a:solidFill>
                          <a:latin typeface="Calibri"/>
                        </a:rPr>
                        <a:t>#</a:t>
                      </a:r>
                    </a:p>
                  </a:txBody>
                  <a:tcPr marL="54864" marR="54864" marT="27432" marB="27432" anchor="ctr">
                    <a:solidFill>
                      <a:srgbClr val="22406A"/>
                    </a:solidFill>
                  </a:tcPr>
                </a:tc>
                <a:tc>
                  <a:txBody>
                    <a:bodyPr/>
                    <a:lstStyle/>
                    <a:p>
                      <a:r>
                        <a:rPr sz="1000" b="1" i="0">
                          <a:solidFill>
                            <a:srgbClr val="E8EEF6"/>
                          </a:solidFill>
                          <a:latin typeface="Calibri"/>
                        </a:rPr>
                        <a:t>Setup / preconditions</a:t>
                      </a:r>
                    </a:p>
                  </a:txBody>
                  <a:tcPr marL="54864" marR="54864" marT="27432" marB="27432" anchor="ctr">
                    <a:solidFill>
                      <a:srgbClr val="22406A"/>
                    </a:solidFill>
                  </a:tcPr>
                </a:tc>
                <a:tc>
                  <a:txBody>
                    <a:bodyPr/>
                    <a:lstStyle/>
                    <a:p>
                      <a:r>
                        <a:rPr sz="1000" b="1" i="0">
                          <a:solidFill>
                            <a:srgbClr val="E8EEF6"/>
                          </a:solidFill>
                          <a:latin typeface="Calibri"/>
                        </a:rPr>
                        <a:t>Instrumentation (to be added)</a:t>
                      </a:r>
                    </a:p>
                  </a:txBody>
                  <a:tcPr marL="54864" marR="54864" marT="27432" marB="27432" anchor="ctr">
                    <a:solidFill>
                      <a:srgbClr val="22406A"/>
                    </a:solidFill>
                  </a:tcPr>
                </a:tc>
                <a:tc>
                  <a:txBody>
                    <a:bodyPr/>
                    <a:lstStyle/>
                    <a:p>
                      <a:r>
                        <a:rPr sz="1000" b="1" i="0">
                          <a:solidFill>
                            <a:srgbClr val="E8EEF6"/>
                          </a:solidFill>
                          <a:latin typeface="Calibri"/>
                        </a:rPr>
                        <a:t>Expected fallback (if in code)</a:t>
                      </a:r>
                    </a:p>
                  </a:txBody>
                  <a:tcPr marL="54864" marR="54864" marT="27432" marB="27432" anchor="ctr">
                    <a:solidFill>
                      <a:srgbClr val="22406A"/>
                    </a:solidFill>
                  </a:tcPr>
                </a:tc>
                <a:tc>
                  <a:txBody>
                    <a:bodyPr/>
                    <a:lstStyle/>
                    <a:p>
                      <a:r>
                        <a:rPr sz="1000" b="1" i="0">
                          <a:solidFill>
                            <a:srgbClr val="E8EEF6"/>
                          </a:solidFill>
                          <a:latin typeface="Calibri"/>
                        </a:rPr>
                        <a:t>Actual result</a:t>
                      </a:r>
                    </a:p>
                  </a:txBody>
                  <a:tcPr marL="54864" marR="54864" marT="27432" marB="27432" anchor="ctr">
                    <a:solidFill>
                      <a:srgbClr val="22406A"/>
                    </a:solidFill>
                  </a:tcPr>
                </a:tc>
              </a:tr>
              <a:tr h="731520">
                <a:tc>
                  <a:txBody>
                    <a:bodyPr/>
                    <a:lstStyle/>
                    <a:p>
                      <a:r>
                        <a:rPr sz="1000" b="0" i="0">
                          <a:solidFill>
                            <a:srgbClr val="E8EEF6"/>
                          </a:solidFill>
                          <a:latin typeface="Calibri"/>
                        </a:rPr>
                        <a:t>7</a:t>
                      </a:r>
                    </a:p>
                  </a:txBody>
                  <a:tcPr marL="54864" marR="54864" marT="27432" marB="27432" anchor="ctr">
                    <a:solidFill>
                      <a:srgbClr val="14243B"/>
                    </a:solidFill>
                  </a:tcPr>
                </a:tc>
                <a:tc>
                  <a:txBody>
                    <a:bodyPr/>
                    <a:lstStyle/>
                    <a:p>
                      <a:r>
                        <a:rPr sz="1000" b="0" i="0">
                          <a:solidFill>
                            <a:srgbClr val="E8EEF6"/>
                          </a:solidFill>
                          <a:latin typeface="Calibri"/>
                        </a:rPr>
                        <a:t>Fault injection on kzalloc() in ufshcd_agg_read_begin() (e.g. failslab)</a:t>
                      </a:r>
                    </a:p>
                  </a:txBody>
                  <a:tcPr marL="54864" marR="54864" marT="27432" marB="27432" anchor="ctr">
                    <a:solidFill>
                      <a:srgbClr val="14243B"/>
                    </a:solidFill>
                  </a:tcPr>
                </a:tc>
                <a:tc>
                  <a:txBody>
                    <a:bodyPr/>
                    <a:lstStyle/>
                    <a:p>
                      <a:r>
                        <a:rPr sz="1000" b="0" i="0">
                          <a:solidFill>
                            <a:srgbClr val="E8EEF6"/>
                          </a:solidFill>
                          <a:latin typeface="Calibri"/>
                        </a:rPr>
                        <a:t>kmemleak; counter of begin() early returns; check flag unchanged</a:t>
                      </a:r>
                    </a:p>
                  </a:txBody>
                  <a:tcPr marL="54864" marR="54864" marT="27432" marB="27432" anchor="ctr">
                    <a:solidFill>
                      <a:srgbClr val="14243B"/>
                    </a:solidFill>
                  </a:tcPr>
                </a:tc>
                <a:tc>
                  <a:txBody>
                    <a:bodyPr/>
                    <a:lstStyle/>
                    <a:p>
                      <a:r>
                        <a:rPr sz="1000" b="0" i="0">
                          <a:solidFill>
                            <a:srgbClr val="E8EEF6"/>
                          </a:solidFill>
                          <a:latin typeface="Calibri"/>
                        </a:rPr>
                        <a:t>Individual queries; flag NOT set (code)</a:t>
                      </a:r>
                    </a:p>
                  </a:txBody>
                  <a:tcPr marL="54864" marR="54864" marT="27432" marB="27432" anchor="ctr">
                    <a:solidFill>
                      <a:srgbClr val="14243B"/>
                    </a:solidFill>
                  </a:tcPr>
                </a:tc>
                <a:tc>
                  <a:txBody>
                    <a:bodyPr/>
                    <a:lstStyle/>
                    <a:p>
                      <a:r>
                        <a:rPr sz="1000" b="1" i="0">
                          <a:solidFill>
                            <a:srgbClr val="FBBF24"/>
                          </a:solidFill>
                          <a:latin typeface="Calibri"/>
                        </a:rPr>
                        <a:t>Not Run</a:t>
                      </a:r>
                    </a:p>
                  </a:txBody>
                  <a:tcPr marL="54864" marR="54864" marT="27432" marB="27432" anchor="ctr">
                    <a:solidFill>
                      <a:srgbClr val="14243B"/>
                    </a:solidFill>
                  </a:tcPr>
                </a:tc>
              </a:tr>
              <a:tr h="731520">
                <a:tc>
                  <a:txBody>
                    <a:bodyPr/>
                    <a:lstStyle/>
                    <a:p>
                      <a:r>
                        <a:rPr sz="1000" b="0" i="0">
                          <a:solidFill>
                            <a:srgbClr val="E8EEF6"/>
                          </a:solidFill>
                          <a:latin typeface="Calibri"/>
                        </a:rPr>
                        <a:t>8</a:t>
                      </a:r>
                    </a:p>
                  </a:txBody>
                  <a:tcPr marL="54864" marR="54864" marT="27432" marB="27432" anchor="ctr">
                    <a:solidFill>
                      <a:srgbClr val="101F34"/>
                    </a:solidFill>
                  </a:tcPr>
                </a:tc>
                <a:tc>
                  <a:txBody>
                    <a:bodyPr/>
                    <a:lstStyle/>
                    <a:p>
                      <a:r>
                        <a:rPr sz="1000" b="0" i="0">
                          <a:solidFill>
                            <a:srgbClr val="E8EEF6"/>
                          </a:solidFill>
                          <a:latin typeface="Calibri"/>
                        </a:rPr>
                        <a:t>Inject timeout or OCS error on aggregated query for all QUERY_REQ_RETRIES attempts</a:t>
                      </a:r>
                    </a:p>
                  </a:txBody>
                  <a:tcPr marL="54864" marR="54864" marT="27432" marB="27432" anchor="ctr">
                    <a:solidFill>
                      <a:srgbClr val="101F34"/>
                    </a:solidFill>
                  </a:tcPr>
                </a:tc>
                <a:tc>
                  <a:txBody>
                    <a:bodyPr/>
                    <a:lstStyle/>
                    <a:p>
                      <a:r>
                        <a:rPr sz="1000" b="0" i="0">
                          <a:solidFill>
                            <a:srgbClr val="E8EEF6"/>
                          </a:solidFill>
                          <a:latin typeface="Calibri"/>
                        </a:rPr>
                        <a:t>Retry counter; log agg_read_unsupported; re-init to see sticky effect</a:t>
                      </a:r>
                    </a:p>
                  </a:txBody>
                  <a:tcPr marL="54864" marR="54864" marT="27432" marB="27432" anchor="ctr">
                    <a:solidFill>
                      <a:srgbClr val="101F34"/>
                    </a:solidFill>
                  </a:tcPr>
                </a:tc>
                <a:tc>
                  <a:txBody>
                    <a:bodyPr/>
                    <a:lstStyle/>
                    <a:p>
                      <a:r>
                        <a:rPr sz="1000" b="0" i="0">
                          <a:solidFill>
                            <a:srgbClr val="E8EEF6"/>
                          </a:solidFill>
                          <a:latin typeface="Calibri"/>
                        </a:rPr>
                        <a:t>Individual queries; sticky flag set (code)</a:t>
                      </a:r>
                    </a:p>
                  </a:txBody>
                  <a:tcPr marL="54864" marR="54864" marT="27432" marB="27432" anchor="ctr">
                    <a:solidFill>
                      <a:srgbClr val="101F34"/>
                    </a:solidFill>
                  </a:tcPr>
                </a:tc>
                <a:tc>
                  <a:txBody>
                    <a:bodyPr/>
                    <a:lstStyle/>
                    <a:p>
                      <a:r>
                        <a:rPr sz="1000" b="1" i="0">
                          <a:solidFill>
                            <a:srgbClr val="FBBF24"/>
                          </a:solidFill>
                          <a:latin typeface="Calibri"/>
                        </a:rPr>
                        <a:t>Not Run</a:t>
                      </a:r>
                    </a:p>
                  </a:txBody>
                  <a:tcPr marL="54864" marR="54864" marT="27432" marB="27432" anchor="ctr">
                    <a:solidFill>
                      <a:srgbClr val="101F34"/>
                    </a:solidFill>
                  </a:tcPr>
                </a:tc>
              </a:tr>
              <a:tr h="731520">
                <a:tc>
                  <a:txBody>
                    <a:bodyPr/>
                    <a:lstStyle/>
                    <a:p>
                      <a:r>
                        <a:rPr sz="1000" b="0" i="0">
                          <a:solidFill>
                            <a:srgbClr val="E8EEF6"/>
                          </a:solidFill>
                          <a:latin typeface="Calibri"/>
                        </a:rPr>
                        <a:t>9</a:t>
                      </a:r>
                    </a:p>
                  </a:txBody>
                  <a:tcPr marL="54864" marR="54864" marT="27432" marB="27432" anchor="ctr">
                    <a:solidFill>
                      <a:srgbClr val="14243B"/>
                    </a:solidFill>
                  </a:tcPr>
                </a:tc>
                <a:tc>
                  <a:txBody>
                    <a:bodyPr/>
                    <a:lstStyle/>
                    <a:p>
                      <a:r>
                        <a:rPr sz="1000" b="0" i="0">
                          <a:solidFill>
                            <a:srgbClr val="E8EEF6"/>
                          </a:solidFill>
                          <a:latin typeface="Calibri"/>
                        </a:rPr>
                        <a:t>Harness with next_group_offset &lt; payload_off, &gt; packet_len, and data_segment_length &gt; buffer; KASAN build</a:t>
                      </a:r>
                    </a:p>
                  </a:txBody>
                  <a:tcPr marL="54864" marR="54864" marT="27432" marB="27432" anchor="ctr">
                    <a:solidFill>
                      <a:srgbClr val="14243B"/>
                    </a:solidFill>
                  </a:tcPr>
                </a:tc>
                <a:tc>
                  <a:txBody>
                    <a:bodyPr/>
                    <a:lstStyle/>
                    <a:p>
                      <a:r>
                        <a:rPr sz="1000" b="0" i="0">
                          <a:solidFill>
                            <a:srgbClr val="E8EEF6"/>
                          </a:solidFill>
                          <a:latin typeface="Calibri"/>
                        </a:rPr>
                        <a:t>KASAN reports; return values of ufshcd_agg_group()</a:t>
                      </a:r>
                    </a:p>
                  </a:txBody>
                  <a:tcPr marL="54864" marR="54864" marT="27432" marB="27432" anchor="ctr">
                    <a:solidFill>
                      <a:srgbClr val="14243B"/>
                    </a:solidFill>
                  </a:tcPr>
                </a:tc>
                <a:tc>
                  <a:txBody>
                    <a:bodyPr/>
                    <a:lstStyle/>
                    <a:p>
                      <a:r>
                        <a:rPr sz="1000" b="0" i="0">
                          <a:solidFill>
                            <a:srgbClr val="E8EEF6"/>
                          </a:solidFill>
                          <a:latin typeface="Calibri"/>
                        </a:rPr>
                        <a:t>Invalid offsets → NULL (code); truncation: observe, not promised</a:t>
                      </a:r>
                    </a:p>
                  </a:txBody>
                  <a:tcPr marL="54864" marR="54864" marT="27432" marB="27432" anchor="ctr">
                    <a:solidFill>
                      <a:srgbClr val="14243B"/>
                    </a:solidFill>
                  </a:tcPr>
                </a:tc>
                <a:tc>
                  <a:txBody>
                    <a:bodyPr/>
                    <a:lstStyle/>
                    <a:p>
                      <a:r>
                        <a:rPr sz="1000" b="1" i="0">
                          <a:solidFill>
                            <a:srgbClr val="FBBF24"/>
                          </a:solidFill>
                          <a:latin typeface="Calibri"/>
                        </a:rPr>
                        <a:t>Not Run</a:t>
                      </a:r>
                    </a:p>
                  </a:txBody>
                  <a:tcPr marL="54864" marR="54864" marT="27432" marB="27432" anchor="ctr">
                    <a:solidFill>
                      <a:srgbClr val="14243B"/>
                    </a:solidFill>
                  </a:tcPr>
                </a:tc>
              </a:tr>
              <a:tr h="731520">
                <a:tc>
                  <a:txBody>
                    <a:bodyPr/>
                    <a:lstStyle/>
                    <a:p>
                      <a:r>
                        <a:rPr sz="1000" b="0" i="0">
                          <a:solidFill>
                            <a:srgbClr val="E8EEF6"/>
                          </a:solidFill>
                          <a:latin typeface="Calibri"/>
                        </a:rPr>
                        <a:t>10</a:t>
                      </a:r>
                    </a:p>
                  </a:txBody>
                  <a:tcPr marL="54864" marR="54864" marT="27432" marB="27432" anchor="ctr">
                    <a:solidFill>
                      <a:srgbClr val="101F34"/>
                    </a:solidFill>
                  </a:tcPr>
                </a:tc>
                <a:tc>
                  <a:txBody>
                    <a:bodyPr/>
                    <a:lstStyle/>
                    <a:p>
                      <a:r>
                        <a:rPr sz="1000" b="0" i="0">
                          <a:solidFill>
                            <a:srgbClr val="E8EEF6"/>
                          </a:solidFill>
                          <a:latin typeface="Calibri"/>
                        </a:rPr>
                        <a:t>Same device, firmware, config, DT; N cold boots and re-inits per kernel</a:t>
                      </a:r>
                    </a:p>
                  </a:txBody>
                  <a:tcPr marL="54864" marR="54864" marT="27432" marB="27432" anchor="ctr">
                    <a:solidFill>
                      <a:srgbClr val="101F34"/>
                    </a:solidFill>
                  </a:tcPr>
                </a:tc>
                <a:tc>
                  <a:txBody>
                    <a:bodyPr/>
                    <a:lstStyle/>
                    <a:p>
                      <a:r>
                        <a:rPr sz="1000" b="0" i="0">
                          <a:solidFill>
                            <a:srgbClr val="E8EEF6"/>
                          </a:solidFill>
                          <a:latin typeface="Calibri"/>
                        </a:rPr>
                        <a:t>Counters, init timestamps, value dump of all six items</a:t>
                      </a:r>
                    </a:p>
                  </a:txBody>
                  <a:tcPr marL="54864" marR="54864" marT="27432" marB="27432" anchor="ctr">
                    <a:solidFill>
                      <a:srgbClr val="101F34"/>
                    </a:solidFill>
                  </a:tcPr>
                </a:tc>
                <a:tc>
                  <a:txBody>
                    <a:bodyPr/>
                    <a:lstStyle/>
                    <a:p>
                      <a:r>
                        <a:rPr sz="1000" b="0" i="0">
                          <a:solidFill>
                            <a:srgbClr val="E8EEF6"/>
                          </a:solidFill>
                          <a:latin typeface="Calibri"/>
                        </a:rPr>
                        <a:t>n/a</a:t>
                      </a:r>
                    </a:p>
                  </a:txBody>
                  <a:tcPr marL="54864" marR="54864" marT="27432" marB="27432" anchor="ctr">
                    <a:solidFill>
                      <a:srgbClr val="101F34"/>
                    </a:solidFill>
                  </a:tcPr>
                </a:tc>
                <a:tc>
                  <a:txBody>
                    <a:bodyPr/>
                    <a:lstStyle/>
                    <a:p>
                      <a:r>
                        <a:rPr sz="1000" b="1" i="0">
                          <a:solidFill>
                            <a:srgbClr val="FBBF24"/>
                          </a:solidFill>
                          <a:latin typeface="Calibri"/>
                        </a:rPr>
                        <a:t>Not Run</a:t>
                      </a:r>
                    </a:p>
                  </a:txBody>
                  <a:tcPr marL="54864" marR="54864" marT="27432" marB="27432" anchor="ctr">
                    <a:solidFill>
                      <a:srgbClr val="101F34"/>
                    </a:solidFill>
                  </a:tcPr>
                </a:tc>
              </a:tr>
              <a:tr h="731520">
                <a:tc>
                  <a:txBody>
                    <a:bodyPr/>
                    <a:lstStyle/>
                    <a:p>
                      <a:r>
                        <a:rPr sz="1000" b="0" i="0">
                          <a:solidFill>
                            <a:srgbClr val="E8EEF6"/>
                          </a:solidFill>
                          <a:latin typeface="Calibri"/>
                        </a:rPr>
                        <a:t>11</a:t>
                      </a:r>
                    </a:p>
                  </a:txBody>
                  <a:tcPr marL="54864" marR="54864" marT="27432" marB="27432" anchor="ctr">
                    <a:solidFill>
                      <a:srgbClr val="14243B"/>
                    </a:solidFill>
                  </a:tcPr>
                </a:tc>
                <a:tc>
                  <a:txBody>
                    <a:bodyPr/>
                    <a:lstStyle/>
                    <a:p>
                      <a:r>
                        <a:rPr sz="1000" b="0" i="0">
                          <a:solidFill>
                            <a:srgbClr val="E8EEF6"/>
                          </a:solidFill>
                          <a:latin typeface="Calibri"/>
                        </a:rPr>
                        <a:t>UFS 5.0 device, WriteBooster enabled, shared-buffer mode</a:t>
                      </a:r>
                    </a:p>
                  </a:txBody>
                  <a:tcPr marL="54864" marR="54864" marT="27432" marB="27432" anchor="ctr">
                    <a:solidFill>
                      <a:srgbClr val="14243B"/>
                    </a:solidFill>
                  </a:tcPr>
                </a:tc>
                <a:tc>
                  <a:txBody>
                    <a:bodyPr/>
                    <a:lstStyle/>
                    <a:p>
                      <a:r>
                        <a:rPr sz="1000" b="0" i="0">
                          <a:solidFill>
                            <a:srgbClr val="E8EEF6"/>
                          </a:solidFill>
                          <a:latin typeface="Calibri"/>
                        </a:rPr>
                        <a:t>Log ufshcd_wb_get_query_index() result; cache-hit counter</a:t>
                      </a:r>
                    </a:p>
                  </a:txBody>
                  <a:tcPr marL="54864" marR="54864" marT="27432" marB="27432" anchor="ctr">
                    <a:solidFill>
                      <a:srgbClr val="14243B"/>
                    </a:solidFill>
                  </a:tcPr>
                </a:tc>
                <a:tc>
                  <a:txBody>
                    <a:bodyPr/>
                    <a:lstStyle/>
                    <a:p>
                      <a:r>
                        <a:rPr sz="1000" b="0" i="0">
                          <a:solidFill>
                            <a:srgbClr val="E8EEF6"/>
                          </a:solidFill>
                          <a:latin typeface="Calibri"/>
                        </a:rPr>
                        <a:t>Cache hit expected; else attribute query</a:t>
                      </a:r>
                    </a:p>
                  </a:txBody>
                  <a:tcPr marL="54864" marR="54864" marT="27432" marB="27432" anchor="ctr">
                    <a:solidFill>
                      <a:srgbClr val="14243B"/>
                    </a:solidFill>
                  </a:tcPr>
                </a:tc>
                <a:tc>
                  <a:txBody>
                    <a:bodyPr/>
                    <a:lstStyle/>
                    <a:p>
                      <a:r>
                        <a:rPr sz="1000" b="1" i="0">
                          <a:solidFill>
                            <a:srgbClr val="FBBF24"/>
                          </a:solidFill>
                          <a:latin typeface="Calibri"/>
                        </a:rPr>
                        <a:t>Not Run</a:t>
                      </a:r>
                    </a:p>
                  </a:txBody>
                  <a:tcPr marL="54864" marR="54864" marT="27432" marB="27432" anchor="ctr">
                    <a:solidFill>
                      <a:srgbClr val="14243B"/>
                    </a:solidFill>
                  </a:tcPr>
                </a:tc>
              </a:tr>
              <a:tr h="731520">
                <a:tc>
                  <a:txBody>
                    <a:bodyPr/>
                    <a:lstStyle/>
                    <a:p>
                      <a:r>
                        <a:rPr sz="1000" b="0" i="0">
                          <a:solidFill>
                            <a:srgbClr val="E8EEF6"/>
                          </a:solidFill>
                          <a:latin typeface="Calibri"/>
                        </a:rPr>
                        <a:t>12</a:t>
                      </a:r>
                    </a:p>
                  </a:txBody>
                  <a:tcPr marL="54864" marR="54864" marT="27432" marB="27432" anchor="ctr">
                    <a:solidFill>
                      <a:srgbClr val="101F34"/>
                    </a:solidFill>
                  </a:tcPr>
                </a:tc>
                <a:tc>
                  <a:txBody>
                    <a:bodyPr/>
                    <a:lstStyle/>
                    <a:p>
                      <a:r>
                        <a:rPr sz="1000" b="0" i="0">
                          <a:solidFill>
                            <a:srgbClr val="E8EEF6"/>
                          </a:solidFill>
                          <a:latin typeface="Calibri"/>
                        </a:rPr>
                        <a:t>WB configuration where ufshcd_wb_get_query_index() ≠ 0, or WB disabled</a:t>
                      </a:r>
                    </a:p>
                  </a:txBody>
                  <a:tcPr marL="54864" marR="54864" marT="27432" marB="27432" anchor="ctr">
                    <a:solidFill>
                      <a:srgbClr val="101F34"/>
                    </a:solidFill>
                  </a:tcPr>
                </a:tc>
                <a:tc>
                  <a:txBody>
                    <a:bodyPr/>
                    <a:lstStyle/>
                    <a:p>
                      <a:r>
                        <a:rPr sz="1000" b="0" i="0">
                          <a:solidFill>
                            <a:srgbClr val="E8EEF6"/>
                          </a:solidFill>
                          <a:latin typeface="Calibri"/>
                        </a:rPr>
                        <a:t>Same counters; check individual attribute query count</a:t>
                      </a:r>
                    </a:p>
                  </a:txBody>
                  <a:tcPr marL="54864" marR="54864" marT="27432" marB="27432" anchor="ctr">
                    <a:solidFill>
                      <a:srgbClr val="101F34"/>
                    </a:solidFill>
                  </a:tcPr>
                </a:tc>
                <a:tc>
                  <a:txBody>
                    <a:bodyPr/>
                    <a:lstStyle/>
                    <a:p>
                      <a:r>
                        <a:rPr sz="1000" b="0" i="0">
                          <a:solidFill>
                            <a:srgbClr val="E8EEF6"/>
                          </a:solidFill>
                          <a:latin typeface="Calibri"/>
                        </a:rPr>
                        <a:t>ufshcd_query_attr_retry() (code: index ≠ 0)</a:t>
                      </a:r>
                    </a:p>
                  </a:txBody>
                  <a:tcPr marL="54864" marR="54864" marT="27432" marB="27432" anchor="ctr">
                    <a:solidFill>
                      <a:srgbClr val="101F34"/>
                    </a:solidFill>
                  </a:tcPr>
                </a:tc>
                <a:tc>
                  <a:txBody>
                    <a:bodyPr/>
                    <a:lstStyle/>
                    <a:p>
                      <a:r>
                        <a:rPr sz="1000" b="1" i="0">
                          <a:solidFill>
                            <a:srgbClr val="FBBF24"/>
                          </a:solidFill>
                          <a:latin typeface="Calibri"/>
                        </a:rPr>
                        <a:t>Not Run</a:t>
                      </a:r>
                    </a:p>
                  </a:txBody>
                  <a:tcPr marL="54864" marR="54864" marT="27432" marB="27432" anchor="ctr">
                    <a:solidFill>
                      <a:srgbClr val="101F34"/>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626"/>
        </a:solidFill>
        <a:effectLst/>
      </p:bgPr>
    </p:bg>
    <p:spTree>
      <p:nvGrpSpPr>
        <p:cNvPr id="1" name=""/>
        <p:cNvGrpSpPr/>
        <p:nvPr/>
      </p:nvGrpSpPr>
      <p:grpSpPr/>
      <p:sp>
        <p:nvSpPr>
          <p:cNvPr id="2" name="Title"/>
          <p:cNvSpPr txBox="1"/>
          <p:nvPr/>
        </p:nvSpPr>
        <p:spPr>
          <a:xfrm>
            <a:off x="457200" y="274320"/>
            <a:ext cx="11247120" cy="548640"/>
          </a:xfrm>
          <a:prstGeom prst="rect">
            <a:avLst/>
          </a:prstGeom>
          <a:noFill/>
        </p:spPr>
        <p:txBody>
          <a:bodyPr wrap="square" anchor="ctr" lIns="36576" rIns="36576" tIns="18288" bIns="18288">
            <a:spAutoFit/>
          </a:bodyPr>
          <a:lstStyle/>
          <a:p>
            <a:r>
              <a:rPr sz="2400" b="1" i="0">
                <a:solidFill>
                  <a:srgbClr val="E8EEF6"/>
                </a:solidFill>
                <a:latin typeface="Calibri"/>
              </a:rPr>
              <a:t>Appendix A6: Correctness Checklist and Recommended Checks (Not Run)</a:t>
            </a:r>
          </a:p>
        </p:txBody>
      </p:sp>
      <p:sp>
        <p:nvSpPr>
          <p:cNvPr id="3" name="Source"/>
          <p:cNvSpPr txBox="1"/>
          <p:nvPr/>
        </p:nvSpPr>
        <p:spPr>
          <a:xfrm>
            <a:off x="457200" y="6473952"/>
            <a:ext cx="10424160" cy="256032"/>
          </a:xfrm>
          <a:prstGeom prst="rect">
            <a:avLst/>
          </a:prstGeom>
          <a:noFill/>
        </p:spPr>
        <p:txBody>
          <a:bodyPr wrap="square" anchor="t" lIns="36576" rIns="36576" tIns="18288" bIns="18288">
            <a:spAutoFit/>
          </a:bodyPr>
          <a:lstStyle/>
          <a:p>
            <a:r>
              <a:rPr sz="1000" b="0" i="0">
                <a:solidFill>
                  <a:srgbClr val="A9B8CC"/>
                </a:solidFill>
                <a:latin typeface="Calibri"/>
              </a:rPr>
              <a:t>Proposed checks only — none executed</a:t>
            </a:r>
          </a:p>
        </p:txBody>
      </p:sp>
      <p:sp>
        <p:nvSpPr>
          <p:cNvPr id="4" name="Slide Number"/>
          <p:cNvSpPr txBox="1"/>
          <p:nvPr/>
        </p:nvSpPr>
        <p:spPr>
          <a:xfrm>
            <a:off x="11064240" y="6473952"/>
            <a:ext cx="685800" cy="256032"/>
          </a:xfrm>
          <a:prstGeom prst="rect">
            <a:avLst/>
          </a:prstGeom>
          <a:noFill/>
        </p:spPr>
        <p:txBody>
          <a:bodyPr wrap="none">
            <a:spAutoFit/>
          </a:bodyPr>
          <a:lstStyle/>
          <a:p>
            <a:pPr algn="r"/>
            <a:fld id="{B6F15528-21DE-4FAA-801E-634DDDAF4B2B}" type="slidenum">
              <a:rPr lang="en-US" sz="1100">
                <a:solidFill>
                  <a:srgbClr val="A9B8CC"/>
                </a:solidFill>
                <a:latin typeface="Calibri"/>
              </a:rPr>
              <a:t>24</a:t>
            </a:fld>
          </a:p>
        </p:txBody>
      </p:sp>
      <p:graphicFrame>
        <p:nvGraphicFramePr>
          <p:cNvPr id="5" name="Table 4"/>
          <p:cNvGraphicFramePr>
            <a:graphicFrameLocks noGrp="1"/>
          </p:cNvGraphicFramePr>
          <p:nvPr/>
        </p:nvGraphicFramePr>
        <p:xfrm>
          <a:off x="457200" y="1051560"/>
          <a:ext cx="7040880" cy="4480560"/>
        </p:xfrm>
        <a:graphic>
          <a:graphicData uri="http://schemas.openxmlformats.org/drawingml/2006/table">
            <a:tbl>
              <a:tblPr firstRow="1" bandRow="1">
                <a:tableStyleId>{5940675A-B579-460E-94D1-54222C63F5DA}</a:tableStyleId>
              </a:tblPr>
              <a:tblGrid>
                <a:gridCol w="3017520"/>
                <a:gridCol w="3200400"/>
                <a:gridCol w="822960"/>
              </a:tblGrid>
              <a:tr h="274320">
                <a:tc>
                  <a:txBody>
                    <a:bodyPr/>
                    <a:lstStyle/>
                    <a:p>
                      <a:r>
                        <a:rPr sz="1000" b="1" i="0">
                          <a:solidFill>
                            <a:srgbClr val="E8EEF6"/>
                          </a:solidFill>
                          <a:latin typeface="Calibri"/>
                        </a:rPr>
                        <a:t>Correctness item</a:t>
                      </a:r>
                    </a:p>
                  </a:txBody>
                  <a:tcPr marL="54864" marR="54864" marT="27432" marB="27432" anchor="ctr">
                    <a:solidFill>
                      <a:srgbClr val="22406A"/>
                    </a:solidFill>
                  </a:tcPr>
                </a:tc>
                <a:tc>
                  <a:txBody>
                    <a:bodyPr/>
                    <a:lstStyle/>
                    <a:p>
                      <a:r>
                        <a:rPr sz="1000" b="1" i="0">
                          <a:solidFill>
                            <a:srgbClr val="E8EEF6"/>
                          </a:solidFill>
                          <a:latin typeface="Calibri"/>
                        </a:rPr>
                        <a:t>How to check</a:t>
                      </a:r>
                    </a:p>
                  </a:txBody>
                  <a:tcPr marL="54864" marR="54864" marT="27432" marB="27432" anchor="ctr">
                    <a:solidFill>
                      <a:srgbClr val="22406A"/>
                    </a:solidFill>
                  </a:tcPr>
                </a:tc>
                <a:tc>
                  <a:txBody>
                    <a:bodyPr/>
                    <a:lstStyle/>
                    <a:p>
                      <a:r>
                        <a:rPr sz="1000" b="1" i="0">
                          <a:solidFill>
                            <a:srgbClr val="E8EEF6"/>
                          </a:solidFill>
                          <a:latin typeface="Calibri"/>
                        </a:rPr>
                        <a:t>Status</a:t>
                      </a:r>
                    </a:p>
                  </a:txBody>
                  <a:tcPr marL="54864" marR="54864" marT="27432" marB="27432" anchor="ctr">
                    <a:solidFill>
                      <a:srgbClr val="22406A"/>
                    </a:solidFill>
                  </a:tcPr>
                </a:tc>
              </a:tr>
              <a:tr h="420624">
                <a:tc>
                  <a:txBody>
                    <a:bodyPr/>
                    <a:lstStyle/>
                    <a:p>
                      <a:r>
                        <a:rPr sz="1000" b="0" i="0">
                          <a:solidFill>
                            <a:srgbClr val="E8EEF6"/>
                          </a:solidFill>
                          <a:latin typeface="Calibri"/>
                        </a:rPr>
                        <a:t>Device initialization succeeds</a:t>
                      </a:r>
                    </a:p>
                  </a:txBody>
                  <a:tcPr marL="54864" marR="54864" marT="27432" marB="27432" anchor="ctr">
                    <a:solidFill>
                      <a:srgbClr val="14243B"/>
                    </a:solidFill>
                  </a:tcPr>
                </a:tc>
                <a:tc>
                  <a:txBody>
                    <a:bodyPr/>
                    <a:lstStyle/>
                    <a:p>
                      <a:r>
                        <a:rPr sz="1000" b="0" i="0">
                          <a:solidFill>
                            <a:srgbClr val="E8EEF6"/>
                          </a:solidFill>
                          <a:latin typeface="Calibri"/>
                        </a:rPr>
                        <a:t>Boot and probe on 5.0 and older devices</a:t>
                      </a:r>
                    </a:p>
                  </a:txBody>
                  <a:tcPr marL="54864" marR="54864" marT="27432" marB="27432" anchor="ctr">
                    <a:solidFill>
                      <a:srgbClr val="14243B"/>
                    </a:solidFill>
                  </a:tcPr>
                </a:tc>
                <a:tc>
                  <a:txBody>
                    <a:bodyPr/>
                    <a:lstStyle/>
                    <a:p>
                      <a:r>
                        <a:rPr sz="1000" b="1" i="0">
                          <a:solidFill>
                            <a:srgbClr val="FBBF24"/>
                          </a:solidFill>
                          <a:latin typeface="Calibri"/>
                        </a:rPr>
                        <a:t>Not Run</a:t>
                      </a:r>
                    </a:p>
                  </a:txBody>
                  <a:tcPr marL="54864" marR="54864" marT="27432" marB="27432" anchor="ctr">
                    <a:solidFill>
                      <a:srgbClr val="14243B"/>
                    </a:solidFill>
                  </a:tcPr>
                </a:tc>
              </a:tr>
              <a:tr h="420624">
                <a:tc>
                  <a:txBody>
                    <a:bodyPr/>
                    <a:lstStyle/>
                    <a:p>
                      <a:r>
                        <a:rPr sz="1000" b="0" i="0">
                          <a:solidFill>
                            <a:srgbClr val="E8EEF6"/>
                          </a:solidFill>
                          <a:latin typeface="Calibri"/>
                        </a:rPr>
                        <a:t>Cached attributes equal individual values</a:t>
                      </a:r>
                    </a:p>
                  </a:txBody>
                  <a:tcPr marL="54864" marR="54864" marT="27432" marB="27432" anchor="ctr">
                    <a:solidFill>
                      <a:srgbClr val="101F34"/>
                    </a:solidFill>
                  </a:tcPr>
                </a:tc>
                <a:tc>
                  <a:txBody>
                    <a:bodyPr/>
                    <a:lstStyle/>
                    <a:p>
                      <a:r>
                        <a:rPr sz="1000" b="0" i="0">
                          <a:solidFill>
                            <a:srgbClr val="E8EEF6"/>
                          </a:solidFill>
                          <a:latin typeface="Calibri"/>
                        </a:rPr>
                        <a:t>Dump both paths for 0x0c, 0x17, 0x1e</a:t>
                      </a:r>
                    </a:p>
                  </a:txBody>
                  <a:tcPr marL="54864" marR="54864" marT="27432" marB="27432" anchor="ctr">
                    <a:solidFill>
                      <a:srgbClr val="101F34"/>
                    </a:solidFill>
                  </a:tcPr>
                </a:tc>
                <a:tc>
                  <a:txBody>
                    <a:bodyPr/>
                    <a:lstStyle/>
                    <a:p>
                      <a:r>
                        <a:rPr sz="1000" b="1" i="0">
                          <a:solidFill>
                            <a:srgbClr val="FBBF24"/>
                          </a:solidFill>
                          <a:latin typeface="Calibri"/>
                        </a:rPr>
                        <a:t>Not Run</a:t>
                      </a:r>
                    </a:p>
                  </a:txBody>
                  <a:tcPr marL="54864" marR="54864" marT="27432" marB="27432" anchor="ctr">
                    <a:solidFill>
                      <a:srgbClr val="101F34"/>
                    </a:solidFill>
                  </a:tcPr>
                </a:tc>
              </a:tr>
              <a:tr h="420624">
                <a:tc>
                  <a:txBody>
                    <a:bodyPr/>
                    <a:lstStyle/>
                    <a:p>
                      <a:r>
                        <a:rPr sz="1000" b="0" i="0">
                          <a:solidFill>
                            <a:srgbClr val="E8EEF6"/>
                          </a:solidFill>
                          <a:latin typeface="Calibri"/>
                        </a:rPr>
                        <a:t>Cached flag equals individual value</a:t>
                      </a:r>
                    </a:p>
                  </a:txBody>
                  <a:tcPr marL="54864" marR="54864" marT="27432" marB="27432" anchor="ctr">
                    <a:solidFill>
                      <a:srgbClr val="14243B"/>
                    </a:solidFill>
                  </a:tcPr>
                </a:tc>
                <a:tc>
                  <a:txBody>
                    <a:bodyPr/>
                    <a:lstStyle/>
                    <a:p>
                      <a:r>
                        <a:rPr sz="1000" b="0" i="0">
                          <a:solidFill>
                            <a:srgbClr val="E8EEF6"/>
                          </a:solidFill>
                          <a:latin typeface="Calibri"/>
                        </a:rPr>
                        <a:t>Compare fPowerOnWPEn (0x03)</a:t>
                      </a:r>
                    </a:p>
                  </a:txBody>
                  <a:tcPr marL="54864" marR="54864" marT="27432" marB="27432" anchor="ctr">
                    <a:solidFill>
                      <a:srgbClr val="14243B"/>
                    </a:solidFill>
                  </a:tcPr>
                </a:tc>
                <a:tc>
                  <a:txBody>
                    <a:bodyPr/>
                    <a:lstStyle/>
                    <a:p>
                      <a:r>
                        <a:rPr sz="1000" b="1" i="0">
                          <a:solidFill>
                            <a:srgbClr val="FBBF24"/>
                          </a:solidFill>
                          <a:latin typeface="Calibri"/>
                        </a:rPr>
                        <a:t>Not Run</a:t>
                      </a:r>
                    </a:p>
                  </a:txBody>
                  <a:tcPr marL="54864" marR="54864" marT="27432" marB="27432" anchor="ctr">
                    <a:solidFill>
                      <a:srgbClr val="14243B"/>
                    </a:solidFill>
                  </a:tcPr>
                </a:tc>
              </a:tr>
              <a:tr h="420624">
                <a:tc>
                  <a:txBody>
                    <a:bodyPr/>
                    <a:lstStyle/>
                    <a:p>
                      <a:r>
                        <a:rPr sz="1000" b="0" i="0">
                          <a:solidFill>
                            <a:srgbClr val="E8EEF6"/>
                          </a:solidFill>
                          <a:latin typeface="Calibri"/>
                        </a:rPr>
                        <a:t>Descriptor and string contents match</a:t>
                      </a:r>
                    </a:p>
                  </a:txBody>
                  <a:tcPr marL="54864" marR="54864" marT="27432" marB="27432" anchor="ctr">
                    <a:solidFill>
                      <a:srgbClr val="101F34"/>
                    </a:solidFill>
                  </a:tcPr>
                </a:tc>
                <a:tc>
                  <a:txBody>
                    <a:bodyPr/>
                    <a:lstStyle/>
                    <a:p>
                      <a:r>
                        <a:rPr sz="1000" b="0" i="0">
                          <a:solidFill>
                            <a:srgbClr val="E8EEF6"/>
                          </a:solidFill>
                          <a:latin typeface="Calibri"/>
                        </a:rPr>
                        <a:t>Byte compare Product Name and Serial Number</a:t>
                      </a:r>
                    </a:p>
                  </a:txBody>
                  <a:tcPr marL="54864" marR="54864" marT="27432" marB="27432" anchor="ctr">
                    <a:solidFill>
                      <a:srgbClr val="101F34"/>
                    </a:solidFill>
                  </a:tcPr>
                </a:tc>
                <a:tc>
                  <a:txBody>
                    <a:bodyPr/>
                    <a:lstStyle/>
                    <a:p>
                      <a:r>
                        <a:rPr sz="1000" b="1" i="0">
                          <a:solidFill>
                            <a:srgbClr val="FBBF24"/>
                          </a:solidFill>
                          <a:latin typeface="Calibri"/>
                        </a:rPr>
                        <a:t>Not Run</a:t>
                      </a:r>
                    </a:p>
                  </a:txBody>
                  <a:tcPr marL="54864" marR="54864" marT="27432" marB="27432" anchor="ctr">
                    <a:solidFill>
                      <a:srgbClr val="101F34"/>
                    </a:solidFill>
                  </a:tcPr>
                </a:tc>
              </a:tr>
              <a:tr h="420624">
                <a:tc>
                  <a:txBody>
                    <a:bodyPr/>
                    <a:lstStyle/>
                    <a:p>
                      <a:r>
                        <a:rPr sz="1000" b="0" i="0">
                          <a:solidFill>
                            <a:srgbClr val="E8EEF6"/>
                          </a:solidFill>
                          <a:latin typeface="Calibri"/>
                        </a:rPr>
                        <a:t>Missing values take correct fallback</a:t>
                      </a:r>
                    </a:p>
                  </a:txBody>
                  <a:tcPr marL="54864" marR="54864" marT="27432" marB="27432" anchor="ctr">
                    <a:solidFill>
                      <a:srgbClr val="14243B"/>
                    </a:solidFill>
                  </a:tcPr>
                </a:tc>
                <a:tc>
                  <a:txBody>
                    <a:bodyPr/>
                    <a:lstStyle/>
                    <a:p>
                      <a:r>
                        <a:rPr sz="1000" b="0" i="0">
                          <a:solidFill>
                            <a:srgbClr val="E8EEF6"/>
                          </a:solidFill>
                          <a:latin typeface="Calibri"/>
                        </a:rPr>
                        <a:t>Scenarios 4–6</a:t>
                      </a:r>
                    </a:p>
                  </a:txBody>
                  <a:tcPr marL="54864" marR="54864" marT="27432" marB="27432" anchor="ctr">
                    <a:solidFill>
                      <a:srgbClr val="14243B"/>
                    </a:solidFill>
                  </a:tcPr>
                </a:tc>
                <a:tc>
                  <a:txBody>
                    <a:bodyPr/>
                    <a:lstStyle/>
                    <a:p>
                      <a:r>
                        <a:rPr sz="1000" b="1" i="0">
                          <a:solidFill>
                            <a:srgbClr val="FBBF24"/>
                          </a:solidFill>
                          <a:latin typeface="Calibri"/>
                        </a:rPr>
                        <a:t>Not Run</a:t>
                      </a:r>
                    </a:p>
                  </a:txBody>
                  <a:tcPr marL="54864" marR="54864" marT="27432" marB="27432" anchor="ctr">
                    <a:solidFill>
                      <a:srgbClr val="14243B"/>
                    </a:solidFill>
                  </a:tcPr>
                </a:tc>
              </a:tr>
              <a:tr h="420624">
                <a:tc>
                  <a:txBody>
                    <a:bodyPr/>
                    <a:lstStyle/>
                    <a:p>
                      <a:r>
                        <a:rPr sz="1000" b="0" i="0">
                          <a:solidFill>
                            <a:srgbClr val="E8EEF6"/>
                          </a:solidFill>
                          <a:latin typeface="Calibri"/>
                        </a:rPr>
                        <a:t>Unsupported devices remain functional</a:t>
                      </a:r>
                    </a:p>
                  </a:txBody>
                  <a:tcPr marL="54864" marR="54864" marT="27432" marB="27432" anchor="ctr">
                    <a:solidFill>
                      <a:srgbClr val="101F34"/>
                    </a:solidFill>
                  </a:tcPr>
                </a:tc>
                <a:tc>
                  <a:txBody>
                    <a:bodyPr/>
                    <a:lstStyle/>
                    <a:p>
                      <a:r>
                        <a:rPr sz="1000" b="0" i="0">
                          <a:solidFill>
                            <a:srgbClr val="E8EEF6"/>
                          </a:solidFill>
                          <a:latin typeface="Calibri"/>
                        </a:rPr>
                        <a:t>Scenarios 2, 3</a:t>
                      </a:r>
                    </a:p>
                  </a:txBody>
                  <a:tcPr marL="54864" marR="54864" marT="27432" marB="27432" anchor="ctr">
                    <a:solidFill>
                      <a:srgbClr val="101F34"/>
                    </a:solidFill>
                  </a:tcPr>
                </a:tc>
                <a:tc>
                  <a:txBody>
                    <a:bodyPr/>
                    <a:lstStyle/>
                    <a:p>
                      <a:r>
                        <a:rPr sz="1000" b="1" i="0">
                          <a:solidFill>
                            <a:srgbClr val="FBBF24"/>
                          </a:solidFill>
                          <a:latin typeface="Calibri"/>
                        </a:rPr>
                        <a:t>Not Run</a:t>
                      </a:r>
                    </a:p>
                  </a:txBody>
                  <a:tcPr marL="54864" marR="54864" marT="27432" marB="27432" anchor="ctr">
                    <a:solidFill>
                      <a:srgbClr val="101F34"/>
                    </a:solidFill>
                  </a:tcPr>
                </a:tc>
              </a:tr>
              <a:tr h="420624">
                <a:tc>
                  <a:txBody>
                    <a:bodyPr/>
                    <a:lstStyle/>
                    <a:p>
                      <a:r>
                        <a:rPr sz="1000" b="0" i="0">
                          <a:solidFill>
                            <a:srgbClr val="E8EEF6"/>
                          </a:solidFill>
                          <a:latin typeface="Calibri"/>
                        </a:rPr>
                        <a:t>Failures leave no invalid cache state</a:t>
                      </a:r>
                    </a:p>
                  </a:txBody>
                  <a:tcPr marL="54864" marR="54864" marT="27432" marB="27432" anchor="ctr">
                    <a:solidFill>
                      <a:srgbClr val="14243B"/>
                    </a:solidFill>
                  </a:tcPr>
                </a:tc>
                <a:tc>
                  <a:txBody>
                    <a:bodyPr/>
                    <a:lstStyle/>
                    <a:p>
                      <a:r>
                        <a:rPr sz="1000" b="0" i="0">
                          <a:solidFill>
                            <a:srgbClr val="E8EEF6"/>
                          </a:solidFill>
                          <a:latin typeface="Calibri"/>
                        </a:rPr>
                        <a:t>Scenarios 7–9; check agg_packet == NULL after init</a:t>
                      </a:r>
                    </a:p>
                  </a:txBody>
                  <a:tcPr marL="54864" marR="54864" marT="27432" marB="27432" anchor="ctr">
                    <a:solidFill>
                      <a:srgbClr val="14243B"/>
                    </a:solidFill>
                  </a:tcPr>
                </a:tc>
                <a:tc>
                  <a:txBody>
                    <a:bodyPr/>
                    <a:lstStyle/>
                    <a:p>
                      <a:r>
                        <a:rPr sz="1000" b="1" i="0">
                          <a:solidFill>
                            <a:srgbClr val="FBBF24"/>
                          </a:solidFill>
                          <a:latin typeface="Calibri"/>
                        </a:rPr>
                        <a:t>Not Run</a:t>
                      </a:r>
                    </a:p>
                  </a:txBody>
                  <a:tcPr marL="54864" marR="54864" marT="27432" marB="27432" anchor="ctr">
                    <a:solidFill>
                      <a:srgbClr val="14243B"/>
                    </a:solidFill>
                  </a:tcPr>
                </a:tc>
              </a:tr>
              <a:tr h="420624">
                <a:tc>
                  <a:txBody>
                    <a:bodyPr/>
                    <a:lstStyle/>
                    <a:p>
                      <a:r>
                        <a:rPr sz="1000" b="0" i="0">
                          <a:solidFill>
                            <a:srgbClr val="E8EEF6"/>
                          </a:solidFill>
                          <a:latin typeface="Calibri"/>
                        </a:rPr>
                        <a:t>Packet freed at the right boundary</a:t>
                      </a:r>
                    </a:p>
                  </a:txBody>
                  <a:tcPr marL="54864" marR="54864" marT="27432" marB="27432" anchor="ctr">
                    <a:solidFill>
                      <a:srgbClr val="101F34"/>
                    </a:solidFill>
                  </a:tcPr>
                </a:tc>
                <a:tc>
                  <a:txBody>
                    <a:bodyPr/>
                    <a:lstStyle/>
                    <a:p>
                      <a:r>
                        <a:rPr sz="1000" b="0" i="0">
                          <a:solidFill>
                            <a:srgbClr val="E8EEF6"/>
                          </a:solidFill>
                          <a:latin typeface="Calibri"/>
                        </a:rPr>
                        <a:t>kmemleak; end() reached on all init exits</a:t>
                      </a:r>
                    </a:p>
                  </a:txBody>
                  <a:tcPr marL="54864" marR="54864" marT="27432" marB="27432" anchor="ctr">
                    <a:solidFill>
                      <a:srgbClr val="101F34"/>
                    </a:solidFill>
                  </a:tcPr>
                </a:tc>
                <a:tc>
                  <a:txBody>
                    <a:bodyPr/>
                    <a:lstStyle/>
                    <a:p>
                      <a:r>
                        <a:rPr sz="1000" b="1" i="0">
                          <a:solidFill>
                            <a:srgbClr val="FBBF24"/>
                          </a:solidFill>
                          <a:latin typeface="Calibri"/>
                        </a:rPr>
                        <a:t>Not Run</a:t>
                      </a:r>
                    </a:p>
                  </a:txBody>
                  <a:tcPr marL="54864" marR="54864" marT="27432" marB="27432" anchor="ctr">
                    <a:solidFill>
                      <a:srgbClr val="101F34"/>
                    </a:solidFill>
                  </a:tcPr>
                </a:tc>
              </a:tr>
              <a:tr h="420624">
                <a:tc>
                  <a:txBody>
                    <a:bodyPr/>
                    <a:lstStyle/>
                    <a:p>
                      <a:r>
                        <a:rPr sz="1000" b="0" i="0">
                          <a:solidFill>
                            <a:srgbClr val="E8EEF6"/>
                          </a:solidFill>
                          <a:latin typeface="Calibri"/>
                        </a:rPr>
                        <a:t>Re-initialization reuses no stale data</a:t>
                      </a:r>
                    </a:p>
                  </a:txBody>
                  <a:tcPr marL="54864" marR="54864" marT="27432" marB="27432" anchor="ctr">
                    <a:solidFill>
                      <a:srgbClr val="14243B"/>
                    </a:solidFill>
                  </a:tcPr>
                </a:tc>
                <a:tc>
                  <a:txBody>
                    <a:bodyPr/>
                    <a:lstStyle/>
                    <a:p>
                      <a:r>
                        <a:rPr sz="1000" b="0" i="0">
                          <a:solidFill>
                            <a:srgbClr val="E8EEF6"/>
                          </a:solidFill>
                          <a:latin typeface="Calibri"/>
                        </a:rPr>
                        <a:t>Repeat init; verify begin()/end() pairing</a:t>
                      </a:r>
                    </a:p>
                  </a:txBody>
                  <a:tcPr marL="54864" marR="54864" marT="27432" marB="27432" anchor="ctr">
                    <a:solidFill>
                      <a:srgbClr val="14243B"/>
                    </a:solidFill>
                  </a:tcPr>
                </a:tc>
                <a:tc>
                  <a:txBody>
                    <a:bodyPr/>
                    <a:lstStyle/>
                    <a:p>
                      <a:r>
                        <a:rPr sz="1000" b="1" i="0">
                          <a:solidFill>
                            <a:srgbClr val="FBBF24"/>
                          </a:solidFill>
                          <a:latin typeface="Calibri"/>
                        </a:rPr>
                        <a:t>Not Run</a:t>
                      </a:r>
                    </a:p>
                  </a:txBody>
                  <a:tcPr marL="54864" marR="54864" marT="27432" marB="27432" anchor="ctr">
                    <a:solidFill>
                      <a:srgbClr val="14243B"/>
                    </a:solidFill>
                  </a:tcPr>
                </a:tc>
              </a:tr>
              <a:tr h="420624">
                <a:tc>
                  <a:txBody>
                    <a:bodyPr/>
                    <a:lstStyle/>
                    <a:p>
                      <a:r>
                        <a:rPr sz="1000" b="0" i="0">
                          <a:solidFill>
                            <a:srgbClr val="E8EEF6"/>
                          </a:solidFill>
                          <a:latin typeface="Calibri"/>
                        </a:rPr>
                        <a:t>Existing UFS functionality intact</a:t>
                      </a:r>
                    </a:p>
                  </a:txBody>
                  <a:tcPr marL="54864" marR="54864" marT="27432" marB="27432" anchor="ctr">
                    <a:solidFill>
                      <a:srgbClr val="101F34"/>
                    </a:solidFill>
                  </a:tcPr>
                </a:tc>
                <a:tc>
                  <a:txBody>
                    <a:bodyPr/>
                    <a:lstStyle/>
                    <a:p>
                      <a:r>
                        <a:rPr sz="1000" b="0" i="0">
                          <a:solidFill>
                            <a:srgbClr val="E8EEF6"/>
                          </a:solidFill>
                          <a:latin typeface="Calibri"/>
                        </a:rPr>
                        <a:t>Regular I/O and error-recovery smoke tests</a:t>
                      </a:r>
                    </a:p>
                  </a:txBody>
                  <a:tcPr marL="54864" marR="54864" marT="27432" marB="27432" anchor="ctr">
                    <a:solidFill>
                      <a:srgbClr val="101F34"/>
                    </a:solidFill>
                  </a:tcPr>
                </a:tc>
                <a:tc>
                  <a:txBody>
                    <a:bodyPr/>
                    <a:lstStyle/>
                    <a:p>
                      <a:r>
                        <a:rPr sz="1000" b="1" i="0">
                          <a:solidFill>
                            <a:srgbClr val="FBBF24"/>
                          </a:solidFill>
                          <a:latin typeface="Calibri"/>
                        </a:rPr>
                        <a:t>Not Run</a:t>
                      </a:r>
                    </a:p>
                  </a:txBody>
                  <a:tcPr marL="54864" marR="54864" marT="27432" marB="27432" anchor="ctr">
                    <a:solidFill>
                      <a:srgbClr val="101F34"/>
                    </a:solidFill>
                  </a:tcPr>
                </a:tc>
              </a:tr>
            </a:tbl>
          </a:graphicData>
        </a:graphic>
      </p:graphicFrame>
      <p:sp>
        <p:nvSpPr>
          <p:cNvPr id="6" name="Rounded Rectangle 5"/>
          <p:cNvSpPr/>
          <p:nvPr/>
        </p:nvSpPr>
        <p:spPr>
          <a:xfrm>
            <a:off x="7772400" y="1051560"/>
            <a:ext cx="3931920" cy="5120640"/>
          </a:xfrm>
          <a:prstGeom prst="roundRect">
            <a:avLst>
              <a:gd name="adj" fmla="val 4000"/>
            </a:avLst>
          </a:prstGeom>
          <a:solidFill>
            <a:srgbClr val="14243B"/>
          </a:solidFill>
          <a:ln w="9525">
            <a:solidFill>
              <a:srgbClr val="3A52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09560" y="1115568"/>
            <a:ext cx="3657600" cy="365760"/>
          </a:xfrm>
          <a:prstGeom prst="rect">
            <a:avLst/>
          </a:prstGeom>
          <a:noFill/>
        </p:spPr>
        <p:txBody>
          <a:bodyPr wrap="square" anchor="t" lIns="36576" rIns="36576" tIns="18288" bIns="18288">
            <a:spAutoFit/>
          </a:bodyPr>
          <a:lstStyle/>
          <a:p>
            <a:r>
              <a:rPr sz="1300" b="1" i="0">
                <a:solidFill>
                  <a:srgbClr val="2DD4BF"/>
                </a:solidFill>
                <a:latin typeface="Calibri"/>
              </a:rPr>
              <a:t>Recommended checks (none run)</a:t>
            </a:r>
          </a:p>
        </p:txBody>
      </p:sp>
      <p:sp>
        <p:nvSpPr>
          <p:cNvPr id="8" name="TextBox 7"/>
          <p:cNvSpPr txBox="1"/>
          <p:nvPr/>
        </p:nvSpPr>
        <p:spPr>
          <a:xfrm>
            <a:off x="7909560" y="1554480"/>
            <a:ext cx="3657600" cy="4572000"/>
          </a:xfrm>
          <a:prstGeom prst="rect">
            <a:avLst/>
          </a:prstGeom>
          <a:noFill/>
        </p:spPr>
        <p:txBody>
          <a:bodyPr wrap="square" anchor="t" lIns="36576" rIns="36576" tIns="18288" bIns="18288">
            <a:spAutoFit/>
          </a:bodyPr>
          <a:lstStyle/>
          <a:p>
            <a:pPr marL="182880" indent="-182880">
              <a:spcAft>
                <a:spcPts val="500"/>
              </a:spcAft>
              <a:buClr>
                <a:srgbClr val="2DD4BF"/>
              </a:buClr>
              <a:buChar char="•"/>
            </a:pPr>
            <a:r>
              <a:rPr sz="1100" b="0" i="0">
                <a:solidFill>
                  <a:srgbClr val="E8EEF6"/>
                </a:solidFill>
                <a:latin typeface="Calibri"/>
              </a:rPr>
              <a:t>Build series on intended base tree; confirm UPIU_QUERY_OPCODE_AGGREGATED_READ exists</a:t>
            </a:r>
          </a:p>
          <a:p>
            <a:pPr marL="182880" indent="-182880">
              <a:spcAft>
                <a:spcPts val="500"/>
              </a:spcAft>
              <a:buClr>
                <a:srgbClr val="2DD4BF"/>
              </a:buClr>
              <a:buChar char="•"/>
            </a:pPr>
            <a:r>
              <a:rPr sz="1100" b="0" i="0">
                <a:solidFill>
                  <a:srgbClr val="E8EEF6"/>
                </a:solidFill>
                <a:latin typeface="Calibri"/>
              </a:rPr>
              <a:t>scripts/checkpatch.pl</a:t>
            </a:r>
          </a:p>
          <a:p>
            <a:pPr marL="182880" indent="-182880">
              <a:spcAft>
                <a:spcPts val="500"/>
              </a:spcAft>
              <a:buClr>
                <a:srgbClr val="2DD4BF"/>
              </a:buClr>
              <a:buChar char="•"/>
            </a:pPr>
            <a:r>
              <a:rPr sz="1100" b="0" i="0">
                <a:solidFill>
                  <a:srgbClr val="E8EEF6"/>
                </a:solidFill>
                <a:latin typeface="Calibri"/>
              </a:rPr>
              <a:t>sparse / smatch / coccinelle on new parsers</a:t>
            </a:r>
          </a:p>
          <a:p>
            <a:pPr marL="182880" indent="-182880">
              <a:spcAft>
                <a:spcPts val="500"/>
              </a:spcAft>
              <a:buClr>
                <a:srgbClr val="2DD4BF"/>
              </a:buClr>
              <a:buChar char="•"/>
            </a:pPr>
            <a:r>
              <a:rPr sz="1100" b="0" i="0">
                <a:solidFill>
                  <a:srgbClr val="E8EEF6"/>
                </a:solidFill>
                <a:latin typeface="Calibri"/>
              </a:rPr>
              <a:t>KASAN, KFENCE, kmemleak builds</a:t>
            </a:r>
          </a:p>
          <a:p>
            <a:pPr marL="182880" indent="-182880">
              <a:spcAft>
                <a:spcPts val="500"/>
              </a:spcAft>
              <a:buClr>
                <a:srgbClr val="2DD4BF"/>
              </a:buClr>
              <a:buChar char="•"/>
            </a:pPr>
            <a:r>
              <a:rPr sz="1100" b="0" i="0">
                <a:solidFill>
                  <a:srgbClr val="E8EEF6"/>
                </a:solidFill>
                <a:latin typeface="Calibri"/>
              </a:rPr>
              <a:t>failslab fault injection for kzalloc()</a:t>
            </a:r>
          </a:p>
          <a:p>
            <a:pPr marL="182880" indent="-182880">
              <a:spcAft>
                <a:spcPts val="500"/>
              </a:spcAft>
              <a:buClr>
                <a:srgbClr val="2DD4BF"/>
              </a:buClr>
              <a:buChar char="•"/>
            </a:pPr>
            <a:r>
              <a:rPr sz="1100" b="0" i="0">
                <a:solidFill>
                  <a:srgbClr val="E8EEF6"/>
                </a:solidFill>
                <a:latin typeface="Calibri"/>
              </a:rPr>
              <a:t>dmesg and dynamic debug on ufshcd</a:t>
            </a:r>
          </a:p>
          <a:p>
            <a:pPr marL="182880" indent="-182880">
              <a:spcAft>
                <a:spcPts val="500"/>
              </a:spcAft>
              <a:buClr>
                <a:srgbClr val="2DD4BF"/>
              </a:buClr>
              <a:buChar char="•"/>
            </a:pPr>
            <a:r>
              <a:rPr sz="1100" b="0" i="0">
                <a:solidFill>
                  <a:srgbClr val="E8EEF6"/>
                </a:solidFill>
                <a:latin typeface="Calibri"/>
              </a:rPr>
              <a:t>Function tracing for query counts (tracepoint availability unverified)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